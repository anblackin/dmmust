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handoutMasterIdLst>
    <p:handoutMasterId r:id="rId45"/>
  </p:handoutMasterIdLst>
  <p:sldIdLst>
    <p:sldId id="283" r:id="rId4"/>
    <p:sldId id="257" r:id="rId6"/>
    <p:sldId id="295" r:id="rId7"/>
    <p:sldId id="296" r:id="rId8"/>
    <p:sldId id="297" r:id="rId9"/>
    <p:sldId id="258" r:id="rId10"/>
    <p:sldId id="291" r:id="rId11"/>
    <p:sldId id="266" r:id="rId12"/>
    <p:sldId id="259" r:id="rId13"/>
    <p:sldId id="284" r:id="rId14"/>
    <p:sldId id="260" r:id="rId15"/>
    <p:sldId id="261" r:id="rId16"/>
    <p:sldId id="285" r:id="rId17"/>
    <p:sldId id="262" r:id="rId18"/>
    <p:sldId id="287" r:id="rId19"/>
    <p:sldId id="294" r:id="rId20"/>
    <p:sldId id="263" r:id="rId21"/>
    <p:sldId id="299" r:id="rId22"/>
    <p:sldId id="264" r:id="rId23"/>
    <p:sldId id="303" r:id="rId24"/>
    <p:sldId id="265" r:id="rId25"/>
    <p:sldId id="270" r:id="rId26"/>
    <p:sldId id="271" r:id="rId27"/>
    <p:sldId id="272" r:id="rId28"/>
    <p:sldId id="274" r:id="rId29"/>
    <p:sldId id="275" r:id="rId30"/>
    <p:sldId id="273" r:id="rId31"/>
    <p:sldId id="298" r:id="rId32"/>
    <p:sldId id="276" r:id="rId33"/>
    <p:sldId id="277" r:id="rId34"/>
    <p:sldId id="278" r:id="rId35"/>
    <p:sldId id="279" r:id="rId36"/>
    <p:sldId id="280" r:id="rId37"/>
    <p:sldId id="281" r:id="rId38"/>
    <p:sldId id="288" r:id="rId39"/>
    <p:sldId id="267" r:id="rId40"/>
    <p:sldId id="268" r:id="rId41"/>
    <p:sldId id="289" r:id="rId42"/>
    <p:sldId id="290" r:id="rId43"/>
    <p:sldId id="282" r:id="rId4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4069"/>
    <a:srgbClr val="4755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showGuides="1">
      <p:cViewPr varScale="1">
        <p:scale>
          <a:sx n="136" d="100"/>
          <a:sy n="136" d="100"/>
        </p:scale>
        <p:origin x="216" y="312"/>
      </p:cViewPr>
      <p:guideLst>
        <p:guide orient="horz" pos="2160"/>
        <p:guide pos="38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handoutMaster" Target="handoutMasters/handoutMaster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815623"/>
          </a:xfrm>
          <a:prstGeom prst="rect">
            <a:avLst/>
          </a:prstGeom>
        </p:spPr>
        <p:txBody>
          <a:bodyPr vert="horz" lIns="91440" tIns="45720" rIns="91440" bIns="45720" rtlCol="0"/>
          <a:lstStyle>
            <a:lvl1pPr algn="l">
              <a:defRPr sz="1200"/>
            </a:lvl1pPr>
          </a:lstStyle>
          <a:p>
            <a:endParaRPr lang="zh-CN" altLang="en-US">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3" name="日期占位符 2"/>
          <p:cNvSpPr>
            <a:spLocks noGrp="1"/>
          </p:cNvSpPr>
          <p:nvPr>
            <p:ph type="dt" sz="quarter" idx="1"/>
          </p:nvPr>
        </p:nvSpPr>
        <p:spPr>
          <a:xfrm>
            <a:off x="3884613" y="0"/>
            <a:ext cx="2971800" cy="815623"/>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Noto Sans SC" panose="020B0200000000000000" pitchFamily="34" charset="-122"/>
                <a:ea typeface="Noto Sans SC" panose="020B0200000000000000" pitchFamily="34" charset="-122"/>
                <a:cs typeface="Noto Sans SC" panose="020B0200000000000000" pitchFamily="34" charset="-122"/>
              </a:rPr>
            </a:fld>
            <a:endParaRPr lang="zh-CN" altLang="en-US">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4" name="页脚占位符 3"/>
          <p:cNvSpPr>
            <a:spLocks noGrp="1"/>
          </p:cNvSpPr>
          <p:nvPr>
            <p:ph type="ftr" sz="quarter" idx="2"/>
          </p:nvPr>
        </p:nvSpPr>
        <p:spPr>
          <a:xfrm>
            <a:off x="0" y="15440379"/>
            <a:ext cx="2971800" cy="815621"/>
          </a:xfrm>
          <a:prstGeom prst="rect">
            <a:avLst/>
          </a:prstGeom>
        </p:spPr>
        <p:txBody>
          <a:bodyPr vert="horz" lIns="91440" tIns="45720" rIns="91440" bIns="45720" rtlCol="0" anchor="b"/>
          <a:lstStyle>
            <a:lvl1pPr algn="l">
              <a:defRPr sz="1200"/>
            </a:lvl1pPr>
          </a:lstStyle>
          <a:p>
            <a:endParaRPr lang="zh-CN" altLang="en-US">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5" name="灯片编号占位符 4"/>
          <p:cNvSpPr>
            <a:spLocks noGrp="1"/>
          </p:cNvSpPr>
          <p:nvPr>
            <p:ph type="sldNum" sz="quarter" idx="3"/>
          </p:nvPr>
        </p:nvSpPr>
        <p:spPr>
          <a:xfrm>
            <a:off x="3884613" y="15440379"/>
            <a:ext cx="2971800" cy="815621"/>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Noto Sans SC" panose="020B0200000000000000" pitchFamily="34" charset="-122"/>
                <a:ea typeface="Noto Sans SC" panose="020B0200000000000000" pitchFamily="34" charset="-122"/>
                <a:cs typeface="Noto Sans SC" panose="020B0200000000000000" pitchFamily="34" charset="-122"/>
              </a:rPr>
            </a:fld>
            <a:endParaRPr lang="zh-CN" altLang="en-US">
              <a:latin typeface="Noto Sans SC" panose="020B0200000000000000" pitchFamily="34" charset="-122"/>
              <a:ea typeface="Noto Sans SC" panose="020B0200000000000000" pitchFamily="34" charset="-122"/>
              <a:cs typeface="Noto Sans SC" panose="020B0200000000000000"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atin typeface="Noto Sans SC" panose="020B0200000000000000" pitchFamily="34" charset="-122"/>
                <a:ea typeface="Noto Sans SC" panose="020B0200000000000000" pitchFamily="34" charset="-122"/>
                <a:cs typeface="Noto Sans SC" panose="020B0200000000000000" pitchFamily="34" charset="-122"/>
              </a:defRPr>
            </a:lvl1pPr>
          </a:lstStyle>
          <a:p>
            <a:endParaRPr lang="zh-MO" altLang="en-US"/>
          </a:p>
        </p:txBody>
      </p:sp>
      <p:sp>
        <p:nvSpPr>
          <p:cNvPr id="3" name="日期版面配置區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atin typeface="Noto Sans SC" panose="020B0200000000000000" pitchFamily="34" charset="-122"/>
                <a:ea typeface="Noto Sans SC" panose="020B0200000000000000" pitchFamily="34" charset="-122"/>
                <a:cs typeface="Noto Sans SC" panose="020B0200000000000000" pitchFamily="34" charset="-122"/>
              </a:defRPr>
            </a:lvl1pPr>
          </a:lstStyle>
          <a:p>
            <a:fld id="{61A664C1-95D7-DA43-A974-9D4D952FE67A}" type="datetimeFigureOut">
              <a:rPr lang="en-US" altLang="zh-MO"/>
            </a:fld>
            <a:endParaRPr lang="zh-MO" altLang="en-US"/>
          </a:p>
        </p:txBody>
      </p:sp>
      <p:sp>
        <p:nvSpPr>
          <p:cNvPr id="4" name="投影片影像版面配置區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zh-MO" altLang="en-US"/>
          </a:p>
        </p:txBody>
      </p:sp>
      <p:sp>
        <p:nvSpPr>
          <p:cNvPr id="5" name="備忘稿版面配置區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zh-TW" altLang="en-US"/>
              <a:t>按一下以編輯母片文字樣式</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MO" altLang="en-US"/>
          </a:p>
        </p:txBody>
      </p:sp>
      <p:sp>
        <p:nvSpPr>
          <p:cNvPr id="6" name="頁尾版面配置區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atin typeface="Noto Sans SC" panose="020B0200000000000000" pitchFamily="34" charset="-122"/>
                <a:ea typeface="Noto Sans SC" panose="020B0200000000000000" pitchFamily="34" charset="-122"/>
                <a:cs typeface="Noto Sans SC" panose="020B0200000000000000" pitchFamily="34" charset="-122"/>
              </a:defRPr>
            </a:lvl1pPr>
          </a:lstStyle>
          <a:p>
            <a:endParaRPr lang="zh-MO" altLang="en-US"/>
          </a:p>
        </p:txBody>
      </p:sp>
      <p:sp>
        <p:nvSpPr>
          <p:cNvPr id="7" name="投影片編號版面配置區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atin typeface="Noto Sans SC" panose="020B0200000000000000" pitchFamily="34" charset="-122"/>
                <a:ea typeface="Noto Sans SC" panose="020B0200000000000000" pitchFamily="34" charset="-122"/>
                <a:cs typeface="Noto Sans SC" panose="020B0200000000000000" pitchFamily="34" charset="-122"/>
              </a:defRPr>
            </a:lvl1pPr>
          </a:lstStyle>
          <a:p>
            <a:fld id="{B0E34C31-E51E-4D4B-B66C-AE9248FBEBF6}" type="slidenum">
              <a:rPr lang="en-US" altLang="zh-MO"/>
            </a:fld>
            <a:endParaRPr lang="zh-MO"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Noto Sans SC" panose="020B0200000000000000" pitchFamily="34" charset="-122"/>
        <a:ea typeface="Noto Sans SC" panose="020B0200000000000000" pitchFamily="34" charset="-122"/>
        <a:cs typeface="Noto Sans SC" panose="020B0200000000000000" pitchFamily="34" charset="-122"/>
      </a:defRPr>
    </a:lvl1pPr>
    <a:lvl2pPr marL="457200" algn="l" defTabSz="914400" rtl="0" eaLnBrk="1" latinLnBrk="0" hangingPunct="1">
      <a:defRPr sz="1200" kern="1200">
        <a:solidFill>
          <a:schemeClr val="tx1"/>
        </a:solidFill>
        <a:latin typeface="Noto Sans SC" panose="020B0200000000000000" pitchFamily="34" charset="-122"/>
        <a:ea typeface="Noto Sans SC" panose="020B0200000000000000" pitchFamily="34" charset="-122"/>
        <a:cs typeface="Noto Sans SC" panose="020B0200000000000000" pitchFamily="34" charset="-122"/>
      </a:defRPr>
    </a:lvl2pPr>
    <a:lvl3pPr marL="914400" algn="l" defTabSz="914400" rtl="0" eaLnBrk="1" latinLnBrk="0" hangingPunct="1">
      <a:defRPr sz="1200" kern="1200">
        <a:solidFill>
          <a:schemeClr val="tx1"/>
        </a:solidFill>
        <a:latin typeface="Noto Sans SC" panose="020B0200000000000000" pitchFamily="34" charset="-122"/>
        <a:ea typeface="Noto Sans SC" panose="020B0200000000000000" pitchFamily="34" charset="-122"/>
        <a:cs typeface="Noto Sans SC" panose="020B0200000000000000" pitchFamily="34" charset="-122"/>
      </a:defRPr>
    </a:lvl3pPr>
    <a:lvl4pPr marL="1371600" algn="l" defTabSz="914400" rtl="0" eaLnBrk="1" latinLnBrk="0" hangingPunct="1">
      <a:defRPr sz="1200" kern="1200">
        <a:solidFill>
          <a:schemeClr val="tx1"/>
        </a:solidFill>
        <a:latin typeface="Noto Sans SC" panose="020B0200000000000000" pitchFamily="34" charset="-122"/>
        <a:ea typeface="Noto Sans SC" panose="020B0200000000000000" pitchFamily="34" charset="-122"/>
        <a:cs typeface="Noto Sans SC" panose="020B0200000000000000" pitchFamily="34" charset="-122"/>
      </a:defRPr>
    </a:lvl4pPr>
    <a:lvl5pPr marL="1828800" algn="l" defTabSz="914400" rtl="0" eaLnBrk="1" latinLnBrk="0" hangingPunct="1">
      <a:defRPr sz="1200" kern="1200">
        <a:solidFill>
          <a:schemeClr val="tx1"/>
        </a:solidFill>
        <a:latin typeface="Noto Sans SC" panose="020B0200000000000000" pitchFamily="34" charset="-122"/>
        <a:ea typeface="Noto Sans SC" panose="020B0200000000000000" pitchFamily="34" charset="-122"/>
        <a:cs typeface="Noto Sans SC" panose="020B0200000000000000"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8" Type="http://schemas.openxmlformats.org/officeDocument/2006/relationships/notesSlide" Target="../notesSlides/notesSlide2.xml"/><Relationship Id="rId27" Type="http://schemas.openxmlformats.org/officeDocument/2006/relationships/slideLayout" Target="../slideLayouts/slideLayout1.xml"/><Relationship Id="rId26" Type="http://schemas.openxmlformats.org/officeDocument/2006/relationships/image" Target="../media/image27.png"/><Relationship Id="rId25" Type="http://schemas.openxmlformats.org/officeDocument/2006/relationships/image" Target="../media/image26.png"/><Relationship Id="rId24" Type="http://schemas.openxmlformats.org/officeDocument/2006/relationships/image" Target="../media/image25.png"/><Relationship Id="rId23" Type="http://schemas.openxmlformats.org/officeDocument/2006/relationships/image" Target="../media/image24.png"/><Relationship Id="rId22" Type="http://schemas.openxmlformats.org/officeDocument/2006/relationships/image" Target="../media/image23.png"/><Relationship Id="rId21" Type="http://schemas.openxmlformats.org/officeDocument/2006/relationships/image" Target="../media/image22.png"/><Relationship Id="rId20" Type="http://schemas.openxmlformats.org/officeDocument/2006/relationships/image" Target="../media/image21.png"/><Relationship Id="rId2" Type="http://schemas.openxmlformats.org/officeDocument/2006/relationships/image" Target="../media/image3.png"/><Relationship Id="rId19" Type="http://schemas.openxmlformats.org/officeDocument/2006/relationships/image" Target="../media/image20.png"/><Relationship Id="rId18" Type="http://schemas.openxmlformats.org/officeDocument/2006/relationships/image" Target="../media/image19.png"/><Relationship Id="rId17" Type="http://schemas.openxmlformats.org/officeDocument/2006/relationships/image" Target="../media/image18.png"/><Relationship Id="rId16" Type="http://schemas.openxmlformats.org/officeDocument/2006/relationships/image" Target="../media/image17.png"/><Relationship Id="rId15" Type="http://schemas.openxmlformats.org/officeDocument/2006/relationships/image" Target="../media/image16.png"/><Relationship Id="rId14" Type="http://schemas.openxmlformats.org/officeDocument/2006/relationships/image" Target="../media/image15.png"/><Relationship Id="rId13" Type="http://schemas.openxmlformats.org/officeDocument/2006/relationships/image" Target="../media/image1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xml"/><Relationship Id="rId7" Type="http://schemas.openxmlformats.org/officeDocument/2006/relationships/tags" Target="../tags/tag6.xml"/><Relationship Id="rId6" Type="http://schemas.openxmlformats.org/officeDocument/2006/relationships/image" Target="../media/image2.png"/><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image" Target="../media/image30.png"/><Relationship Id="rId6" Type="http://schemas.openxmlformats.org/officeDocument/2006/relationships/tags" Target="../tags/tag9.xml"/><Relationship Id="rId5" Type="http://schemas.openxmlformats.org/officeDocument/2006/relationships/image" Target="../media/image29.png"/><Relationship Id="rId4" Type="http://schemas.openxmlformats.org/officeDocument/2006/relationships/tags" Target="../tags/tag8.xml"/><Relationship Id="rId3" Type="http://schemas.openxmlformats.org/officeDocument/2006/relationships/image" Target="../media/image28.png"/><Relationship Id="rId2" Type="http://schemas.openxmlformats.org/officeDocument/2006/relationships/tags" Target="../tags/tag7.xml"/><Relationship Id="rId12" Type="http://schemas.openxmlformats.org/officeDocument/2006/relationships/notesSlide" Target="../notesSlides/notesSlide4.xml"/><Relationship Id="rId11" Type="http://schemas.openxmlformats.org/officeDocument/2006/relationships/slideLayout" Target="../slideLayouts/slideLayout1.xml"/><Relationship Id="rId10" Type="http://schemas.openxmlformats.org/officeDocument/2006/relationships/image" Target="../media/image31.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image" Target="../media/image32.png"/><Relationship Id="rId5" Type="http://schemas.openxmlformats.org/officeDocument/2006/relationships/tags" Target="../tags/tag15.xml"/><Relationship Id="rId4" Type="http://schemas.openxmlformats.org/officeDocument/2006/relationships/tags" Target="../tags/tag14.xml"/><Relationship Id="rId30" Type="http://schemas.openxmlformats.org/officeDocument/2006/relationships/notesSlide" Target="../notesSlides/notesSlide5.xml"/><Relationship Id="rId3" Type="http://schemas.openxmlformats.org/officeDocument/2006/relationships/tags" Target="../tags/tag13.xml"/><Relationship Id="rId29" Type="http://schemas.openxmlformats.org/officeDocument/2006/relationships/slideLayout" Target="../slideLayouts/slideLayout1.xml"/><Relationship Id="rId28" Type="http://schemas.openxmlformats.org/officeDocument/2006/relationships/tags" Target="../tags/tag36.xml"/><Relationship Id="rId27" Type="http://schemas.openxmlformats.org/officeDocument/2006/relationships/tags" Target="../tags/tag35.xml"/><Relationship Id="rId26" Type="http://schemas.openxmlformats.org/officeDocument/2006/relationships/tags" Target="../tags/tag34.xml"/><Relationship Id="rId25" Type="http://schemas.openxmlformats.org/officeDocument/2006/relationships/tags" Target="../tags/tag33.xml"/><Relationship Id="rId24" Type="http://schemas.openxmlformats.org/officeDocument/2006/relationships/tags" Target="../tags/tag32.xml"/><Relationship Id="rId23" Type="http://schemas.openxmlformats.org/officeDocument/2006/relationships/tags" Target="../tags/tag31.xml"/><Relationship Id="rId22" Type="http://schemas.openxmlformats.org/officeDocument/2006/relationships/tags" Target="../tags/tag30.xml"/><Relationship Id="rId21" Type="http://schemas.openxmlformats.org/officeDocument/2006/relationships/tags" Target="../tags/tag29.xml"/><Relationship Id="rId20" Type="http://schemas.openxmlformats.org/officeDocument/2006/relationships/tags" Target="../tags/tag28.xml"/><Relationship Id="rId2" Type="http://schemas.openxmlformats.org/officeDocument/2006/relationships/tags" Target="../tags/tag12.xml"/><Relationship Id="rId19" Type="http://schemas.openxmlformats.org/officeDocument/2006/relationships/tags" Target="../tags/tag27.xml"/><Relationship Id="rId18" Type="http://schemas.openxmlformats.org/officeDocument/2006/relationships/tags" Target="../tags/tag26.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image" Target="../media/image33.png"/><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0" Type="http://schemas.openxmlformats.org/officeDocument/2006/relationships/notesSlide" Target="../notesSlides/notesSlide6.xml"/><Relationship Id="rId6" Type="http://schemas.openxmlformats.org/officeDocument/2006/relationships/tags" Target="../tags/tag41.xml"/><Relationship Id="rId59" Type="http://schemas.openxmlformats.org/officeDocument/2006/relationships/slideLayout" Target="../slideLayouts/slideLayout1.xml"/><Relationship Id="rId58" Type="http://schemas.openxmlformats.org/officeDocument/2006/relationships/tags" Target="../tags/tag84.xml"/><Relationship Id="rId57" Type="http://schemas.openxmlformats.org/officeDocument/2006/relationships/tags" Target="../tags/tag83.xml"/><Relationship Id="rId56" Type="http://schemas.openxmlformats.org/officeDocument/2006/relationships/tags" Target="../tags/tag82.xml"/><Relationship Id="rId55" Type="http://schemas.openxmlformats.org/officeDocument/2006/relationships/tags" Target="../tags/tag81.xml"/><Relationship Id="rId54" Type="http://schemas.openxmlformats.org/officeDocument/2006/relationships/image" Target="../media/image42.png"/><Relationship Id="rId53" Type="http://schemas.openxmlformats.org/officeDocument/2006/relationships/tags" Target="../tags/tag80.xml"/><Relationship Id="rId52" Type="http://schemas.openxmlformats.org/officeDocument/2006/relationships/tags" Target="../tags/tag79.xml"/><Relationship Id="rId51" Type="http://schemas.openxmlformats.org/officeDocument/2006/relationships/tags" Target="../tags/tag78.xml"/><Relationship Id="rId50" Type="http://schemas.openxmlformats.org/officeDocument/2006/relationships/tags" Target="../tags/tag77.xml"/><Relationship Id="rId5" Type="http://schemas.openxmlformats.org/officeDocument/2006/relationships/tags" Target="../tags/tag40.xml"/><Relationship Id="rId49" Type="http://schemas.openxmlformats.org/officeDocument/2006/relationships/tags" Target="../tags/tag76.xml"/><Relationship Id="rId48" Type="http://schemas.openxmlformats.org/officeDocument/2006/relationships/tags" Target="../tags/tag75.xml"/><Relationship Id="rId47" Type="http://schemas.openxmlformats.org/officeDocument/2006/relationships/image" Target="../media/image41.png"/><Relationship Id="rId46" Type="http://schemas.openxmlformats.org/officeDocument/2006/relationships/tags" Target="../tags/tag74.xml"/><Relationship Id="rId45" Type="http://schemas.openxmlformats.org/officeDocument/2006/relationships/tags" Target="../tags/tag73.xml"/><Relationship Id="rId44" Type="http://schemas.openxmlformats.org/officeDocument/2006/relationships/tags" Target="../tags/tag72.xml"/><Relationship Id="rId43" Type="http://schemas.openxmlformats.org/officeDocument/2006/relationships/tags" Target="../tags/tag71.xml"/><Relationship Id="rId42" Type="http://schemas.openxmlformats.org/officeDocument/2006/relationships/tags" Target="../tags/tag70.xml"/><Relationship Id="rId41" Type="http://schemas.openxmlformats.org/officeDocument/2006/relationships/tags" Target="../tags/tag69.xml"/><Relationship Id="rId40" Type="http://schemas.openxmlformats.org/officeDocument/2006/relationships/image" Target="../media/image40.png"/><Relationship Id="rId4" Type="http://schemas.openxmlformats.org/officeDocument/2006/relationships/tags" Target="../tags/tag39.xml"/><Relationship Id="rId39" Type="http://schemas.openxmlformats.org/officeDocument/2006/relationships/tags" Target="../tags/tag68.xml"/><Relationship Id="rId38" Type="http://schemas.openxmlformats.org/officeDocument/2006/relationships/tags" Target="../tags/tag67.xml"/><Relationship Id="rId37" Type="http://schemas.openxmlformats.org/officeDocument/2006/relationships/tags" Target="../tags/tag66.xml"/><Relationship Id="rId36" Type="http://schemas.openxmlformats.org/officeDocument/2006/relationships/tags" Target="../tags/tag65.xml"/><Relationship Id="rId35" Type="http://schemas.openxmlformats.org/officeDocument/2006/relationships/tags" Target="../tags/tag64.xml"/><Relationship Id="rId34" Type="http://schemas.openxmlformats.org/officeDocument/2006/relationships/tags" Target="../tags/tag63.xml"/><Relationship Id="rId33" Type="http://schemas.openxmlformats.org/officeDocument/2006/relationships/image" Target="../media/image39.png"/><Relationship Id="rId32" Type="http://schemas.openxmlformats.org/officeDocument/2006/relationships/tags" Target="../tags/tag62.xml"/><Relationship Id="rId31" Type="http://schemas.openxmlformats.org/officeDocument/2006/relationships/tags" Target="../tags/tag61.xml"/><Relationship Id="rId30" Type="http://schemas.openxmlformats.org/officeDocument/2006/relationships/tags" Target="../tags/tag60.xml"/><Relationship Id="rId3" Type="http://schemas.openxmlformats.org/officeDocument/2006/relationships/tags" Target="../tags/tag38.xml"/><Relationship Id="rId29" Type="http://schemas.openxmlformats.org/officeDocument/2006/relationships/tags" Target="../tags/tag59.xml"/><Relationship Id="rId28" Type="http://schemas.openxmlformats.org/officeDocument/2006/relationships/tags" Target="../tags/tag58.xml"/><Relationship Id="rId27" Type="http://schemas.openxmlformats.org/officeDocument/2006/relationships/tags" Target="../tags/tag57.xml"/><Relationship Id="rId26" Type="http://schemas.openxmlformats.org/officeDocument/2006/relationships/image" Target="../media/image38.png"/><Relationship Id="rId25" Type="http://schemas.openxmlformats.org/officeDocument/2006/relationships/tags" Target="../tags/tag56.xml"/><Relationship Id="rId24" Type="http://schemas.openxmlformats.org/officeDocument/2006/relationships/tags" Target="../tags/tag55.xml"/><Relationship Id="rId23" Type="http://schemas.openxmlformats.org/officeDocument/2006/relationships/tags" Target="../tags/tag54.xml"/><Relationship Id="rId22" Type="http://schemas.openxmlformats.org/officeDocument/2006/relationships/tags" Target="../tags/tag53.xml"/><Relationship Id="rId21" Type="http://schemas.openxmlformats.org/officeDocument/2006/relationships/tags" Target="../tags/tag52.xml"/><Relationship Id="rId20" Type="http://schemas.openxmlformats.org/officeDocument/2006/relationships/tags" Target="../tags/tag51.xml"/><Relationship Id="rId2" Type="http://schemas.openxmlformats.org/officeDocument/2006/relationships/tags" Target="../tags/tag37.xml"/><Relationship Id="rId19" Type="http://schemas.openxmlformats.org/officeDocument/2006/relationships/image" Target="../media/image37.png"/><Relationship Id="rId18" Type="http://schemas.openxmlformats.org/officeDocument/2006/relationships/tags" Target="../tags/tag50.xml"/><Relationship Id="rId17" Type="http://schemas.openxmlformats.org/officeDocument/2006/relationships/tags" Target="../tags/tag49.xml"/><Relationship Id="rId16" Type="http://schemas.openxmlformats.org/officeDocument/2006/relationships/image" Target="../media/image36.png"/><Relationship Id="rId15" Type="http://schemas.openxmlformats.org/officeDocument/2006/relationships/image" Target="../media/image35.png"/><Relationship Id="rId14" Type="http://schemas.openxmlformats.org/officeDocument/2006/relationships/image" Target="../media/image34.png"/><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49.png"/><Relationship Id="rId7" Type="http://schemas.openxmlformats.org/officeDocument/2006/relationships/image" Target="../media/image48.png"/><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png"/><Relationship Id="rId26" Type="http://schemas.openxmlformats.org/officeDocument/2006/relationships/notesSlide" Target="../notesSlides/notesSlide8.xml"/><Relationship Id="rId25" Type="http://schemas.openxmlformats.org/officeDocument/2006/relationships/slideLayout" Target="../slideLayouts/slideLayout1.xml"/><Relationship Id="rId24" Type="http://schemas.openxmlformats.org/officeDocument/2006/relationships/image" Target="../media/image65.png"/><Relationship Id="rId23" Type="http://schemas.openxmlformats.org/officeDocument/2006/relationships/image" Target="../media/image64.png"/><Relationship Id="rId22" Type="http://schemas.openxmlformats.org/officeDocument/2006/relationships/image" Target="../media/image63.png"/><Relationship Id="rId21" Type="http://schemas.openxmlformats.org/officeDocument/2006/relationships/image" Target="../media/image62.png"/><Relationship Id="rId20" Type="http://schemas.openxmlformats.org/officeDocument/2006/relationships/image" Target="../media/image61.png"/><Relationship Id="rId2" Type="http://schemas.openxmlformats.org/officeDocument/2006/relationships/image" Target="../media/image43.png"/><Relationship Id="rId19" Type="http://schemas.openxmlformats.org/officeDocument/2006/relationships/image" Target="../media/image60.png"/><Relationship Id="rId18" Type="http://schemas.openxmlformats.org/officeDocument/2006/relationships/image" Target="../media/image59.png"/><Relationship Id="rId17" Type="http://schemas.openxmlformats.org/officeDocument/2006/relationships/image" Target="../media/image58.png"/><Relationship Id="rId16" Type="http://schemas.openxmlformats.org/officeDocument/2006/relationships/image" Target="../media/image57.png"/><Relationship Id="rId15" Type="http://schemas.openxmlformats.org/officeDocument/2006/relationships/image" Target="../media/image56.png"/><Relationship Id="rId14" Type="http://schemas.openxmlformats.org/officeDocument/2006/relationships/image" Target="../media/image55.png"/><Relationship Id="rId13" Type="http://schemas.openxmlformats.org/officeDocument/2006/relationships/image" Target="../media/image54.png"/><Relationship Id="rId12" Type="http://schemas.openxmlformats.org/officeDocument/2006/relationships/image" Target="../media/image53.png"/><Relationship Id="rId11" Type="http://schemas.openxmlformats.org/officeDocument/2006/relationships/image" Target="../media/image52.png"/><Relationship Id="rId10" Type="http://schemas.openxmlformats.org/officeDocument/2006/relationships/image" Target="../media/image51.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73.png"/><Relationship Id="rId7" Type="http://schemas.openxmlformats.org/officeDocument/2006/relationships/image" Target="../media/image72.png"/><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 Id="rId3" Type="http://schemas.openxmlformats.org/officeDocument/2006/relationships/image" Target="../media/image68.png"/><Relationship Id="rId2" Type="http://schemas.openxmlformats.org/officeDocument/2006/relationships/image" Target="../media/image67.png"/><Relationship Id="rId10" Type="http://schemas.openxmlformats.org/officeDocument/2006/relationships/notesSlide" Target="../notesSlides/notesSlide9.xml"/><Relationship Id="rId1" Type="http://schemas.openxmlformats.org/officeDocument/2006/relationships/image" Target="../media/image66.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74.png"/><Relationship Id="rId2" Type="http://schemas.openxmlformats.org/officeDocument/2006/relationships/image" Target="../media/image68.png"/><Relationship Id="rId1" Type="http://schemas.openxmlformats.org/officeDocument/2006/relationships/image" Target="../media/image66.png"/></Relationships>
</file>

<file path=ppt/slides/_rels/slide11.xml.rels><?xml version="1.0" encoding="UTF-8" standalone="yes"?>
<Relationships xmlns="http://schemas.openxmlformats.org/package/2006/relationships"><Relationship Id="rId9" Type="http://schemas.openxmlformats.org/officeDocument/2006/relationships/image" Target="../media/image82.png"/><Relationship Id="rId8" Type="http://schemas.openxmlformats.org/officeDocument/2006/relationships/image" Target="../media/image81.png"/><Relationship Id="rId7" Type="http://schemas.openxmlformats.org/officeDocument/2006/relationships/image" Target="../media/image80.png"/><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3" Type="http://schemas.openxmlformats.org/officeDocument/2006/relationships/image" Target="../media/image76.png"/><Relationship Id="rId20" Type="http://schemas.openxmlformats.org/officeDocument/2006/relationships/notesSlide" Target="../notesSlides/notesSlide11.xml"/><Relationship Id="rId2" Type="http://schemas.openxmlformats.org/officeDocument/2006/relationships/image" Target="../media/image75.png"/><Relationship Id="rId19" Type="http://schemas.openxmlformats.org/officeDocument/2006/relationships/slideLayout" Target="../slideLayouts/slideLayout1.xml"/><Relationship Id="rId18" Type="http://schemas.openxmlformats.org/officeDocument/2006/relationships/image" Target="../media/image91.png"/><Relationship Id="rId17" Type="http://schemas.openxmlformats.org/officeDocument/2006/relationships/image" Target="../media/image90.png"/><Relationship Id="rId16" Type="http://schemas.openxmlformats.org/officeDocument/2006/relationships/image" Target="../media/image89.png"/><Relationship Id="rId15" Type="http://schemas.openxmlformats.org/officeDocument/2006/relationships/image" Target="../media/image88.png"/><Relationship Id="rId14" Type="http://schemas.openxmlformats.org/officeDocument/2006/relationships/image" Target="../media/image87.png"/><Relationship Id="rId13" Type="http://schemas.openxmlformats.org/officeDocument/2006/relationships/image" Target="../media/image86.png"/><Relationship Id="rId12" Type="http://schemas.openxmlformats.org/officeDocument/2006/relationships/image" Target="../media/image85.png"/><Relationship Id="rId11" Type="http://schemas.openxmlformats.org/officeDocument/2006/relationships/image" Target="../media/image84.png"/><Relationship Id="rId10" Type="http://schemas.openxmlformats.org/officeDocument/2006/relationships/image" Target="../media/image83.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9" Type="http://schemas.openxmlformats.org/officeDocument/2006/relationships/image" Target="../media/image99.png"/><Relationship Id="rId8" Type="http://schemas.openxmlformats.org/officeDocument/2006/relationships/image" Target="../media/image98.png"/><Relationship Id="rId7" Type="http://schemas.openxmlformats.org/officeDocument/2006/relationships/image" Target="../media/image97.png"/><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 Id="rId3" Type="http://schemas.openxmlformats.org/officeDocument/2006/relationships/image" Target="../media/image93.png"/><Relationship Id="rId2" Type="http://schemas.openxmlformats.org/officeDocument/2006/relationships/image" Target="../media/image92.png"/><Relationship Id="rId12" Type="http://schemas.openxmlformats.org/officeDocument/2006/relationships/notesSlide" Target="../notesSlides/notesSlide12.xml"/><Relationship Id="rId11" Type="http://schemas.openxmlformats.org/officeDocument/2006/relationships/slideLayout" Target="../slideLayouts/slideLayout1.xml"/><Relationship Id="rId10" Type="http://schemas.openxmlformats.org/officeDocument/2006/relationships/image" Target="../media/image100.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101.png"/><Relationship Id="rId2" Type="http://schemas.openxmlformats.org/officeDocument/2006/relationships/image" Target="../media/image9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09.png"/><Relationship Id="rId7" Type="http://schemas.openxmlformats.org/officeDocument/2006/relationships/image" Target="../media/image108.png"/><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 Id="rId3" Type="http://schemas.openxmlformats.org/officeDocument/2006/relationships/image" Target="../media/image104.png"/><Relationship Id="rId2" Type="http://schemas.openxmlformats.org/officeDocument/2006/relationships/image" Target="../media/image103.png"/><Relationship Id="rId10" Type="http://schemas.openxmlformats.org/officeDocument/2006/relationships/notesSlide" Target="../notesSlides/notesSlide14.xml"/><Relationship Id="rId1" Type="http://schemas.openxmlformats.org/officeDocument/2006/relationships/image" Target="../media/image102.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image" Target="../media/image105.png"/><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image" Target="../media/image102.pn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xml"/><Relationship Id="rId5" Type="http://schemas.openxmlformats.org/officeDocument/2006/relationships/image" Target="../media/image111.png"/><Relationship Id="rId4" Type="http://schemas.openxmlformats.org/officeDocument/2006/relationships/image" Target="../media/image110.png"/><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image" Target="../media/image102.png"/></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1.xml"/><Relationship Id="rId7" Type="http://schemas.openxmlformats.org/officeDocument/2006/relationships/image" Target="../media/image116.png"/><Relationship Id="rId6" Type="http://schemas.openxmlformats.org/officeDocument/2006/relationships/image" Target="../media/image111.png"/><Relationship Id="rId5" Type="http://schemas.openxmlformats.org/officeDocument/2006/relationships/image" Target="../media/image115.png"/><Relationship Id="rId4" Type="http://schemas.openxmlformats.org/officeDocument/2006/relationships/image" Target="../media/image114.png"/><Relationship Id="rId3"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image" Target="../media/image112.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image" Target="../media/image117.png"/></Relationships>
</file>

<file path=ppt/slides/_rels/slide19.xml.rels><?xml version="1.0" encoding="UTF-8" standalone="yes"?>
<Relationships xmlns="http://schemas.openxmlformats.org/package/2006/relationships"><Relationship Id="rId9" Type="http://schemas.openxmlformats.org/officeDocument/2006/relationships/image" Target="../media/image125.png"/><Relationship Id="rId8" Type="http://schemas.openxmlformats.org/officeDocument/2006/relationships/image" Target="../media/image124.png"/><Relationship Id="rId7" Type="http://schemas.openxmlformats.org/officeDocument/2006/relationships/image" Target="../media/image123.png"/><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87.png"/><Relationship Id="rId3" Type="http://schemas.openxmlformats.org/officeDocument/2006/relationships/image" Target="../media/image118.png"/><Relationship Id="rId22" Type="http://schemas.openxmlformats.org/officeDocument/2006/relationships/notesSlide" Target="../notesSlides/notesSlide19.xml"/><Relationship Id="rId21" Type="http://schemas.openxmlformats.org/officeDocument/2006/relationships/slideLayout" Target="../slideLayouts/slideLayout1.xml"/><Relationship Id="rId20" Type="http://schemas.openxmlformats.org/officeDocument/2006/relationships/image" Target="../media/image136.png"/><Relationship Id="rId2" Type="http://schemas.openxmlformats.org/officeDocument/2006/relationships/image" Target="../media/image120.png"/><Relationship Id="rId19" Type="http://schemas.openxmlformats.org/officeDocument/2006/relationships/image" Target="../media/image135.png"/><Relationship Id="rId18" Type="http://schemas.openxmlformats.org/officeDocument/2006/relationships/image" Target="../media/image134.png"/><Relationship Id="rId17" Type="http://schemas.openxmlformats.org/officeDocument/2006/relationships/image" Target="../media/image133.png"/><Relationship Id="rId16" Type="http://schemas.openxmlformats.org/officeDocument/2006/relationships/image" Target="../media/image132.png"/><Relationship Id="rId15" Type="http://schemas.openxmlformats.org/officeDocument/2006/relationships/image" Target="../media/image131.png"/><Relationship Id="rId14" Type="http://schemas.openxmlformats.org/officeDocument/2006/relationships/image" Target="../media/image130.png"/><Relationship Id="rId13" Type="http://schemas.openxmlformats.org/officeDocument/2006/relationships/image" Target="../media/image129.png"/><Relationship Id="rId12" Type="http://schemas.openxmlformats.org/officeDocument/2006/relationships/image" Target="../media/image128.png"/><Relationship Id="rId11" Type="http://schemas.openxmlformats.org/officeDocument/2006/relationships/image" Target="../media/image127.png"/><Relationship Id="rId10" Type="http://schemas.openxmlformats.org/officeDocument/2006/relationships/image" Target="../media/image126.png"/><Relationship Id="rId1" Type="http://schemas.openxmlformats.org/officeDocument/2006/relationships/image" Target="../media/image117.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xml"/><Relationship Id="rId3" Type="http://schemas.openxmlformats.org/officeDocument/2006/relationships/tags" Target="../tags/tag85.xml"/><Relationship Id="rId2" Type="http://schemas.openxmlformats.org/officeDocument/2006/relationships/image" Target="../media/image118.png"/><Relationship Id="rId1" Type="http://schemas.openxmlformats.org/officeDocument/2006/relationships/image" Target="../media/image117.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137.png"/><Relationship Id="rId1" Type="http://schemas.openxmlformats.org/officeDocument/2006/relationships/image" Target="../media/image93.png"/></Relationships>
</file>

<file path=ppt/slides/_rels/slide22.xml.rels><?xml version="1.0" encoding="UTF-8" standalone="yes"?>
<Relationships xmlns="http://schemas.openxmlformats.org/package/2006/relationships"><Relationship Id="rId9" Type="http://schemas.openxmlformats.org/officeDocument/2006/relationships/image" Target="../media/image146.png"/><Relationship Id="rId8" Type="http://schemas.openxmlformats.org/officeDocument/2006/relationships/image" Target="../media/image145.png"/><Relationship Id="rId7" Type="http://schemas.openxmlformats.org/officeDocument/2006/relationships/image" Target="../media/image144.png"/><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 Id="rId3" Type="http://schemas.openxmlformats.org/officeDocument/2006/relationships/image" Target="../media/image140.png"/><Relationship Id="rId2" Type="http://schemas.openxmlformats.org/officeDocument/2006/relationships/image" Target="../media/image139.png"/><Relationship Id="rId14" Type="http://schemas.openxmlformats.org/officeDocument/2006/relationships/notesSlide" Target="../notesSlides/notesSlide22.xml"/><Relationship Id="rId13" Type="http://schemas.openxmlformats.org/officeDocument/2006/relationships/slideLayout" Target="../slideLayouts/slideLayout1.xml"/><Relationship Id="rId12" Type="http://schemas.openxmlformats.org/officeDocument/2006/relationships/image" Target="../media/image149.png"/><Relationship Id="rId11" Type="http://schemas.openxmlformats.org/officeDocument/2006/relationships/image" Target="../media/image148.png"/><Relationship Id="rId10" Type="http://schemas.openxmlformats.org/officeDocument/2006/relationships/image" Target="../media/image147.png"/><Relationship Id="rId1" Type="http://schemas.openxmlformats.org/officeDocument/2006/relationships/image" Target="../media/image138.png"/></Relationships>
</file>

<file path=ppt/slides/_rels/slide23.xml.rels><?xml version="1.0" encoding="UTF-8" standalone="yes"?>
<Relationships xmlns="http://schemas.openxmlformats.org/package/2006/relationships"><Relationship Id="rId9" Type="http://schemas.openxmlformats.org/officeDocument/2006/relationships/image" Target="../media/image157.png"/><Relationship Id="rId8" Type="http://schemas.openxmlformats.org/officeDocument/2006/relationships/image" Target="../media/image156.png"/><Relationship Id="rId7" Type="http://schemas.openxmlformats.org/officeDocument/2006/relationships/image" Target="../media/image155.png"/><Relationship Id="rId6" Type="http://schemas.openxmlformats.org/officeDocument/2006/relationships/image" Target="../media/image154.png"/><Relationship Id="rId5" Type="http://schemas.openxmlformats.org/officeDocument/2006/relationships/image" Target="../media/image153.png"/><Relationship Id="rId4" Type="http://schemas.openxmlformats.org/officeDocument/2006/relationships/image" Target="../media/image152.png"/><Relationship Id="rId3" Type="http://schemas.openxmlformats.org/officeDocument/2006/relationships/image" Target="../media/image151.png"/><Relationship Id="rId2" Type="http://schemas.openxmlformats.org/officeDocument/2006/relationships/image" Target="../media/image150.png"/><Relationship Id="rId18" Type="http://schemas.openxmlformats.org/officeDocument/2006/relationships/notesSlide" Target="../notesSlides/notesSlide23.xml"/><Relationship Id="rId17" Type="http://schemas.openxmlformats.org/officeDocument/2006/relationships/slideLayout" Target="../slideLayouts/slideLayout1.xml"/><Relationship Id="rId16" Type="http://schemas.openxmlformats.org/officeDocument/2006/relationships/image" Target="../media/image164.png"/><Relationship Id="rId15" Type="http://schemas.openxmlformats.org/officeDocument/2006/relationships/image" Target="../media/image163.png"/><Relationship Id="rId14" Type="http://schemas.openxmlformats.org/officeDocument/2006/relationships/image" Target="../media/image162.png"/><Relationship Id="rId13" Type="http://schemas.openxmlformats.org/officeDocument/2006/relationships/image" Target="../media/image161.png"/><Relationship Id="rId12" Type="http://schemas.openxmlformats.org/officeDocument/2006/relationships/image" Target="../media/image160.png"/><Relationship Id="rId11" Type="http://schemas.openxmlformats.org/officeDocument/2006/relationships/image" Target="../media/image159.png"/><Relationship Id="rId10" Type="http://schemas.openxmlformats.org/officeDocument/2006/relationships/image" Target="../media/image158.png"/><Relationship Id="rId1" Type="http://schemas.openxmlformats.org/officeDocument/2006/relationships/image" Target="../media/image66.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69.png"/><Relationship Id="rId7" Type="http://schemas.openxmlformats.org/officeDocument/2006/relationships/image" Target="../media/image168.png"/><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69.png"/><Relationship Id="rId3" Type="http://schemas.openxmlformats.org/officeDocument/2006/relationships/image" Target="../media/image68.png"/><Relationship Id="rId2" Type="http://schemas.openxmlformats.org/officeDocument/2006/relationships/image" Target="../media/image165.png"/><Relationship Id="rId10" Type="http://schemas.openxmlformats.org/officeDocument/2006/relationships/notesSlide" Target="../notesSlides/notesSlide24.xml"/><Relationship Id="rId1" Type="http://schemas.openxmlformats.org/officeDocument/2006/relationships/image" Target="../media/image66.png"/></Relationships>
</file>

<file path=ppt/slides/_rels/slide25.xml.rels><?xml version="1.0" encoding="UTF-8" standalone="yes"?>
<Relationships xmlns="http://schemas.openxmlformats.org/package/2006/relationships"><Relationship Id="rId9" Type="http://schemas.openxmlformats.org/officeDocument/2006/relationships/image" Target="../media/image178.png"/><Relationship Id="rId8" Type="http://schemas.openxmlformats.org/officeDocument/2006/relationships/image" Target="../media/image177.png"/><Relationship Id="rId7" Type="http://schemas.openxmlformats.org/officeDocument/2006/relationships/image" Target="../media/image176.png"/><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png"/><Relationship Id="rId3" Type="http://schemas.openxmlformats.org/officeDocument/2006/relationships/image" Target="../media/image172.png"/><Relationship Id="rId2" Type="http://schemas.openxmlformats.org/officeDocument/2006/relationships/image" Target="../media/image171.png"/><Relationship Id="rId13" Type="http://schemas.openxmlformats.org/officeDocument/2006/relationships/notesSlide" Target="../notesSlides/notesSlide25.xml"/><Relationship Id="rId12" Type="http://schemas.openxmlformats.org/officeDocument/2006/relationships/slideLayout" Target="../slideLayouts/slideLayout1.xml"/><Relationship Id="rId11" Type="http://schemas.openxmlformats.org/officeDocument/2006/relationships/image" Target="../media/image180.png"/><Relationship Id="rId10" Type="http://schemas.openxmlformats.org/officeDocument/2006/relationships/image" Target="../media/image179.png"/><Relationship Id="rId1" Type="http://schemas.openxmlformats.org/officeDocument/2006/relationships/image" Target="../media/image170.png"/></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1.xml"/><Relationship Id="rId6" Type="http://schemas.openxmlformats.org/officeDocument/2006/relationships/image" Target="../media/image184.png"/><Relationship Id="rId5" Type="http://schemas.openxmlformats.org/officeDocument/2006/relationships/image" Target="../media/image183.png"/><Relationship Id="rId4" Type="http://schemas.openxmlformats.org/officeDocument/2006/relationships/image" Target="../media/image182.png"/><Relationship Id="rId3" Type="http://schemas.openxmlformats.org/officeDocument/2006/relationships/image" Target="../media/image181.png"/><Relationship Id="rId2" Type="http://schemas.openxmlformats.org/officeDocument/2006/relationships/image" Target="../media/image110.png"/><Relationship Id="rId1" Type="http://schemas.openxmlformats.org/officeDocument/2006/relationships/image" Target="../media/image112.png"/></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1.xml"/><Relationship Id="rId4" Type="http://schemas.openxmlformats.org/officeDocument/2006/relationships/image" Target="../media/image187.png"/><Relationship Id="rId3" Type="http://schemas.openxmlformats.org/officeDocument/2006/relationships/image" Target="../media/image186.png"/><Relationship Id="rId2" Type="http://schemas.openxmlformats.org/officeDocument/2006/relationships/image" Target="../media/image185.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xml"/><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93.png"/><Relationship Id="rId7" Type="http://schemas.openxmlformats.org/officeDocument/2006/relationships/image" Target="../media/image192.png"/><Relationship Id="rId6" Type="http://schemas.openxmlformats.org/officeDocument/2006/relationships/image" Target="../media/image191.png"/><Relationship Id="rId5" Type="http://schemas.openxmlformats.org/officeDocument/2006/relationships/image" Target="../media/image166.png"/><Relationship Id="rId4" Type="http://schemas.openxmlformats.org/officeDocument/2006/relationships/image" Target="../media/image190.png"/><Relationship Id="rId3" Type="http://schemas.openxmlformats.org/officeDocument/2006/relationships/image" Target="../media/image189.png"/><Relationship Id="rId2" Type="http://schemas.openxmlformats.org/officeDocument/2006/relationships/image" Target="../media/image188.png"/><Relationship Id="rId10" Type="http://schemas.openxmlformats.org/officeDocument/2006/relationships/notesSlide" Target="../notesSlides/notesSlide29.xml"/><Relationship Id="rId1" Type="http://schemas.openxmlformats.org/officeDocument/2006/relationships/image" Target="../media/image66.png"/></Relationships>
</file>

<file path=ppt/slides/_rels/slide30.xml.rels><?xml version="1.0" encoding="UTF-8" standalone="yes"?>
<Relationships xmlns="http://schemas.openxmlformats.org/package/2006/relationships"><Relationship Id="rId9" Type="http://schemas.openxmlformats.org/officeDocument/2006/relationships/image" Target="../media/image201.png"/><Relationship Id="rId8" Type="http://schemas.openxmlformats.org/officeDocument/2006/relationships/image" Target="../media/image200.png"/><Relationship Id="rId7" Type="http://schemas.openxmlformats.org/officeDocument/2006/relationships/image" Target="../media/image199.png"/><Relationship Id="rId6" Type="http://schemas.openxmlformats.org/officeDocument/2006/relationships/image" Target="../media/image198.png"/><Relationship Id="rId5" Type="http://schemas.openxmlformats.org/officeDocument/2006/relationships/image" Target="../media/image197.png"/><Relationship Id="rId4" Type="http://schemas.openxmlformats.org/officeDocument/2006/relationships/image" Target="../media/image196.png"/><Relationship Id="rId3" Type="http://schemas.openxmlformats.org/officeDocument/2006/relationships/image" Target="../media/image195.png"/><Relationship Id="rId2" Type="http://schemas.openxmlformats.org/officeDocument/2006/relationships/image" Target="../media/image194.png"/><Relationship Id="rId15" Type="http://schemas.openxmlformats.org/officeDocument/2006/relationships/notesSlide" Target="../notesSlides/notesSlide30.xml"/><Relationship Id="rId14" Type="http://schemas.openxmlformats.org/officeDocument/2006/relationships/slideLayout" Target="../slideLayouts/slideLayout1.xml"/><Relationship Id="rId13" Type="http://schemas.openxmlformats.org/officeDocument/2006/relationships/image" Target="../media/image204.png"/><Relationship Id="rId12" Type="http://schemas.openxmlformats.org/officeDocument/2006/relationships/image" Target="../media/image35.png"/><Relationship Id="rId11" Type="http://schemas.openxmlformats.org/officeDocument/2006/relationships/image" Target="../media/image203.png"/><Relationship Id="rId10" Type="http://schemas.openxmlformats.org/officeDocument/2006/relationships/image" Target="../media/image202.png"/><Relationship Id="rId1" Type="http://schemas.openxmlformats.org/officeDocument/2006/relationships/image" Target="../media/image112.png"/></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11.png"/><Relationship Id="rId7" Type="http://schemas.openxmlformats.org/officeDocument/2006/relationships/image" Target="../media/image210.png"/><Relationship Id="rId6" Type="http://schemas.openxmlformats.org/officeDocument/2006/relationships/image" Target="../media/image209.png"/><Relationship Id="rId5" Type="http://schemas.openxmlformats.org/officeDocument/2006/relationships/image" Target="../media/image208.png"/><Relationship Id="rId4" Type="http://schemas.openxmlformats.org/officeDocument/2006/relationships/image" Target="../media/image207.png"/><Relationship Id="rId3" Type="http://schemas.openxmlformats.org/officeDocument/2006/relationships/image" Target="../media/image206.png"/><Relationship Id="rId2" Type="http://schemas.openxmlformats.org/officeDocument/2006/relationships/image" Target="../media/image205.png"/><Relationship Id="rId10" Type="http://schemas.openxmlformats.org/officeDocument/2006/relationships/notesSlide" Target="../notesSlides/notesSlide31.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9" Type="http://schemas.openxmlformats.org/officeDocument/2006/relationships/image" Target="../media/image218.png"/><Relationship Id="rId8" Type="http://schemas.openxmlformats.org/officeDocument/2006/relationships/image" Target="../media/image217.png"/><Relationship Id="rId7" Type="http://schemas.openxmlformats.org/officeDocument/2006/relationships/image" Target="../media/image216.png"/><Relationship Id="rId6" Type="http://schemas.openxmlformats.org/officeDocument/2006/relationships/image" Target="../media/image215.png"/><Relationship Id="rId5" Type="http://schemas.openxmlformats.org/officeDocument/2006/relationships/image" Target="../media/image214.png"/><Relationship Id="rId4" Type="http://schemas.openxmlformats.org/officeDocument/2006/relationships/image" Target="../media/image213.png"/><Relationship Id="rId3" Type="http://schemas.openxmlformats.org/officeDocument/2006/relationships/image" Target="../media/image93.png"/><Relationship Id="rId27" Type="http://schemas.openxmlformats.org/officeDocument/2006/relationships/notesSlide" Target="../notesSlides/notesSlide32.xml"/><Relationship Id="rId26" Type="http://schemas.openxmlformats.org/officeDocument/2006/relationships/slideLayout" Target="../slideLayouts/slideLayout1.xml"/><Relationship Id="rId25" Type="http://schemas.openxmlformats.org/officeDocument/2006/relationships/image" Target="../media/image234.png"/><Relationship Id="rId24" Type="http://schemas.openxmlformats.org/officeDocument/2006/relationships/image" Target="../media/image233.png"/><Relationship Id="rId23" Type="http://schemas.openxmlformats.org/officeDocument/2006/relationships/image" Target="../media/image232.png"/><Relationship Id="rId22" Type="http://schemas.openxmlformats.org/officeDocument/2006/relationships/image" Target="../media/image231.png"/><Relationship Id="rId21" Type="http://schemas.openxmlformats.org/officeDocument/2006/relationships/image" Target="../media/image230.png"/><Relationship Id="rId20" Type="http://schemas.openxmlformats.org/officeDocument/2006/relationships/image" Target="../media/image229.png"/><Relationship Id="rId2" Type="http://schemas.openxmlformats.org/officeDocument/2006/relationships/image" Target="../media/image212.png"/><Relationship Id="rId19" Type="http://schemas.openxmlformats.org/officeDocument/2006/relationships/image" Target="../media/image228.png"/><Relationship Id="rId18" Type="http://schemas.openxmlformats.org/officeDocument/2006/relationships/image" Target="../media/image227.png"/><Relationship Id="rId17" Type="http://schemas.openxmlformats.org/officeDocument/2006/relationships/image" Target="../media/image226.png"/><Relationship Id="rId16" Type="http://schemas.openxmlformats.org/officeDocument/2006/relationships/image" Target="../media/image225.png"/><Relationship Id="rId15" Type="http://schemas.openxmlformats.org/officeDocument/2006/relationships/image" Target="../media/image224.png"/><Relationship Id="rId14" Type="http://schemas.openxmlformats.org/officeDocument/2006/relationships/image" Target="../media/image223.png"/><Relationship Id="rId13" Type="http://schemas.openxmlformats.org/officeDocument/2006/relationships/image" Target="../media/image222.png"/><Relationship Id="rId12" Type="http://schemas.openxmlformats.org/officeDocument/2006/relationships/image" Target="../media/image221.png"/><Relationship Id="rId11" Type="http://schemas.openxmlformats.org/officeDocument/2006/relationships/image" Target="../media/image220.png"/><Relationship Id="rId10" Type="http://schemas.openxmlformats.org/officeDocument/2006/relationships/image" Target="../media/image219.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9" Type="http://schemas.openxmlformats.org/officeDocument/2006/relationships/notesSlide" Target="../notesSlides/notesSlide33.xml"/><Relationship Id="rId8" Type="http://schemas.openxmlformats.org/officeDocument/2006/relationships/slideLayout" Target="../slideLayouts/slideLayout1.xml"/><Relationship Id="rId7" Type="http://schemas.openxmlformats.org/officeDocument/2006/relationships/image" Target="../media/image240.png"/><Relationship Id="rId6" Type="http://schemas.openxmlformats.org/officeDocument/2006/relationships/image" Target="../media/image239.png"/><Relationship Id="rId5" Type="http://schemas.openxmlformats.org/officeDocument/2006/relationships/image" Target="../media/image238.png"/><Relationship Id="rId4" Type="http://schemas.openxmlformats.org/officeDocument/2006/relationships/image" Target="../media/image237.png"/><Relationship Id="rId3" Type="http://schemas.openxmlformats.org/officeDocument/2006/relationships/image" Target="../media/image236.png"/><Relationship Id="rId2" Type="http://schemas.openxmlformats.org/officeDocument/2006/relationships/image" Target="../media/image235.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9" Type="http://schemas.openxmlformats.org/officeDocument/2006/relationships/image" Target="../media/image247.png"/><Relationship Id="rId8" Type="http://schemas.openxmlformats.org/officeDocument/2006/relationships/image" Target="../media/image209.png"/><Relationship Id="rId7" Type="http://schemas.openxmlformats.org/officeDocument/2006/relationships/image" Target="../media/image246.png"/><Relationship Id="rId6" Type="http://schemas.openxmlformats.org/officeDocument/2006/relationships/image" Target="../media/image245.png"/><Relationship Id="rId5" Type="http://schemas.openxmlformats.org/officeDocument/2006/relationships/image" Target="../media/image244.png"/><Relationship Id="rId4" Type="http://schemas.openxmlformats.org/officeDocument/2006/relationships/image" Target="../media/image243.png"/><Relationship Id="rId3" Type="http://schemas.openxmlformats.org/officeDocument/2006/relationships/image" Target="../media/image242.png"/><Relationship Id="rId2" Type="http://schemas.openxmlformats.org/officeDocument/2006/relationships/image" Target="../media/image241.png"/><Relationship Id="rId12" Type="http://schemas.openxmlformats.org/officeDocument/2006/relationships/notesSlide" Target="../notesSlides/notesSlide34.xml"/><Relationship Id="rId11" Type="http://schemas.openxmlformats.org/officeDocument/2006/relationships/slideLayout" Target="../slideLayouts/slideLayout1.xml"/><Relationship Id="rId10" Type="http://schemas.openxmlformats.org/officeDocument/2006/relationships/image" Target="../media/image248.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2.xml"/><Relationship Id="rId3" Type="http://schemas.openxmlformats.org/officeDocument/2006/relationships/image" Target="../media/image250.png"/><Relationship Id="rId2" Type="http://schemas.openxmlformats.org/officeDocument/2006/relationships/image" Target="../media/image249.png"/><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1.xml"/><Relationship Id="rId3" Type="http://schemas.openxmlformats.org/officeDocument/2006/relationships/image" Target="../media/image251.png"/><Relationship Id="rId2" Type="http://schemas.openxmlformats.org/officeDocument/2006/relationships/image" Target="../media/image249.png"/><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1.xml"/><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2.xml"/><Relationship Id="rId3" Type="http://schemas.openxmlformats.org/officeDocument/2006/relationships/image" Target="../media/image254.png"/><Relationship Id="rId2" Type="http://schemas.openxmlformats.org/officeDocument/2006/relationships/image" Target="../media/image252.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2.xml"/><Relationship Id="rId2" Type="http://schemas.openxmlformats.org/officeDocument/2006/relationships/image" Target="../media/image242.png"/><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40.xml"/><Relationship Id="rId7" Type="http://schemas.openxmlformats.org/officeDocument/2006/relationships/slideLayout" Target="../slideLayouts/slideLayout1.xml"/><Relationship Id="rId6" Type="http://schemas.openxmlformats.org/officeDocument/2006/relationships/image" Target="../media/image238.png"/><Relationship Id="rId5" Type="http://schemas.openxmlformats.org/officeDocument/2006/relationships/image" Target="../media/image258.png"/><Relationship Id="rId4" Type="http://schemas.openxmlformats.org/officeDocument/2006/relationships/image" Target="../media/image257.png"/><Relationship Id="rId3" Type="http://schemas.openxmlformats.org/officeDocument/2006/relationships/image" Target="../media/image256.png"/><Relationship Id="rId2" Type="http://schemas.openxmlformats.org/officeDocument/2006/relationships/image" Target="../media/image255.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00"/>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1E3A5F"/>
          </a:solidFill>
          <a:ln w="12700">
            <a:solidFill>
              <a:srgbClr val="FFFFFF">
                <a:alpha val="0"/>
              </a:srgbClr>
            </a:solidFill>
            <a:prstDash val="solid"/>
          </a:ln>
        </p:spPr>
      </p:sp>
      <p:pic>
        <p:nvPicPr>
          <p:cNvPr id="4" name="Image 0" descr="preencoded.png"/>
          <p:cNvPicPr>
            <a:picLocks noChangeAspect="1"/>
          </p:cNvPicPr>
          <p:nvPr/>
        </p:nvPicPr>
        <p:blipFill>
          <a:blip r:embed="rId1"/>
          <a:srcRect t="-1" b="-1"/>
          <a:stretch>
            <a:fillRect/>
          </a:stretch>
        </p:blipFill>
        <p:spPr>
          <a:xfrm>
            <a:off x="0" y="0"/>
            <a:ext cx="12191695" cy="6858000"/>
          </a:xfrm>
          <a:prstGeom prst="rect">
            <a:avLst/>
          </a:prstGeom>
        </p:spPr>
      </p:pic>
      <p:sp>
        <p:nvSpPr>
          <p:cNvPr id="5" name="Shape 2"/>
          <p:cNvSpPr/>
          <p:nvPr/>
        </p:nvSpPr>
        <p:spPr>
          <a:xfrm>
            <a:off x="-857707" y="-857707"/>
            <a:ext cx="2857500" cy="2857500"/>
          </a:xfrm>
          <a:prstGeom prst="ellipse">
            <a:avLst/>
          </a:prstGeom>
          <a:solidFill>
            <a:srgbClr val="FFFFFF">
              <a:alpha val="5000"/>
            </a:srgbClr>
          </a:solidFill>
          <a:ln w="12700">
            <a:solidFill>
              <a:srgbClr val="FFFFFF">
                <a:alpha val="0"/>
              </a:srgbClr>
            </a:solidFill>
            <a:prstDash val="solid"/>
          </a:ln>
        </p:spPr>
      </p:sp>
      <p:sp>
        <p:nvSpPr>
          <p:cNvPr id="6" name="Shape 3"/>
          <p:cNvSpPr/>
          <p:nvPr/>
        </p:nvSpPr>
        <p:spPr>
          <a:xfrm>
            <a:off x="9525305" y="4190695"/>
            <a:ext cx="3810305" cy="3810305"/>
          </a:xfrm>
          <a:prstGeom prst="ellipse">
            <a:avLst/>
          </a:prstGeom>
          <a:solidFill>
            <a:srgbClr val="FFFFFF">
              <a:alpha val="5000"/>
            </a:srgbClr>
          </a:solidFill>
          <a:ln w="12700">
            <a:solidFill>
              <a:srgbClr val="FFFFFF">
                <a:alpha val="0"/>
              </a:srgbClr>
            </a:solidFill>
            <a:prstDash val="solid"/>
          </a:ln>
        </p:spPr>
      </p:sp>
      <p:sp>
        <p:nvSpPr>
          <p:cNvPr id="7" name="Text 4"/>
          <p:cNvSpPr txBox="1"/>
          <p:nvPr/>
        </p:nvSpPr>
        <p:spPr>
          <a:xfrm>
            <a:off x="1333195" y="1143000"/>
            <a:ext cx="9525305" cy="1105510"/>
          </a:xfrm>
          <a:prstGeom prst="rect">
            <a:avLst/>
          </a:prstGeom>
          <a:noFill/>
        </p:spPr>
        <p:txBody>
          <a:bodyPr wrap="square" lIns="0" tIns="0" rIns="0" bIns="0" rtlCol="0" anchor="ctr"/>
          <a:lstStyle/>
          <a:p>
            <a:pPr marL="0" indent="0" algn="ctr">
              <a:buNone/>
            </a:pPr>
            <a:r>
              <a:rPr lang="en-US" sz="36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Dormitory Management System</a:t>
            </a:r>
            <a:endParaRPr lang="en-US" sz="3600" dirty="0">
              <a:ea typeface="Noto Sans SC" panose="020B0200000000000000" pitchFamily="34" charset="-122"/>
              <a:cs typeface="Noto Sans SC" panose="020B0200000000000000" pitchFamily="34" charset="-122"/>
            </a:endParaRPr>
          </a:p>
          <a:p>
            <a:pPr marL="0" indent="0" algn="ctr">
              <a:buNone/>
            </a:pPr>
            <a:r>
              <a:rPr lang="en-US" sz="36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Project Management Complete Report</a:t>
            </a:r>
            <a:endParaRPr lang="en-US" sz="3600" dirty="0">
              <a:ea typeface="Noto Sans SC" panose="020B0200000000000000" pitchFamily="34" charset="-122"/>
              <a:cs typeface="Noto Sans SC" panose="020B0200000000000000" pitchFamily="34" charset="-122"/>
            </a:endParaRPr>
          </a:p>
        </p:txBody>
      </p:sp>
      <p:sp>
        <p:nvSpPr>
          <p:cNvPr id="8" name="Text 5"/>
          <p:cNvSpPr txBox="1"/>
          <p:nvPr/>
        </p:nvSpPr>
        <p:spPr>
          <a:xfrm>
            <a:off x="990295" y="2430475"/>
            <a:ext cx="10211105" cy="324612"/>
          </a:xfrm>
          <a:prstGeom prst="rect">
            <a:avLst/>
          </a:prstGeom>
          <a:noFill/>
        </p:spPr>
        <p:txBody>
          <a:bodyPr wrap="square" lIns="0" tIns="0" rIns="0" bIns="0" rtlCol="0" anchor="ctr"/>
          <a:lstStyle/>
          <a:p>
            <a:pPr marL="0" indent="0" algn="ctr">
              <a:buNone/>
            </a:pPr>
            <a:r>
              <a:rPr lang="en-US" sz="1800" kern="0" spc="38" dirty="0">
                <a:solidFill>
                  <a:srgbClr val="E2E8F0"/>
                </a:solidFill>
                <a:latin typeface="Noto Sans SC" panose="020B0200000000000000" pitchFamily="34" charset="-122"/>
                <a:ea typeface="Noto Sans SC" panose="020B0200000000000000" pitchFamily="34" charset="-122"/>
                <a:cs typeface="Noto Sans SC" panose="020B0200000000000000" pitchFamily="34" charset="-122"/>
              </a:rPr>
              <a:t>Complete Project Management Closed-Loop from Problem Analysis to Solution</a:t>
            </a:r>
            <a:endParaRPr lang="en-US" sz="1800" dirty="0">
              <a:ea typeface="Noto Sans SC" panose="020B0200000000000000" pitchFamily="34" charset="-122"/>
              <a:cs typeface="Noto Sans SC" panose="020B0200000000000000" pitchFamily="34" charset="-122"/>
            </a:endParaRPr>
          </a:p>
        </p:txBody>
      </p:sp>
      <p:sp>
        <p:nvSpPr>
          <p:cNvPr id="9" name="Shape 6"/>
          <p:cNvSpPr/>
          <p:nvPr/>
        </p:nvSpPr>
        <p:spPr>
          <a:xfrm>
            <a:off x="1333195" y="3886200"/>
            <a:ext cx="418795" cy="418795"/>
          </a:xfrm>
          <a:prstGeom prst="ellipse">
            <a:avLst/>
          </a:prstGeom>
          <a:solidFill>
            <a:srgbClr val="FFFFFF">
              <a:alpha val="15000"/>
            </a:srgbClr>
          </a:solidFill>
          <a:ln w="12700">
            <a:solidFill>
              <a:srgbClr val="FFFFFF">
                <a:alpha val="0"/>
              </a:srgbClr>
            </a:solidFill>
            <a:prstDash val="solid"/>
          </a:ln>
        </p:spPr>
      </p:sp>
      <p:sp>
        <p:nvSpPr>
          <p:cNvPr id="10" name="Text 7"/>
          <p:cNvSpPr txBox="1"/>
          <p:nvPr/>
        </p:nvSpPr>
        <p:spPr>
          <a:xfrm>
            <a:off x="1886407" y="3903574"/>
            <a:ext cx="1828800" cy="171907"/>
          </a:xfrm>
          <a:prstGeom prst="rect">
            <a:avLst/>
          </a:prstGeom>
          <a:noFill/>
        </p:spPr>
        <p:txBody>
          <a:bodyPr wrap="square" lIns="0" tIns="0" rIns="0" bIns="0" rtlCol="0" anchor="ctr"/>
          <a:lstStyle/>
          <a:p>
            <a:pPr marL="0" indent="0" algn="l">
              <a:buNone/>
            </a:pPr>
            <a:r>
              <a:rPr lang="en-US" sz="900" dirty="0">
                <a:solidFill>
                  <a:srgbClr val="CBD5E1"/>
                </a:solidFill>
                <a:latin typeface="Noto Sans SC" panose="020B0200000000000000" pitchFamily="34" charset="-122"/>
                <a:ea typeface="Noto Sans SC" panose="020B0200000000000000" pitchFamily="34" charset="-122"/>
                <a:cs typeface="Noto Sans SC" panose="020B0200000000000000" pitchFamily="34" charset="-122"/>
              </a:rPr>
              <a:t>Project Team M</a:t>
            </a:r>
            <a:r>
              <a:rPr lang="en-US" sz="900" dirty="0">
                <a:solidFill>
                  <a:srgbClr val="CBD5E1"/>
                </a:solidFill>
                <a:latin typeface="Noto Sans SC" panose="020B0200000000000000" pitchFamily="34" charset="-122"/>
                <a:ea typeface="Noto Sans SC" panose="020B0200000000000000" pitchFamily="34" charset="-122"/>
                <a:cs typeface="Noto Sans SC" panose="020B0200000000000000" pitchFamily="34" charset="-122"/>
              </a:rPr>
              <a:t>ember</a:t>
            </a:r>
            <a:endParaRPr lang="en-US" sz="900" dirty="0">
              <a:solidFill>
                <a:srgbClr val="CBD5E1"/>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1" name="Text 8"/>
          <p:cNvSpPr txBox="1"/>
          <p:nvPr/>
        </p:nvSpPr>
        <p:spPr>
          <a:xfrm>
            <a:off x="1891665" y="4105275"/>
            <a:ext cx="2444750" cy="200025"/>
          </a:xfrm>
          <a:prstGeom prst="rect">
            <a:avLst/>
          </a:prstGeom>
          <a:noFill/>
        </p:spPr>
        <p:txBody>
          <a:bodyPr wrap="square" lIns="0" tIns="0" rIns="0" bIns="0" rtlCol="0" anchor="ctr"/>
          <a:lstStyle/>
          <a:p>
            <a:pPr marL="0" indent="0" algn="l">
              <a:buNone/>
            </a:pPr>
            <a:r>
              <a:rPr lang="en-US" sz="900" dirty="0">
                <a:solidFill>
                  <a:srgbClr val="CBD5E1"/>
                </a:solidFill>
                <a:latin typeface="Noto Sans SC" panose="020B0200000000000000" pitchFamily="34" charset="-122"/>
                <a:ea typeface="Noto Sans SC" panose="020B0200000000000000" pitchFamily="34" charset="-122"/>
                <a:cs typeface="Noto Sans SC" panose="020B0200000000000000" pitchFamily="34" charset="-122"/>
              </a:rPr>
              <a:t>余升斌 </a:t>
            </a:r>
            <a:r>
              <a:rPr lang="en-US" sz="900" dirty="0">
                <a:solidFill>
                  <a:srgbClr val="CBD5E1"/>
                </a:solidFill>
                <a:latin typeface="Noto Sans SC" panose="020B0200000000000000" pitchFamily="34" charset="-122"/>
                <a:ea typeface="Noto Sans SC" panose="020B0200000000000000" pitchFamily="34" charset="-122"/>
                <a:cs typeface="Noto Sans SC" panose="020B0200000000000000" pitchFamily="34" charset="-122"/>
                <a:sym typeface="+mn-ea"/>
              </a:rPr>
              <a:t>冯宏臻  </a:t>
            </a:r>
            <a:r>
              <a:rPr lang="en-US" sz="900" dirty="0">
                <a:solidFill>
                  <a:srgbClr val="CBD5E1"/>
                </a:solidFill>
                <a:latin typeface="Noto Sans SC" panose="020B0200000000000000" pitchFamily="34" charset="-122"/>
                <a:ea typeface="Noto Sans SC" panose="020B0200000000000000" pitchFamily="34" charset="-122"/>
                <a:cs typeface="Noto Sans SC" panose="020B0200000000000000" pitchFamily="34" charset="-122"/>
              </a:rPr>
              <a:t>陈乐怡 郑珺文 汤雨潭 张锐</a:t>
            </a:r>
            <a:endParaRPr lang="en-US" sz="900" dirty="0">
              <a:solidFill>
                <a:srgbClr val="CBD5E1"/>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2" name="Shape 9"/>
          <p:cNvSpPr/>
          <p:nvPr/>
        </p:nvSpPr>
        <p:spPr>
          <a:xfrm>
            <a:off x="4476902" y="3886200"/>
            <a:ext cx="418795" cy="418795"/>
          </a:xfrm>
          <a:prstGeom prst="ellipse">
            <a:avLst/>
          </a:prstGeom>
          <a:solidFill>
            <a:srgbClr val="FFFFFF">
              <a:alpha val="15000"/>
            </a:srgbClr>
          </a:solidFill>
          <a:ln w="12700">
            <a:solidFill>
              <a:srgbClr val="FFFFFF">
                <a:alpha val="0"/>
              </a:srgbClr>
            </a:solidFill>
            <a:prstDash val="solid"/>
          </a:ln>
        </p:spPr>
      </p:sp>
      <p:sp>
        <p:nvSpPr>
          <p:cNvPr id="13" name="Text 10"/>
          <p:cNvSpPr txBox="1"/>
          <p:nvPr/>
        </p:nvSpPr>
        <p:spPr>
          <a:xfrm>
            <a:off x="5029200" y="3903574"/>
            <a:ext cx="1886407" cy="171907"/>
          </a:xfrm>
          <a:prstGeom prst="rect">
            <a:avLst/>
          </a:prstGeom>
          <a:noFill/>
        </p:spPr>
        <p:txBody>
          <a:bodyPr wrap="square" lIns="0" tIns="0" rIns="0" bIns="0" rtlCol="0" anchor="ctr"/>
          <a:lstStyle/>
          <a:p>
            <a:pPr marL="0" indent="0" algn="l">
              <a:buNone/>
            </a:pPr>
            <a:r>
              <a:rPr lang="en-US" sz="900" dirty="0">
                <a:solidFill>
                  <a:srgbClr val="CBD5E1"/>
                </a:solidFill>
                <a:latin typeface="Noto Sans SC" panose="020B0200000000000000" pitchFamily="34" charset="-122"/>
                <a:ea typeface="Noto Sans SC" panose="020B0200000000000000" pitchFamily="34" charset="-122"/>
                <a:cs typeface="Noto Sans SC" panose="020B0200000000000000" pitchFamily="34" charset="-122"/>
              </a:rPr>
              <a:t>Project Date</a:t>
            </a:r>
            <a:endParaRPr lang="en-US" sz="900" dirty="0">
              <a:ea typeface="Noto Sans SC" panose="020B0200000000000000" pitchFamily="34" charset="-122"/>
              <a:cs typeface="Noto Sans SC" panose="020B0200000000000000" pitchFamily="34" charset="-122"/>
            </a:endParaRPr>
          </a:p>
        </p:txBody>
      </p:sp>
      <p:sp>
        <p:nvSpPr>
          <p:cNvPr id="14" name="Text 11"/>
          <p:cNvSpPr txBox="1"/>
          <p:nvPr/>
        </p:nvSpPr>
        <p:spPr>
          <a:xfrm>
            <a:off x="5029200" y="4093769"/>
            <a:ext cx="2244852" cy="200254"/>
          </a:xfrm>
          <a:prstGeom prst="rect">
            <a:avLst/>
          </a:prstGeom>
          <a:noFill/>
        </p:spPr>
        <p:txBody>
          <a:bodyPr wrap="square" lIns="0" tIns="0" rIns="0" bIns="0" rtlCol="0" anchor="ctr"/>
          <a:lstStyle/>
          <a:p>
            <a:pPr marL="0" indent="0" algn="l">
              <a:buNone/>
            </a:pPr>
            <a:r>
              <a:rPr lang="en-US" sz="1200"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January 2026 - May 2026</a:t>
            </a:r>
            <a:endParaRPr lang="en-US" sz="1200" dirty="0">
              <a:ea typeface="Noto Sans SC" panose="020B0200000000000000" pitchFamily="34" charset="-122"/>
              <a:cs typeface="Noto Sans SC" panose="020B0200000000000000" pitchFamily="34" charset="-122"/>
            </a:endParaRPr>
          </a:p>
        </p:txBody>
      </p:sp>
      <p:sp>
        <p:nvSpPr>
          <p:cNvPr id="15" name="Shape 12"/>
          <p:cNvSpPr/>
          <p:nvPr/>
        </p:nvSpPr>
        <p:spPr>
          <a:xfrm>
            <a:off x="7619695" y="3886200"/>
            <a:ext cx="418795" cy="418795"/>
          </a:xfrm>
          <a:prstGeom prst="ellipse">
            <a:avLst/>
          </a:prstGeom>
          <a:solidFill>
            <a:srgbClr val="FFFFFF">
              <a:alpha val="15000"/>
            </a:srgbClr>
          </a:solidFill>
          <a:ln w="12700">
            <a:solidFill>
              <a:srgbClr val="FFFFFF">
                <a:alpha val="0"/>
              </a:srgbClr>
            </a:solidFill>
            <a:prstDash val="solid"/>
          </a:ln>
        </p:spPr>
      </p:sp>
      <p:sp>
        <p:nvSpPr>
          <p:cNvPr id="16" name="Text 13"/>
          <p:cNvSpPr txBox="1"/>
          <p:nvPr/>
        </p:nvSpPr>
        <p:spPr>
          <a:xfrm>
            <a:off x="8172907" y="3805733"/>
            <a:ext cx="2686507" cy="171907"/>
          </a:xfrm>
          <a:prstGeom prst="rect">
            <a:avLst/>
          </a:prstGeom>
          <a:noFill/>
        </p:spPr>
        <p:txBody>
          <a:bodyPr wrap="square" lIns="0" tIns="0" rIns="0" bIns="0" rtlCol="0" anchor="ctr"/>
          <a:lstStyle/>
          <a:p>
            <a:pPr marL="0" indent="0" algn="l">
              <a:buNone/>
            </a:pPr>
            <a:r>
              <a:rPr lang="en-US" sz="900" dirty="0">
                <a:solidFill>
                  <a:srgbClr val="CBD5E1"/>
                </a:solidFill>
                <a:latin typeface="Noto Sans SC" panose="020B0200000000000000" pitchFamily="34" charset="-122"/>
                <a:ea typeface="Noto Sans SC" panose="020B0200000000000000" pitchFamily="34" charset="-122"/>
                <a:cs typeface="Noto Sans SC" panose="020B0200000000000000" pitchFamily="34" charset="-122"/>
              </a:rPr>
              <a:t>Course</a:t>
            </a:r>
            <a:endParaRPr lang="en-US" sz="900" dirty="0">
              <a:ea typeface="Noto Sans SC" panose="020B0200000000000000" pitchFamily="34" charset="-122"/>
              <a:cs typeface="Noto Sans SC" panose="020B0200000000000000" pitchFamily="34" charset="-122"/>
            </a:endParaRPr>
          </a:p>
        </p:txBody>
      </p:sp>
      <p:sp>
        <p:nvSpPr>
          <p:cNvPr id="17" name="Text 14"/>
          <p:cNvSpPr txBox="1"/>
          <p:nvPr/>
        </p:nvSpPr>
        <p:spPr>
          <a:xfrm>
            <a:off x="8172907" y="3996842"/>
            <a:ext cx="2686507" cy="391363"/>
          </a:xfrm>
          <a:prstGeom prst="rect">
            <a:avLst/>
          </a:prstGeom>
          <a:noFill/>
        </p:spPr>
        <p:txBody>
          <a:bodyPr wrap="square" lIns="0" tIns="0" rIns="0" bIns="0" rtlCol="0" anchor="ctr"/>
          <a:lstStyle/>
          <a:p>
            <a:pPr marL="0" indent="0" algn="l">
              <a:buNone/>
            </a:pPr>
            <a:r>
              <a:rPr lang="en-US" sz="1200"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Software Engineering Project Management</a:t>
            </a:r>
            <a:endParaRPr lang="en-US" sz="1200" dirty="0">
              <a:ea typeface="Noto Sans SC" panose="020B0200000000000000" pitchFamily="34" charset="-122"/>
              <a:cs typeface="Noto Sans SC" panose="020B0200000000000000" pitchFamily="34" charset="-122"/>
            </a:endParaRPr>
          </a:p>
        </p:txBody>
      </p:sp>
      <p:sp>
        <p:nvSpPr>
          <p:cNvPr id="18" name="Shape 15"/>
          <p:cNvSpPr/>
          <p:nvPr/>
        </p:nvSpPr>
        <p:spPr>
          <a:xfrm>
            <a:off x="761695" y="4572000"/>
            <a:ext cx="10753344" cy="1609344"/>
          </a:xfrm>
          <a:prstGeom prst="roundRect">
            <a:avLst>
              <a:gd name="adj" fmla="val 8069"/>
            </a:avLst>
          </a:prstGeom>
          <a:solidFill>
            <a:srgbClr val="FFFFFF">
              <a:alpha val="10000"/>
            </a:srgbClr>
          </a:solidFill>
        </p:spPr>
      </p:sp>
      <p:sp>
        <p:nvSpPr>
          <p:cNvPr id="19" name="Shape 16"/>
          <p:cNvSpPr/>
          <p:nvPr/>
        </p:nvSpPr>
        <p:spPr>
          <a:xfrm>
            <a:off x="761695" y="4572000"/>
            <a:ext cx="38405" cy="1609344"/>
          </a:xfrm>
          <a:prstGeom prst="roundRect">
            <a:avLst>
              <a:gd name="adj" fmla="val 338122"/>
            </a:avLst>
          </a:prstGeom>
          <a:solidFill>
            <a:srgbClr val="60A5FA"/>
          </a:solidFill>
          <a:ln w="12700">
            <a:solidFill>
              <a:srgbClr val="60A5FA">
                <a:alpha val="0"/>
              </a:srgbClr>
            </a:solidFill>
            <a:prstDash val="solid"/>
          </a:ln>
        </p:spPr>
      </p:sp>
      <p:sp>
        <p:nvSpPr>
          <p:cNvPr id="20" name="Text 17"/>
          <p:cNvSpPr txBox="1"/>
          <p:nvPr/>
        </p:nvSpPr>
        <p:spPr>
          <a:xfrm>
            <a:off x="5841187" y="4762195"/>
            <a:ext cx="5294376" cy="219456"/>
          </a:xfrm>
          <a:prstGeom prst="rect">
            <a:avLst/>
          </a:prstGeom>
          <a:noFill/>
        </p:spPr>
        <p:txBody>
          <a:bodyPr wrap="square" lIns="0" tIns="0" rIns="0" bIns="0" rtlCol="0" anchor="ctr"/>
          <a:lstStyle/>
          <a:p>
            <a:pPr marL="0" indent="0" algn="l">
              <a:buNone/>
            </a:pPr>
            <a:r>
              <a:rPr lang="en-US" sz="1100" b="1" dirty="0">
                <a:solidFill>
                  <a:srgbClr val="60A5FA"/>
                </a:solidFill>
                <a:latin typeface="Noto Sans SC" panose="020B0200000000000000" pitchFamily="34" charset="-122"/>
                <a:ea typeface="Noto Sans SC" panose="020B0200000000000000" pitchFamily="34" charset="-122"/>
                <a:cs typeface="Noto Sans SC" panose="020B0200000000000000" pitchFamily="34" charset="-122"/>
              </a:rPr>
              <a:t> Core Value </a:t>
            </a:r>
            <a:endParaRPr lang="en-US" sz="1100" dirty="0">
              <a:ea typeface="Noto Sans SC" panose="020B0200000000000000" pitchFamily="34" charset="-122"/>
              <a:cs typeface="Noto Sans SC" panose="020B0200000000000000" pitchFamily="34" charset="-122"/>
            </a:endParaRPr>
          </a:p>
        </p:txBody>
      </p:sp>
      <p:sp>
        <p:nvSpPr>
          <p:cNvPr id="21" name="Text 18"/>
          <p:cNvSpPr txBox="1"/>
          <p:nvPr/>
        </p:nvSpPr>
        <p:spPr>
          <a:xfrm>
            <a:off x="1181405" y="5030114"/>
            <a:ext cx="9954158" cy="457200"/>
          </a:xfrm>
          <a:prstGeom prst="rect">
            <a:avLst/>
          </a:prstGeom>
          <a:noFill/>
        </p:spPr>
        <p:txBody>
          <a:bodyPr wrap="square" lIns="0" tIns="0" rIns="0" bIns="0" rtlCol="0" anchor="ctr"/>
          <a:lstStyle/>
          <a:p>
            <a:pPr marL="0" indent="0" algn="ctr">
              <a:buNone/>
            </a:pPr>
            <a:r>
              <a:rPr lang="en-US" sz="1200"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Establish a complete project management closed-loop from requirement traceability, work breakdown, quality control to risk management</a:t>
            </a:r>
            <a:endParaRPr lang="en-US" sz="1200" dirty="0">
              <a:ea typeface="Noto Sans SC" panose="020B0200000000000000" pitchFamily="34" charset="-122"/>
              <a:cs typeface="Noto Sans SC" panose="020B0200000000000000" pitchFamily="34" charset="-122"/>
            </a:endParaRPr>
          </a:p>
        </p:txBody>
      </p:sp>
      <p:sp>
        <p:nvSpPr>
          <p:cNvPr id="22" name="Shape 19"/>
          <p:cNvSpPr/>
          <p:nvPr/>
        </p:nvSpPr>
        <p:spPr>
          <a:xfrm>
            <a:off x="0" y="6381598"/>
            <a:ext cx="13716000" cy="476402"/>
          </a:xfrm>
          <a:prstGeom prst="rect">
            <a:avLst/>
          </a:prstGeom>
          <a:solidFill>
            <a:srgbClr val="FFFFFF">
              <a:alpha val="5000"/>
            </a:srgbClr>
          </a:solidFill>
          <a:ln w="12700">
            <a:solidFill>
              <a:srgbClr val="FFFFFF">
                <a:alpha val="0"/>
              </a:srgbClr>
            </a:solidFill>
            <a:prstDash val="solid"/>
          </a:ln>
        </p:spPr>
      </p:sp>
      <p:sp>
        <p:nvSpPr>
          <p:cNvPr id="23" name="Text 20"/>
          <p:cNvSpPr txBox="1"/>
          <p:nvPr/>
        </p:nvSpPr>
        <p:spPr>
          <a:xfrm>
            <a:off x="872338" y="6524244"/>
            <a:ext cx="3223260" cy="210312"/>
          </a:xfrm>
          <a:prstGeom prst="rect">
            <a:avLst/>
          </a:prstGeom>
          <a:noFill/>
        </p:spPr>
        <p:txBody>
          <a:bodyPr wrap="square" lIns="0" tIns="0" rIns="0" bIns="0" rtlCol="0" anchor="ctr"/>
          <a:lstStyle/>
          <a:p>
            <a:pPr marL="0" indent="0" algn="l">
              <a:buNone/>
            </a:pPr>
            <a:r>
              <a:rPr lang="en-US" sz="1000" dirty="0">
                <a:solidFill>
                  <a:srgbClr val="94A3B8"/>
                </a:solidFill>
                <a:latin typeface="Noto Sans SC" panose="020B0200000000000000" pitchFamily="34" charset="-122"/>
                <a:ea typeface="Noto Sans SC" panose="020B0200000000000000" pitchFamily="34" charset="-122"/>
                <a:cs typeface="Noto Sans SC" panose="020B0200000000000000" pitchFamily="34" charset="-122"/>
              </a:rPr>
              <a:t> GitHub: github.com/Anblackin/DMMUST </a:t>
            </a:r>
            <a:endParaRPr lang="en-US" sz="1000" dirty="0">
              <a:ea typeface="Noto Sans SC" panose="020B0200000000000000" pitchFamily="34" charset="-122"/>
              <a:cs typeface="Noto Sans SC" panose="020B0200000000000000" pitchFamily="34" charset="-122"/>
            </a:endParaRPr>
          </a:p>
        </p:txBody>
      </p:sp>
      <p:sp>
        <p:nvSpPr>
          <p:cNvPr id="24" name="Text 21"/>
          <p:cNvSpPr txBox="1"/>
          <p:nvPr/>
        </p:nvSpPr>
        <p:spPr>
          <a:xfrm>
            <a:off x="10959084" y="12995453"/>
            <a:ext cx="2015338" cy="85954"/>
          </a:xfrm>
          <a:prstGeom prst="rect">
            <a:avLst/>
          </a:prstGeom>
          <a:noFill/>
        </p:spPr>
        <p:txBody>
          <a:bodyPr wrap="square" lIns="0" tIns="0" rIns="0" bIns="0" rtlCol="0" anchor="ctr"/>
          <a:lstStyle/>
          <a:p>
            <a:pPr marL="0" indent="0" algn="l">
              <a:buNone/>
            </a:pPr>
            <a:r>
              <a:rPr lang="en-US" sz="1000" dirty="0">
                <a:solidFill>
                  <a:srgbClr val="94A3B8"/>
                </a:solidFill>
                <a:latin typeface="Noto Sans SC" panose="020B0200000000000000" pitchFamily="34" charset="-122"/>
                <a:ea typeface="Noto Sans SC" panose="020B0200000000000000" pitchFamily="34" charset="-122"/>
                <a:cs typeface="Noto Sans SC" panose="020B0200000000000000" pitchFamily="34" charset="-122"/>
              </a:rPr>
              <a:t> 27 Pages Complete Report </a:t>
            </a:r>
            <a:endParaRPr lang="en-US" sz="1000" dirty="0">
              <a:ea typeface="Noto Sans SC" panose="020B0200000000000000" pitchFamily="34" charset="-122"/>
              <a:cs typeface="Noto Sans SC" panose="020B0200000000000000"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5" name="Shape 2"/>
          <p:cNvSpPr/>
          <p:nvPr/>
        </p:nvSpPr>
        <p:spPr>
          <a:xfrm>
            <a:off x="571500" y="1476756"/>
            <a:ext cx="11096244" cy="1380744"/>
          </a:xfrm>
          <a:prstGeom prst="roundRect">
            <a:avLst>
              <a:gd name="adj" fmla="val 10961"/>
            </a:avLst>
          </a:prstGeom>
          <a:solidFill>
            <a:srgbClr val="FFFFFF"/>
          </a:solidFill>
          <a:effectLst>
            <a:outerShdw blurRad="76200" dist="25400" dir="16200000" algn="bl" rotWithShape="0">
              <a:srgbClr val="000000">
                <a:alpha val="5000"/>
              </a:srgbClr>
            </a:outerShdw>
          </a:effectLst>
        </p:spPr>
      </p:sp>
      <p:sp>
        <p:nvSpPr>
          <p:cNvPr id="6" name="Shape 3"/>
          <p:cNvSpPr/>
          <p:nvPr/>
        </p:nvSpPr>
        <p:spPr>
          <a:xfrm>
            <a:off x="571500" y="1476756"/>
            <a:ext cx="47549" cy="1380744"/>
          </a:xfrm>
          <a:prstGeom prst="roundRect">
            <a:avLst>
              <a:gd name="adj" fmla="val 318301"/>
            </a:avLst>
          </a:prstGeom>
          <a:solidFill>
            <a:srgbClr val="3B82F6"/>
          </a:solidFill>
          <a:ln w="12700">
            <a:solidFill>
              <a:srgbClr val="3B82F6">
                <a:alpha val="0"/>
              </a:srgbClr>
            </a:solidFill>
            <a:prstDash val="solid"/>
          </a:ln>
        </p:spPr>
      </p:sp>
      <p:sp>
        <p:nvSpPr>
          <p:cNvPr id="7" name="Shape 4"/>
          <p:cNvSpPr/>
          <p:nvPr/>
        </p:nvSpPr>
        <p:spPr>
          <a:xfrm>
            <a:off x="571500" y="2952598"/>
            <a:ext cx="11096244" cy="1380744"/>
          </a:xfrm>
          <a:prstGeom prst="roundRect">
            <a:avLst>
              <a:gd name="adj" fmla="val 10961"/>
            </a:avLst>
          </a:prstGeom>
          <a:solidFill>
            <a:srgbClr val="FFFFFF"/>
          </a:solidFill>
          <a:effectLst>
            <a:outerShdw blurRad="76200" dist="25400" dir="16200000" algn="bl" rotWithShape="0">
              <a:srgbClr val="000000">
                <a:alpha val="5000"/>
              </a:srgbClr>
            </a:outerShdw>
          </a:effectLst>
        </p:spPr>
      </p:sp>
      <p:sp>
        <p:nvSpPr>
          <p:cNvPr id="8" name="Shape 5"/>
          <p:cNvSpPr/>
          <p:nvPr/>
        </p:nvSpPr>
        <p:spPr>
          <a:xfrm>
            <a:off x="571500" y="2952598"/>
            <a:ext cx="47549" cy="1380744"/>
          </a:xfrm>
          <a:prstGeom prst="roundRect">
            <a:avLst>
              <a:gd name="adj" fmla="val 318301"/>
            </a:avLst>
          </a:prstGeom>
          <a:solidFill>
            <a:srgbClr val="3B82F6"/>
          </a:solidFill>
          <a:ln w="12700">
            <a:solidFill>
              <a:srgbClr val="3B82F6">
                <a:alpha val="0"/>
              </a:srgbClr>
            </a:solidFill>
            <a:prstDash val="solid"/>
          </a:ln>
        </p:spPr>
      </p:sp>
      <p:sp>
        <p:nvSpPr>
          <p:cNvPr id="9" name="Shape 6"/>
          <p:cNvSpPr/>
          <p:nvPr/>
        </p:nvSpPr>
        <p:spPr>
          <a:xfrm>
            <a:off x="571500" y="4429354"/>
            <a:ext cx="11096244" cy="1380744"/>
          </a:xfrm>
          <a:prstGeom prst="roundRect">
            <a:avLst>
              <a:gd name="adj" fmla="val 10961"/>
            </a:avLst>
          </a:prstGeom>
          <a:solidFill>
            <a:srgbClr val="FFFFFF"/>
          </a:solidFill>
          <a:effectLst>
            <a:outerShdw blurRad="76200" dist="25400" dir="16200000" algn="bl" rotWithShape="0">
              <a:srgbClr val="000000">
                <a:alpha val="5000"/>
              </a:srgbClr>
            </a:outerShdw>
          </a:effectLst>
        </p:spPr>
      </p:sp>
      <p:sp>
        <p:nvSpPr>
          <p:cNvPr id="10" name="Shape 7"/>
          <p:cNvSpPr/>
          <p:nvPr/>
        </p:nvSpPr>
        <p:spPr>
          <a:xfrm>
            <a:off x="571500" y="4429354"/>
            <a:ext cx="47549" cy="1380744"/>
          </a:xfrm>
          <a:prstGeom prst="roundRect">
            <a:avLst>
              <a:gd name="adj" fmla="val 318301"/>
            </a:avLst>
          </a:prstGeom>
          <a:solidFill>
            <a:srgbClr val="3B82F6"/>
          </a:solidFill>
          <a:ln w="12700">
            <a:solidFill>
              <a:srgbClr val="3B82F6">
                <a:alpha val="0"/>
              </a:srgbClr>
            </a:solidFill>
            <a:prstDash val="solid"/>
          </a:ln>
        </p:spPr>
      </p:sp>
      <p:pic>
        <p:nvPicPr>
          <p:cNvPr id="11" name="Image 1" descr="preencoded.png"/>
          <p:cNvPicPr>
            <a:picLocks noChangeAspect="1"/>
          </p:cNvPicPr>
          <p:nvPr/>
        </p:nvPicPr>
        <p:blipFill>
          <a:blip r:embed="rId2"/>
          <a:srcRect l="-4" r="-4"/>
          <a:stretch>
            <a:fillRect/>
          </a:stretch>
        </p:blipFill>
        <p:spPr>
          <a:xfrm>
            <a:off x="571500" y="5952744"/>
            <a:ext cx="11067898" cy="733349"/>
          </a:xfrm>
          <a:prstGeom prst="rect">
            <a:avLst/>
          </a:prstGeom>
        </p:spPr>
      </p:pic>
      <p:sp>
        <p:nvSpPr>
          <p:cNvPr id="12" name="Shape 8"/>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3" name="Image 2" descr="preencoded.png"/>
          <p:cNvPicPr>
            <a:picLocks noChangeAspect="1"/>
          </p:cNvPicPr>
          <p:nvPr/>
        </p:nvPicPr>
        <p:blipFill>
          <a:blip r:embed="rId3"/>
          <a:srcRect/>
          <a:stretch>
            <a:fillRect/>
          </a:stretch>
        </p:blipFill>
        <p:spPr>
          <a:xfrm>
            <a:off x="705002" y="286207"/>
            <a:ext cx="190195" cy="190195"/>
          </a:xfrm>
          <a:prstGeom prst="rect">
            <a:avLst/>
          </a:prstGeom>
        </p:spPr>
      </p:pic>
      <p:sp>
        <p:nvSpPr>
          <p:cNvPr id="14" name="Text 9"/>
          <p:cNvSpPr txBox="1"/>
          <p:nvPr/>
        </p:nvSpPr>
        <p:spPr>
          <a:xfrm>
            <a:off x="1218895" y="209398"/>
            <a:ext cx="7620610" cy="381305"/>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Problem Background &amp; Pain Points</a:t>
            </a:r>
            <a:endParaRPr lang="en-US" sz="2400" dirty="0">
              <a:ea typeface="Noto Sans SC" panose="020B0200000000000000" pitchFamily="34" charset="-122"/>
              <a:cs typeface="Noto Sans SC" panose="020B0200000000000000" pitchFamily="34" charset="-122"/>
            </a:endParaRPr>
          </a:p>
        </p:txBody>
      </p:sp>
      <p:sp>
        <p:nvSpPr>
          <p:cNvPr id="15" name="Text 10"/>
          <p:cNvSpPr txBox="1"/>
          <p:nvPr/>
        </p:nvSpPr>
        <p:spPr>
          <a:xfrm>
            <a:off x="933602" y="952805"/>
            <a:ext cx="10687507" cy="342900"/>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Three Core Pain Points of Traditional Dormitory Management </a:t>
            </a:r>
            <a:endParaRPr lang="en-US" sz="1900" dirty="0">
              <a:ea typeface="Noto Sans SC" panose="020B0200000000000000" pitchFamily="34" charset="-122"/>
              <a:cs typeface="Noto Sans SC" panose="020B0200000000000000" pitchFamily="34" charset="-122"/>
            </a:endParaRPr>
          </a:p>
        </p:txBody>
      </p:sp>
      <p:pic>
        <p:nvPicPr>
          <p:cNvPr id="16" name="Image 3" descr="preencoded.png"/>
          <p:cNvPicPr>
            <a:picLocks noChangeAspect="1"/>
          </p:cNvPicPr>
          <p:nvPr/>
        </p:nvPicPr>
        <p:blipFill>
          <a:blip r:embed="rId4"/>
          <a:srcRect/>
          <a:stretch>
            <a:fillRect/>
          </a:stretch>
        </p:blipFill>
        <p:spPr>
          <a:xfrm>
            <a:off x="571500" y="1000354"/>
            <a:ext cx="247802" cy="247802"/>
          </a:xfrm>
          <a:prstGeom prst="rect">
            <a:avLst/>
          </a:prstGeom>
        </p:spPr>
      </p:pic>
      <p:sp>
        <p:nvSpPr>
          <p:cNvPr id="17" name="Shape 11"/>
          <p:cNvSpPr/>
          <p:nvPr/>
        </p:nvSpPr>
        <p:spPr>
          <a:xfrm>
            <a:off x="875995" y="1857146"/>
            <a:ext cx="609905" cy="609905"/>
          </a:xfrm>
          <a:prstGeom prst="roundRect">
            <a:avLst>
              <a:gd name="adj" fmla="val 56222"/>
            </a:avLst>
          </a:prstGeom>
          <a:solidFill>
            <a:srgbClr val="3B82F6">
              <a:alpha val="10000"/>
            </a:srgbClr>
          </a:solidFill>
          <a:ln w="12700">
            <a:solidFill>
              <a:srgbClr val="FFFFFF">
                <a:alpha val="0"/>
              </a:srgbClr>
            </a:solidFill>
            <a:prstDash val="solid"/>
          </a:ln>
        </p:spPr>
      </p:sp>
      <p:pic>
        <p:nvPicPr>
          <p:cNvPr id="18" name="Image 4" descr="preencoded.png"/>
          <p:cNvPicPr>
            <a:picLocks noChangeAspect="1"/>
          </p:cNvPicPr>
          <p:nvPr/>
        </p:nvPicPr>
        <p:blipFill>
          <a:blip r:embed="rId5"/>
          <a:srcRect/>
          <a:stretch>
            <a:fillRect/>
          </a:stretch>
        </p:blipFill>
        <p:spPr>
          <a:xfrm>
            <a:off x="1014070" y="2029054"/>
            <a:ext cx="333756" cy="267005"/>
          </a:xfrm>
          <a:prstGeom prst="rect">
            <a:avLst/>
          </a:prstGeom>
        </p:spPr>
      </p:pic>
      <p:sp>
        <p:nvSpPr>
          <p:cNvPr id="19" name="Text 12"/>
          <p:cNvSpPr txBox="1"/>
          <p:nvPr/>
        </p:nvSpPr>
        <p:spPr>
          <a:xfrm>
            <a:off x="1714500" y="1600200"/>
            <a:ext cx="10401300" cy="257861"/>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Pain Point 1: Manual processes cumbersome, leading to low efficiency </a:t>
            </a:r>
            <a:r>
              <a:rPr lang="en-US" sz="12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40% efficiency drop</a:t>
            </a:r>
            <a:endParaRPr lang="en-US" sz="1500" dirty="0">
              <a:ea typeface="Noto Sans SC" panose="020B0200000000000000" pitchFamily="34" charset="-122"/>
              <a:cs typeface="Noto Sans SC" panose="020B0200000000000000" pitchFamily="34" charset="-122"/>
            </a:endParaRPr>
          </a:p>
        </p:txBody>
      </p:sp>
      <p:sp>
        <p:nvSpPr>
          <p:cNvPr id="20" name="Text 13"/>
          <p:cNvSpPr txBox="1"/>
          <p:nvPr/>
        </p:nvSpPr>
        <p:spPr>
          <a:xfrm>
            <a:off x="1714500" y="1914754"/>
            <a:ext cx="9715500" cy="400507"/>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Traditional dorm management relies on manual processes for check-in, room changes, and visitor logs, which are time-consuming and error-prone. Fragmented data and repetitive inputs lack automation support.</a:t>
            </a:r>
            <a:endParaRPr lang="en-US" sz="1100" dirty="0">
              <a:ea typeface="Noto Sans SC" panose="020B0200000000000000" pitchFamily="34" charset="-122"/>
              <a:cs typeface="Noto Sans SC" panose="020B0200000000000000" pitchFamily="34" charset="-122"/>
            </a:endParaRPr>
          </a:p>
        </p:txBody>
      </p:sp>
      <p:pic>
        <p:nvPicPr>
          <p:cNvPr id="21" name="Image 5" descr="preencoded.png"/>
          <p:cNvPicPr>
            <a:picLocks noChangeAspect="1"/>
          </p:cNvPicPr>
          <p:nvPr/>
        </p:nvPicPr>
        <p:blipFill>
          <a:blip r:embed="rId6"/>
          <a:srcRect l="-141" r="-141"/>
          <a:stretch>
            <a:fillRect/>
          </a:stretch>
        </p:blipFill>
        <p:spPr>
          <a:xfrm>
            <a:off x="1714500" y="2409444"/>
            <a:ext cx="1257300" cy="247802"/>
          </a:xfrm>
          <a:prstGeom prst="rect">
            <a:avLst/>
          </a:prstGeom>
        </p:spPr>
      </p:pic>
      <p:sp>
        <p:nvSpPr>
          <p:cNvPr id="22" name="Text 14"/>
          <p:cNvSpPr/>
          <p:nvPr/>
        </p:nvSpPr>
        <p:spPr>
          <a:xfrm>
            <a:off x="2000707" y="2409444"/>
            <a:ext cx="971093"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Manual Forms</a:t>
            </a:r>
            <a:endParaRPr lang="en-US" sz="900" dirty="0">
              <a:ea typeface="Noto Sans SC" panose="020B0200000000000000" pitchFamily="34" charset="-122"/>
              <a:cs typeface="Noto Sans SC" panose="020B0200000000000000" pitchFamily="34" charset="-122"/>
            </a:endParaRPr>
          </a:p>
        </p:txBody>
      </p:sp>
      <p:pic>
        <p:nvPicPr>
          <p:cNvPr id="23" name="Image 6" descr="preencoded.png"/>
          <p:cNvPicPr>
            <a:picLocks noChangeAspect="1"/>
          </p:cNvPicPr>
          <p:nvPr/>
        </p:nvPicPr>
        <p:blipFill>
          <a:blip r:embed="rId7"/>
          <a:srcRect l="-1358" r="-1358"/>
          <a:stretch>
            <a:fillRect/>
          </a:stretch>
        </p:blipFill>
        <p:spPr>
          <a:xfrm>
            <a:off x="1848002" y="2471623"/>
            <a:ext cx="95098" cy="123444"/>
          </a:xfrm>
          <a:prstGeom prst="rect">
            <a:avLst/>
          </a:prstGeom>
        </p:spPr>
      </p:pic>
      <p:pic>
        <p:nvPicPr>
          <p:cNvPr id="24" name="Image 7" descr="preencoded.png"/>
          <p:cNvPicPr>
            <a:picLocks noChangeAspect="1"/>
          </p:cNvPicPr>
          <p:nvPr/>
        </p:nvPicPr>
        <p:blipFill>
          <a:blip r:embed="rId8"/>
          <a:srcRect l="-280" r="-280"/>
          <a:stretch>
            <a:fillRect/>
          </a:stretch>
        </p:blipFill>
        <p:spPr>
          <a:xfrm>
            <a:off x="3081528" y="2409444"/>
            <a:ext cx="1371600" cy="247802"/>
          </a:xfrm>
          <a:prstGeom prst="rect">
            <a:avLst/>
          </a:prstGeom>
        </p:spPr>
      </p:pic>
      <p:sp>
        <p:nvSpPr>
          <p:cNvPr id="25" name="Text 15"/>
          <p:cNvSpPr/>
          <p:nvPr/>
        </p:nvSpPr>
        <p:spPr>
          <a:xfrm>
            <a:off x="3396082" y="2409444"/>
            <a:ext cx="1057046"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Repetitive Entry</a:t>
            </a:r>
            <a:endParaRPr lang="en-US" sz="900" dirty="0">
              <a:ea typeface="Noto Sans SC" panose="020B0200000000000000" pitchFamily="34" charset="-122"/>
              <a:cs typeface="Noto Sans SC" panose="020B0200000000000000" pitchFamily="34" charset="-122"/>
            </a:endParaRPr>
          </a:p>
        </p:txBody>
      </p:sp>
      <p:pic>
        <p:nvPicPr>
          <p:cNvPr id="26" name="Image 8" descr="preencoded.png"/>
          <p:cNvPicPr>
            <a:picLocks noChangeAspect="1"/>
          </p:cNvPicPr>
          <p:nvPr/>
        </p:nvPicPr>
        <p:blipFill>
          <a:blip r:embed="rId9"/>
          <a:srcRect/>
          <a:stretch>
            <a:fillRect/>
          </a:stretch>
        </p:blipFill>
        <p:spPr>
          <a:xfrm>
            <a:off x="3215030" y="2471623"/>
            <a:ext cx="123444" cy="123444"/>
          </a:xfrm>
          <a:prstGeom prst="rect">
            <a:avLst/>
          </a:prstGeom>
        </p:spPr>
      </p:pic>
      <p:pic>
        <p:nvPicPr>
          <p:cNvPr id="27" name="Image 9" descr="preencoded.png"/>
          <p:cNvPicPr>
            <a:picLocks noChangeAspect="1"/>
          </p:cNvPicPr>
          <p:nvPr/>
        </p:nvPicPr>
        <p:blipFill>
          <a:blip r:embed="rId10"/>
          <a:srcRect l="-252" r="-252"/>
          <a:stretch>
            <a:fillRect/>
          </a:stretch>
        </p:blipFill>
        <p:spPr>
          <a:xfrm>
            <a:off x="4559198" y="2409444"/>
            <a:ext cx="1429207" cy="247802"/>
          </a:xfrm>
          <a:prstGeom prst="rect">
            <a:avLst/>
          </a:prstGeom>
        </p:spPr>
      </p:pic>
      <p:sp>
        <p:nvSpPr>
          <p:cNvPr id="28" name="Text 16"/>
          <p:cNvSpPr/>
          <p:nvPr/>
        </p:nvSpPr>
        <p:spPr>
          <a:xfrm>
            <a:off x="4873752" y="2409444"/>
            <a:ext cx="1114654"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Time-consuming</a:t>
            </a:r>
            <a:endParaRPr lang="en-US" sz="900" dirty="0">
              <a:ea typeface="Noto Sans SC" panose="020B0200000000000000" pitchFamily="34" charset="-122"/>
              <a:cs typeface="Noto Sans SC" panose="020B0200000000000000" pitchFamily="34" charset="-122"/>
            </a:endParaRPr>
          </a:p>
        </p:txBody>
      </p:sp>
      <p:pic>
        <p:nvPicPr>
          <p:cNvPr id="29" name="Image 10" descr="preencoded.png"/>
          <p:cNvPicPr>
            <a:picLocks noChangeAspect="1"/>
          </p:cNvPicPr>
          <p:nvPr/>
        </p:nvPicPr>
        <p:blipFill>
          <a:blip r:embed="rId11"/>
          <a:srcRect/>
          <a:stretch>
            <a:fillRect/>
          </a:stretch>
        </p:blipFill>
        <p:spPr>
          <a:xfrm>
            <a:off x="4692701" y="2471623"/>
            <a:ext cx="123444" cy="123444"/>
          </a:xfrm>
          <a:prstGeom prst="rect">
            <a:avLst/>
          </a:prstGeom>
        </p:spPr>
      </p:pic>
      <p:pic>
        <p:nvPicPr>
          <p:cNvPr id="30" name="Image 11" descr="preencoded.png"/>
          <p:cNvPicPr>
            <a:picLocks noChangeAspect="1"/>
          </p:cNvPicPr>
          <p:nvPr/>
        </p:nvPicPr>
        <p:blipFill>
          <a:blip r:embed="rId12"/>
          <a:srcRect t="-100" b="-100"/>
          <a:stretch>
            <a:fillRect/>
          </a:stretch>
        </p:blipFill>
        <p:spPr>
          <a:xfrm>
            <a:off x="9066759" y="1652956"/>
            <a:ext cx="114300" cy="152705"/>
          </a:xfrm>
          <a:prstGeom prst="rect">
            <a:avLst/>
          </a:prstGeom>
        </p:spPr>
      </p:pic>
      <p:sp>
        <p:nvSpPr>
          <p:cNvPr id="31" name="Shape 17"/>
          <p:cNvSpPr/>
          <p:nvPr/>
        </p:nvSpPr>
        <p:spPr>
          <a:xfrm>
            <a:off x="875995" y="3333902"/>
            <a:ext cx="609905" cy="609905"/>
          </a:xfrm>
          <a:prstGeom prst="roundRect">
            <a:avLst>
              <a:gd name="adj" fmla="val 56222"/>
            </a:avLst>
          </a:prstGeom>
          <a:solidFill>
            <a:srgbClr val="3B82F6">
              <a:alpha val="10000"/>
            </a:srgbClr>
          </a:solidFill>
          <a:ln w="12700">
            <a:solidFill>
              <a:srgbClr val="FFFFFF">
                <a:alpha val="0"/>
              </a:srgbClr>
            </a:solidFill>
            <a:prstDash val="solid"/>
          </a:ln>
        </p:spPr>
      </p:sp>
      <p:pic>
        <p:nvPicPr>
          <p:cNvPr id="32" name="Image 12" descr="preencoded.png"/>
          <p:cNvPicPr>
            <a:picLocks noChangeAspect="1"/>
          </p:cNvPicPr>
          <p:nvPr/>
        </p:nvPicPr>
        <p:blipFill>
          <a:blip r:embed="rId13"/>
          <a:srcRect/>
          <a:stretch>
            <a:fillRect/>
          </a:stretch>
        </p:blipFill>
        <p:spPr>
          <a:xfrm>
            <a:off x="1047902" y="3504895"/>
            <a:ext cx="267005" cy="267005"/>
          </a:xfrm>
          <a:prstGeom prst="rect">
            <a:avLst/>
          </a:prstGeom>
        </p:spPr>
      </p:pic>
      <p:sp>
        <p:nvSpPr>
          <p:cNvPr id="33" name="Text 18"/>
          <p:cNvSpPr txBox="1"/>
          <p:nvPr/>
        </p:nvSpPr>
        <p:spPr>
          <a:xfrm>
            <a:off x="1714500" y="3076956"/>
            <a:ext cx="9715500" cy="257861"/>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Pain Point 2: Decisions lack real-time data support </a:t>
            </a:r>
            <a:r>
              <a:rPr lang="en-US" sz="12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Decision accuracy down 35%</a:t>
            </a:r>
            <a:endParaRPr lang="en-US" sz="1500" dirty="0">
              <a:ea typeface="Noto Sans SC" panose="020B0200000000000000" pitchFamily="34" charset="-122"/>
              <a:cs typeface="Noto Sans SC" panose="020B0200000000000000" pitchFamily="34" charset="-122"/>
            </a:endParaRPr>
          </a:p>
        </p:txBody>
      </p:sp>
      <p:sp>
        <p:nvSpPr>
          <p:cNvPr id="34" name="Text 19"/>
          <p:cNvSpPr txBox="1"/>
          <p:nvPr/>
        </p:nvSpPr>
        <p:spPr>
          <a:xfrm>
            <a:off x="1714500" y="3390595"/>
            <a:ext cx="9715500" cy="400507"/>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Administrators struggle to view real-time data on building capacity, room occupancy, and student behavior trends. Decisions rely heavily on experience, lacking data-driven scientific bases.</a:t>
            </a:r>
            <a:endParaRPr lang="en-US" sz="1100" dirty="0">
              <a:ea typeface="Noto Sans SC" panose="020B0200000000000000" pitchFamily="34" charset="-122"/>
              <a:cs typeface="Noto Sans SC" panose="020B0200000000000000" pitchFamily="34" charset="-122"/>
            </a:endParaRPr>
          </a:p>
        </p:txBody>
      </p:sp>
      <p:pic>
        <p:nvPicPr>
          <p:cNvPr id="35" name="Image 13" descr="preencoded.png"/>
          <p:cNvPicPr>
            <a:picLocks noChangeAspect="1"/>
          </p:cNvPicPr>
          <p:nvPr/>
        </p:nvPicPr>
        <p:blipFill>
          <a:blip r:embed="rId14"/>
          <a:srcRect l="-312" r="-312"/>
          <a:stretch>
            <a:fillRect/>
          </a:stretch>
        </p:blipFill>
        <p:spPr>
          <a:xfrm>
            <a:off x="1714500" y="3886200"/>
            <a:ext cx="1190549" cy="247802"/>
          </a:xfrm>
          <a:prstGeom prst="rect">
            <a:avLst/>
          </a:prstGeom>
        </p:spPr>
      </p:pic>
      <p:sp>
        <p:nvSpPr>
          <p:cNvPr id="36" name="Text 20"/>
          <p:cNvSpPr/>
          <p:nvPr/>
        </p:nvSpPr>
        <p:spPr>
          <a:xfrm>
            <a:off x="2009851" y="3886200"/>
            <a:ext cx="896112"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Data Missing</a:t>
            </a:r>
            <a:endParaRPr lang="en-US" sz="900" dirty="0">
              <a:ea typeface="Noto Sans SC" panose="020B0200000000000000" pitchFamily="34" charset="-122"/>
              <a:cs typeface="Noto Sans SC" panose="020B0200000000000000" pitchFamily="34" charset="-122"/>
            </a:endParaRPr>
          </a:p>
        </p:txBody>
      </p:sp>
      <p:pic>
        <p:nvPicPr>
          <p:cNvPr id="37" name="Image 14" descr="preencoded.png"/>
          <p:cNvPicPr>
            <a:picLocks noChangeAspect="1"/>
          </p:cNvPicPr>
          <p:nvPr/>
        </p:nvPicPr>
        <p:blipFill>
          <a:blip r:embed="rId15"/>
          <a:srcRect t="-1359" b="-1359"/>
          <a:stretch>
            <a:fillRect/>
          </a:stretch>
        </p:blipFill>
        <p:spPr>
          <a:xfrm>
            <a:off x="1848002" y="3948379"/>
            <a:ext cx="105156" cy="123444"/>
          </a:xfrm>
          <a:prstGeom prst="rect">
            <a:avLst/>
          </a:prstGeom>
        </p:spPr>
      </p:pic>
      <p:pic>
        <p:nvPicPr>
          <p:cNvPr id="38" name="Image 15" descr="preencoded.png"/>
          <p:cNvPicPr>
            <a:picLocks noChangeAspect="1"/>
          </p:cNvPicPr>
          <p:nvPr/>
        </p:nvPicPr>
        <p:blipFill>
          <a:blip r:embed="rId16"/>
          <a:srcRect l="-243" r="-243"/>
          <a:stretch>
            <a:fillRect/>
          </a:stretch>
        </p:blipFill>
        <p:spPr>
          <a:xfrm>
            <a:off x="3011119" y="3886200"/>
            <a:ext cx="1514246" cy="247802"/>
          </a:xfrm>
          <a:prstGeom prst="rect">
            <a:avLst/>
          </a:prstGeom>
        </p:spPr>
      </p:pic>
      <p:sp>
        <p:nvSpPr>
          <p:cNvPr id="39" name="Text 21"/>
          <p:cNvSpPr/>
          <p:nvPr/>
        </p:nvSpPr>
        <p:spPr>
          <a:xfrm>
            <a:off x="3344875" y="3886200"/>
            <a:ext cx="1181405"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Poor Visualization</a:t>
            </a:r>
            <a:endParaRPr lang="en-US" sz="900" dirty="0">
              <a:ea typeface="Noto Sans SC" panose="020B0200000000000000" pitchFamily="34" charset="-122"/>
              <a:cs typeface="Noto Sans SC" panose="020B0200000000000000" pitchFamily="34" charset="-122"/>
            </a:endParaRPr>
          </a:p>
        </p:txBody>
      </p:sp>
      <p:pic>
        <p:nvPicPr>
          <p:cNvPr id="40" name="Image 16" descr="preencoded.png"/>
          <p:cNvPicPr>
            <a:picLocks noChangeAspect="1"/>
          </p:cNvPicPr>
          <p:nvPr/>
        </p:nvPicPr>
        <p:blipFill>
          <a:blip r:embed="rId17"/>
          <a:srcRect l="-1358" r="-1358"/>
          <a:stretch>
            <a:fillRect/>
          </a:stretch>
        </p:blipFill>
        <p:spPr>
          <a:xfrm>
            <a:off x="3144622" y="3948379"/>
            <a:ext cx="142646" cy="123444"/>
          </a:xfrm>
          <a:prstGeom prst="rect">
            <a:avLst/>
          </a:prstGeom>
        </p:spPr>
      </p:pic>
      <p:pic>
        <p:nvPicPr>
          <p:cNvPr id="41" name="Image 17" descr="preencoded.png"/>
          <p:cNvPicPr>
            <a:picLocks noChangeAspect="1"/>
          </p:cNvPicPr>
          <p:nvPr/>
        </p:nvPicPr>
        <p:blipFill>
          <a:blip r:embed="rId18"/>
          <a:srcRect l="-97" r="-97"/>
          <a:stretch>
            <a:fillRect/>
          </a:stretch>
        </p:blipFill>
        <p:spPr>
          <a:xfrm>
            <a:off x="4631436" y="3886200"/>
            <a:ext cx="1524305" cy="247802"/>
          </a:xfrm>
          <a:prstGeom prst="rect">
            <a:avLst/>
          </a:prstGeom>
        </p:spPr>
      </p:pic>
      <p:sp>
        <p:nvSpPr>
          <p:cNvPr id="42" name="Text 22"/>
          <p:cNvSpPr/>
          <p:nvPr/>
        </p:nvSpPr>
        <p:spPr>
          <a:xfrm>
            <a:off x="4945990" y="3886200"/>
            <a:ext cx="1209751"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Experience Reliant</a:t>
            </a:r>
            <a:endParaRPr lang="en-US" sz="900" dirty="0">
              <a:ea typeface="Noto Sans SC" panose="020B0200000000000000" pitchFamily="34" charset="-122"/>
              <a:cs typeface="Noto Sans SC" panose="020B0200000000000000" pitchFamily="34" charset="-122"/>
            </a:endParaRPr>
          </a:p>
        </p:txBody>
      </p:sp>
      <p:pic>
        <p:nvPicPr>
          <p:cNvPr id="43" name="Image 18" descr="preencoded.png"/>
          <p:cNvPicPr>
            <a:picLocks noChangeAspect="1"/>
          </p:cNvPicPr>
          <p:nvPr/>
        </p:nvPicPr>
        <p:blipFill>
          <a:blip r:embed="rId19"/>
          <a:srcRect/>
          <a:stretch>
            <a:fillRect/>
          </a:stretch>
        </p:blipFill>
        <p:spPr>
          <a:xfrm>
            <a:off x="4764938" y="3948379"/>
            <a:ext cx="123444" cy="123444"/>
          </a:xfrm>
          <a:prstGeom prst="rect">
            <a:avLst/>
          </a:prstGeom>
        </p:spPr>
      </p:pic>
      <p:pic>
        <p:nvPicPr>
          <p:cNvPr id="44" name="Image 19" descr="preencoded.png"/>
          <p:cNvPicPr>
            <a:picLocks noChangeAspect="1"/>
          </p:cNvPicPr>
          <p:nvPr/>
        </p:nvPicPr>
        <p:blipFill>
          <a:blip r:embed="rId12"/>
          <a:srcRect t="-100" b="-100"/>
          <a:stretch>
            <a:fillRect/>
          </a:stretch>
        </p:blipFill>
        <p:spPr>
          <a:xfrm>
            <a:off x="8055610" y="3129077"/>
            <a:ext cx="114300" cy="152705"/>
          </a:xfrm>
          <a:prstGeom prst="rect">
            <a:avLst/>
          </a:prstGeom>
        </p:spPr>
      </p:pic>
      <p:sp>
        <p:nvSpPr>
          <p:cNvPr id="45" name="Shape 23"/>
          <p:cNvSpPr/>
          <p:nvPr/>
        </p:nvSpPr>
        <p:spPr>
          <a:xfrm>
            <a:off x="875995" y="4809744"/>
            <a:ext cx="609905" cy="609905"/>
          </a:xfrm>
          <a:prstGeom prst="roundRect">
            <a:avLst>
              <a:gd name="adj" fmla="val 56222"/>
            </a:avLst>
          </a:prstGeom>
          <a:solidFill>
            <a:srgbClr val="3B82F6">
              <a:alpha val="10000"/>
            </a:srgbClr>
          </a:solidFill>
          <a:ln w="12700">
            <a:solidFill>
              <a:srgbClr val="FFFFFF">
                <a:alpha val="0"/>
              </a:srgbClr>
            </a:solidFill>
            <a:prstDash val="solid"/>
          </a:ln>
        </p:spPr>
      </p:sp>
      <p:pic>
        <p:nvPicPr>
          <p:cNvPr id="46" name="Image 20" descr="preencoded.png"/>
          <p:cNvPicPr>
            <a:picLocks noChangeAspect="1"/>
          </p:cNvPicPr>
          <p:nvPr/>
        </p:nvPicPr>
        <p:blipFill>
          <a:blip r:embed="rId20"/>
          <a:srcRect/>
          <a:stretch>
            <a:fillRect/>
          </a:stretch>
        </p:blipFill>
        <p:spPr>
          <a:xfrm>
            <a:off x="1014070" y="4981651"/>
            <a:ext cx="333756" cy="267005"/>
          </a:xfrm>
          <a:prstGeom prst="rect">
            <a:avLst/>
          </a:prstGeom>
        </p:spPr>
      </p:pic>
      <p:sp>
        <p:nvSpPr>
          <p:cNvPr id="47" name="Text 24"/>
          <p:cNvSpPr txBox="1"/>
          <p:nvPr/>
        </p:nvSpPr>
        <p:spPr>
          <a:xfrm>
            <a:off x="1714500" y="4552798"/>
            <a:ext cx="9715500" cy="257861"/>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Pain Point 3: Dorm allocation lacks compatibility metrics </a:t>
            </a:r>
            <a:r>
              <a:rPr lang="en-US" sz="12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Satisfaction down 28%</a:t>
            </a:r>
            <a:endParaRPr lang="en-US" sz="1500" dirty="0">
              <a:ea typeface="Noto Sans SC" panose="020B0200000000000000" pitchFamily="34" charset="-122"/>
              <a:cs typeface="Noto Sans SC" panose="020B0200000000000000" pitchFamily="34" charset="-122"/>
            </a:endParaRPr>
          </a:p>
        </p:txBody>
      </p:sp>
      <p:sp>
        <p:nvSpPr>
          <p:cNvPr id="48" name="Text 25"/>
          <p:cNvSpPr txBox="1"/>
          <p:nvPr/>
        </p:nvSpPr>
        <p:spPr>
          <a:xfrm>
            <a:off x="1714500" y="4867351"/>
            <a:ext cx="9715500" cy="400507"/>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Dormitory allocations typically lack quantifiable support for living habits, daily routines, and compatibility. Subsequent conflict resolution costs are high, and student satisfaction is hard to guarantee.</a:t>
            </a:r>
            <a:endParaRPr lang="en-US" sz="1100" dirty="0">
              <a:ea typeface="Noto Sans SC" panose="020B0200000000000000" pitchFamily="34" charset="-122"/>
              <a:cs typeface="Noto Sans SC" panose="020B0200000000000000" pitchFamily="34" charset="-122"/>
            </a:endParaRPr>
          </a:p>
        </p:txBody>
      </p:sp>
      <p:pic>
        <p:nvPicPr>
          <p:cNvPr id="49" name="Image 21" descr="preencoded.png"/>
          <p:cNvPicPr>
            <a:picLocks noChangeAspect="1"/>
          </p:cNvPicPr>
          <p:nvPr/>
        </p:nvPicPr>
        <p:blipFill>
          <a:blip r:embed="rId21"/>
          <a:srcRect l="-161" r="-161"/>
          <a:stretch>
            <a:fillRect/>
          </a:stretch>
        </p:blipFill>
        <p:spPr>
          <a:xfrm>
            <a:off x="1714500" y="5362956"/>
            <a:ext cx="1266444" cy="247802"/>
          </a:xfrm>
          <a:prstGeom prst="rect">
            <a:avLst/>
          </a:prstGeom>
        </p:spPr>
      </p:pic>
      <p:sp>
        <p:nvSpPr>
          <p:cNvPr id="50" name="Text 26"/>
          <p:cNvSpPr/>
          <p:nvPr/>
        </p:nvSpPr>
        <p:spPr>
          <a:xfrm>
            <a:off x="2029054" y="5362956"/>
            <a:ext cx="952805"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Low Matching</a:t>
            </a:r>
            <a:endParaRPr lang="en-US" sz="900" dirty="0">
              <a:ea typeface="Noto Sans SC" panose="020B0200000000000000" pitchFamily="34" charset="-122"/>
              <a:cs typeface="Noto Sans SC" panose="020B0200000000000000" pitchFamily="34" charset="-122"/>
            </a:endParaRPr>
          </a:p>
        </p:txBody>
      </p:sp>
      <p:pic>
        <p:nvPicPr>
          <p:cNvPr id="51" name="Image 22" descr="preencoded.png"/>
          <p:cNvPicPr>
            <a:picLocks noChangeAspect="1"/>
          </p:cNvPicPr>
          <p:nvPr/>
        </p:nvPicPr>
        <p:blipFill>
          <a:blip r:embed="rId22"/>
          <a:srcRect/>
          <a:stretch>
            <a:fillRect/>
          </a:stretch>
        </p:blipFill>
        <p:spPr>
          <a:xfrm>
            <a:off x="1848002" y="5424221"/>
            <a:ext cx="123444" cy="123444"/>
          </a:xfrm>
          <a:prstGeom prst="rect">
            <a:avLst/>
          </a:prstGeom>
        </p:spPr>
      </p:pic>
      <p:pic>
        <p:nvPicPr>
          <p:cNvPr id="52" name="Image 23" descr="preencoded.png"/>
          <p:cNvPicPr>
            <a:picLocks noChangeAspect="1"/>
          </p:cNvPicPr>
          <p:nvPr/>
        </p:nvPicPr>
        <p:blipFill>
          <a:blip r:embed="rId23"/>
          <a:srcRect l="-186" r="-186"/>
          <a:stretch>
            <a:fillRect/>
          </a:stretch>
        </p:blipFill>
        <p:spPr>
          <a:xfrm>
            <a:off x="3090672" y="5362956"/>
            <a:ext cx="1362456" cy="247802"/>
          </a:xfrm>
          <a:prstGeom prst="rect">
            <a:avLst/>
          </a:prstGeom>
        </p:spPr>
      </p:pic>
      <p:sp>
        <p:nvSpPr>
          <p:cNvPr id="53" name="Text 27"/>
          <p:cNvSpPr/>
          <p:nvPr/>
        </p:nvSpPr>
        <p:spPr>
          <a:xfrm>
            <a:off x="3433572" y="5362956"/>
            <a:ext cx="1019556"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Fairness Issues</a:t>
            </a:r>
            <a:endParaRPr lang="en-US" sz="900" dirty="0">
              <a:ea typeface="Noto Sans SC" panose="020B0200000000000000" pitchFamily="34" charset="-122"/>
              <a:cs typeface="Noto Sans SC" panose="020B0200000000000000" pitchFamily="34" charset="-122"/>
            </a:endParaRPr>
          </a:p>
        </p:txBody>
      </p:sp>
      <p:pic>
        <p:nvPicPr>
          <p:cNvPr id="54" name="Image 24" descr="preencoded.png"/>
          <p:cNvPicPr>
            <a:picLocks noChangeAspect="1"/>
          </p:cNvPicPr>
          <p:nvPr/>
        </p:nvPicPr>
        <p:blipFill>
          <a:blip r:embed="rId24"/>
          <a:srcRect t="-524" b="-524"/>
          <a:stretch>
            <a:fillRect/>
          </a:stretch>
        </p:blipFill>
        <p:spPr>
          <a:xfrm>
            <a:off x="3224174" y="5424221"/>
            <a:ext cx="152705" cy="123444"/>
          </a:xfrm>
          <a:prstGeom prst="rect">
            <a:avLst/>
          </a:prstGeom>
        </p:spPr>
      </p:pic>
      <p:pic>
        <p:nvPicPr>
          <p:cNvPr id="55" name="Image 25" descr="preencoded.png"/>
          <p:cNvPicPr>
            <a:picLocks noChangeAspect="1"/>
          </p:cNvPicPr>
          <p:nvPr/>
        </p:nvPicPr>
        <p:blipFill>
          <a:blip r:embed="rId25"/>
          <a:srcRect l="-94" r="-94"/>
          <a:stretch>
            <a:fillRect/>
          </a:stretch>
        </p:blipFill>
        <p:spPr>
          <a:xfrm>
            <a:off x="4561027" y="5362956"/>
            <a:ext cx="1762049" cy="247802"/>
          </a:xfrm>
          <a:prstGeom prst="rect">
            <a:avLst/>
          </a:prstGeom>
        </p:spPr>
      </p:pic>
      <p:sp>
        <p:nvSpPr>
          <p:cNvPr id="56" name="Text 28"/>
          <p:cNvSpPr/>
          <p:nvPr/>
        </p:nvSpPr>
        <p:spPr>
          <a:xfrm>
            <a:off x="4903927" y="5362956"/>
            <a:ext cx="1420063"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Cohabitation Conflicts</a:t>
            </a:r>
            <a:endParaRPr lang="en-US" sz="900" dirty="0">
              <a:ea typeface="Noto Sans SC" panose="020B0200000000000000" pitchFamily="34" charset="-122"/>
              <a:cs typeface="Noto Sans SC" panose="020B0200000000000000" pitchFamily="34" charset="-122"/>
            </a:endParaRPr>
          </a:p>
        </p:txBody>
      </p:sp>
      <p:pic>
        <p:nvPicPr>
          <p:cNvPr id="57" name="Image 26" descr="preencoded.png"/>
          <p:cNvPicPr>
            <a:picLocks noChangeAspect="1"/>
          </p:cNvPicPr>
          <p:nvPr/>
        </p:nvPicPr>
        <p:blipFill>
          <a:blip r:embed="rId26"/>
          <a:srcRect t="-524" b="-524"/>
          <a:stretch>
            <a:fillRect/>
          </a:stretch>
        </p:blipFill>
        <p:spPr>
          <a:xfrm>
            <a:off x="4694530" y="5424221"/>
            <a:ext cx="152705" cy="123444"/>
          </a:xfrm>
          <a:prstGeom prst="rect">
            <a:avLst/>
          </a:prstGeom>
        </p:spPr>
      </p:pic>
      <p:pic>
        <p:nvPicPr>
          <p:cNvPr id="58" name="Image 27" descr="preencoded.png"/>
          <p:cNvPicPr>
            <a:picLocks noChangeAspect="1"/>
          </p:cNvPicPr>
          <p:nvPr/>
        </p:nvPicPr>
        <p:blipFill>
          <a:blip r:embed="rId12"/>
          <a:srcRect t="-100" b="-100"/>
          <a:stretch>
            <a:fillRect/>
          </a:stretch>
        </p:blipFill>
        <p:spPr>
          <a:xfrm>
            <a:off x="8169961" y="4604918"/>
            <a:ext cx="114300" cy="152705"/>
          </a:xfrm>
          <a:prstGeom prst="rect">
            <a:avLst/>
          </a:prstGeom>
        </p:spPr>
      </p:pic>
      <p:sp>
        <p:nvSpPr>
          <p:cNvPr id="59" name="Text 29"/>
          <p:cNvSpPr txBox="1"/>
          <p:nvPr/>
        </p:nvSpPr>
        <p:spPr>
          <a:xfrm>
            <a:off x="875995" y="6048756"/>
            <a:ext cx="10439705" cy="457200"/>
          </a:xfrm>
          <a:prstGeom prst="rect">
            <a:avLst/>
          </a:prstGeom>
          <a:noFill/>
        </p:spPr>
        <p:txBody>
          <a:bodyPr wrap="square" lIns="0" tIns="0" rIns="0" bIns="0" rtlCol="0" anchor="ctr"/>
          <a:lstStyle/>
          <a:p>
            <a:pPr marL="0" indent="0" algn="l">
              <a:buNone/>
            </a:pPr>
            <a:r>
              <a:rPr lang="en-US" sz="12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Solution Goal: </a:t>
            </a:r>
            <a:r>
              <a:rPr lang="en-US" sz="12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Establish a unified, visual, traceable, and explainable matching dormitory management system, transforming from "experience-driven" to "data-driven". </a:t>
            </a:r>
            <a:endParaRPr lang="en-US" sz="1200" dirty="0">
              <a:ea typeface="Noto Sans SC" panose="020B0200000000000000" pitchFamily="34" charset="-122"/>
              <a:cs typeface="Noto Sans SC" panose="020B0200000000000000"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12" name="Shape 15"/>
          <p:cNvSpPr/>
          <p:nvPr/>
        </p:nvSpPr>
        <p:spPr>
          <a:xfrm>
            <a:off x="3446780" y="4343400"/>
            <a:ext cx="5841365" cy="1764665"/>
          </a:xfrm>
          <a:prstGeom prst="roundRect">
            <a:avLst>
              <a:gd name="adj" fmla="val 8000"/>
            </a:avLst>
          </a:prstGeom>
          <a:solidFill>
            <a:srgbClr val="2A2D33"/>
          </a:solidFill>
          <a:ln w="12700">
            <a:solidFill>
              <a:srgbClr val="3A3D45"/>
            </a:solidFill>
            <a:prstDash val="solid"/>
          </a:ln>
        </p:spPr>
      </p:sp>
      <p:sp>
        <p:nvSpPr>
          <p:cNvPr id="11" name="Shape 15"/>
          <p:cNvSpPr/>
          <p:nvPr/>
        </p:nvSpPr>
        <p:spPr>
          <a:xfrm>
            <a:off x="6854190" y="1508760"/>
            <a:ext cx="4660900" cy="1664335"/>
          </a:xfrm>
          <a:prstGeom prst="roundRect">
            <a:avLst>
              <a:gd name="adj" fmla="val 8000"/>
            </a:avLst>
          </a:prstGeom>
          <a:solidFill>
            <a:srgbClr val="2A2D33"/>
          </a:solidFill>
          <a:ln w="12700">
            <a:solidFill>
              <a:srgbClr val="3A3D45"/>
            </a:solidFill>
            <a:prstDash val="solid"/>
          </a:ln>
        </p:spPr>
      </p:sp>
      <p:sp>
        <p:nvSpPr>
          <p:cNvPr id="40" name="Shape 15"/>
          <p:cNvSpPr/>
          <p:nvPr/>
        </p:nvSpPr>
        <p:spPr>
          <a:xfrm>
            <a:off x="567690" y="1522730"/>
            <a:ext cx="4660900" cy="1664335"/>
          </a:xfrm>
          <a:prstGeom prst="roundRect">
            <a:avLst>
              <a:gd name="adj" fmla="val 8000"/>
            </a:avLst>
          </a:prstGeom>
          <a:solidFill>
            <a:srgbClr val="2A2D33"/>
          </a:solidFill>
          <a:ln w="12700">
            <a:solidFill>
              <a:srgbClr val="3A3D45"/>
            </a:solidFill>
            <a:prstDash val="solid"/>
          </a:ln>
        </p:spPr>
      </p:sp>
      <p:sp>
        <p:nvSpPr>
          <p:cNvPr id="9" name="Text 4"/>
          <p:cNvSpPr txBox="1"/>
          <p:nvPr/>
        </p:nvSpPr>
        <p:spPr>
          <a:xfrm>
            <a:off x="2125980" y="1727200"/>
            <a:ext cx="2179930" cy="277063"/>
          </a:xfrm>
          <a:prstGeom prst="rect">
            <a:avLst/>
          </a:prstGeom>
          <a:noFill/>
        </p:spPr>
        <p:txBody>
          <a:bodyPr wrap="square" lIns="0" tIns="0" rIns="0" bIns="0" rtlCol="0" anchor="ctr"/>
          <a:lstStyle/>
          <a:p>
            <a:pPr marL="0" indent="0" algn="ctr">
              <a:buNone/>
            </a:pP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Manual Operations</a:t>
            </a:r>
            <a:endPar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a:p>
            <a:pPr marL="0" indent="0" algn="ctr">
              <a:buNone/>
            </a:pPr>
            <a:r>
              <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rPr>
              <a:t>Paper-based records</a:t>
            </a:r>
            <a:endPar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13" name="Text 6"/>
          <p:cNvSpPr txBox="1"/>
          <p:nvPr/>
        </p:nvSpPr>
        <p:spPr>
          <a:xfrm>
            <a:off x="2057400" y="2216785"/>
            <a:ext cx="2179930" cy="277063"/>
          </a:xfrm>
          <a:prstGeom prst="rect">
            <a:avLst/>
          </a:prstGeom>
          <a:noFill/>
        </p:spPr>
        <p:txBody>
          <a:bodyPr wrap="square" lIns="0" tIns="0" rIns="0" bIns="0" rtlCol="0" anchor="ctr"/>
          <a:lstStyle/>
          <a:p>
            <a:pPr marL="0" indent="0" algn="ctr">
              <a:buNone/>
            </a:pP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Data Blindness</a:t>
            </a:r>
            <a:endPar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a:p>
            <a:pPr marL="0" indent="0" algn="ctr">
              <a:buNone/>
            </a:pPr>
            <a:r>
              <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rPr>
              <a:t>No real-time dashboard</a:t>
            </a:r>
            <a:endPar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17" name="Text 8"/>
          <p:cNvSpPr txBox="1"/>
          <p:nvPr/>
        </p:nvSpPr>
        <p:spPr>
          <a:xfrm>
            <a:off x="2189429" y="2706370"/>
            <a:ext cx="2238451" cy="277063"/>
          </a:xfrm>
          <a:prstGeom prst="rect">
            <a:avLst/>
          </a:prstGeom>
          <a:noFill/>
        </p:spPr>
        <p:txBody>
          <a:bodyPr wrap="square" lIns="0" tIns="0" rIns="0" bIns="0" rtlCol="0" anchor="ctr"/>
          <a:lstStyle/>
          <a:p>
            <a:pPr marL="0" indent="0" algn="ctr">
              <a:buNone/>
            </a:pP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Conflict Management</a:t>
            </a:r>
            <a:endPar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a:p>
            <a:pPr marL="0" indent="0" algn="ctr">
              <a:buNone/>
            </a:pPr>
            <a:r>
              <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rPr>
              <a:t>Subjective allocation</a:t>
            </a:r>
            <a:endPar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20" name="文本框 19"/>
          <p:cNvSpPr txBox="1"/>
          <p:nvPr/>
        </p:nvSpPr>
        <p:spPr>
          <a:xfrm>
            <a:off x="673735" y="1727200"/>
            <a:ext cx="1515745" cy="829945"/>
          </a:xfrm>
          <a:prstGeom prst="rect">
            <a:avLst/>
          </a:prstGeom>
          <a:noFill/>
        </p:spPr>
        <p:txBody>
          <a:bodyPr wrap="square" rtlCol="0">
            <a:spAutoFit/>
          </a:bodyPr>
          <a:p>
            <a:r>
              <a:rPr lang="en-US" sz="2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Current Situation</a:t>
            </a:r>
            <a:endParaRPr lang="en-US" sz="2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22" name="Shape 11"/>
          <p:cNvSpPr/>
          <p:nvPr>
            <p:custDataLst>
              <p:tags r:id="rId1"/>
            </p:custDataLst>
          </p:nvPr>
        </p:nvSpPr>
        <p:spPr>
          <a:xfrm flipH="1">
            <a:off x="489585" y="1485265"/>
            <a:ext cx="76200" cy="1701800"/>
          </a:xfrm>
          <a:prstGeom prst="rect">
            <a:avLst/>
          </a:prstGeom>
          <a:solidFill>
            <a:srgbClr val="4FC3F7"/>
          </a:solidFill>
          <a:ln w="12700">
            <a:solidFill>
              <a:srgbClr val="4FC3F7">
                <a:alpha val="0"/>
              </a:srgbClr>
            </a:solidFill>
            <a:prstDash val="solid"/>
          </a:ln>
        </p:spPr>
        <p:txBody>
          <a:bodyPr/>
          <a:lstStyle/>
          <a:p>
            <a:endParaRPr lang="zh-CN" altLang="en-US">
              <a:cs typeface="Noto Sans SC" panose="020B0200000000000000" pitchFamily="34" charset="-122"/>
            </a:endParaRPr>
          </a:p>
        </p:txBody>
      </p:sp>
      <p:sp>
        <p:nvSpPr>
          <p:cNvPr id="23" name="Shape 11"/>
          <p:cNvSpPr/>
          <p:nvPr>
            <p:custDataLst>
              <p:tags r:id="rId2"/>
            </p:custDataLst>
          </p:nvPr>
        </p:nvSpPr>
        <p:spPr>
          <a:xfrm flipH="1">
            <a:off x="5240655" y="2139950"/>
            <a:ext cx="1577975" cy="76200"/>
          </a:xfrm>
          <a:prstGeom prst="rect">
            <a:avLst/>
          </a:prstGeom>
          <a:solidFill>
            <a:srgbClr val="4FC3F7"/>
          </a:solidFill>
          <a:ln w="12700">
            <a:solidFill>
              <a:srgbClr val="4FC3F7">
                <a:alpha val="0"/>
              </a:srgbClr>
            </a:solidFill>
            <a:prstDash val="solid"/>
          </a:ln>
        </p:spPr>
        <p:txBody>
          <a:bodyPr/>
          <a:lstStyle/>
          <a:p>
            <a:endParaRPr lang="zh-CN" altLang="en-US">
              <a:cs typeface="Noto Sans SC" panose="020B0200000000000000" pitchFamily="34" charset="-122"/>
            </a:endParaRPr>
          </a:p>
        </p:txBody>
      </p:sp>
      <p:sp>
        <p:nvSpPr>
          <p:cNvPr id="24" name="Text 4"/>
          <p:cNvSpPr txBox="1"/>
          <p:nvPr/>
        </p:nvSpPr>
        <p:spPr>
          <a:xfrm>
            <a:off x="8138795" y="1485265"/>
            <a:ext cx="3063875" cy="1497965"/>
          </a:xfrm>
          <a:prstGeom prst="rect">
            <a:avLst/>
          </a:prstGeom>
          <a:noFill/>
        </p:spPr>
        <p:txBody>
          <a:bodyPr wrap="square" lIns="0" tIns="0" rIns="0" bIns="0" rtlCol="0" anchor="ctr"/>
          <a:lstStyle/>
          <a:p>
            <a:pPr marL="0" indent="0" algn="l">
              <a:buNone/>
            </a:pPr>
            <a:r>
              <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rPr>
              <a:t>To transform traditional dormitory management  into a</a:t>
            </a: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 digital, data-driven, and intelligent </a:t>
            </a:r>
            <a:r>
              <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rPr>
              <a:t>management system</a:t>
            </a:r>
            <a:endPar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27" name="文本框 26"/>
          <p:cNvSpPr txBox="1"/>
          <p:nvPr/>
        </p:nvSpPr>
        <p:spPr>
          <a:xfrm>
            <a:off x="6958330" y="1947545"/>
            <a:ext cx="1515745" cy="460375"/>
          </a:xfrm>
          <a:prstGeom prst="rect">
            <a:avLst/>
          </a:prstGeom>
          <a:noFill/>
        </p:spPr>
        <p:txBody>
          <a:bodyPr wrap="square" rtlCol="0">
            <a:spAutoFit/>
          </a:bodyPr>
          <a:p>
            <a:r>
              <a:rPr lang="en-US" altLang="zh-CN" sz="2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Vision</a:t>
            </a:r>
            <a:endParaRPr lang="en-US" altLang="zh-CN" sz="2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28" name="Shape 7"/>
          <p:cNvSpPr/>
          <p:nvPr>
            <p:custDataLst>
              <p:tags r:id="rId3"/>
            </p:custDataLst>
          </p:nvPr>
        </p:nvSpPr>
        <p:spPr>
          <a:xfrm>
            <a:off x="6868160" y="1508760"/>
            <a:ext cx="4595495" cy="1678940"/>
          </a:xfrm>
          <a:prstGeom prst="rect">
            <a:avLst/>
          </a:prstGeom>
          <a:solidFill>
            <a:srgbClr val="FFFFFF">
              <a:alpha val="5000"/>
            </a:srgbClr>
          </a:solidFill>
        </p:spPr>
        <p:txBody>
          <a:bodyPr/>
          <a:lstStyle/>
          <a:p>
            <a:endParaRPr lang="zh-CN" altLang="en-US">
              <a:cs typeface="Noto Sans SC" panose="020B0200000000000000" pitchFamily="34" charset="-122"/>
            </a:endParaRPr>
          </a:p>
        </p:txBody>
      </p:sp>
      <p:sp>
        <p:nvSpPr>
          <p:cNvPr id="29" name="Shape 11"/>
          <p:cNvSpPr/>
          <p:nvPr>
            <p:custDataLst>
              <p:tags r:id="rId4"/>
            </p:custDataLst>
          </p:nvPr>
        </p:nvSpPr>
        <p:spPr>
          <a:xfrm flipH="1">
            <a:off x="6791960" y="1509395"/>
            <a:ext cx="76200" cy="1682115"/>
          </a:xfrm>
          <a:prstGeom prst="rect">
            <a:avLst/>
          </a:prstGeom>
          <a:solidFill>
            <a:srgbClr val="4FC3F7"/>
          </a:solidFill>
          <a:ln w="12700">
            <a:solidFill>
              <a:srgbClr val="4FC3F7">
                <a:alpha val="0"/>
              </a:srgbClr>
            </a:solidFill>
            <a:prstDash val="solid"/>
          </a:ln>
        </p:spPr>
        <p:txBody>
          <a:bodyPr/>
          <a:lstStyle/>
          <a:p>
            <a:endParaRPr lang="zh-CN" altLang="en-US">
              <a:cs typeface="Noto Sans SC" panose="020B0200000000000000" pitchFamily="34" charset="-122"/>
            </a:endParaRPr>
          </a:p>
        </p:txBody>
      </p:sp>
      <p:sp>
        <p:nvSpPr>
          <p:cNvPr id="31" name="Shape 11"/>
          <p:cNvSpPr/>
          <p:nvPr>
            <p:custDataLst>
              <p:tags r:id="rId5"/>
            </p:custDataLst>
          </p:nvPr>
        </p:nvSpPr>
        <p:spPr>
          <a:xfrm flipH="1">
            <a:off x="5977890" y="2216150"/>
            <a:ext cx="76200" cy="2138045"/>
          </a:xfrm>
          <a:prstGeom prst="rect">
            <a:avLst/>
          </a:prstGeom>
          <a:solidFill>
            <a:srgbClr val="4FC3F7"/>
          </a:solidFill>
          <a:ln w="12700">
            <a:solidFill>
              <a:srgbClr val="4FC3F7">
                <a:alpha val="0"/>
              </a:srgbClr>
            </a:solidFill>
            <a:prstDash val="solid"/>
          </a:ln>
        </p:spPr>
        <p:txBody>
          <a:bodyPr/>
          <a:lstStyle/>
          <a:p>
            <a:endParaRPr lang="zh-CN" altLang="en-US">
              <a:cs typeface="Noto Sans SC" panose="020B0200000000000000" pitchFamily="34" charset="-122"/>
            </a:endParaRPr>
          </a:p>
        </p:txBody>
      </p:sp>
      <p:sp>
        <p:nvSpPr>
          <p:cNvPr id="32" name="Text 4"/>
          <p:cNvSpPr txBox="1"/>
          <p:nvPr/>
        </p:nvSpPr>
        <p:spPr>
          <a:xfrm>
            <a:off x="5356860" y="4809490"/>
            <a:ext cx="3919220" cy="756920"/>
          </a:xfrm>
          <a:prstGeom prst="rect">
            <a:avLst/>
          </a:prstGeom>
          <a:noFill/>
        </p:spPr>
        <p:txBody>
          <a:bodyPr wrap="square" lIns="0" tIns="0" rIns="0" bIns="0" rtlCol="0" anchor="ctr"/>
          <a:lstStyle/>
          <a:p>
            <a:pPr marL="0" indent="0" algn="l">
              <a:buNone/>
            </a:pPr>
            <a:r>
              <a:rPr lang="en-US" altLang="zh-CN"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rPr>
              <a:t>Reduce manual </a:t>
            </a:r>
            <a:r>
              <a:rPr lang="en-US" altLang="zh-CN"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workload</a:t>
            </a:r>
            <a:r>
              <a:rPr lang="en-US" altLang="zh-CN"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rPr>
              <a:t> and </a:t>
            </a:r>
            <a:r>
              <a:rPr lang="en-US" altLang="zh-CN"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record errors</a:t>
            </a:r>
            <a:r>
              <a:rPr lang="en-US" altLang="zh-CN"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altLang="zh-CN"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endParaRPr>
          </a:p>
          <a:p>
            <a:pPr marL="0" indent="0" algn="l">
              <a:buNone/>
            </a:pPr>
            <a:endParaRPr lang="en-US" altLang="zh-CN"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endParaRPr>
          </a:p>
          <a:p>
            <a:pPr marL="0" indent="0" algn="l">
              <a:buNone/>
            </a:pPr>
            <a:r>
              <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rPr>
              <a:t>Provide real-time visibility of </a:t>
            </a: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occupancy</a:t>
            </a:r>
            <a:r>
              <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rPr>
              <a:t>, </a:t>
            </a: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repairs,</a:t>
            </a:r>
            <a:r>
              <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rPr>
              <a:t> and student </a:t>
            </a: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records</a:t>
            </a:r>
            <a:r>
              <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endParaRPr>
          </a:p>
          <a:p>
            <a:pPr marL="0" indent="0" algn="l">
              <a:buNone/>
            </a:pPr>
            <a:endPar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endParaRPr>
          </a:p>
          <a:p>
            <a:pPr marL="0" indent="0" algn="l">
              <a:buNone/>
            </a:pPr>
            <a:r>
              <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rPr>
              <a:t>Support more informed roommate </a:t>
            </a: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allocation</a:t>
            </a:r>
            <a:r>
              <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rPr>
              <a:t> and better student living experience.</a:t>
            </a:r>
            <a:endParaRPr lang="en-US" sz="1400" b="1"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35" name="文本框 34"/>
          <p:cNvSpPr txBox="1"/>
          <p:nvPr/>
        </p:nvSpPr>
        <p:spPr>
          <a:xfrm>
            <a:off x="3724910" y="4833620"/>
            <a:ext cx="1515745" cy="829945"/>
          </a:xfrm>
          <a:prstGeom prst="rect">
            <a:avLst/>
          </a:prstGeom>
          <a:noFill/>
        </p:spPr>
        <p:txBody>
          <a:bodyPr wrap="square" rtlCol="0">
            <a:spAutoFit/>
          </a:bodyPr>
          <a:p>
            <a:r>
              <a:rPr lang="en-US" altLang="zh-CN" sz="2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Expected Value</a:t>
            </a:r>
            <a:endParaRPr lang="en-US" altLang="zh-CN" sz="2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p:txBody>
      </p:sp>
      <p:pic>
        <p:nvPicPr>
          <p:cNvPr id="6" name="Image 0" descr="preencoded.png"/>
          <p:cNvPicPr>
            <a:picLocks noChangeAspect="1"/>
          </p:cNvPicPr>
          <p:nvPr/>
        </p:nvPicPr>
        <p:blipFill>
          <a:blip r:embed="rId6"/>
          <a:srcRect l="-19" r="-19"/>
          <a:stretch>
            <a:fillRect/>
          </a:stretch>
        </p:blipFill>
        <p:spPr>
          <a:xfrm>
            <a:off x="0" y="0"/>
            <a:ext cx="12191695" cy="761695"/>
          </a:xfrm>
          <a:prstGeom prst="rect">
            <a:avLst/>
          </a:prstGeom>
        </p:spPr>
      </p:pic>
      <p:sp>
        <p:nvSpPr>
          <p:cNvPr id="37" name="Shape 11"/>
          <p:cNvSpPr/>
          <p:nvPr>
            <p:custDataLst>
              <p:tags r:id="rId7"/>
            </p:custDataLst>
          </p:nvPr>
        </p:nvSpPr>
        <p:spPr>
          <a:xfrm flipH="1">
            <a:off x="3369945" y="4317365"/>
            <a:ext cx="76835" cy="1790700"/>
          </a:xfrm>
          <a:prstGeom prst="rect">
            <a:avLst/>
          </a:prstGeom>
          <a:solidFill>
            <a:srgbClr val="4FC3F7"/>
          </a:solidFill>
          <a:ln w="12700">
            <a:solidFill>
              <a:srgbClr val="4FC3F7">
                <a:alpha val="0"/>
              </a:srgbClr>
            </a:solidFill>
            <a:prstDash val="solid"/>
          </a:ln>
        </p:spPr>
        <p:txBody>
          <a:bodyPr/>
          <a:lstStyle/>
          <a:p>
            <a:endParaRPr lang="zh-CN" altLang="en-US">
              <a:cs typeface="Noto Sans SC" panose="020B0200000000000000" pitchFamily="34" charset="-122"/>
            </a:endParaRPr>
          </a:p>
        </p:txBody>
      </p:sp>
      <p:sp>
        <p:nvSpPr>
          <p:cNvPr id="19" name="Text 10"/>
          <p:cNvSpPr txBox="1"/>
          <p:nvPr/>
        </p:nvSpPr>
        <p:spPr>
          <a:xfrm>
            <a:off x="4427855" y="85700"/>
            <a:ext cx="11468405" cy="590702"/>
          </a:xfrm>
          <a:prstGeom prst="rect">
            <a:avLst/>
          </a:prstGeom>
          <a:noFill/>
        </p:spPr>
        <p:txBody>
          <a:bodyPr wrap="square" lIns="0" tIns="0" rIns="0" bIns="0" rtlCol="0" anchor="ctr"/>
          <a:lstStyle/>
          <a:p>
            <a:pPr marL="0" indent="0" algn="l">
              <a:buNone/>
            </a:pPr>
            <a:r>
              <a:rPr lang="en-US" sz="3200" b="1" kern="0" spc="38"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Vision Statement</a:t>
            </a:r>
            <a:endParaRPr lang="en-US" sz="3200" b="1" kern="0" spc="38" dirty="0">
              <a:solidFill>
                <a:schemeClr val="bg1"/>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11" name="Shape 15"/>
          <p:cNvSpPr/>
          <p:nvPr/>
        </p:nvSpPr>
        <p:spPr>
          <a:xfrm>
            <a:off x="2570480" y="4970145"/>
            <a:ext cx="7035800" cy="1331595"/>
          </a:xfrm>
          <a:prstGeom prst="roundRect">
            <a:avLst>
              <a:gd name="adj" fmla="val 8000"/>
            </a:avLst>
          </a:prstGeom>
          <a:solidFill>
            <a:srgbClr val="2A2D33"/>
          </a:solidFill>
          <a:ln w="12700">
            <a:solidFill>
              <a:srgbClr val="3A3D45"/>
            </a:solidFill>
            <a:prstDash val="solid"/>
          </a:ln>
        </p:spPr>
        <p:txBody>
          <a:bodyPr/>
          <a:p>
            <a:endParaRPr lang="zh-CN" altLang="en-US">
              <a:cs typeface="Noto Sans SC" panose="020B0200000000000000" pitchFamily="34" charset="-122"/>
            </a:endParaRPr>
          </a:p>
        </p:txBody>
      </p:sp>
      <p:sp>
        <p:nvSpPr>
          <p:cNvPr id="10" name="Shape 15"/>
          <p:cNvSpPr/>
          <p:nvPr/>
        </p:nvSpPr>
        <p:spPr>
          <a:xfrm>
            <a:off x="2570480" y="3213735"/>
            <a:ext cx="7035800" cy="1331595"/>
          </a:xfrm>
          <a:prstGeom prst="roundRect">
            <a:avLst>
              <a:gd name="adj" fmla="val 8000"/>
            </a:avLst>
          </a:prstGeom>
          <a:solidFill>
            <a:srgbClr val="2A2D33"/>
          </a:solidFill>
          <a:ln w="12700">
            <a:solidFill>
              <a:srgbClr val="3A3D45"/>
            </a:solidFill>
            <a:prstDash val="solid"/>
          </a:ln>
        </p:spPr>
        <p:txBody>
          <a:bodyPr/>
          <a:p>
            <a:endParaRPr lang="zh-CN" altLang="en-US">
              <a:cs typeface="Noto Sans SC" panose="020B0200000000000000" pitchFamily="34" charset="-122"/>
            </a:endParaRPr>
          </a:p>
        </p:txBody>
      </p:sp>
      <p:sp>
        <p:nvSpPr>
          <p:cNvPr id="40" name="Shape 15"/>
          <p:cNvSpPr/>
          <p:nvPr/>
        </p:nvSpPr>
        <p:spPr>
          <a:xfrm>
            <a:off x="2570480" y="1396365"/>
            <a:ext cx="7035800" cy="1331595"/>
          </a:xfrm>
          <a:prstGeom prst="roundRect">
            <a:avLst>
              <a:gd name="adj" fmla="val 8000"/>
            </a:avLst>
          </a:prstGeom>
          <a:solidFill>
            <a:srgbClr val="2A2D33"/>
          </a:solidFill>
          <a:ln w="12700">
            <a:solidFill>
              <a:srgbClr val="3A3D45"/>
            </a:solidFill>
            <a:prstDash val="solid"/>
          </a:ln>
        </p:spPr>
        <p:txBody>
          <a:bodyPr/>
          <a:p>
            <a:endParaRPr lang="zh-CN" altLang="en-US">
              <a:cs typeface="Noto Sans SC" panose="020B0200000000000000" pitchFamily="34" charset="-122"/>
            </a:endParaRPr>
          </a:p>
        </p:txBody>
      </p:sp>
      <p:pic>
        <p:nvPicPr>
          <p:cNvPr id="7"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12" name="Text 8"/>
          <p:cNvSpPr txBox="1"/>
          <p:nvPr/>
        </p:nvSpPr>
        <p:spPr>
          <a:xfrm>
            <a:off x="295351" y="-150165"/>
            <a:ext cx="11601907" cy="1077163"/>
          </a:xfrm>
          <a:prstGeom prst="rect">
            <a:avLst/>
          </a:prstGeom>
          <a:noFill/>
        </p:spPr>
        <p:txBody>
          <a:bodyPr wrap="square" lIns="0" tIns="0" rIns="0" bIns="0" rtlCol="0" anchor="ctr"/>
          <a:lstStyle/>
          <a:p>
            <a:pPr marL="0" indent="0" algn="ctr">
              <a:buNone/>
            </a:pPr>
            <a:r>
              <a:rPr lang="en-US" sz="38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Scope of Project</a:t>
            </a:r>
            <a:endParaRPr lang="en-US" sz="3800" dirty="0">
              <a:ea typeface="Noto Sans SC" panose="020B0200000000000000" pitchFamily="34" charset="-122"/>
              <a:cs typeface="Noto Sans SC" panose="020B0200000000000000" pitchFamily="34" charset="-122"/>
            </a:endParaRPr>
          </a:p>
        </p:txBody>
      </p:sp>
      <p:sp>
        <p:nvSpPr>
          <p:cNvPr id="13" name="Text 9"/>
          <p:cNvSpPr txBox="1"/>
          <p:nvPr/>
        </p:nvSpPr>
        <p:spPr>
          <a:xfrm>
            <a:off x="295123" y="768883"/>
            <a:ext cx="11544300" cy="324612"/>
          </a:xfrm>
          <a:prstGeom prst="rect">
            <a:avLst/>
          </a:prstGeom>
          <a:noFill/>
        </p:spPr>
        <p:txBody>
          <a:bodyPr wrap="square" lIns="0" tIns="0" rIns="0" bIns="0" rtlCol="0" anchor="ctr"/>
          <a:lstStyle/>
          <a:p>
            <a:pPr marL="0" indent="0" algn="ctr">
              <a:buNone/>
            </a:pPr>
            <a:r>
              <a:rPr lang="en-US" sz="1600" kern="0" spc="75" dirty="0">
                <a:solidFill>
                  <a:srgbClr val="224069"/>
                </a:solidFill>
                <a:latin typeface="Noto Sans SC" panose="020B0200000000000000" pitchFamily="34" charset="-122"/>
                <a:ea typeface="Noto Sans SC" panose="020B0200000000000000" pitchFamily="34" charset="-122"/>
                <a:cs typeface="Noto Sans SC" panose="020B0200000000000000" pitchFamily="34" charset="-120"/>
              </a:rPr>
              <a:t>Overview</a:t>
            </a:r>
            <a:endParaRPr lang="en-US" sz="1600" kern="0" spc="75" dirty="0">
              <a:solidFill>
                <a:srgbClr val="224069"/>
              </a:solidFill>
              <a:latin typeface="Noto Sans SC" panose="020B0200000000000000" pitchFamily="34" charset="-122"/>
              <a:ea typeface="Noto Sans SC" panose="020B0200000000000000" pitchFamily="34" charset="-122"/>
              <a:cs typeface="Noto Sans SC" panose="020B0200000000000000" pitchFamily="34" charset="-120"/>
            </a:endParaRPr>
          </a:p>
        </p:txBody>
      </p:sp>
      <p:pic>
        <p:nvPicPr>
          <p:cNvPr id="28" name="Image 6" descr="preencoded.png"/>
          <p:cNvPicPr>
            <a:picLocks noChangeAspect="1"/>
          </p:cNvPicPr>
          <p:nvPr>
            <p:custDataLst>
              <p:tags r:id="rId2"/>
            </p:custDataLst>
          </p:nvPr>
        </p:nvPicPr>
        <p:blipFill>
          <a:blip r:embed="rId3"/>
          <a:srcRect t="-1013" b="-1013"/>
          <a:stretch>
            <a:fillRect/>
          </a:stretch>
        </p:blipFill>
        <p:spPr>
          <a:xfrm>
            <a:off x="2731135" y="1802130"/>
            <a:ext cx="537845" cy="464185"/>
          </a:xfrm>
          <a:prstGeom prst="rect">
            <a:avLst/>
          </a:prstGeom>
        </p:spPr>
      </p:pic>
      <p:pic>
        <p:nvPicPr>
          <p:cNvPr id="52" name="Image 7" descr="preencoded.png"/>
          <p:cNvPicPr>
            <a:picLocks noChangeAspect="1"/>
          </p:cNvPicPr>
          <p:nvPr>
            <p:custDataLst>
              <p:tags r:id="rId4"/>
            </p:custDataLst>
          </p:nvPr>
        </p:nvPicPr>
        <p:blipFill>
          <a:blip r:embed="rId5"/>
          <a:srcRect l="-320" r="-320"/>
          <a:stretch>
            <a:fillRect/>
          </a:stretch>
        </p:blipFill>
        <p:spPr>
          <a:xfrm>
            <a:off x="6109970" y="2735580"/>
            <a:ext cx="104140" cy="481330"/>
          </a:xfrm>
          <a:prstGeom prst="rect">
            <a:avLst/>
          </a:prstGeom>
        </p:spPr>
      </p:pic>
      <p:pic>
        <p:nvPicPr>
          <p:cNvPr id="55" name="Image 8" descr="preencoded.png"/>
          <p:cNvPicPr>
            <a:picLocks noChangeAspect="1"/>
          </p:cNvPicPr>
          <p:nvPr>
            <p:custDataLst>
              <p:tags r:id="rId6"/>
            </p:custDataLst>
          </p:nvPr>
        </p:nvPicPr>
        <p:blipFill>
          <a:blip r:embed="rId7"/>
          <a:srcRect t="-817" b="-817"/>
          <a:stretch>
            <a:fillRect/>
          </a:stretch>
        </p:blipFill>
        <p:spPr>
          <a:xfrm>
            <a:off x="2731135" y="3616960"/>
            <a:ext cx="418465" cy="464185"/>
          </a:xfrm>
          <a:prstGeom prst="rect">
            <a:avLst/>
          </a:prstGeom>
        </p:spPr>
      </p:pic>
      <p:pic>
        <p:nvPicPr>
          <p:cNvPr id="59" name="Image 9" descr="preencoded.png"/>
          <p:cNvPicPr>
            <a:picLocks noChangeAspect="1"/>
          </p:cNvPicPr>
          <p:nvPr>
            <p:custDataLst>
              <p:tags r:id="rId8"/>
            </p:custDataLst>
          </p:nvPr>
        </p:nvPicPr>
        <p:blipFill>
          <a:blip r:embed="rId5"/>
          <a:srcRect l="-320" r="-320"/>
          <a:stretch>
            <a:fillRect/>
          </a:stretch>
        </p:blipFill>
        <p:spPr>
          <a:xfrm>
            <a:off x="6130290" y="4565015"/>
            <a:ext cx="83820" cy="387985"/>
          </a:xfrm>
          <a:prstGeom prst="rect">
            <a:avLst/>
          </a:prstGeom>
        </p:spPr>
      </p:pic>
      <p:pic>
        <p:nvPicPr>
          <p:cNvPr id="62" name="Image 10" descr="preencoded.png"/>
          <p:cNvPicPr>
            <a:picLocks noChangeAspect="1"/>
          </p:cNvPicPr>
          <p:nvPr>
            <p:custDataLst>
              <p:tags r:id="rId9"/>
            </p:custDataLst>
          </p:nvPr>
        </p:nvPicPr>
        <p:blipFill>
          <a:blip r:embed="rId10"/>
          <a:srcRect/>
          <a:stretch>
            <a:fillRect/>
          </a:stretch>
        </p:blipFill>
        <p:spPr>
          <a:xfrm>
            <a:off x="2731135" y="5387975"/>
            <a:ext cx="487680" cy="464185"/>
          </a:xfrm>
          <a:prstGeom prst="rect">
            <a:avLst/>
          </a:prstGeom>
        </p:spPr>
      </p:pic>
      <p:sp>
        <p:nvSpPr>
          <p:cNvPr id="73" name="文本框 72"/>
          <p:cNvSpPr txBox="1"/>
          <p:nvPr/>
        </p:nvSpPr>
        <p:spPr>
          <a:xfrm>
            <a:off x="3452495" y="1496060"/>
            <a:ext cx="5958205" cy="1045210"/>
          </a:xfrm>
          <a:prstGeom prst="rect">
            <a:avLst/>
          </a:prstGeom>
          <a:noFill/>
        </p:spPr>
        <p:txBody>
          <a:bodyPr wrap="square" rtlCol="0">
            <a:spAutoFit/>
          </a:bodyPr>
          <a:p>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Produc</a:t>
            </a: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t Scope</a:t>
            </a:r>
            <a:endPar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a:p>
            <a:endParaRPr lang="en-US"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gn="l">
              <a:buClrTx/>
              <a:buSzTx/>
              <a:buNone/>
            </a:pPr>
            <a:r>
              <a:rPr lang="en-US" altLang="zh-CN"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A web-based dormitory management prototype covering role-based access, room/student management, repair tracking, occupancy dashboard, and AI-assisted roommate matching.</a:t>
            </a:r>
            <a:endParaRPr lang="en-US" altLang="zh-CN"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74" name="文本框 73"/>
          <p:cNvSpPr txBox="1"/>
          <p:nvPr/>
        </p:nvSpPr>
        <p:spPr>
          <a:xfrm>
            <a:off x="3452495" y="3308350"/>
            <a:ext cx="5958205" cy="1229995"/>
          </a:xfrm>
          <a:prstGeom prst="rect">
            <a:avLst/>
          </a:prstGeom>
          <a:noFill/>
        </p:spPr>
        <p:txBody>
          <a:bodyPr wrap="square" rtlCol="0">
            <a:spAutoFit/>
          </a:bodyPr>
          <a:p>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Pro</a:t>
            </a: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ject Scope</a:t>
            </a:r>
            <a:endPar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a:p>
            <a:endParaRPr lang="en-US"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gn="l">
              <a:buClrTx/>
              <a:buSzTx/>
              <a:buNone/>
            </a:pPr>
            <a:r>
              <a:rPr lang="en-US" altLang="zh-CN"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The project work includes requirements collection, scope definition, RTM construction, WBS creation, Scrum-based planning, metrics collection, software estimation, testing, GitHub/Leangoo tracking, and final demo preparation.</a:t>
            </a:r>
            <a:endParaRPr lang="en-US" altLang="zh-CN"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gn="l">
              <a:buClrTx/>
              <a:buSzTx/>
              <a:buNone/>
            </a:pPr>
            <a:endParaRPr lang="zh-CN" altLang="en-US"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75" name="文本框 74"/>
          <p:cNvSpPr txBox="1"/>
          <p:nvPr/>
        </p:nvSpPr>
        <p:spPr>
          <a:xfrm>
            <a:off x="3452495" y="5057775"/>
            <a:ext cx="6513195" cy="1229995"/>
          </a:xfrm>
          <a:prstGeom prst="rect">
            <a:avLst/>
          </a:prstGeom>
          <a:noFill/>
        </p:spPr>
        <p:txBody>
          <a:bodyPr wrap="square" rtlCol="0">
            <a:spAutoFit/>
          </a:bodyPr>
          <a:p>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Scope Boundaries</a:t>
            </a:r>
            <a:endPar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a:p>
            <a:r>
              <a:rPr lang="en-US" altLang="zh-CN"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Exclusions: no payment system, no smart-lock/hardware integration, no full production deployment.</a:t>
            </a:r>
            <a:endParaRPr lang="en-US" altLang="zh-CN"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gn="l">
              <a:buClrTx/>
              <a:buSzTx/>
              <a:buNone/>
            </a:pPr>
            <a:r>
              <a:rPr lang="en-US" altLang="zh-CN"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Constraints: limited course timeline, limited team resources, prototype-level AI matching.</a:t>
            </a:r>
            <a:endParaRPr lang="en-US" altLang="zh-CN"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gn="l">
              <a:buClrTx/>
              <a:buSzTx/>
              <a:buNone/>
            </a:pPr>
            <a:r>
              <a:rPr lang="en-US" altLang="zh-CN"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Acceptance: working prototype, RTM, WBS, metrics, estimation models, GitHub/Leangoo records, and demo completed.</a:t>
            </a:r>
            <a:endParaRPr lang="en-US" altLang="zh-CN"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11" name="Image 0" descr="preencoded.png"/>
          <p:cNvPicPr>
            <a:picLocks noChangeAspect="1"/>
          </p:cNvPicPr>
          <p:nvPr/>
        </p:nvPicPr>
        <p:blipFill>
          <a:blip r:embed="rId1"/>
          <a:srcRect l="-19" r="-19"/>
          <a:stretch>
            <a:fillRect/>
          </a:stretch>
        </p:blipFill>
        <p:spPr>
          <a:xfrm>
            <a:off x="1276350" y="5473700"/>
            <a:ext cx="9581515" cy="1156970"/>
          </a:xfrm>
          <a:prstGeom prst="rect">
            <a:avLst/>
          </a:prstGeom>
        </p:spPr>
      </p:pic>
      <p:pic>
        <p:nvPicPr>
          <p:cNvPr id="10"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2" name="Shape 0"/>
          <p:cNvSpPr/>
          <p:nvPr/>
        </p:nvSpPr>
        <p:spPr>
          <a:xfrm>
            <a:off x="396875" y="1057910"/>
            <a:ext cx="11398885" cy="4006850"/>
          </a:xfrm>
          <a:prstGeom prst="rect">
            <a:avLst/>
          </a:prstGeom>
          <a:solidFill>
            <a:srgbClr val="2D2D2D"/>
          </a:solidFill>
          <a:ln w="12700">
            <a:solidFill>
              <a:srgbClr val="FFFFFF">
                <a:alpha val="0"/>
              </a:srgbClr>
            </a:solidFill>
            <a:prstDash val="solid"/>
          </a:ln>
        </p:spPr>
        <p:txBody>
          <a:bodyPr/>
          <a:lstStyle/>
          <a:p>
            <a:endParaRPr lang="zh-CN" altLang="en-US">
              <a:cs typeface="Noto Sans SC" panose="020B0200000000000000" pitchFamily="34" charset="-122"/>
            </a:endParaRPr>
          </a:p>
        </p:txBody>
      </p:sp>
      <p:sp>
        <p:nvSpPr>
          <p:cNvPr id="8" name="Text 5"/>
          <p:cNvSpPr txBox="1"/>
          <p:nvPr/>
        </p:nvSpPr>
        <p:spPr>
          <a:xfrm>
            <a:off x="541020" y="-145110"/>
            <a:ext cx="11449202" cy="1010412"/>
          </a:xfrm>
          <a:prstGeom prst="rect">
            <a:avLst/>
          </a:prstGeom>
          <a:noFill/>
        </p:spPr>
        <p:txBody>
          <a:bodyPr wrap="square" lIns="0" tIns="0" rIns="0" bIns="0" rtlCol="0" anchor="ctr"/>
          <a:lstStyle/>
          <a:p>
            <a:pPr marL="0" indent="0" algn="l">
              <a:buNone/>
            </a:pPr>
            <a:r>
              <a:rPr lang="en-US" altLang="zh-CN" sz="2800" b="1" kern="0" spc="38"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rPr>
              <a:t>Problem Decomposition</a:t>
            </a:r>
            <a:endParaRPr lang="en-US" altLang="zh-CN" sz="2800" b="1" kern="0" spc="38"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9" name="Shape 6"/>
          <p:cNvSpPr/>
          <p:nvPr>
            <p:custDataLst>
              <p:tags r:id="rId2"/>
            </p:custDataLst>
          </p:nvPr>
        </p:nvSpPr>
        <p:spPr>
          <a:xfrm>
            <a:off x="383540" y="1144270"/>
            <a:ext cx="11417300" cy="3933825"/>
          </a:xfrm>
          <a:prstGeom prst="roundRect">
            <a:avLst>
              <a:gd name="adj" fmla="val 901"/>
            </a:avLst>
          </a:prstGeom>
          <a:noFill/>
          <a:ln w="12700">
            <a:solidFill>
              <a:srgbClr val="374151"/>
            </a:solidFill>
            <a:prstDash val="solid"/>
          </a:ln>
        </p:spPr>
        <p:txBody>
          <a:bodyPr/>
          <a:lstStyle/>
          <a:p>
            <a:endParaRPr lang="zh-CN" altLang="en-US">
              <a:cs typeface="Noto Sans SC" panose="020B0200000000000000" pitchFamily="34" charset="-122"/>
            </a:endParaRPr>
          </a:p>
        </p:txBody>
      </p:sp>
      <p:sp>
        <p:nvSpPr>
          <p:cNvPr id="12" name="Text 8"/>
          <p:cNvSpPr txBox="1"/>
          <p:nvPr>
            <p:custDataLst>
              <p:tags r:id="rId3"/>
            </p:custDataLst>
          </p:nvPr>
        </p:nvSpPr>
        <p:spPr>
          <a:xfrm>
            <a:off x="593090" y="1398905"/>
            <a:ext cx="1866900" cy="294640"/>
          </a:xfrm>
          <a:prstGeom prst="rect">
            <a:avLst/>
          </a:prstGeom>
          <a:noFill/>
        </p:spPr>
        <p:txBody>
          <a:bodyPr wrap="square" lIns="0" tIns="0" rIns="0" bIns="0" rtlCol="0" anchor="ctr"/>
          <a:lstStyle/>
          <a:p>
            <a:pPr marL="0" indent="0" algn="l">
              <a:buNone/>
            </a:pPr>
            <a:r>
              <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Authentication</a:t>
            </a:r>
            <a:endParaRPr lang="en-US" sz="1600" dirty="0">
              <a:ea typeface="Noto Sans SC" panose="020B0200000000000000" pitchFamily="34" charset="-122"/>
              <a:cs typeface="Noto Sans SC" panose="020B0200000000000000" pitchFamily="34" charset="-122"/>
            </a:endParaRPr>
          </a:p>
        </p:txBody>
      </p:sp>
      <p:sp>
        <p:nvSpPr>
          <p:cNvPr id="13" name="Text 9"/>
          <p:cNvSpPr txBox="1"/>
          <p:nvPr>
            <p:custDataLst>
              <p:tags r:id="rId4"/>
            </p:custDataLst>
          </p:nvPr>
        </p:nvSpPr>
        <p:spPr>
          <a:xfrm>
            <a:off x="593090" y="1555115"/>
            <a:ext cx="3507105" cy="685800"/>
          </a:xfrm>
          <a:prstGeom prst="rect">
            <a:avLst/>
          </a:prstGeom>
          <a:noFill/>
        </p:spPr>
        <p:txBody>
          <a:bodyPr wrap="square" lIns="0" tIns="0" rIns="0" bIns="0" rtlCol="0" anchor="ctr"/>
          <a:lstStyle/>
          <a:p>
            <a:pPr marL="0" indent="0" algn="l">
              <a:buNone/>
            </a:pPr>
            <a:r>
              <a:rPr lang="en-US"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JWT-based secure login system with strict role-based access control (RBAC) for SuperAdmin, Dormitory Admin, and Students.</a:t>
            </a:r>
            <a:endParaRPr lang="en-US" sz="1200" dirty="0">
              <a:ea typeface="Noto Sans SC" panose="020B0200000000000000" pitchFamily="34" charset="-122"/>
              <a:cs typeface="Noto Sans SC" panose="020B0200000000000000" pitchFamily="34" charset="-122"/>
            </a:endParaRPr>
          </a:p>
        </p:txBody>
      </p:sp>
      <p:pic>
        <p:nvPicPr>
          <p:cNvPr id="14" name="Image 2" descr="preencoded.png"/>
          <p:cNvPicPr>
            <a:picLocks noChangeAspect="1"/>
          </p:cNvPicPr>
          <p:nvPr>
            <p:custDataLst>
              <p:tags r:id="rId5"/>
            </p:custDataLst>
          </p:nvPr>
        </p:nvPicPr>
        <p:blipFill>
          <a:blip r:embed="rId6"/>
          <a:srcRect t="-2078" b="-2078"/>
          <a:stretch>
            <a:fillRect/>
          </a:stretch>
        </p:blipFill>
        <p:spPr>
          <a:xfrm>
            <a:off x="4299585" y="1106170"/>
            <a:ext cx="76200" cy="2369820"/>
          </a:xfrm>
          <a:prstGeom prst="rect">
            <a:avLst/>
          </a:prstGeom>
        </p:spPr>
      </p:pic>
      <p:sp>
        <p:nvSpPr>
          <p:cNvPr id="17" name="Text 11"/>
          <p:cNvSpPr txBox="1"/>
          <p:nvPr>
            <p:custDataLst>
              <p:tags r:id="rId7"/>
            </p:custDataLst>
          </p:nvPr>
        </p:nvSpPr>
        <p:spPr>
          <a:xfrm>
            <a:off x="593090" y="3093085"/>
            <a:ext cx="2089785" cy="324485"/>
          </a:xfrm>
          <a:prstGeom prst="rect">
            <a:avLst/>
          </a:prstGeom>
          <a:noFill/>
        </p:spPr>
        <p:txBody>
          <a:bodyPr wrap="square" lIns="0" tIns="0" rIns="0" bIns="0" rtlCol="0" anchor="ctr"/>
          <a:lstStyle/>
          <a:p>
            <a:pPr marL="0" indent="0" algn="l">
              <a:buNone/>
            </a:pPr>
            <a:r>
              <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Facility Management</a:t>
            </a:r>
            <a:endParaRPr lang="en-US" sz="1600" dirty="0">
              <a:ea typeface="Noto Sans SC" panose="020B0200000000000000" pitchFamily="34" charset="-122"/>
              <a:cs typeface="Noto Sans SC" panose="020B0200000000000000" pitchFamily="34" charset="-122"/>
            </a:endParaRPr>
          </a:p>
        </p:txBody>
      </p:sp>
      <p:sp>
        <p:nvSpPr>
          <p:cNvPr id="18" name="Text 12"/>
          <p:cNvSpPr txBox="1"/>
          <p:nvPr>
            <p:custDataLst>
              <p:tags r:id="rId8"/>
            </p:custDataLst>
          </p:nvPr>
        </p:nvSpPr>
        <p:spPr>
          <a:xfrm>
            <a:off x="593090" y="3489960"/>
            <a:ext cx="3475355" cy="457200"/>
          </a:xfrm>
          <a:prstGeom prst="rect">
            <a:avLst/>
          </a:prstGeom>
          <a:noFill/>
        </p:spPr>
        <p:txBody>
          <a:bodyPr wrap="square" lIns="0" tIns="0" rIns="0" bIns="0" rtlCol="0" anchor="ctr"/>
          <a:lstStyle/>
          <a:p>
            <a:pPr marL="0" indent="0" algn="l">
              <a:buNone/>
            </a:pPr>
            <a:r>
              <a:rPr lang="en-US"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Hierarchical 3-level structure management: Building → Floor → Room. Full CRUD operations for campus infrastructure.</a:t>
            </a:r>
            <a:endParaRPr lang="en-US" sz="1200" dirty="0">
              <a:ea typeface="Noto Sans SC" panose="020B0200000000000000" pitchFamily="34" charset="-122"/>
              <a:cs typeface="Noto Sans SC" panose="020B0200000000000000" pitchFamily="34" charset="-122"/>
            </a:endParaRPr>
          </a:p>
        </p:txBody>
      </p:sp>
      <p:sp>
        <p:nvSpPr>
          <p:cNvPr id="22" name="Text 14"/>
          <p:cNvSpPr txBox="1"/>
          <p:nvPr>
            <p:custDataLst>
              <p:tags r:id="rId9"/>
            </p:custDataLst>
          </p:nvPr>
        </p:nvSpPr>
        <p:spPr>
          <a:xfrm>
            <a:off x="593090" y="2143760"/>
            <a:ext cx="1880235" cy="324485"/>
          </a:xfrm>
          <a:prstGeom prst="rect">
            <a:avLst/>
          </a:prstGeom>
          <a:noFill/>
        </p:spPr>
        <p:txBody>
          <a:bodyPr wrap="square" lIns="0" tIns="0" rIns="0" bIns="0" rtlCol="0" anchor="ctr"/>
          <a:lstStyle/>
          <a:p>
            <a:pPr marL="0" indent="0" algn="l">
              <a:buNone/>
            </a:pPr>
            <a:r>
              <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Student Records</a:t>
            </a:r>
            <a:endParaRPr lang="en-US" sz="1600" dirty="0">
              <a:ea typeface="Noto Sans SC" panose="020B0200000000000000" pitchFamily="34" charset="-122"/>
              <a:cs typeface="Noto Sans SC" panose="020B0200000000000000" pitchFamily="34" charset="-122"/>
            </a:endParaRPr>
          </a:p>
        </p:txBody>
      </p:sp>
      <p:sp>
        <p:nvSpPr>
          <p:cNvPr id="23" name="Text 15"/>
          <p:cNvSpPr txBox="1"/>
          <p:nvPr>
            <p:custDataLst>
              <p:tags r:id="rId10"/>
            </p:custDataLst>
          </p:nvPr>
        </p:nvSpPr>
        <p:spPr>
          <a:xfrm>
            <a:off x="593090" y="2538730"/>
            <a:ext cx="3475355" cy="457200"/>
          </a:xfrm>
          <a:prstGeom prst="rect">
            <a:avLst/>
          </a:prstGeom>
          <a:noFill/>
        </p:spPr>
        <p:txBody>
          <a:bodyPr wrap="square" lIns="0" tIns="0" rIns="0" bIns="0" rtlCol="0" anchor="ctr"/>
          <a:lstStyle/>
          <a:p>
            <a:pPr marL="0" indent="0" algn="l">
              <a:buNone/>
            </a:pPr>
            <a:r>
              <a:rPr lang="en-US"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Comprehensive profile management including enrollment data, and digital workflows for check-in/check-out processes.</a:t>
            </a:r>
            <a:endParaRPr lang="en-US" sz="1200" dirty="0">
              <a:ea typeface="Noto Sans SC" panose="020B0200000000000000" pitchFamily="34" charset="-122"/>
              <a:cs typeface="Noto Sans SC" panose="020B0200000000000000" pitchFamily="34" charset="-122"/>
            </a:endParaRPr>
          </a:p>
        </p:txBody>
      </p:sp>
      <p:pic>
        <p:nvPicPr>
          <p:cNvPr id="24" name="Image 6" descr="preencoded.png"/>
          <p:cNvPicPr>
            <a:picLocks noChangeAspect="1"/>
          </p:cNvPicPr>
          <p:nvPr>
            <p:custDataLst>
              <p:tags r:id="rId11"/>
            </p:custDataLst>
          </p:nvPr>
        </p:nvPicPr>
        <p:blipFill>
          <a:blip r:embed="rId6"/>
          <a:srcRect t="-2072" b="-2072"/>
          <a:stretch>
            <a:fillRect/>
          </a:stretch>
        </p:blipFill>
        <p:spPr>
          <a:xfrm>
            <a:off x="4364888" y="3252597"/>
            <a:ext cx="9144" cy="1951330"/>
          </a:xfrm>
          <a:prstGeom prst="rect">
            <a:avLst/>
          </a:prstGeom>
        </p:spPr>
      </p:pic>
      <p:sp>
        <p:nvSpPr>
          <p:cNvPr id="27" name="Text 17"/>
          <p:cNvSpPr txBox="1"/>
          <p:nvPr>
            <p:custDataLst>
              <p:tags r:id="rId12"/>
            </p:custDataLst>
          </p:nvPr>
        </p:nvSpPr>
        <p:spPr>
          <a:xfrm>
            <a:off x="593090" y="4018915"/>
            <a:ext cx="1450975" cy="324485"/>
          </a:xfrm>
          <a:prstGeom prst="rect">
            <a:avLst/>
          </a:prstGeom>
          <a:noFill/>
        </p:spPr>
        <p:txBody>
          <a:bodyPr wrap="square" lIns="0" tIns="0" rIns="0" bIns="0" rtlCol="0" anchor="ctr"/>
          <a:lstStyle/>
          <a:p>
            <a:pPr marL="0" indent="0" algn="l">
              <a:buNone/>
            </a:pPr>
            <a:r>
              <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Repair System</a:t>
            </a:r>
            <a:endParaRPr lang="en-US" sz="1600" dirty="0">
              <a:ea typeface="Noto Sans SC" panose="020B0200000000000000" pitchFamily="34" charset="-122"/>
              <a:cs typeface="Noto Sans SC" panose="020B0200000000000000" pitchFamily="34" charset="-122"/>
            </a:endParaRPr>
          </a:p>
        </p:txBody>
      </p:sp>
      <p:sp>
        <p:nvSpPr>
          <p:cNvPr id="28" name="Text 18"/>
          <p:cNvSpPr txBox="1"/>
          <p:nvPr>
            <p:custDataLst>
              <p:tags r:id="rId13"/>
            </p:custDataLst>
          </p:nvPr>
        </p:nvSpPr>
        <p:spPr>
          <a:xfrm>
            <a:off x="593090" y="4415155"/>
            <a:ext cx="3491865" cy="457200"/>
          </a:xfrm>
          <a:prstGeom prst="rect">
            <a:avLst/>
          </a:prstGeom>
          <a:noFill/>
        </p:spPr>
        <p:txBody>
          <a:bodyPr wrap="square" lIns="0" tIns="0" rIns="0" bIns="0" rtlCol="0" anchor="ctr"/>
          <a:lstStyle/>
          <a:p>
            <a:pPr marL="0" indent="0" algn="l">
              <a:buNone/>
            </a:pPr>
            <a:r>
              <a:rPr lang="en-US" sz="12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Digital repair reporting channel, work order creation, real-time status tracking, and resolution history logging.</a:t>
            </a:r>
            <a:endParaRPr lang="en-US" sz="1200" dirty="0">
              <a:ea typeface="Noto Sans SC" panose="020B0200000000000000" pitchFamily="34" charset="-122"/>
              <a:cs typeface="Noto Sans SC" panose="020B0200000000000000" pitchFamily="34" charset="-122"/>
            </a:endParaRPr>
          </a:p>
        </p:txBody>
      </p:sp>
      <p:pic>
        <p:nvPicPr>
          <p:cNvPr id="29" name="Image 8" descr="preencoded.png"/>
          <p:cNvPicPr>
            <a:picLocks noChangeAspect="1"/>
          </p:cNvPicPr>
          <p:nvPr/>
        </p:nvPicPr>
        <p:blipFill>
          <a:blip r:embed="rId14">
            <a:alphaModFix amt="70000"/>
          </a:blip>
          <a:srcRect/>
          <a:stretch>
            <a:fillRect/>
          </a:stretch>
        </p:blipFill>
        <p:spPr>
          <a:xfrm>
            <a:off x="1352550" y="5772252"/>
            <a:ext cx="133502" cy="133502"/>
          </a:xfrm>
          <a:prstGeom prst="rect">
            <a:avLst/>
          </a:prstGeom>
        </p:spPr>
      </p:pic>
      <p:sp>
        <p:nvSpPr>
          <p:cNvPr id="32" name="文本框 31"/>
          <p:cNvSpPr txBox="1"/>
          <p:nvPr/>
        </p:nvSpPr>
        <p:spPr>
          <a:xfrm>
            <a:off x="509270" y="1054735"/>
            <a:ext cx="4064000" cy="368300"/>
          </a:xfrm>
          <a:prstGeom prst="rect">
            <a:avLst/>
          </a:prstGeom>
          <a:noFill/>
        </p:spPr>
        <p:txBody>
          <a:bodyPr wrap="square" rtlCol="0">
            <a:spAutoFit/>
          </a:bodyPr>
          <a:p>
            <a:r>
              <a:rPr lang="en-US" b="1" kern="0" spc="38"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rPr>
              <a:t>Phase1</a:t>
            </a:r>
            <a:endParaRPr lang="en-US" b="1" kern="0" spc="38"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33" name="Text 8"/>
          <p:cNvSpPr txBox="1"/>
          <p:nvPr>
            <p:custDataLst>
              <p:tags r:id="rId15"/>
            </p:custDataLst>
          </p:nvPr>
        </p:nvSpPr>
        <p:spPr>
          <a:xfrm>
            <a:off x="4658436" y="1367409"/>
            <a:ext cx="4657954" cy="324612"/>
          </a:xfrm>
          <a:prstGeom prst="rect">
            <a:avLst/>
          </a:prstGeom>
          <a:noFill/>
        </p:spPr>
        <p:txBody>
          <a:bodyPr wrap="square" lIns="0" tIns="0" rIns="0" bIns="0" rtlCol="0" anchor="ctr"/>
          <a:lstStyle/>
          <a:p>
            <a:pPr marL="0" indent="0" algn="l">
              <a:buNone/>
            </a:pPr>
            <a:r>
              <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Occupancy Dashboard</a:t>
            </a:r>
            <a:endPar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endParaRPr>
          </a:p>
        </p:txBody>
      </p:sp>
      <p:sp>
        <p:nvSpPr>
          <p:cNvPr id="34" name="Text 9"/>
          <p:cNvSpPr txBox="1"/>
          <p:nvPr>
            <p:custDataLst>
              <p:tags r:id="rId16"/>
            </p:custDataLst>
          </p:nvPr>
        </p:nvSpPr>
        <p:spPr>
          <a:xfrm>
            <a:off x="4669790" y="1553210"/>
            <a:ext cx="3507105" cy="685800"/>
          </a:xfrm>
          <a:prstGeom prst="rect">
            <a:avLst/>
          </a:prstGeom>
          <a:noFill/>
        </p:spPr>
        <p:txBody>
          <a:bodyPr wrap="square" lIns="0" tIns="0" rIns="0" bIns="0" rtlCol="0" anchor="ctr"/>
          <a:lstStyle/>
          <a:p>
            <a:pPr marL="0" indent="0" algn="l">
              <a:buNone/>
            </a:pPr>
            <a:r>
              <a:rPr lang="en-US" sz="1200" dirty="0">
                <a:solidFill>
                  <a:srgbClr val="BDBDBD"/>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Real-time room occupancy rates and capacity monitoring at a glance.</a:t>
            </a:r>
            <a:endParaRPr lang="en-US" sz="1200" dirty="0">
              <a:ea typeface="Noto Sans SC" panose="020B0200000000000000" pitchFamily="34" charset="-122"/>
              <a:cs typeface="Noto Sans SC" panose="020B0200000000000000" pitchFamily="34" charset="-122"/>
            </a:endParaRPr>
          </a:p>
        </p:txBody>
      </p:sp>
      <p:pic>
        <p:nvPicPr>
          <p:cNvPr id="35" name="Image 2" descr="preencoded.png"/>
          <p:cNvPicPr>
            <a:picLocks noChangeAspect="1"/>
          </p:cNvPicPr>
          <p:nvPr>
            <p:custDataLst>
              <p:tags r:id="rId17"/>
            </p:custDataLst>
          </p:nvPr>
        </p:nvPicPr>
        <p:blipFill>
          <a:blip r:embed="rId6"/>
          <a:srcRect t="-2078" b="-2078"/>
          <a:stretch>
            <a:fillRect/>
          </a:stretch>
        </p:blipFill>
        <p:spPr>
          <a:xfrm>
            <a:off x="8100695" y="1104265"/>
            <a:ext cx="76200" cy="2369820"/>
          </a:xfrm>
          <a:prstGeom prst="rect">
            <a:avLst/>
          </a:prstGeom>
        </p:spPr>
      </p:pic>
      <p:sp>
        <p:nvSpPr>
          <p:cNvPr id="36" name="Text 11"/>
          <p:cNvSpPr txBox="1"/>
          <p:nvPr>
            <p:custDataLst>
              <p:tags r:id="rId18"/>
            </p:custDataLst>
          </p:nvPr>
        </p:nvSpPr>
        <p:spPr>
          <a:xfrm>
            <a:off x="4669790" y="3070225"/>
            <a:ext cx="4669155" cy="324485"/>
          </a:xfrm>
          <a:prstGeom prst="rect">
            <a:avLst/>
          </a:prstGeom>
          <a:noFill/>
        </p:spPr>
        <p:txBody>
          <a:bodyPr wrap="square" lIns="0" tIns="0" rIns="0" bIns="0" rtlCol="0" anchor="ctr"/>
          <a:lstStyle/>
          <a:p>
            <a:pPr marL="0" indent="0" algn="l">
              <a:buNone/>
            </a:pPr>
            <a:r>
              <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Work-Order Analytics</a:t>
            </a:r>
            <a:endPar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endParaRPr>
          </a:p>
        </p:txBody>
      </p:sp>
      <p:sp>
        <p:nvSpPr>
          <p:cNvPr id="37" name="Text 12"/>
          <p:cNvSpPr txBox="1"/>
          <p:nvPr>
            <p:custDataLst>
              <p:tags r:id="rId19"/>
            </p:custDataLst>
          </p:nvPr>
        </p:nvSpPr>
        <p:spPr>
          <a:xfrm>
            <a:off x="4670425" y="3418205"/>
            <a:ext cx="3475355" cy="457200"/>
          </a:xfrm>
          <a:prstGeom prst="rect">
            <a:avLst/>
          </a:prstGeom>
          <a:noFill/>
        </p:spPr>
        <p:txBody>
          <a:bodyPr wrap="square" lIns="0" tIns="0" rIns="0" bIns="0" rtlCol="0" anchor="ctr"/>
          <a:lstStyle/>
          <a:p>
            <a:pPr marL="0" indent="0" algn="l">
              <a:buNone/>
            </a:pPr>
            <a:r>
              <a:rPr lang="en-US" sz="1200" dirty="0">
                <a:solidFill>
                  <a:srgbClr val="BDBDBD"/>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Repair efficiency metrics, resolution times, and trend analysis.</a:t>
            </a:r>
            <a:endParaRPr lang="en-US" sz="1200" dirty="0">
              <a:ea typeface="Noto Sans SC" panose="020B0200000000000000" pitchFamily="34" charset="-122"/>
              <a:cs typeface="Noto Sans SC" panose="020B0200000000000000" pitchFamily="34" charset="-122"/>
            </a:endParaRPr>
          </a:p>
        </p:txBody>
      </p:sp>
      <p:sp>
        <p:nvSpPr>
          <p:cNvPr id="38" name="Text 14"/>
          <p:cNvSpPr txBox="1"/>
          <p:nvPr>
            <p:custDataLst>
              <p:tags r:id="rId20"/>
            </p:custDataLst>
          </p:nvPr>
        </p:nvSpPr>
        <p:spPr>
          <a:xfrm>
            <a:off x="4669866" y="2141982"/>
            <a:ext cx="4657954" cy="324612"/>
          </a:xfrm>
          <a:prstGeom prst="rect">
            <a:avLst/>
          </a:prstGeom>
          <a:noFill/>
        </p:spPr>
        <p:txBody>
          <a:bodyPr wrap="square" lIns="0" tIns="0" rIns="0" bIns="0" rtlCol="0" anchor="ctr"/>
          <a:lstStyle/>
          <a:p>
            <a:pPr marL="0" indent="0" algn="l">
              <a:buNone/>
            </a:pPr>
            <a:r>
              <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Distribution Charts</a:t>
            </a:r>
            <a:endPar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endParaRPr>
          </a:p>
        </p:txBody>
      </p:sp>
      <p:sp>
        <p:nvSpPr>
          <p:cNvPr id="39" name="Text 15"/>
          <p:cNvSpPr txBox="1"/>
          <p:nvPr>
            <p:custDataLst>
              <p:tags r:id="rId21"/>
            </p:custDataLst>
          </p:nvPr>
        </p:nvSpPr>
        <p:spPr>
          <a:xfrm>
            <a:off x="4669790" y="2496185"/>
            <a:ext cx="3475355" cy="457200"/>
          </a:xfrm>
          <a:prstGeom prst="rect">
            <a:avLst/>
          </a:prstGeom>
          <a:noFill/>
        </p:spPr>
        <p:txBody>
          <a:bodyPr wrap="square" lIns="0" tIns="0" rIns="0" bIns="0" rtlCol="0" anchor="ctr"/>
          <a:lstStyle/>
          <a:p>
            <a:pPr marL="0" indent="0" algn="l">
              <a:buNone/>
            </a:pPr>
            <a:r>
              <a:rPr lang="en-US" sz="1200" dirty="0">
                <a:solidFill>
                  <a:srgbClr val="BDBDBD"/>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Interactive visualizations for gender, department, and major breakdowns via ECharts.</a:t>
            </a:r>
            <a:endParaRPr lang="en-US" sz="1200" dirty="0">
              <a:ea typeface="Noto Sans SC" panose="020B0200000000000000" pitchFamily="34" charset="-122"/>
              <a:cs typeface="Noto Sans SC" panose="020B0200000000000000" pitchFamily="34" charset="-122"/>
            </a:endParaRPr>
          </a:p>
        </p:txBody>
      </p:sp>
      <p:pic>
        <p:nvPicPr>
          <p:cNvPr id="40" name="Image 6" descr="preencoded.png"/>
          <p:cNvPicPr>
            <a:picLocks noChangeAspect="1"/>
          </p:cNvPicPr>
          <p:nvPr>
            <p:custDataLst>
              <p:tags r:id="rId22"/>
            </p:custDataLst>
          </p:nvPr>
        </p:nvPicPr>
        <p:blipFill>
          <a:blip r:embed="rId6"/>
          <a:srcRect t="-2072" b="-2072"/>
          <a:stretch>
            <a:fillRect/>
          </a:stretch>
        </p:blipFill>
        <p:spPr>
          <a:xfrm>
            <a:off x="8136788" y="3196717"/>
            <a:ext cx="9144" cy="1951330"/>
          </a:xfrm>
          <a:prstGeom prst="rect">
            <a:avLst/>
          </a:prstGeom>
        </p:spPr>
      </p:pic>
      <p:sp>
        <p:nvSpPr>
          <p:cNvPr id="43" name="文本框 42"/>
          <p:cNvSpPr txBox="1"/>
          <p:nvPr/>
        </p:nvSpPr>
        <p:spPr>
          <a:xfrm>
            <a:off x="4573270" y="1064260"/>
            <a:ext cx="4064000" cy="368300"/>
          </a:xfrm>
          <a:prstGeom prst="rect">
            <a:avLst/>
          </a:prstGeom>
          <a:noFill/>
        </p:spPr>
        <p:txBody>
          <a:bodyPr wrap="square" rtlCol="0">
            <a:spAutoFit/>
          </a:bodyPr>
          <a:p>
            <a:r>
              <a:rPr lang="en-US" b="1" kern="0" spc="38"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rPr>
              <a:t>Phase2</a:t>
            </a:r>
            <a:endParaRPr lang="en-US" b="1" kern="0" spc="38"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47" name="Text 8"/>
          <p:cNvSpPr txBox="1"/>
          <p:nvPr>
            <p:custDataLst>
              <p:tags r:id="rId23"/>
            </p:custDataLst>
          </p:nvPr>
        </p:nvSpPr>
        <p:spPr>
          <a:xfrm>
            <a:off x="8288655" y="1363980"/>
            <a:ext cx="2623820" cy="294640"/>
          </a:xfrm>
          <a:prstGeom prst="rect">
            <a:avLst/>
          </a:prstGeom>
          <a:noFill/>
        </p:spPr>
        <p:txBody>
          <a:bodyPr wrap="square" lIns="0" tIns="0" rIns="0" bIns="0" rtlCol="0" anchor="ctr"/>
          <a:lstStyle/>
          <a:p>
            <a:pPr marL="0" indent="0" algn="l">
              <a:buNone/>
            </a:pPr>
            <a:r>
              <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Personality Questionnaire</a:t>
            </a:r>
            <a:endPar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endParaRPr>
          </a:p>
        </p:txBody>
      </p:sp>
      <p:sp>
        <p:nvSpPr>
          <p:cNvPr id="48" name="Text 9"/>
          <p:cNvSpPr txBox="1"/>
          <p:nvPr>
            <p:custDataLst>
              <p:tags r:id="rId24"/>
            </p:custDataLst>
          </p:nvPr>
        </p:nvSpPr>
        <p:spPr>
          <a:xfrm>
            <a:off x="8288655" y="1520190"/>
            <a:ext cx="3507105" cy="685800"/>
          </a:xfrm>
          <a:prstGeom prst="rect">
            <a:avLst/>
          </a:prstGeom>
          <a:noFill/>
        </p:spPr>
        <p:txBody>
          <a:bodyPr wrap="square" lIns="0" tIns="0" rIns="0" bIns="0" rtlCol="0" anchor="ctr"/>
          <a:lstStyle/>
          <a:p>
            <a:pPr marL="0" indent="0" algn="l">
              <a:buNone/>
            </a:pPr>
            <a:r>
              <a:rPr lang="en-US" sz="1200" dirty="0">
                <a:solidFill>
                  <a:srgbClr val="E0E0E0">
                    <a:alpha val="80000"/>
                  </a:srgbClr>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Student preference survey module covering 16 personality dimensions.</a:t>
            </a:r>
            <a:endParaRPr lang="en-US" sz="1200" dirty="0">
              <a:ea typeface="Noto Sans SC" panose="020B0200000000000000" pitchFamily="34" charset="-122"/>
              <a:cs typeface="Noto Sans SC" panose="020B0200000000000000" pitchFamily="34" charset="-122"/>
            </a:endParaRPr>
          </a:p>
        </p:txBody>
      </p:sp>
      <p:sp>
        <p:nvSpPr>
          <p:cNvPr id="49" name="Text 11"/>
          <p:cNvSpPr txBox="1"/>
          <p:nvPr>
            <p:custDataLst>
              <p:tags r:id="rId25"/>
            </p:custDataLst>
          </p:nvPr>
        </p:nvSpPr>
        <p:spPr>
          <a:xfrm>
            <a:off x="8288655" y="3058160"/>
            <a:ext cx="2089785" cy="324485"/>
          </a:xfrm>
          <a:prstGeom prst="rect">
            <a:avLst/>
          </a:prstGeom>
          <a:noFill/>
        </p:spPr>
        <p:txBody>
          <a:bodyPr wrap="square" lIns="0" tIns="0" rIns="0" bIns="0" rtlCol="0" anchor="ctr"/>
          <a:lstStyle/>
          <a:p>
            <a:pPr marL="0" indent="0" algn="l">
              <a:buNone/>
            </a:pPr>
            <a:r>
              <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Anomaly Alerts</a:t>
            </a:r>
            <a:endPar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endParaRPr>
          </a:p>
        </p:txBody>
      </p:sp>
      <p:sp>
        <p:nvSpPr>
          <p:cNvPr id="50" name="Text 12"/>
          <p:cNvSpPr txBox="1"/>
          <p:nvPr>
            <p:custDataLst>
              <p:tags r:id="rId26"/>
            </p:custDataLst>
          </p:nvPr>
        </p:nvSpPr>
        <p:spPr>
          <a:xfrm>
            <a:off x="8288655" y="3455035"/>
            <a:ext cx="3475355" cy="457200"/>
          </a:xfrm>
          <a:prstGeom prst="rect">
            <a:avLst/>
          </a:prstGeom>
          <a:noFill/>
        </p:spPr>
        <p:txBody>
          <a:bodyPr wrap="square" lIns="0" tIns="0" rIns="0" bIns="0" rtlCol="0" anchor="ctr"/>
          <a:lstStyle/>
          <a:p>
            <a:pPr marL="0" indent="0" algn="l">
              <a:buNone/>
            </a:pPr>
            <a:r>
              <a:rPr lang="en-US" sz="1200" dirty="0">
                <a:solidFill>
                  <a:srgbClr val="E0E0E0">
                    <a:alpha val="80000"/>
                  </a:srgbClr>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Proactive notifications for empty beds and frequent repair flagging.</a:t>
            </a:r>
            <a:endParaRPr lang="en-US" sz="1200" dirty="0">
              <a:ea typeface="Noto Sans SC" panose="020B0200000000000000" pitchFamily="34" charset="-122"/>
              <a:cs typeface="Noto Sans SC" panose="020B0200000000000000" pitchFamily="34" charset="-122"/>
            </a:endParaRPr>
          </a:p>
        </p:txBody>
      </p:sp>
      <p:sp>
        <p:nvSpPr>
          <p:cNvPr id="51" name="Text 14"/>
          <p:cNvSpPr txBox="1"/>
          <p:nvPr>
            <p:custDataLst>
              <p:tags r:id="rId27"/>
            </p:custDataLst>
          </p:nvPr>
        </p:nvSpPr>
        <p:spPr>
          <a:xfrm>
            <a:off x="8288655" y="2108835"/>
            <a:ext cx="2809875" cy="324485"/>
          </a:xfrm>
          <a:prstGeom prst="rect">
            <a:avLst/>
          </a:prstGeom>
          <a:noFill/>
        </p:spPr>
        <p:txBody>
          <a:bodyPr wrap="square" lIns="0" tIns="0" rIns="0" bIns="0" rtlCol="0" anchor="ctr"/>
          <a:lstStyle/>
          <a:p>
            <a:pPr marL="0" indent="0" algn="l">
              <a:buNone/>
            </a:pPr>
            <a:r>
              <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Roommate Matching</a:t>
            </a:r>
            <a:endParaRPr lang="en-US" sz="16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endParaRPr>
          </a:p>
        </p:txBody>
      </p:sp>
      <p:sp>
        <p:nvSpPr>
          <p:cNvPr id="52" name="Text 15"/>
          <p:cNvSpPr txBox="1"/>
          <p:nvPr>
            <p:custDataLst>
              <p:tags r:id="rId28"/>
            </p:custDataLst>
          </p:nvPr>
        </p:nvSpPr>
        <p:spPr>
          <a:xfrm>
            <a:off x="8288655" y="2503805"/>
            <a:ext cx="3475355" cy="457200"/>
          </a:xfrm>
          <a:prstGeom prst="rect">
            <a:avLst/>
          </a:prstGeom>
          <a:noFill/>
        </p:spPr>
        <p:txBody>
          <a:bodyPr wrap="square" lIns="0" tIns="0" rIns="0" bIns="0" rtlCol="0" anchor="ctr"/>
          <a:lstStyle/>
          <a:p>
            <a:pPr marL="0" indent="0" algn="l">
              <a:buNone/>
            </a:pPr>
            <a:r>
              <a:rPr lang="en-US" sz="1200" dirty="0">
                <a:solidFill>
                  <a:srgbClr val="E0E0E0">
                    <a:alpha val="80000"/>
                  </a:srgbClr>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Collaborative filtering algorithm &amp; compatibility scoring engine.</a:t>
            </a:r>
            <a:endParaRPr lang="en-US" sz="1200" dirty="0">
              <a:ea typeface="Noto Sans SC" panose="020B0200000000000000" pitchFamily="34" charset="-122"/>
              <a:cs typeface="Noto Sans SC" panose="020B0200000000000000" pitchFamily="34" charset="-122"/>
            </a:endParaRPr>
          </a:p>
        </p:txBody>
      </p:sp>
      <p:sp>
        <p:nvSpPr>
          <p:cNvPr id="55" name="文本框 54"/>
          <p:cNvSpPr txBox="1"/>
          <p:nvPr/>
        </p:nvSpPr>
        <p:spPr>
          <a:xfrm>
            <a:off x="8281035" y="1057275"/>
            <a:ext cx="4064000" cy="368300"/>
          </a:xfrm>
          <a:prstGeom prst="rect">
            <a:avLst/>
          </a:prstGeom>
          <a:noFill/>
        </p:spPr>
        <p:txBody>
          <a:bodyPr wrap="square" rtlCol="0">
            <a:spAutoFit/>
          </a:bodyPr>
          <a:p>
            <a:r>
              <a:rPr lang="en-US" b="1" kern="0" spc="38"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rPr>
              <a:t>Phase3</a:t>
            </a:r>
            <a:endParaRPr lang="en-US" b="1" kern="0" spc="38"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7" name="文本框 6"/>
          <p:cNvSpPr txBox="1"/>
          <p:nvPr/>
        </p:nvSpPr>
        <p:spPr>
          <a:xfrm>
            <a:off x="1414145" y="5584190"/>
            <a:ext cx="9363710" cy="833755"/>
          </a:xfrm>
          <a:prstGeom prst="rect">
            <a:avLst/>
          </a:prstGeom>
          <a:noFill/>
        </p:spPr>
        <p:txBody>
          <a:bodyPr wrap="square" rtlCol="0">
            <a:noAutofit/>
          </a:bodyPr>
          <a:p>
            <a:r>
              <a:rPr lang="en-US" altLang="zh-CN" b="1"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Pro</a:t>
            </a:r>
            <a:r>
              <a:rPr lang="en-US" altLang="zh-CN" b="1"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cess To Be Used:</a:t>
            </a:r>
            <a:endParaRPr lang="en-US" altLang="zh-CN" b="1"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r>
              <a:rPr lang="en-US" sz="16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Requirements collection</a:t>
            </a:r>
            <a:r>
              <a:rPr lang="en-US" sz="16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a:t>
            </a:r>
            <a:r>
              <a:rPr lang="en-US" sz="16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Scope definition</a:t>
            </a:r>
            <a:r>
              <a:rPr lang="en-US" sz="16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a:t>
            </a:r>
            <a:r>
              <a:rPr lang="en-US" sz="16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RTM&amp;WBS</a:t>
            </a:r>
            <a:r>
              <a:rPr lang="en-US" sz="16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a:t>
            </a:r>
            <a:r>
              <a:rPr lang="en-US" sz="16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Scrum-based development</a:t>
            </a:r>
            <a:r>
              <a:rPr lang="en-US" sz="16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a:t>
            </a:r>
            <a:r>
              <a:rPr lang="en-US" sz="16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Testing and demonstration</a:t>
            </a:r>
            <a:r>
              <a:rPr lang="en-US" sz="16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a:t>
            </a:r>
            <a:r>
              <a:rPr lang="en-US" sz="16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Metrics and estimation</a:t>
            </a:r>
            <a:endParaRPr lang="en-US" sz="16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5" name="Shape 2"/>
          <p:cNvSpPr/>
          <p:nvPr>
            <p:custDataLst>
              <p:tags r:id="rId2"/>
            </p:custDataLst>
          </p:nvPr>
        </p:nvSpPr>
        <p:spPr>
          <a:xfrm>
            <a:off x="571500" y="1561795"/>
            <a:ext cx="3524098" cy="1952244"/>
          </a:xfrm>
          <a:prstGeom prst="roundRect">
            <a:avLst>
              <a:gd name="adj" fmla="val 5484"/>
            </a:avLst>
          </a:prstGeom>
          <a:solidFill>
            <a:srgbClr val="FFFFFF"/>
          </a:solidFill>
          <a:effectLst>
            <a:outerShdw blurRad="114300" dist="38100" dir="16200000" algn="bl" rotWithShape="0">
              <a:srgbClr val="000000">
                <a:alpha val="5000"/>
              </a:srgbClr>
            </a:outerShdw>
          </a:effectLst>
        </p:spPr>
      </p:sp>
      <p:sp>
        <p:nvSpPr>
          <p:cNvPr id="6" name="Shape 3"/>
          <p:cNvSpPr/>
          <p:nvPr>
            <p:custDataLst>
              <p:tags r:id="rId3"/>
            </p:custDataLst>
          </p:nvPr>
        </p:nvSpPr>
        <p:spPr>
          <a:xfrm>
            <a:off x="571500" y="1561795"/>
            <a:ext cx="47549" cy="1952244"/>
          </a:xfrm>
          <a:prstGeom prst="roundRect">
            <a:avLst>
              <a:gd name="adj" fmla="val 225140"/>
            </a:avLst>
          </a:prstGeom>
          <a:solidFill>
            <a:srgbClr val="3B82F6"/>
          </a:solidFill>
          <a:ln w="12700">
            <a:solidFill>
              <a:srgbClr val="3B82F6">
                <a:alpha val="0"/>
              </a:srgbClr>
            </a:solidFill>
            <a:prstDash val="solid"/>
          </a:ln>
        </p:spPr>
      </p:sp>
      <p:sp>
        <p:nvSpPr>
          <p:cNvPr id="7" name="Shape 4"/>
          <p:cNvSpPr/>
          <p:nvPr>
            <p:custDataLst>
              <p:tags r:id="rId4"/>
            </p:custDataLst>
          </p:nvPr>
        </p:nvSpPr>
        <p:spPr>
          <a:xfrm>
            <a:off x="4324198" y="1561795"/>
            <a:ext cx="3524098" cy="1952244"/>
          </a:xfrm>
          <a:prstGeom prst="roundRect">
            <a:avLst>
              <a:gd name="adj" fmla="val 5484"/>
            </a:avLst>
          </a:prstGeom>
          <a:solidFill>
            <a:srgbClr val="FFFFFF"/>
          </a:solidFill>
          <a:effectLst>
            <a:outerShdw blurRad="114300" dist="38100" dir="16200000" algn="bl" rotWithShape="0">
              <a:srgbClr val="000000">
                <a:alpha val="5000"/>
              </a:srgbClr>
            </a:outerShdw>
          </a:effectLst>
        </p:spPr>
      </p:sp>
      <p:sp>
        <p:nvSpPr>
          <p:cNvPr id="8" name="Shape 5"/>
          <p:cNvSpPr/>
          <p:nvPr>
            <p:custDataLst>
              <p:tags r:id="rId5"/>
            </p:custDataLst>
          </p:nvPr>
        </p:nvSpPr>
        <p:spPr>
          <a:xfrm>
            <a:off x="4324198" y="1561795"/>
            <a:ext cx="47549" cy="1952244"/>
          </a:xfrm>
          <a:prstGeom prst="roundRect">
            <a:avLst>
              <a:gd name="adj" fmla="val 225140"/>
            </a:avLst>
          </a:prstGeom>
          <a:solidFill>
            <a:srgbClr val="3B82F6"/>
          </a:solidFill>
          <a:ln w="12700">
            <a:solidFill>
              <a:srgbClr val="3B82F6">
                <a:alpha val="0"/>
              </a:srgbClr>
            </a:solidFill>
            <a:prstDash val="solid"/>
          </a:ln>
        </p:spPr>
      </p:sp>
      <p:sp>
        <p:nvSpPr>
          <p:cNvPr id="9" name="Shape 6"/>
          <p:cNvSpPr/>
          <p:nvPr>
            <p:custDataLst>
              <p:tags r:id="rId6"/>
            </p:custDataLst>
          </p:nvPr>
        </p:nvSpPr>
        <p:spPr>
          <a:xfrm>
            <a:off x="8076895" y="1561795"/>
            <a:ext cx="3524098" cy="1952244"/>
          </a:xfrm>
          <a:prstGeom prst="roundRect">
            <a:avLst>
              <a:gd name="adj" fmla="val 5484"/>
            </a:avLst>
          </a:prstGeom>
          <a:solidFill>
            <a:srgbClr val="FFFFFF"/>
          </a:solidFill>
          <a:effectLst>
            <a:outerShdw blurRad="114300" dist="38100" dir="16200000" algn="bl" rotWithShape="0">
              <a:srgbClr val="000000">
                <a:alpha val="5000"/>
              </a:srgbClr>
            </a:outerShdw>
          </a:effectLst>
        </p:spPr>
      </p:sp>
      <p:sp>
        <p:nvSpPr>
          <p:cNvPr id="10" name="Shape 7"/>
          <p:cNvSpPr/>
          <p:nvPr>
            <p:custDataLst>
              <p:tags r:id="rId7"/>
            </p:custDataLst>
          </p:nvPr>
        </p:nvSpPr>
        <p:spPr>
          <a:xfrm>
            <a:off x="8076895" y="1561795"/>
            <a:ext cx="47549" cy="1952244"/>
          </a:xfrm>
          <a:prstGeom prst="roundRect">
            <a:avLst>
              <a:gd name="adj" fmla="val 225140"/>
            </a:avLst>
          </a:prstGeom>
          <a:solidFill>
            <a:srgbClr val="3B82F6"/>
          </a:solidFill>
          <a:ln w="12700">
            <a:solidFill>
              <a:srgbClr val="3B82F6">
                <a:alpha val="0"/>
              </a:srgbClr>
            </a:solidFill>
            <a:prstDash val="solid"/>
          </a:ln>
        </p:spPr>
      </p:sp>
      <p:sp>
        <p:nvSpPr>
          <p:cNvPr id="11" name="Shape 8"/>
          <p:cNvSpPr/>
          <p:nvPr>
            <p:custDataLst>
              <p:tags r:id="rId8"/>
            </p:custDataLst>
          </p:nvPr>
        </p:nvSpPr>
        <p:spPr>
          <a:xfrm>
            <a:off x="571500" y="3696005"/>
            <a:ext cx="3524098" cy="1952244"/>
          </a:xfrm>
          <a:prstGeom prst="roundRect">
            <a:avLst>
              <a:gd name="adj" fmla="val 5484"/>
            </a:avLst>
          </a:prstGeom>
          <a:solidFill>
            <a:srgbClr val="FFFFFF"/>
          </a:solidFill>
          <a:effectLst>
            <a:outerShdw blurRad="114300" dist="38100" dir="16200000" algn="bl" rotWithShape="0">
              <a:srgbClr val="000000">
                <a:alpha val="5000"/>
              </a:srgbClr>
            </a:outerShdw>
          </a:effectLst>
        </p:spPr>
      </p:sp>
      <p:sp>
        <p:nvSpPr>
          <p:cNvPr id="12" name="Shape 9"/>
          <p:cNvSpPr/>
          <p:nvPr>
            <p:custDataLst>
              <p:tags r:id="rId9"/>
            </p:custDataLst>
          </p:nvPr>
        </p:nvSpPr>
        <p:spPr>
          <a:xfrm>
            <a:off x="571500" y="3696005"/>
            <a:ext cx="47549" cy="1952244"/>
          </a:xfrm>
          <a:prstGeom prst="roundRect">
            <a:avLst>
              <a:gd name="adj" fmla="val 225140"/>
            </a:avLst>
          </a:prstGeom>
          <a:solidFill>
            <a:srgbClr val="3B82F6"/>
          </a:solidFill>
          <a:ln w="12700">
            <a:solidFill>
              <a:srgbClr val="3B82F6">
                <a:alpha val="0"/>
              </a:srgbClr>
            </a:solidFill>
            <a:prstDash val="solid"/>
          </a:ln>
        </p:spPr>
      </p:sp>
      <p:sp>
        <p:nvSpPr>
          <p:cNvPr id="13" name="Shape 10"/>
          <p:cNvSpPr/>
          <p:nvPr>
            <p:custDataLst>
              <p:tags r:id="rId10"/>
            </p:custDataLst>
          </p:nvPr>
        </p:nvSpPr>
        <p:spPr>
          <a:xfrm>
            <a:off x="4324198" y="3696005"/>
            <a:ext cx="3524098" cy="1952244"/>
          </a:xfrm>
          <a:prstGeom prst="roundRect">
            <a:avLst>
              <a:gd name="adj" fmla="val 5484"/>
            </a:avLst>
          </a:prstGeom>
          <a:solidFill>
            <a:srgbClr val="FFFFFF"/>
          </a:solidFill>
          <a:effectLst>
            <a:outerShdw blurRad="114300" dist="38100" dir="16200000" algn="bl" rotWithShape="0">
              <a:srgbClr val="000000">
                <a:alpha val="5000"/>
              </a:srgbClr>
            </a:outerShdw>
          </a:effectLst>
        </p:spPr>
      </p:sp>
      <p:sp>
        <p:nvSpPr>
          <p:cNvPr id="14" name="Shape 11"/>
          <p:cNvSpPr/>
          <p:nvPr>
            <p:custDataLst>
              <p:tags r:id="rId11"/>
            </p:custDataLst>
          </p:nvPr>
        </p:nvSpPr>
        <p:spPr>
          <a:xfrm>
            <a:off x="4324198" y="3696005"/>
            <a:ext cx="47549" cy="1952244"/>
          </a:xfrm>
          <a:prstGeom prst="roundRect">
            <a:avLst>
              <a:gd name="adj" fmla="val 225140"/>
            </a:avLst>
          </a:prstGeom>
          <a:solidFill>
            <a:srgbClr val="3B82F6"/>
          </a:solidFill>
          <a:ln w="12700">
            <a:solidFill>
              <a:srgbClr val="3B82F6">
                <a:alpha val="0"/>
              </a:srgbClr>
            </a:solidFill>
            <a:prstDash val="solid"/>
          </a:ln>
        </p:spPr>
      </p:sp>
      <p:sp>
        <p:nvSpPr>
          <p:cNvPr id="15" name="Shape 12"/>
          <p:cNvSpPr/>
          <p:nvPr>
            <p:custDataLst>
              <p:tags r:id="rId12"/>
            </p:custDataLst>
          </p:nvPr>
        </p:nvSpPr>
        <p:spPr>
          <a:xfrm>
            <a:off x="8076895" y="3696005"/>
            <a:ext cx="3524098" cy="1952244"/>
          </a:xfrm>
          <a:prstGeom prst="roundRect">
            <a:avLst>
              <a:gd name="adj" fmla="val 5484"/>
            </a:avLst>
          </a:prstGeom>
          <a:solidFill>
            <a:srgbClr val="FFFFFF"/>
          </a:solidFill>
          <a:effectLst>
            <a:outerShdw blurRad="114300" dist="38100" dir="16200000" algn="bl" rotWithShape="0">
              <a:srgbClr val="000000">
                <a:alpha val="5000"/>
              </a:srgbClr>
            </a:outerShdw>
          </a:effectLst>
        </p:spPr>
      </p:sp>
      <p:sp>
        <p:nvSpPr>
          <p:cNvPr id="16" name="Shape 13"/>
          <p:cNvSpPr/>
          <p:nvPr>
            <p:custDataLst>
              <p:tags r:id="rId13"/>
            </p:custDataLst>
          </p:nvPr>
        </p:nvSpPr>
        <p:spPr>
          <a:xfrm>
            <a:off x="8076895" y="3696005"/>
            <a:ext cx="47549" cy="1952244"/>
          </a:xfrm>
          <a:prstGeom prst="roundRect">
            <a:avLst>
              <a:gd name="adj" fmla="val 225140"/>
            </a:avLst>
          </a:prstGeom>
          <a:solidFill>
            <a:srgbClr val="3B82F6"/>
          </a:solidFill>
          <a:ln w="12700">
            <a:solidFill>
              <a:srgbClr val="3B82F6">
                <a:alpha val="0"/>
              </a:srgbClr>
            </a:solidFill>
            <a:prstDash val="solid"/>
          </a:ln>
        </p:spPr>
      </p:sp>
      <p:pic>
        <p:nvPicPr>
          <p:cNvPr id="17" name="Image 1" descr="preencoded.png"/>
          <p:cNvPicPr>
            <a:picLocks noChangeAspect="1"/>
          </p:cNvPicPr>
          <p:nvPr/>
        </p:nvPicPr>
        <p:blipFill>
          <a:blip r:embed="rId14"/>
          <a:srcRect l="-22" r="-22"/>
          <a:stretch>
            <a:fillRect/>
          </a:stretch>
        </p:blipFill>
        <p:spPr>
          <a:xfrm>
            <a:off x="571500" y="5857646"/>
            <a:ext cx="11048695" cy="809244"/>
          </a:xfrm>
          <a:prstGeom prst="rect">
            <a:avLst/>
          </a:prstGeom>
        </p:spPr>
      </p:pic>
      <p:sp>
        <p:nvSpPr>
          <p:cNvPr id="18" name="Shape 14"/>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9" name="Image 2" descr="preencoded.png"/>
          <p:cNvPicPr>
            <a:picLocks noChangeAspect="1"/>
          </p:cNvPicPr>
          <p:nvPr/>
        </p:nvPicPr>
        <p:blipFill>
          <a:blip r:embed="rId15"/>
          <a:srcRect t="-20060" b="-20060"/>
          <a:stretch>
            <a:fillRect/>
          </a:stretch>
        </p:blipFill>
        <p:spPr>
          <a:xfrm>
            <a:off x="724205" y="286207"/>
            <a:ext cx="152705" cy="190195"/>
          </a:xfrm>
          <a:prstGeom prst="rect">
            <a:avLst/>
          </a:prstGeom>
        </p:spPr>
      </p:pic>
      <p:sp>
        <p:nvSpPr>
          <p:cNvPr id="20" name="Text 15"/>
          <p:cNvSpPr txBox="1"/>
          <p:nvPr/>
        </p:nvSpPr>
        <p:spPr>
          <a:xfrm>
            <a:off x="1218895" y="152705"/>
            <a:ext cx="4082796" cy="457200"/>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W5HH Project Overview</a:t>
            </a:r>
            <a:endParaRPr lang="en-US" sz="2400" dirty="0">
              <a:ea typeface="Noto Sans SC" panose="020B0200000000000000" pitchFamily="34" charset="-122"/>
              <a:cs typeface="Noto Sans SC" panose="020B0200000000000000" pitchFamily="34" charset="-122"/>
            </a:endParaRPr>
          </a:p>
        </p:txBody>
      </p:sp>
      <p:pic>
        <p:nvPicPr>
          <p:cNvPr id="21" name="Image 3" descr="preencoded.png"/>
          <p:cNvPicPr>
            <a:picLocks noChangeAspect="1"/>
          </p:cNvPicPr>
          <p:nvPr/>
        </p:nvPicPr>
        <p:blipFill>
          <a:blip r:embed="rId16"/>
          <a:srcRect t="-23287" b="-23287"/>
          <a:stretch>
            <a:fillRect/>
          </a:stretch>
        </p:blipFill>
        <p:spPr>
          <a:xfrm>
            <a:off x="571500" y="1014070"/>
            <a:ext cx="190195" cy="247802"/>
          </a:xfrm>
          <a:prstGeom prst="rect">
            <a:avLst/>
          </a:prstGeom>
        </p:spPr>
      </p:pic>
      <p:sp>
        <p:nvSpPr>
          <p:cNvPr id="22" name="Text 16"/>
          <p:cNvSpPr txBox="1"/>
          <p:nvPr/>
        </p:nvSpPr>
        <p:spPr>
          <a:xfrm>
            <a:off x="875995" y="952805"/>
            <a:ext cx="7706563" cy="372161"/>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Six-Dimensional Project Management Analysis Framework</a:t>
            </a:r>
            <a:endParaRPr lang="en-US" sz="1900" dirty="0">
              <a:ea typeface="Noto Sans SC" panose="020B0200000000000000" pitchFamily="34" charset="-122"/>
              <a:cs typeface="Noto Sans SC" panose="020B0200000000000000" pitchFamily="34" charset="-122"/>
            </a:endParaRPr>
          </a:p>
        </p:txBody>
      </p:sp>
      <p:sp>
        <p:nvSpPr>
          <p:cNvPr id="23" name="Shape 17"/>
          <p:cNvSpPr/>
          <p:nvPr>
            <p:custDataLst>
              <p:tags r:id="rId17"/>
            </p:custDataLst>
          </p:nvPr>
        </p:nvSpPr>
        <p:spPr>
          <a:xfrm>
            <a:off x="800100" y="1752905"/>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24" name="Image 4" descr="preencoded.png"/>
          <p:cNvPicPr>
            <a:picLocks noChangeAspect="1"/>
          </p:cNvPicPr>
          <p:nvPr>
            <p:custDataLst>
              <p:tags r:id="rId18"/>
            </p:custDataLst>
          </p:nvPr>
        </p:nvPicPr>
        <p:blipFill>
          <a:blip r:embed="rId19"/>
          <a:srcRect t="-14384" b="-14384"/>
          <a:stretch>
            <a:fillRect/>
          </a:stretch>
        </p:blipFill>
        <p:spPr>
          <a:xfrm>
            <a:off x="923544" y="1857146"/>
            <a:ext cx="133502" cy="171907"/>
          </a:xfrm>
          <a:prstGeom prst="rect">
            <a:avLst/>
          </a:prstGeom>
        </p:spPr>
      </p:pic>
      <p:sp>
        <p:nvSpPr>
          <p:cNvPr id="25" name="Text 18"/>
          <p:cNvSpPr txBox="1"/>
          <p:nvPr>
            <p:custDataLst>
              <p:tags r:id="rId20"/>
            </p:custDataLst>
          </p:nvPr>
        </p:nvSpPr>
        <p:spPr>
          <a:xfrm>
            <a:off x="1295705" y="1809598"/>
            <a:ext cx="2572207" cy="277063"/>
          </a:xfrm>
          <a:prstGeom prst="rect">
            <a:avLst/>
          </a:prstGeom>
          <a:noFill/>
        </p:spPr>
        <p:txBody>
          <a:bodyPr wrap="square" lIns="0" tIns="0" rIns="0" bIns="0" rtlCol="0" anchor="ctr"/>
          <a:lstStyle/>
          <a:p>
            <a:pPr marL="0" indent="0" algn="l">
              <a:buNone/>
            </a:pPr>
            <a:r>
              <a:rPr lang="en-US" sz="14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Why - Reasons?</a:t>
            </a:r>
            <a:endParaRPr lang="en-US" sz="1400" dirty="0">
              <a:ea typeface="Noto Sans SC" panose="020B0200000000000000" pitchFamily="34" charset="-122"/>
              <a:cs typeface="Noto Sans SC" panose="020B0200000000000000" pitchFamily="34" charset="-122"/>
            </a:endParaRPr>
          </a:p>
        </p:txBody>
      </p:sp>
      <p:sp>
        <p:nvSpPr>
          <p:cNvPr id="26" name="Text 19"/>
          <p:cNvSpPr txBox="1"/>
          <p:nvPr>
            <p:custDataLst>
              <p:tags r:id="rId21"/>
            </p:custDataLst>
          </p:nvPr>
        </p:nvSpPr>
        <p:spPr>
          <a:xfrm>
            <a:off x="800100" y="2247595"/>
            <a:ext cx="3067812" cy="800100"/>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Improve dorm management efficiency and data-driven decisions, resolving traditional low efficiency, scattered info, and lack of data support.</a:t>
            </a:r>
            <a:endParaRPr lang="en-US" sz="1000" dirty="0">
              <a:ea typeface="Noto Sans SC" panose="020B0200000000000000" pitchFamily="34" charset="-122"/>
              <a:cs typeface="Noto Sans SC" panose="020B0200000000000000" pitchFamily="34" charset="-122"/>
            </a:endParaRPr>
          </a:p>
        </p:txBody>
      </p:sp>
      <p:sp>
        <p:nvSpPr>
          <p:cNvPr id="27" name="Shape 20"/>
          <p:cNvSpPr/>
          <p:nvPr>
            <p:custDataLst>
              <p:tags r:id="rId22"/>
            </p:custDataLst>
          </p:nvPr>
        </p:nvSpPr>
        <p:spPr>
          <a:xfrm>
            <a:off x="800100" y="3114446"/>
            <a:ext cx="1533449" cy="247802"/>
          </a:xfrm>
          <a:prstGeom prst="roundRect">
            <a:avLst>
              <a:gd name="adj" fmla="val 369004"/>
            </a:avLst>
          </a:prstGeom>
          <a:solidFill>
            <a:srgbClr val="F1F5F9"/>
          </a:solidFill>
          <a:ln w="12700">
            <a:solidFill>
              <a:srgbClr val="FFFFFF">
                <a:alpha val="0"/>
              </a:srgbClr>
            </a:solidFill>
            <a:prstDash val="solid"/>
          </a:ln>
        </p:spPr>
      </p:sp>
      <p:sp>
        <p:nvSpPr>
          <p:cNvPr id="28" name="Text 21"/>
          <p:cNvSpPr/>
          <p:nvPr>
            <p:custDataLst>
              <p:tags r:id="rId23"/>
            </p:custDataLst>
          </p:nvPr>
        </p:nvSpPr>
        <p:spPr>
          <a:xfrm>
            <a:off x="800100" y="3114446"/>
            <a:ext cx="1534363"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40% Efficiency Increase</a:t>
            </a:r>
            <a:endParaRPr lang="en-US" sz="900" dirty="0">
              <a:ea typeface="Noto Sans SC" panose="020B0200000000000000" pitchFamily="34" charset="-122"/>
              <a:cs typeface="Noto Sans SC" panose="020B0200000000000000" pitchFamily="34" charset="-122"/>
            </a:endParaRPr>
          </a:p>
        </p:txBody>
      </p:sp>
      <p:sp>
        <p:nvSpPr>
          <p:cNvPr id="29" name="Shape 22"/>
          <p:cNvSpPr/>
          <p:nvPr>
            <p:custDataLst>
              <p:tags r:id="rId24"/>
            </p:custDataLst>
          </p:nvPr>
        </p:nvSpPr>
        <p:spPr>
          <a:xfrm>
            <a:off x="4552798" y="1752905"/>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30" name="Image 5" descr="preencoded.png"/>
          <p:cNvPicPr>
            <a:picLocks noChangeAspect="1"/>
          </p:cNvPicPr>
          <p:nvPr>
            <p:custDataLst>
              <p:tags r:id="rId25"/>
            </p:custDataLst>
          </p:nvPr>
        </p:nvPicPr>
        <p:blipFill>
          <a:blip r:embed="rId26"/>
          <a:srcRect t="-14384" b="-14384"/>
          <a:stretch>
            <a:fillRect/>
          </a:stretch>
        </p:blipFill>
        <p:spPr>
          <a:xfrm>
            <a:off x="4677156" y="1857146"/>
            <a:ext cx="133502" cy="171907"/>
          </a:xfrm>
          <a:prstGeom prst="rect">
            <a:avLst/>
          </a:prstGeom>
        </p:spPr>
      </p:pic>
      <p:sp>
        <p:nvSpPr>
          <p:cNvPr id="31" name="Text 23"/>
          <p:cNvSpPr txBox="1"/>
          <p:nvPr>
            <p:custDataLst>
              <p:tags r:id="rId27"/>
            </p:custDataLst>
          </p:nvPr>
        </p:nvSpPr>
        <p:spPr>
          <a:xfrm>
            <a:off x="5048402" y="1809598"/>
            <a:ext cx="2572207" cy="277063"/>
          </a:xfrm>
          <a:prstGeom prst="rect">
            <a:avLst/>
          </a:prstGeom>
          <a:noFill/>
        </p:spPr>
        <p:txBody>
          <a:bodyPr wrap="square" lIns="0" tIns="0" rIns="0" bIns="0" rtlCol="0" anchor="ctr"/>
          <a:lstStyle/>
          <a:p>
            <a:pPr marL="0" indent="0" algn="l">
              <a:buNone/>
            </a:pPr>
            <a:r>
              <a:rPr lang="en-US" sz="14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What - Scope?</a:t>
            </a:r>
            <a:endParaRPr lang="en-US" sz="1400" dirty="0">
              <a:ea typeface="Noto Sans SC" panose="020B0200000000000000" pitchFamily="34" charset="-122"/>
              <a:cs typeface="Noto Sans SC" panose="020B0200000000000000" pitchFamily="34" charset="-122"/>
            </a:endParaRPr>
          </a:p>
        </p:txBody>
      </p:sp>
      <p:sp>
        <p:nvSpPr>
          <p:cNvPr id="32" name="Text 24"/>
          <p:cNvSpPr txBox="1"/>
          <p:nvPr>
            <p:custDataLst>
              <p:tags r:id="rId28"/>
            </p:custDataLst>
          </p:nvPr>
        </p:nvSpPr>
        <p:spPr>
          <a:xfrm>
            <a:off x="4552798" y="2247595"/>
            <a:ext cx="3067812" cy="600761"/>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Build dorm management Web prototype covering management/behavior/stats/visitors, plus questionnaire &amp; matching expansion.</a:t>
            </a:r>
            <a:endParaRPr lang="en-US" sz="1000" dirty="0">
              <a:ea typeface="Noto Sans SC" panose="020B0200000000000000" pitchFamily="34" charset="-122"/>
              <a:cs typeface="Noto Sans SC" panose="020B0200000000000000" pitchFamily="34" charset="-122"/>
            </a:endParaRPr>
          </a:p>
        </p:txBody>
      </p:sp>
      <p:sp>
        <p:nvSpPr>
          <p:cNvPr id="33" name="Shape 25"/>
          <p:cNvSpPr/>
          <p:nvPr>
            <p:custDataLst>
              <p:tags r:id="rId29"/>
            </p:custDataLst>
          </p:nvPr>
        </p:nvSpPr>
        <p:spPr>
          <a:xfrm>
            <a:off x="4552798" y="3114446"/>
            <a:ext cx="1228954" cy="247802"/>
          </a:xfrm>
          <a:prstGeom prst="roundRect">
            <a:avLst>
              <a:gd name="adj" fmla="val 369004"/>
            </a:avLst>
          </a:prstGeom>
          <a:solidFill>
            <a:srgbClr val="F1F5F9"/>
          </a:solidFill>
          <a:ln w="12700">
            <a:solidFill>
              <a:srgbClr val="FFFFFF">
                <a:alpha val="0"/>
              </a:srgbClr>
            </a:solidFill>
            <a:prstDash val="solid"/>
          </a:ln>
        </p:spPr>
      </p:sp>
      <p:sp>
        <p:nvSpPr>
          <p:cNvPr id="34" name="Text 26"/>
          <p:cNvSpPr/>
          <p:nvPr>
            <p:custDataLst>
              <p:tags r:id="rId30"/>
            </p:custDataLst>
          </p:nvPr>
        </p:nvSpPr>
        <p:spPr>
          <a:xfrm>
            <a:off x="4552798" y="3114446"/>
            <a:ext cx="1228954"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10+ Core Features</a:t>
            </a:r>
            <a:endParaRPr lang="en-US" sz="900" dirty="0">
              <a:ea typeface="Noto Sans SC" panose="020B0200000000000000" pitchFamily="34" charset="-122"/>
              <a:cs typeface="Noto Sans SC" panose="020B0200000000000000" pitchFamily="34" charset="-122"/>
            </a:endParaRPr>
          </a:p>
        </p:txBody>
      </p:sp>
      <p:sp>
        <p:nvSpPr>
          <p:cNvPr id="35" name="Shape 27"/>
          <p:cNvSpPr/>
          <p:nvPr>
            <p:custDataLst>
              <p:tags r:id="rId31"/>
            </p:custDataLst>
          </p:nvPr>
        </p:nvSpPr>
        <p:spPr>
          <a:xfrm>
            <a:off x="8305495" y="1752905"/>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36" name="Image 6" descr="preencoded.png"/>
          <p:cNvPicPr>
            <a:picLocks noChangeAspect="1"/>
          </p:cNvPicPr>
          <p:nvPr>
            <p:custDataLst>
              <p:tags r:id="rId32"/>
            </p:custDataLst>
          </p:nvPr>
        </p:nvPicPr>
        <p:blipFill>
          <a:blip r:embed="rId33"/>
          <a:srcRect t="-6336" b="-6336"/>
          <a:stretch>
            <a:fillRect/>
          </a:stretch>
        </p:blipFill>
        <p:spPr>
          <a:xfrm>
            <a:off x="8429854" y="1857146"/>
            <a:ext cx="133502" cy="171907"/>
          </a:xfrm>
          <a:prstGeom prst="rect">
            <a:avLst/>
          </a:prstGeom>
        </p:spPr>
      </p:pic>
      <p:sp>
        <p:nvSpPr>
          <p:cNvPr id="37" name="Text 28"/>
          <p:cNvSpPr txBox="1"/>
          <p:nvPr>
            <p:custDataLst>
              <p:tags r:id="rId34"/>
            </p:custDataLst>
          </p:nvPr>
        </p:nvSpPr>
        <p:spPr>
          <a:xfrm>
            <a:off x="8801100" y="1809598"/>
            <a:ext cx="2572207" cy="277063"/>
          </a:xfrm>
          <a:prstGeom prst="rect">
            <a:avLst/>
          </a:prstGeom>
          <a:noFill/>
        </p:spPr>
        <p:txBody>
          <a:bodyPr wrap="square" lIns="0" tIns="0" rIns="0" bIns="0" rtlCol="0" anchor="ctr"/>
          <a:lstStyle/>
          <a:p>
            <a:pPr marL="0" indent="0" algn="l">
              <a:buNone/>
            </a:pPr>
            <a:r>
              <a:rPr lang="en-US" sz="14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When - Timeline?</a:t>
            </a:r>
            <a:endParaRPr lang="en-US" sz="1400" dirty="0">
              <a:ea typeface="Noto Sans SC" panose="020B0200000000000000" pitchFamily="34" charset="-122"/>
              <a:cs typeface="Noto Sans SC" panose="020B0200000000000000" pitchFamily="34" charset="-122"/>
            </a:endParaRPr>
          </a:p>
        </p:txBody>
      </p:sp>
      <p:sp>
        <p:nvSpPr>
          <p:cNvPr id="38" name="Text 29"/>
          <p:cNvSpPr txBox="1"/>
          <p:nvPr>
            <p:custDataLst>
              <p:tags r:id="rId35"/>
            </p:custDataLst>
          </p:nvPr>
        </p:nvSpPr>
        <p:spPr>
          <a:xfrm>
            <a:off x="8305495" y="2247595"/>
            <a:ext cx="3067812" cy="600761"/>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Mid-term prototype completion; Post mid-term expansion (management docs, estimation, risk, and matching features).</a:t>
            </a:r>
            <a:endParaRPr lang="en-US" sz="1000" dirty="0">
              <a:ea typeface="Noto Sans SC" panose="020B0200000000000000" pitchFamily="34" charset="-122"/>
              <a:cs typeface="Noto Sans SC" panose="020B0200000000000000" pitchFamily="34" charset="-122"/>
            </a:endParaRPr>
          </a:p>
        </p:txBody>
      </p:sp>
      <p:sp>
        <p:nvSpPr>
          <p:cNvPr id="39" name="Shape 30"/>
          <p:cNvSpPr/>
          <p:nvPr>
            <p:custDataLst>
              <p:tags r:id="rId36"/>
            </p:custDataLst>
          </p:nvPr>
        </p:nvSpPr>
        <p:spPr>
          <a:xfrm>
            <a:off x="8305495" y="3114446"/>
            <a:ext cx="1028700" cy="247802"/>
          </a:xfrm>
          <a:prstGeom prst="roundRect">
            <a:avLst>
              <a:gd name="adj" fmla="val 369004"/>
            </a:avLst>
          </a:prstGeom>
          <a:solidFill>
            <a:srgbClr val="F1F5F9"/>
          </a:solidFill>
          <a:ln w="12700">
            <a:solidFill>
              <a:srgbClr val="FFFFFF">
                <a:alpha val="0"/>
              </a:srgbClr>
            </a:solidFill>
            <a:prstDash val="solid"/>
          </a:ln>
        </p:spPr>
      </p:sp>
      <p:sp>
        <p:nvSpPr>
          <p:cNvPr id="40" name="Text 31"/>
          <p:cNvSpPr/>
          <p:nvPr>
            <p:custDataLst>
              <p:tags r:id="rId37"/>
            </p:custDataLst>
          </p:nvPr>
        </p:nvSpPr>
        <p:spPr>
          <a:xfrm>
            <a:off x="8305495" y="3114446"/>
            <a:ext cx="1028700"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4-Month Cycle</a:t>
            </a:r>
            <a:endParaRPr lang="en-US" sz="900" dirty="0">
              <a:ea typeface="Noto Sans SC" panose="020B0200000000000000" pitchFamily="34" charset="-122"/>
              <a:cs typeface="Noto Sans SC" panose="020B0200000000000000" pitchFamily="34" charset="-122"/>
            </a:endParaRPr>
          </a:p>
        </p:txBody>
      </p:sp>
      <p:sp>
        <p:nvSpPr>
          <p:cNvPr id="41" name="Shape 32"/>
          <p:cNvSpPr/>
          <p:nvPr>
            <p:custDataLst>
              <p:tags r:id="rId38"/>
            </p:custDataLst>
          </p:nvPr>
        </p:nvSpPr>
        <p:spPr>
          <a:xfrm>
            <a:off x="800100" y="3886200"/>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42" name="Image 7" descr="preencoded.png"/>
          <p:cNvPicPr>
            <a:picLocks noChangeAspect="1"/>
          </p:cNvPicPr>
          <p:nvPr>
            <p:custDataLst>
              <p:tags r:id="rId39"/>
            </p:custDataLst>
          </p:nvPr>
        </p:nvPicPr>
        <p:blipFill>
          <a:blip r:embed="rId40"/>
          <a:srcRect t="-30480" b="-30480"/>
          <a:stretch>
            <a:fillRect/>
          </a:stretch>
        </p:blipFill>
        <p:spPr>
          <a:xfrm>
            <a:off x="923544" y="3991356"/>
            <a:ext cx="133502" cy="171907"/>
          </a:xfrm>
          <a:prstGeom prst="rect">
            <a:avLst/>
          </a:prstGeom>
        </p:spPr>
      </p:pic>
      <p:sp>
        <p:nvSpPr>
          <p:cNvPr id="43" name="Text 33"/>
          <p:cNvSpPr txBox="1"/>
          <p:nvPr>
            <p:custDataLst>
              <p:tags r:id="rId41"/>
            </p:custDataLst>
          </p:nvPr>
        </p:nvSpPr>
        <p:spPr>
          <a:xfrm>
            <a:off x="1295705" y="3943807"/>
            <a:ext cx="2572207" cy="277063"/>
          </a:xfrm>
          <a:prstGeom prst="rect">
            <a:avLst/>
          </a:prstGeom>
          <a:noFill/>
        </p:spPr>
        <p:txBody>
          <a:bodyPr wrap="square" lIns="0" tIns="0" rIns="0" bIns="0" rtlCol="0" anchor="ctr"/>
          <a:lstStyle/>
          <a:p>
            <a:pPr marL="0" indent="0" algn="l">
              <a:buNone/>
            </a:pPr>
            <a:r>
              <a:rPr lang="en-US" sz="14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Who - Team?</a:t>
            </a:r>
            <a:endParaRPr lang="en-US" sz="1400" dirty="0">
              <a:ea typeface="Noto Sans SC" panose="020B0200000000000000" pitchFamily="34" charset="-122"/>
              <a:cs typeface="Noto Sans SC" panose="020B0200000000000000" pitchFamily="34" charset="-122"/>
            </a:endParaRPr>
          </a:p>
        </p:txBody>
      </p:sp>
      <p:sp>
        <p:nvSpPr>
          <p:cNvPr id="44" name="Text 34"/>
          <p:cNvSpPr txBox="1"/>
          <p:nvPr>
            <p:custDataLst>
              <p:tags r:id="rId42"/>
            </p:custDataLst>
          </p:nvPr>
        </p:nvSpPr>
        <p:spPr>
          <a:xfrm>
            <a:off x="800100" y="4381805"/>
            <a:ext cx="3067812" cy="600761"/>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Collaboration across frontend, backend, test/deployment, docs/PM roles within a 6-member agile team.</a:t>
            </a:r>
            <a:endParaRPr lang="en-US" sz="1000" dirty="0">
              <a:ea typeface="Noto Sans SC" panose="020B0200000000000000" pitchFamily="34" charset="-122"/>
              <a:cs typeface="Noto Sans SC" panose="020B0200000000000000" pitchFamily="34" charset="-122"/>
            </a:endParaRPr>
          </a:p>
        </p:txBody>
      </p:sp>
      <p:sp>
        <p:nvSpPr>
          <p:cNvPr id="45" name="Shape 35"/>
          <p:cNvSpPr/>
          <p:nvPr>
            <p:custDataLst>
              <p:tags r:id="rId43"/>
            </p:custDataLst>
          </p:nvPr>
        </p:nvSpPr>
        <p:spPr>
          <a:xfrm>
            <a:off x="800100" y="5248656"/>
            <a:ext cx="1133856" cy="247802"/>
          </a:xfrm>
          <a:prstGeom prst="roundRect">
            <a:avLst>
              <a:gd name="adj" fmla="val 369004"/>
            </a:avLst>
          </a:prstGeom>
          <a:solidFill>
            <a:srgbClr val="F1F5F9"/>
          </a:solidFill>
          <a:ln w="12700">
            <a:solidFill>
              <a:srgbClr val="FFFFFF">
                <a:alpha val="0"/>
              </a:srgbClr>
            </a:solidFill>
            <a:prstDash val="solid"/>
          </a:ln>
        </p:spPr>
      </p:sp>
      <p:sp>
        <p:nvSpPr>
          <p:cNvPr id="46" name="Text 36"/>
          <p:cNvSpPr/>
          <p:nvPr>
            <p:custDataLst>
              <p:tags r:id="rId44"/>
            </p:custDataLst>
          </p:nvPr>
        </p:nvSpPr>
        <p:spPr>
          <a:xfrm>
            <a:off x="800100" y="5248656"/>
            <a:ext cx="1133856"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6-Member Team</a:t>
            </a:r>
            <a:endParaRPr lang="en-US" sz="900" dirty="0">
              <a:ea typeface="Noto Sans SC" panose="020B0200000000000000" pitchFamily="34" charset="-122"/>
              <a:cs typeface="Noto Sans SC" panose="020B0200000000000000" pitchFamily="34" charset="-122"/>
            </a:endParaRPr>
          </a:p>
        </p:txBody>
      </p:sp>
      <p:sp>
        <p:nvSpPr>
          <p:cNvPr id="47" name="Shape 37"/>
          <p:cNvSpPr/>
          <p:nvPr>
            <p:custDataLst>
              <p:tags r:id="rId45"/>
            </p:custDataLst>
          </p:nvPr>
        </p:nvSpPr>
        <p:spPr>
          <a:xfrm>
            <a:off x="4552798" y="3886200"/>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48" name="Image 8" descr="preencoded.png"/>
          <p:cNvPicPr>
            <a:picLocks noChangeAspect="1"/>
          </p:cNvPicPr>
          <p:nvPr>
            <p:custDataLst>
              <p:tags r:id="rId46"/>
            </p:custDataLst>
          </p:nvPr>
        </p:nvPicPr>
        <p:blipFill>
          <a:blip r:embed="rId47"/>
          <a:srcRect l="-1773" r="-1773"/>
          <a:stretch>
            <a:fillRect/>
          </a:stretch>
        </p:blipFill>
        <p:spPr>
          <a:xfrm>
            <a:off x="4677156" y="3991356"/>
            <a:ext cx="133502" cy="171907"/>
          </a:xfrm>
          <a:prstGeom prst="rect">
            <a:avLst/>
          </a:prstGeom>
        </p:spPr>
      </p:pic>
      <p:sp>
        <p:nvSpPr>
          <p:cNvPr id="49" name="Text 38"/>
          <p:cNvSpPr txBox="1"/>
          <p:nvPr>
            <p:custDataLst>
              <p:tags r:id="rId48"/>
            </p:custDataLst>
          </p:nvPr>
        </p:nvSpPr>
        <p:spPr>
          <a:xfrm>
            <a:off x="5048402" y="3943807"/>
            <a:ext cx="2572207" cy="277063"/>
          </a:xfrm>
          <a:prstGeom prst="rect">
            <a:avLst/>
          </a:prstGeom>
          <a:noFill/>
        </p:spPr>
        <p:txBody>
          <a:bodyPr wrap="square" lIns="0" tIns="0" rIns="0" bIns="0" rtlCol="0" anchor="ctr"/>
          <a:lstStyle/>
          <a:p>
            <a:pPr marL="0" indent="0" algn="l">
              <a:buNone/>
            </a:pPr>
            <a:r>
              <a:rPr lang="en-US" sz="14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Where - Location?</a:t>
            </a:r>
            <a:endParaRPr lang="en-US" sz="1400" dirty="0">
              <a:ea typeface="Noto Sans SC" panose="020B0200000000000000" pitchFamily="34" charset="-122"/>
              <a:cs typeface="Noto Sans SC" panose="020B0200000000000000" pitchFamily="34" charset="-122"/>
            </a:endParaRPr>
          </a:p>
        </p:txBody>
      </p:sp>
      <p:sp>
        <p:nvSpPr>
          <p:cNvPr id="50" name="Text 39"/>
          <p:cNvSpPr txBox="1"/>
          <p:nvPr>
            <p:custDataLst>
              <p:tags r:id="rId49"/>
            </p:custDataLst>
          </p:nvPr>
        </p:nvSpPr>
        <p:spPr>
          <a:xfrm>
            <a:off x="4552798" y="4381805"/>
            <a:ext cx="3067812" cy="600761"/>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Code hosted on GitHub, process managed via Leangoo/Kanban, demonstrated locally or on course server.</a:t>
            </a:r>
            <a:endParaRPr lang="en-US" sz="1000" dirty="0">
              <a:ea typeface="Noto Sans SC" panose="020B0200000000000000" pitchFamily="34" charset="-122"/>
              <a:cs typeface="Noto Sans SC" panose="020B0200000000000000" pitchFamily="34" charset="-122"/>
            </a:endParaRPr>
          </a:p>
        </p:txBody>
      </p:sp>
      <p:sp>
        <p:nvSpPr>
          <p:cNvPr id="51" name="Shape 40"/>
          <p:cNvSpPr/>
          <p:nvPr>
            <p:custDataLst>
              <p:tags r:id="rId50"/>
            </p:custDataLst>
          </p:nvPr>
        </p:nvSpPr>
        <p:spPr>
          <a:xfrm>
            <a:off x="4552798" y="5248656"/>
            <a:ext cx="1171346" cy="247802"/>
          </a:xfrm>
          <a:prstGeom prst="roundRect">
            <a:avLst>
              <a:gd name="adj" fmla="val 369004"/>
            </a:avLst>
          </a:prstGeom>
          <a:solidFill>
            <a:srgbClr val="F1F5F9"/>
          </a:solidFill>
          <a:ln w="12700">
            <a:solidFill>
              <a:srgbClr val="FFFFFF">
                <a:alpha val="0"/>
              </a:srgbClr>
            </a:solidFill>
            <a:prstDash val="solid"/>
          </a:ln>
        </p:spPr>
      </p:sp>
      <p:sp>
        <p:nvSpPr>
          <p:cNvPr id="52" name="Text 41"/>
          <p:cNvSpPr/>
          <p:nvPr>
            <p:custDataLst>
              <p:tags r:id="rId51"/>
            </p:custDataLst>
          </p:nvPr>
        </p:nvSpPr>
        <p:spPr>
          <a:xfrm>
            <a:off x="4552798" y="5248656"/>
            <a:ext cx="1172261"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GitHub + Kanban</a:t>
            </a:r>
            <a:endParaRPr lang="en-US" sz="900" dirty="0">
              <a:ea typeface="Noto Sans SC" panose="020B0200000000000000" pitchFamily="34" charset="-122"/>
              <a:cs typeface="Noto Sans SC" panose="020B0200000000000000" pitchFamily="34" charset="-122"/>
            </a:endParaRPr>
          </a:p>
        </p:txBody>
      </p:sp>
      <p:sp>
        <p:nvSpPr>
          <p:cNvPr id="53" name="Shape 42"/>
          <p:cNvSpPr/>
          <p:nvPr>
            <p:custDataLst>
              <p:tags r:id="rId52"/>
            </p:custDataLst>
          </p:nvPr>
        </p:nvSpPr>
        <p:spPr>
          <a:xfrm>
            <a:off x="8305495" y="3886200"/>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54" name="Image 9" descr="preencoded.png"/>
          <p:cNvPicPr>
            <a:picLocks noChangeAspect="1"/>
          </p:cNvPicPr>
          <p:nvPr>
            <p:custDataLst>
              <p:tags r:id="rId53"/>
            </p:custDataLst>
          </p:nvPr>
        </p:nvPicPr>
        <p:blipFill>
          <a:blip r:embed="rId54"/>
          <a:srcRect t="-30480" b="-30480"/>
          <a:stretch>
            <a:fillRect/>
          </a:stretch>
        </p:blipFill>
        <p:spPr>
          <a:xfrm>
            <a:off x="8429854" y="3991356"/>
            <a:ext cx="133502" cy="171907"/>
          </a:xfrm>
          <a:prstGeom prst="rect">
            <a:avLst/>
          </a:prstGeom>
        </p:spPr>
      </p:pic>
      <p:sp>
        <p:nvSpPr>
          <p:cNvPr id="55" name="Text 43"/>
          <p:cNvSpPr txBox="1"/>
          <p:nvPr>
            <p:custDataLst>
              <p:tags r:id="rId55"/>
            </p:custDataLst>
          </p:nvPr>
        </p:nvSpPr>
        <p:spPr>
          <a:xfrm>
            <a:off x="8801100" y="3943807"/>
            <a:ext cx="2572207" cy="277063"/>
          </a:xfrm>
          <a:prstGeom prst="rect">
            <a:avLst/>
          </a:prstGeom>
          <a:noFill/>
        </p:spPr>
        <p:txBody>
          <a:bodyPr wrap="square" lIns="0" tIns="0" rIns="0" bIns="0" rtlCol="0" anchor="ctr"/>
          <a:lstStyle/>
          <a:p>
            <a:pPr marL="0" indent="0" algn="l">
              <a:buNone/>
            </a:pPr>
            <a:r>
              <a:rPr lang="en-US" sz="14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How - Approach?</a:t>
            </a:r>
            <a:endParaRPr lang="en-US" sz="1400" dirty="0">
              <a:ea typeface="Noto Sans SC" panose="020B0200000000000000" pitchFamily="34" charset="-122"/>
              <a:cs typeface="Noto Sans SC" panose="020B0200000000000000" pitchFamily="34" charset="-122"/>
            </a:endParaRPr>
          </a:p>
        </p:txBody>
      </p:sp>
      <p:sp>
        <p:nvSpPr>
          <p:cNvPr id="56" name="Text 44"/>
          <p:cNvSpPr txBox="1"/>
          <p:nvPr>
            <p:custDataLst>
              <p:tags r:id="rId56"/>
            </p:custDataLst>
          </p:nvPr>
        </p:nvSpPr>
        <p:spPr>
          <a:xfrm>
            <a:off x="8305495" y="4381805"/>
            <a:ext cx="3067812" cy="600761"/>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Technical: Vue 2.7 + Koa 2.x + MySQL. Management: Scrum small-step iteration with RTM &amp; WBS.</a:t>
            </a:r>
            <a:endParaRPr lang="en-US" sz="1000" dirty="0">
              <a:ea typeface="Noto Sans SC" panose="020B0200000000000000" pitchFamily="34" charset="-122"/>
              <a:cs typeface="Noto Sans SC" panose="020B0200000000000000" pitchFamily="34" charset="-122"/>
            </a:endParaRPr>
          </a:p>
        </p:txBody>
      </p:sp>
      <p:sp>
        <p:nvSpPr>
          <p:cNvPr id="57" name="Shape 45"/>
          <p:cNvSpPr/>
          <p:nvPr>
            <p:custDataLst>
              <p:tags r:id="rId57"/>
            </p:custDataLst>
          </p:nvPr>
        </p:nvSpPr>
        <p:spPr>
          <a:xfrm>
            <a:off x="8305495" y="5248656"/>
            <a:ext cx="1295705" cy="247802"/>
          </a:xfrm>
          <a:prstGeom prst="roundRect">
            <a:avLst>
              <a:gd name="adj" fmla="val 369004"/>
            </a:avLst>
          </a:prstGeom>
          <a:solidFill>
            <a:srgbClr val="F1F5F9"/>
          </a:solidFill>
          <a:ln w="12700">
            <a:solidFill>
              <a:srgbClr val="FFFFFF">
                <a:alpha val="0"/>
              </a:srgbClr>
            </a:solidFill>
            <a:prstDash val="solid"/>
          </a:ln>
        </p:spPr>
      </p:sp>
      <p:sp>
        <p:nvSpPr>
          <p:cNvPr id="58" name="Text 46"/>
          <p:cNvSpPr/>
          <p:nvPr>
            <p:custDataLst>
              <p:tags r:id="rId58"/>
            </p:custDataLst>
          </p:nvPr>
        </p:nvSpPr>
        <p:spPr>
          <a:xfrm>
            <a:off x="8305495" y="5248656"/>
            <a:ext cx="1295705"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Agile Development</a:t>
            </a:r>
            <a:endParaRPr lang="en-US" sz="900" dirty="0">
              <a:ea typeface="Noto Sans SC" panose="020B0200000000000000" pitchFamily="34" charset="-122"/>
              <a:cs typeface="Noto Sans SC" panose="020B0200000000000000" pitchFamily="34" charset="-122"/>
            </a:endParaRPr>
          </a:p>
        </p:txBody>
      </p:sp>
      <p:sp>
        <p:nvSpPr>
          <p:cNvPr id="59" name="Text 47"/>
          <p:cNvSpPr txBox="1"/>
          <p:nvPr/>
        </p:nvSpPr>
        <p:spPr>
          <a:xfrm>
            <a:off x="914400" y="5952744"/>
            <a:ext cx="10363810" cy="553212"/>
          </a:xfrm>
          <a:prstGeom prst="rect">
            <a:avLst/>
          </a:prstGeom>
          <a:noFill/>
        </p:spPr>
        <p:txBody>
          <a:bodyPr wrap="square" lIns="0" tIns="0" rIns="0" bIns="0" rtlCol="0" anchor="ctr"/>
          <a:lstStyle/>
          <a:p>
            <a:pPr marL="0" indent="0" algn="l">
              <a:buNone/>
            </a:pPr>
            <a:r>
              <a:rPr lang="en-US" sz="13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Project Management Approach:</a:t>
            </a:r>
            <a:r>
              <a:rPr lang="en-US" sz="13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Utilize Scrum iterations, ensure requirements tracking with RTM, breakdown tasks via WBS, and track progress using GitHub commits and Kanban boards to achieve a complete project management closed-loop. </a:t>
            </a:r>
            <a:endParaRPr lang="en-US" sz="1300" dirty="0">
              <a:ea typeface="Noto Sans SC" panose="020B0200000000000000" pitchFamily="34" charset="-122"/>
              <a:cs typeface="Noto Sans SC" panose="020B0200000000000000"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2"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3" name="Text 1"/>
          <p:cNvSpPr/>
          <p:nvPr/>
        </p:nvSpPr>
        <p:spPr>
          <a:xfrm>
            <a:off x="571500" y="114300"/>
            <a:ext cx="11049000" cy="523875"/>
          </a:xfrm>
          <a:prstGeom prst="rect">
            <a:avLst/>
          </a:prstGeom>
          <a:noFill/>
        </p:spPr>
        <p:txBody>
          <a:bodyPr wrap="none" lIns="0" tIns="0" rIns="0" bIns="0" rtlCol="0" anchor="ctr"/>
          <a:lstStyle/>
          <a:p>
            <a:pPr algn="ctr">
              <a:lnSpc>
                <a:spcPct val="100000"/>
              </a:lnSpc>
            </a:pPr>
            <a:r>
              <a:rPr lang="en-US" sz="33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rPr>
              <a:t>Scrum Process</a:t>
            </a:r>
            <a:endParaRPr lang="en-US" sz="33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4" name="Text 2"/>
          <p:cNvSpPr/>
          <p:nvPr/>
        </p:nvSpPr>
        <p:spPr>
          <a:xfrm>
            <a:off x="571500" y="838200"/>
            <a:ext cx="11049000" cy="285750"/>
          </a:xfrm>
          <a:prstGeom prst="rect">
            <a:avLst/>
          </a:prstGeom>
          <a:noFill/>
        </p:spPr>
        <p:txBody>
          <a:bodyPr wrap="none" lIns="0" tIns="0" rIns="0" bIns="0" rtlCol="0" anchor="ctr"/>
          <a:lstStyle/>
          <a:p>
            <a:pPr algn="ctr">
              <a:lnSpc>
                <a:spcPct val="100000"/>
              </a:lnSpc>
            </a:pPr>
            <a:r>
              <a:rPr lang="en-US" sz="1300" b="1" dirty="0">
                <a:solidFill>
                  <a:srgbClr val="224069"/>
                </a:solidFill>
                <a:latin typeface="Noto Sans SC" panose="020B0200000000000000" pitchFamily="34" charset="-122"/>
                <a:ea typeface="Noto Sans SC" panose="020B0200000000000000" pitchFamily="34" charset="-122"/>
                <a:cs typeface="Noto Sans SC" panose="020B0200000000000000" pitchFamily="34" charset="-120"/>
              </a:rPr>
              <a:t>Agile Framework for Smart Dormitory Management System</a:t>
            </a:r>
            <a:endParaRPr lang="en-US" sz="1300" b="1" dirty="0">
              <a:solidFill>
                <a:srgbClr val="224069"/>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11" name="Shape 9"/>
          <p:cNvSpPr/>
          <p:nvPr/>
        </p:nvSpPr>
        <p:spPr>
          <a:xfrm>
            <a:off x="6191250" y="1333500"/>
            <a:ext cx="5429250" cy="2714625"/>
          </a:xfrm>
          <a:prstGeom prst="roundRect">
            <a:avLst>
              <a:gd name="adj" fmla="val 8000"/>
            </a:avLst>
          </a:prstGeom>
          <a:solidFill>
            <a:srgbClr val="2A2D33"/>
          </a:solidFill>
          <a:ln w="12700">
            <a:solidFill>
              <a:srgbClr val="3A3D45"/>
            </a:solidFill>
            <a:prstDash val="solid"/>
          </a:ln>
        </p:spPr>
      </p:sp>
      <p:sp>
        <p:nvSpPr>
          <p:cNvPr id="12" name="Shape 10"/>
          <p:cNvSpPr/>
          <p:nvPr/>
        </p:nvSpPr>
        <p:spPr>
          <a:xfrm>
            <a:off x="6467475" y="1524000"/>
            <a:ext cx="228600" cy="304800"/>
          </a:xfrm>
          <a:custGeom>
            <a:avLst/>
            <a:gdLst/>
            <a:ahLst/>
            <a:cxnLst/>
            <a:rect l="l" t="t" r="r" b="b"/>
            <a:pathLst>
              <a:path w="304800" h="406400">
                <a:moveTo>
                  <a:pt x="247174" y="25400"/>
                </a:moveTo>
                <a:lnTo>
                  <a:pt x="254000" y="25400"/>
                </a:lnTo>
                <a:cubicBezTo>
                  <a:pt x="282019" y="25400"/>
                  <a:pt x="304800" y="48181"/>
                  <a:pt x="304800" y="76200"/>
                </a:cubicBezTo>
                <a:lnTo>
                  <a:pt x="304800" y="355600"/>
                </a:lnTo>
                <a:cubicBezTo>
                  <a:pt x="304800" y="383619"/>
                  <a:pt x="282019" y="406400"/>
                  <a:pt x="254000" y="406400"/>
                </a:cubicBezTo>
                <a:lnTo>
                  <a:pt x="50800" y="406400"/>
                </a:lnTo>
                <a:cubicBezTo>
                  <a:pt x="22781" y="406400"/>
                  <a:pt x="0" y="383619"/>
                  <a:pt x="0" y="355600"/>
                </a:cubicBezTo>
                <a:lnTo>
                  <a:pt x="0" y="76200"/>
                </a:lnTo>
                <a:cubicBezTo>
                  <a:pt x="0" y="48181"/>
                  <a:pt x="22781" y="25400"/>
                  <a:pt x="50800" y="25400"/>
                </a:cubicBezTo>
                <a:lnTo>
                  <a:pt x="57626" y="25400"/>
                </a:lnTo>
                <a:cubicBezTo>
                  <a:pt x="66357" y="10239"/>
                  <a:pt x="82788" y="0"/>
                  <a:pt x="101600" y="0"/>
                </a:cubicBezTo>
                <a:lnTo>
                  <a:pt x="203200" y="0"/>
                </a:lnTo>
                <a:cubicBezTo>
                  <a:pt x="222012" y="0"/>
                  <a:pt x="238442" y="10239"/>
                  <a:pt x="247174" y="25400"/>
                </a:cubicBezTo>
                <a:close/>
                <a:moveTo>
                  <a:pt x="196850" y="88900"/>
                </a:moveTo>
                <a:cubicBezTo>
                  <a:pt x="207407" y="88900"/>
                  <a:pt x="215900" y="80407"/>
                  <a:pt x="215900" y="69850"/>
                </a:cubicBezTo>
                <a:cubicBezTo>
                  <a:pt x="215900" y="59293"/>
                  <a:pt x="207407" y="50800"/>
                  <a:pt x="196850" y="50800"/>
                </a:cubicBezTo>
                <a:lnTo>
                  <a:pt x="107950" y="50800"/>
                </a:lnTo>
                <a:cubicBezTo>
                  <a:pt x="97393" y="50800"/>
                  <a:pt x="88900" y="59293"/>
                  <a:pt x="88900" y="69850"/>
                </a:cubicBezTo>
                <a:cubicBezTo>
                  <a:pt x="88900" y="80407"/>
                  <a:pt x="97393" y="88900"/>
                  <a:pt x="107950" y="88900"/>
                </a:cubicBezTo>
                <a:lnTo>
                  <a:pt x="196850" y="88900"/>
                </a:lnTo>
                <a:close/>
                <a:moveTo>
                  <a:pt x="101600" y="203200"/>
                </a:moveTo>
                <a:cubicBezTo>
                  <a:pt x="101600" y="189181"/>
                  <a:pt x="90219" y="177800"/>
                  <a:pt x="76200" y="177800"/>
                </a:cubicBezTo>
                <a:cubicBezTo>
                  <a:pt x="62181" y="177800"/>
                  <a:pt x="50800" y="189181"/>
                  <a:pt x="50800" y="203200"/>
                </a:cubicBezTo>
                <a:cubicBezTo>
                  <a:pt x="50800" y="217219"/>
                  <a:pt x="62181" y="228600"/>
                  <a:pt x="76200" y="228600"/>
                </a:cubicBezTo>
                <a:cubicBezTo>
                  <a:pt x="90219" y="228600"/>
                  <a:pt x="101600" y="217219"/>
                  <a:pt x="101600" y="203200"/>
                </a:cubicBezTo>
                <a:close/>
                <a:moveTo>
                  <a:pt x="127000" y="203200"/>
                </a:moveTo>
                <a:cubicBezTo>
                  <a:pt x="127000" y="213757"/>
                  <a:pt x="135493" y="222250"/>
                  <a:pt x="146050" y="222250"/>
                </a:cubicBezTo>
                <a:lnTo>
                  <a:pt x="234950" y="222250"/>
                </a:lnTo>
                <a:cubicBezTo>
                  <a:pt x="245507" y="222250"/>
                  <a:pt x="254000" y="213757"/>
                  <a:pt x="254000" y="203200"/>
                </a:cubicBezTo>
                <a:cubicBezTo>
                  <a:pt x="254000" y="192643"/>
                  <a:pt x="245507" y="184150"/>
                  <a:pt x="234950" y="184150"/>
                </a:cubicBezTo>
                <a:lnTo>
                  <a:pt x="146050" y="184150"/>
                </a:lnTo>
                <a:cubicBezTo>
                  <a:pt x="135493" y="184150"/>
                  <a:pt x="127000" y="192643"/>
                  <a:pt x="127000" y="203200"/>
                </a:cubicBezTo>
                <a:close/>
                <a:moveTo>
                  <a:pt x="127000" y="304800"/>
                </a:moveTo>
                <a:cubicBezTo>
                  <a:pt x="127000" y="315357"/>
                  <a:pt x="135493" y="323850"/>
                  <a:pt x="146050" y="323850"/>
                </a:cubicBezTo>
                <a:lnTo>
                  <a:pt x="234950" y="323850"/>
                </a:lnTo>
                <a:cubicBezTo>
                  <a:pt x="245507" y="323850"/>
                  <a:pt x="254000" y="315357"/>
                  <a:pt x="254000" y="304800"/>
                </a:cubicBezTo>
                <a:cubicBezTo>
                  <a:pt x="254000" y="294243"/>
                  <a:pt x="245507" y="285750"/>
                  <a:pt x="234950" y="285750"/>
                </a:cubicBezTo>
                <a:lnTo>
                  <a:pt x="146050" y="285750"/>
                </a:lnTo>
                <a:cubicBezTo>
                  <a:pt x="135493" y="285750"/>
                  <a:pt x="127000" y="294243"/>
                  <a:pt x="127000" y="304800"/>
                </a:cubicBezTo>
                <a:close/>
                <a:moveTo>
                  <a:pt x="76200" y="330200"/>
                </a:moveTo>
                <a:cubicBezTo>
                  <a:pt x="90219" y="330200"/>
                  <a:pt x="101600" y="318819"/>
                  <a:pt x="101600" y="304800"/>
                </a:cubicBezTo>
                <a:cubicBezTo>
                  <a:pt x="101600" y="290781"/>
                  <a:pt x="90219" y="279400"/>
                  <a:pt x="76200" y="279400"/>
                </a:cubicBezTo>
                <a:cubicBezTo>
                  <a:pt x="62181" y="279400"/>
                  <a:pt x="50800" y="290781"/>
                  <a:pt x="50800" y="304800"/>
                </a:cubicBezTo>
                <a:cubicBezTo>
                  <a:pt x="50800" y="318819"/>
                  <a:pt x="62181" y="330200"/>
                  <a:pt x="76200" y="330200"/>
                </a:cubicBezTo>
                <a:close/>
              </a:path>
            </a:pathLst>
          </a:custGeom>
          <a:solidFill>
            <a:srgbClr val="4FC3F7"/>
          </a:solidFill>
        </p:spPr>
      </p:sp>
      <p:sp>
        <p:nvSpPr>
          <p:cNvPr id="13" name="Text 11"/>
          <p:cNvSpPr/>
          <p:nvPr/>
        </p:nvSpPr>
        <p:spPr>
          <a:xfrm>
            <a:off x="6829425" y="1524000"/>
            <a:ext cx="2857500" cy="342900"/>
          </a:xfrm>
          <a:prstGeom prst="rect">
            <a:avLst/>
          </a:prstGeom>
          <a:noFill/>
        </p:spPr>
        <p:txBody>
          <a:bodyPr wrap="none" lIns="0" tIns="0" rIns="0" bIns="0" rtlCol="0" anchor="ctr"/>
          <a:lstStyle/>
          <a:p>
            <a:pPr>
              <a:lnSpc>
                <a:spcPct val="100000"/>
              </a:lnSpc>
            </a:pPr>
            <a:r>
              <a:rPr lang="en-US" sz="13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Product Backlog</a:t>
            </a:r>
            <a:endParaRPr lang="en-US" sz="13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14" name="Shape 12"/>
          <p:cNvSpPr/>
          <p:nvPr/>
        </p:nvSpPr>
        <p:spPr>
          <a:xfrm>
            <a:off x="6429375" y="1933575"/>
            <a:ext cx="4953000" cy="0"/>
          </a:xfrm>
          <a:prstGeom prst="straightConnector1">
            <a:avLst/>
          </a:prstGeom>
          <a:solidFill>
            <a:schemeClr val="accent2"/>
          </a:solidFill>
          <a:ln w="25400">
            <a:solidFill>
              <a:srgbClr val="224069"/>
            </a:solidFill>
            <a:prstDash val="solid"/>
            <a:headEnd type="none"/>
            <a:tailEnd type="none"/>
          </a:ln>
        </p:spPr>
      </p:sp>
      <p:sp>
        <p:nvSpPr>
          <p:cNvPr id="15" name="Text 13"/>
          <p:cNvSpPr/>
          <p:nvPr/>
        </p:nvSpPr>
        <p:spPr>
          <a:xfrm>
            <a:off x="6429375" y="2047875"/>
            <a:ext cx="2381250" cy="1857375"/>
          </a:xfrm>
          <a:prstGeom prst="rect">
            <a:avLst/>
          </a:prstGeom>
          <a:noFill/>
        </p:spPr>
        <p:txBody>
          <a:bodyPr wrap="square" lIns="0" tIns="0" rIns="0" bIns="0" rtlCol="0" anchor="t"/>
          <a:lstStyle/>
          <a:p>
            <a:pPr>
              <a:lnSpc>
                <a:spcPct val="140000"/>
              </a:lnSpc>
            </a:pPr>
            <a:r>
              <a:rPr lang="en-US" sz="1400"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E8E8E8"/>
                </a:solidFill>
                <a:latin typeface="Noto Sans SC" panose="020B0200000000000000" pitchFamily="34" charset="-122"/>
                <a:ea typeface="Noto Sans SC" panose="020B0200000000000000" pitchFamily="34" charset="-122"/>
                <a:cs typeface="Noto Sans SC" panose="020B0200000000000000" pitchFamily="34" charset="-122"/>
              </a:rPr>
              <a:t> </a:t>
            </a: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Authentication &amp; RBAC</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 Room / student mgmt</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 </a:t>
            </a: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Repair workflow</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 Occupancy dashboard</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16" name="Text 14"/>
          <p:cNvSpPr/>
          <p:nvPr/>
        </p:nvSpPr>
        <p:spPr>
          <a:xfrm>
            <a:off x="9001125" y="2047875"/>
            <a:ext cx="2381250" cy="1857375"/>
          </a:xfrm>
          <a:prstGeom prst="rect">
            <a:avLst/>
          </a:prstGeom>
          <a:noFill/>
        </p:spPr>
        <p:txBody>
          <a:bodyPr wrap="square" lIns="0" tIns="0" rIns="0" bIns="0" rtlCol="0" anchor="t"/>
          <a:lstStyle/>
          <a:p>
            <a:pPr>
              <a:lnSpc>
                <a:spcPct val="140000"/>
              </a:lnSpc>
            </a:pPr>
            <a:r>
              <a:rPr lang="en-US" sz="1400"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 Questionnaire system</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 Roommate matching</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 </a:t>
            </a: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Anomaly alerts</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 Testing &amp; demo prep</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17" name="Shape 15"/>
          <p:cNvSpPr/>
          <p:nvPr/>
        </p:nvSpPr>
        <p:spPr>
          <a:xfrm>
            <a:off x="571500" y="4143375"/>
            <a:ext cx="5429250" cy="2619375"/>
          </a:xfrm>
          <a:prstGeom prst="roundRect">
            <a:avLst>
              <a:gd name="adj" fmla="val 8000"/>
            </a:avLst>
          </a:prstGeom>
          <a:solidFill>
            <a:srgbClr val="2A2D33"/>
          </a:solidFill>
          <a:ln w="12700">
            <a:solidFill>
              <a:srgbClr val="3A3D45"/>
            </a:solidFill>
            <a:prstDash val="solid"/>
          </a:ln>
        </p:spPr>
      </p:sp>
      <p:sp>
        <p:nvSpPr>
          <p:cNvPr id="18" name="Shape 16"/>
          <p:cNvSpPr/>
          <p:nvPr/>
        </p:nvSpPr>
        <p:spPr>
          <a:xfrm>
            <a:off x="809625" y="4333875"/>
            <a:ext cx="304800" cy="304800"/>
          </a:xfrm>
          <a:custGeom>
            <a:avLst/>
            <a:gdLst/>
            <a:ahLst/>
            <a:cxnLst/>
            <a:rect l="l" t="t" r="r" b="b"/>
            <a:pathLst>
              <a:path w="406400" h="406400">
                <a:moveTo>
                  <a:pt x="101600" y="254000"/>
                </a:moveTo>
                <a:lnTo>
                  <a:pt x="19447" y="254000"/>
                </a:lnTo>
                <a:cubicBezTo>
                  <a:pt x="-317" y="254000"/>
                  <a:pt x="-12462" y="232489"/>
                  <a:pt x="-2302" y="215503"/>
                </a:cubicBezTo>
                <a:lnTo>
                  <a:pt x="39688" y="145494"/>
                </a:lnTo>
                <a:cubicBezTo>
                  <a:pt x="46593" y="133985"/>
                  <a:pt x="58976" y="127000"/>
                  <a:pt x="72390" y="127000"/>
                </a:cubicBezTo>
                <a:lnTo>
                  <a:pt x="147796" y="127000"/>
                </a:lnTo>
                <a:cubicBezTo>
                  <a:pt x="208201" y="24686"/>
                  <a:pt x="298291" y="19526"/>
                  <a:pt x="358537" y="28337"/>
                </a:cubicBezTo>
                <a:cubicBezTo>
                  <a:pt x="368697" y="29845"/>
                  <a:pt x="376634" y="37783"/>
                  <a:pt x="378063" y="47863"/>
                </a:cubicBezTo>
                <a:cubicBezTo>
                  <a:pt x="386874" y="108109"/>
                  <a:pt x="381714" y="198199"/>
                  <a:pt x="279400" y="258604"/>
                </a:cubicBezTo>
                <a:lnTo>
                  <a:pt x="279400" y="334010"/>
                </a:lnTo>
                <a:cubicBezTo>
                  <a:pt x="279400" y="347424"/>
                  <a:pt x="272415" y="359807"/>
                  <a:pt x="260906" y="366713"/>
                </a:cubicBezTo>
                <a:lnTo>
                  <a:pt x="190897" y="408702"/>
                </a:lnTo>
                <a:cubicBezTo>
                  <a:pt x="173990" y="418862"/>
                  <a:pt x="152400" y="406638"/>
                  <a:pt x="152400" y="386953"/>
                </a:cubicBezTo>
                <a:lnTo>
                  <a:pt x="152400" y="304800"/>
                </a:lnTo>
                <a:cubicBezTo>
                  <a:pt x="152400" y="276781"/>
                  <a:pt x="129619" y="254000"/>
                  <a:pt x="101600" y="254000"/>
                </a:cubicBezTo>
                <a:lnTo>
                  <a:pt x="101521" y="254000"/>
                </a:lnTo>
                <a:close/>
                <a:moveTo>
                  <a:pt x="317500" y="127000"/>
                </a:moveTo>
                <a:cubicBezTo>
                  <a:pt x="317500" y="105972"/>
                  <a:pt x="300428" y="88900"/>
                  <a:pt x="279400" y="88900"/>
                </a:cubicBezTo>
                <a:cubicBezTo>
                  <a:pt x="258372" y="88900"/>
                  <a:pt x="241300" y="105972"/>
                  <a:pt x="241300" y="127000"/>
                </a:cubicBezTo>
                <a:cubicBezTo>
                  <a:pt x="241300" y="148028"/>
                  <a:pt x="258372" y="165100"/>
                  <a:pt x="279400" y="165100"/>
                </a:cubicBezTo>
                <a:cubicBezTo>
                  <a:pt x="300428" y="165100"/>
                  <a:pt x="317500" y="148028"/>
                  <a:pt x="317500" y="127000"/>
                </a:cubicBezTo>
                <a:close/>
              </a:path>
            </a:pathLst>
          </a:custGeom>
          <a:solidFill>
            <a:srgbClr val="4FC3F7"/>
          </a:solidFill>
        </p:spPr>
      </p:sp>
      <p:sp>
        <p:nvSpPr>
          <p:cNvPr id="40" name="Shape 15"/>
          <p:cNvSpPr/>
          <p:nvPr/>
        </p:nvSpPr>
        <p:spPr>
          <a:xfrm>
            <a:off x="571500" y="1419225"/>
            <a:ext cx="5429250" cy="2619375"/>
          </a:xfrm>
          <a:prstGeom prst="roundRect">
            <a:avLst>
              <a:gd name="adj" fmla="val 8000"/>
            </a:avLst>
          </a:prstGeom>
          <a:solidFill>
            <a:srgbClr val="2A2D33"/>
          </a:solidFill>
          <a:ln w="12700">
            <a:solidFill>
              <a:srgbClr val="3A3D45"/>
            </a:solidFill>
            <a:prstDash val="solid"/>
          </a:ln>
        </p:spPr>
      </p:sp>
      <p:sp>
        <p:nvSpPr>
          <p:cNvPr id="19" name="Text 17"/>
          <p:cNvSpPr/>
          <p:nvPr/>
        </p:nvSpPr>
        <p:spPr>
          <a:xfrm>
            <a:off x="1209675" y="4333875"/>
            <a:ext cx="2381250" cy="342900"/>
          </a:xfrm>
          <a:prstGeom prst="rect">
            <a:avLst/>
          </a:prstGeom>
          <a:noFill/>
        </p:spPr>
        <p:txBody>
          <a:bodyPr wrap="none" lIns="0" tIns="0" rIns="0" bIns="0" rtlCol="0" anchor="ctr"/>
          <a:lstStyle/>
          <a:p>
            <a:pPr>
              <a:lnSpc>
                <a:spcPct val="100000"/>
              </a:lnSpc>
            </a:pPr>
            <a:r>
              <a:rPr lang="en-US" sz="13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Sprint Plan</a:t>
            </a:r>
            <a:endParaRPr lang="en-US" sz="13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20" name="Shape 18"/>
          <p:cNvSpPr/>
          <p:nvPr/>
        </p:nvSpPr>
        <p:spPr>
          <a:xfrm>
            <a:off x="809625" y="4743450"/>
            <a:ext cx="4953000" cy="0"/>
          </a:xfrm>
          <a:prstGeom prst="straightConnector1">
            <a:avLst/>
          </a:prstGeom>
          <a:solidFill>
            <a:srgbClr val="4FC3F7"/>
          </a:solidFill>
          <a:ln w="25400">
            <a:solidFill>
              <a:srgbClr val="224069"/>
            </a:solidFill>
            <a:prstDash val="solid"/>
            <a:headEnd type="none"/>
            <a:tailEnd type="none"/>
          </a:ln>
        </p:spPr>
      </p:sp>
      <p:sp>
        <p:nvSpPr>
          <p:cNvPr id="21" name="Text 19"/>
          <p:cNvSpPr/>
          <p:nvPr/>
        </p:nvSpPr>
        <p:spPr>
          <a:xfrm>
            <a:off x="809625" y="4857750"/>
            <a:ext cx="4953000" cy="1762125"/>
          </a:xfrm>
          <a:prstGeom prst="rect">
            <a:avLst/>
          </a:prstGeom>
          <a:noFill/>
        </p:spPr>
        <p:txBody>
          <a:bodyPr wrap="square" lIns="0" tIns="0" rIns="0" bIns="0" rtlCol="0" anchor="t"/>
          <a:lstStyle/>
          <a:p>
            <a:pPr>
              <a:lnSpc>
                <a:spcPct val="140000"/>
              </a:lnSpc>
            </a:pP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Sprint 1 — Digital Core</a:t>
            </a:r>
            <a:endPar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Backend APIs, JWT auth, CRUD, repair workflow.</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Sprint 2 — Data Visualization</a:t>
            </a:r>
            <a:endPar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Dashboard UI, ECharts, stats APIs, analytics.</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Sprint 3 — AI Intelligence</a:t>
            </a:r>
            <a:endPar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Questionnaire, matching algorithm, anomaly detection.</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22" name="Shape 20"/>
          <p:cNvSpPr/>
          <p:nvPr/>
        </p:nvSpPr>
        <p:spPr>
          <a:xfrm>
            <a:off x="6191250" y="4143375"/>
            <a:ext cx="5429250" cy="2619375"/>
          </a:xfrm>
          <a:prstGeom prst="roundRect">
            <a:avLst>
              <a:gd name="adj" fmla="val 8000"/>
            </a:avLst>
          </a:prstGeom>
          <a:solidFill>
            <a:srgbClr val="2A2D33"/>
          </a:solidFill>
          <a:ln w="12700">
            <a:solidFill>
              <a:srgbClr val="3A3D45"/>
            </a:solidFill>
            <a:prstDash val="solid"/>
          </a:ln>
        </p:spPr>
      </p:sp>
      <p:sp>
        <p:nvSpPr>
          <p:cNvPr id="23" name="Shape 21"/>
          <p:cNvSpPr/>
          <p:nvPr/>
        </p:nvSpPr>
        <p:spPr>
          <a:xfrm>
            <a:off x="6448425" y="4333875"/>
            <a:ext cx="266700" cy="304800"/>
          </a:xfrm>
          <a:custGeom>
            <a:avLst/>
            <a:gdLst/>
            <a:ahLst/>
            <a:cxnLst/>
            <a:rect l="l" t="t" r="r" b="b"/>
            <a:pathLst>
              <a:path w="355600" h="406400">
                <a:moveTo>
                  <a:pt x="101600" y="0"/>
                </a:moveTo>
                <a:cubicBezTo>
                  <a:pt x="115649" y="0"/>
                  <a:pt x="127000" y="11351"/>
                  <a:pt x="127000" y="25400"/>
                </a:cubicBezTo>
                <a:lnTo>
                  <a:pt x="127000" y="50800"/>
                </a:lnTo>
                <a:lnTo>
                  <a:pt x="228600" y="50800"/>
                </a:lnTo>
                <a:lnTo>
                  <a:pt x="228600" y="25400"/>
                </a:lnTo>
                <a:cubicBezTo>
                  <a:pt x="228600" y="11351"/>
                  <a:pt x="239951" y="0"/>
                  <a:pt x="254000" y="0"/>
                </a:cubicBezTo>
                <a:cubicBezTo>
                  <a:pt x="268049" y="0"/>
                  <a:pt x="279400" y="11351"/>
                  <a:pt x="279400" y="25400"/>
                </a:cubicBezTo>
                <a:lnTo>
                  <a:pt x="279400" y="50800"/>
                </a:lnTo>
                <a:lnTo>
                  <a:pt x="304800" y="50800"/>
                </a:lnTo>
                <a:cubicBezTo>
                  <a:pt x="332819" y="50800"/>
                  <a:pt x="355600" y="73581"/>
                  <a:pt x="355600" y="101600"/>
                </a:cubicBezTo>
                <a:lnTo>
                  <a:pt x="355600" y="330200"/>
                </a:lnTo>
                <a:cubicBezTo>
                  <a:pt x="355600" y="358219"/>
                  <a:pt x="332819" y="381000"/>
                  <a:pt x="304800" y="381000"/>
                </a:cubicBezTo>
                <a:lnTo>
                  <a:pt x="50800" y="381000"/>
                </a:lnTo>
                <a:cubicBezTo>
                  <a:pt x="22781" y="381000"/>
                  <a:pt x="0" y="358219"/>
                  <a:pt x="0" y="330200"/>
                </a:cubicBezTo>
                <a:lnTo>
                  <a:pt x="0" y="101600"/>
                </a:lnTo>
                <a:cubicBezTo>
                  <a:pt x="0" y="73581"/>
                  <a:pt x="22781" y="50800"/>
                  <a:pt x="50800" y="50800"/>
                </a:cubicBezTo>
                <a:lnTo>
                  <a:pt x="76200" y="50800"/>
                </a:lnTo>
                <a:lnTo>
                  <a:pt x="76200" y="25400"/>
                </a:lnTo>
                <a:cubicBezTo>
                  <a:pt x="76200" y="11351"/>
                  <a:pt x="87551" y="0"/>
                  <a:pt x="101600" y="0"/>
                </a:cubicBezTo>
                <a:close/>
                <a:moveTo>
                  <a:pt x="244793" y="181531"/>
                </a:moveTo>
                <a:cubicBezTo>
                  <a:pt x="250349" y="172641"/>
                  <a:pt x="247650" y="160893"/>
                  <a:pt x="238760" y="155258"/>
                </a:cubicBezTo>
                <a:cubicBezTo>
                  <a:pt x="229870" y="149622"/>
                  <a:pt x="218122" y="152400"/>
                  <a:pt x="212487" y="161290"/>
                </a:cubicBezTo>
                <a:lnTo>
                  <a:pt x="163751" y="239316"/>
                </a:lnTo>
                <a:lnTo>
                  <a:pt x="142319" y="210741"/>
                </a:lnTo>
                <a:cubicBezTo>
                  <a:pt x="135969" y="202327"/>
                  <a:pt x="124063" y="200581"/>
                  <a:pt x="115649" y="206931"/>
                </a:cubicBezTo>
                <a:cubicBezTo>
                  <a:pt x="107236" y="213281"/>
                  <a:pt x="105489" y="225187"/>
                  <a:pt x="111839" y="233601"/>
                </a:cubicBezTo>
                <a:lnTo>
                  <a:pt x="149939" y="284401"/>
                </a:lnTo>
                <a:cubicBezTo>
                  <a:pt x="153670" y="289401"/>
                  <a:pt x="159702" y="292259"/>
                  <a:pt x="165973" y="292021"/>
                </a:cubicBezTo>
                <a:cubicBezTo>
                  <a:pt x="172244" y="291783"/>
                  <a:pt x="177959" y="288449"/>
                  <a:pt x="181292" y="283051"/>
                </a:cubicBezTo>
                <a:lnTo>
                  <a:pt x="244792" y="181451"/>
                </a:lnTo>
                <a:close/>
              </a:path>
            </a:pathLst>
          </a:custGeom>
          <a:solidFill>
            <a:srgbClr val="4FC3F7"/>
          </a:solidFill>
        </p:spPr>
      </p:sp>
      <p:sp>
        <p:nvSpPr>
          <p:cNvPr id="24" name="Text 22"/>
          <p:cNvSpPr/>
          <p:nvPr/>
        </p:nvSpPr>
        <p:spPr>
          <a:xfrm>
            <a:off x="6829425" y="4333875"/>
            <a:ext cx="2857500" cy="342900"/>
          </a:xfrm>
          <a:prstGeom prst="rect">
            <a:avLst/>
          </a:prstGeom>
          <a:noFill/>
        </p:spPr>
        <p:txBody>
          <a:bodyPr wrap="none" lIns="0" tIns="0" rIns="0" bIns="0" rtlCol="0" anchor="ctr"/>
          <a:lstStyle/>
          <a:p>
            <a:pPr>
              <a:lnSpc>
                <a:spcPct val="100000"/>
              </a:lnSpc>
            </a:pPr>
            <a:r>
              <a:rPr lang="en-US" sz="13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Scrum Ceremonies</a:t>
            </a:r>
            <a:endParaRPr lang="en-US" sz="13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25" name="Shape 23"/>
          <p:cNvSpPr/>
          <p:nvPr/>
        </p:nvSpPr>
        <p:spPr>
          <a:xfrm>
            <a:off x="6429375" y="4743450"/>
            <a:ext cx="4953000" cy="0"/>
          </a:xfrm>
          <a:prstGeom prst="straightConnector1">
            <a:avLst/>
          </a:prstGeom>
          <a:noFill/>
          <a:ln w="25400">
            <a:solidFill>
              <a:srgbClr val="224069"/>
            </a:solidFill>
            <a:prstDash val="solid"/>
            <a:headEnd type="none"/>
            <a:tailEnd type="none"/>
          </a:ln>
        </p:spPr>
      </p:sp>
      <p:sp>
        <p:nvSpPr>
          <p:cNvPr id="26" name="Text 24"/>
          <p:cNvSpPr/>
          <p:nvPr/>
        </p:nvSpPr>
        <p:spPr>
          <a:xfrm>
            <a:off x="6429375" y="4857750"/>
            <a:ext cx="4953000" cy="1762125"/>
          </a:xfrm>
          <a:prstGeom prst="rect">
            <a:avLst/>
          </a:prstGeom>
          <a:noFill/>
        </p:spPr>
        <p:txBody>
          <a:bodyPr wrap="square" lIns="0" tIns="0" rIns="0" bIns="0" rtlCol="0" anchor="t"/>
          <a:lstStyle/>
          <a:p>
            <a:pPr>
              <a:lnSpc>
                <a:spcPct val="140000"/>
              </a:lnSpc>
            </a:pP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Sprint Planning </a:t>
            </a: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 select backlog tasks.</a:t>
            </a:r>
            <a:endParaRPr lang="en-US" sz="1400" dirty="0">
              <a:ea typeface="Noto Sans SC" panose="020B0200000000000000" pitchFamily="34" charset="-122"/>
              <a:cs typeface="Noto Sans SC" panose="020B0200000000000000" pitchFamily="34" charset="-122"/>
            </a:endParaRPr>
          </a:p>
          <a:p>
            <a:pPr>
              <a:lnSpc>
                <a:spcPct val="140000"/>
              </a:lnSpc>
            </a:pP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Daily Scrum</a:t>
            </a:r>
            <a:r>
              <a:rPr lang="en-US" sz="1400" dirty="0">
                <a:solidFill>
                  <a:srgbClr val="E8E8E8"/>
                </a:solidFill>
                <a:latin typeface="Noto Sans SC" panose="020B0200000000000000" pitchFamily="34" charset="-122"/>
                <a:ea typeface="Noto Sans SC" panose="020B0200000000000000" pitchFamily="34" charset="-122"/>
                <a:cs typeface="Noto Sans SC" panose="020B0200000000000000" pitchFamily="34" charset="-122"/>
              </a:rPr>
              <a:t> </a:t>
            </a: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 progress and blocker check.</a:t>
            </a:r>
            <a:endParaRPr lang="en-US" sz="1400" dirty="0">
              <a:ea typeface="Noto Sans SC" panose="020B0200000000000000" pitchFamily="34" charset="-122"/>
              <a:cs typeface="Noto Sans SC" panose="020B0200000000000000" pitchFamily="34" charset="-122"/>
            </a:endParaRPr>
          </a:p>
          <a:p>
            <a:pPr>
              <a:lnSpc>
                <a:spcPct val="140000"/>
              </a:lnSpc>
            </a:pP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Sprint Demo</a:t>
            </a: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 — show completed functions.</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Retrospective</a:t>
            </a: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 — review and improve.</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7" name="Shape 5"/>
          <p:cNvSpPr/>
          <p:nvPr/>
        </p:nvSpPr>
        <p:spPr>
          <a:xfrm>
            <a:off x="771525" y="1524000"/>
            <a:ext cx="381000" cy="304800"/>
          </a:xfrm>
          <a:custGeom>
            <a:avLst/>
            <a:gdLst/>
            <a:ahLst/>
            <a:cxnLst/>
            <a:rect l="l" t="t" r="r" b="b"/>
            <a:pathLst>
              <a:path w="508000" h="406400">
                <a:moveTo>
                  <a:pt x="254000" y="12700"/>
                </a:moveTo>
                <a:cubicBezTo>
                  <a:pt x="299561" y="12700"/>
                  <a:pt x="336550" y="49689"/>
                  <a:pt x="336550" y="95250"/>
                </a:cubicBezTo>
                <a:cubicBezTo>
                  <a:pt x="336550" y="140811"/>
                  <a:pt x="299561" y="177800"/>
                  <a:pt x="254000" y="177800"/>
                </a:cubicBezTo>
                <a:cubicBezTo>
                  <a:pt x="208439" y="177800"/>
                  <a:pt x="171450" y="140811"/>
                  <a:pt x="171450" y="95250"/>
                </a:cubicBezTo>
                <a:cubicBezTo>
                  <a:pt x="171450" y="49689"/>
                  <a:pt x="208439" y="12700"/>
                  <a:pt x="254000" y="12700"/>
                </a:cubicBezTo>
                <a:close/>
                <a:moveTo>
                  <a:pt x="76200" y="69850"/>
                </a:moveTo>
                <a:cubicBezTo>
                  <a:pt x="107742" y="69850"/>
                  <a:pt x="133350" y="95458"/>
                  <a:pt x="133350" y="127000"/>
                </a:cubicBezTo>
                <a:cubicBezTo>
                  <a:pt x="133350" y="158542"/>
                  <a:pt x="107742" y="184150"/>
                  <a:pt x="76200" y="184150"/>
                </a:cubicBezTo>
                <a:cubicBezTo>
                  <a:pt x="44658" y="184150"/>
                  <a:pt x="19050" y="158542"/>
                  <a:pt x="19050" y="127000"/>
                </a:cubicBezTo>
                <a:cubicBezTo>
                  <a:pt x="19050" y="95458"/>
                  <a:pt x="44658" y="69850"/>
                  <a:pt x="76200" y="69850"/>
                </a:cubicBezTo>
                <a:close/>
                <a:moveTo>
                  <a:pt x="0" y="330200"/>
                </a:moveTo>
                <a:cubicBezTo>
                  <a:pt x="0" y="274082"/>
                  <a:pt x="45482" y="228600"/>
                  <a:pt x="101600" y="228600"/>
                </a:cubicBezTo>
                <a:cubicBezTo>
                  <a:pt x="111760" y="228600"/>
                  <a:pt x="121603" y="230108"/>
                  <a:pt x="130889" y="232886"/>
                </a:cubicBezTo>
                <a:cubicBezTo>
                  <a:pt x="104775" y="262096"/>
                  <a:pt x="88900" y="300672"/>
                  <a:pt x="88900" y="342900"/>
                </a:cubicBezTo>
                <a:lnTo>
                  <a:pt x="88900" y="355600"/>
                </a:lnTo>
                <a:cubicBezTo>
                  <a:pt x="88900" y="364649"/>
                  <a:pt x="90805" y="373221"/>
                  <a:pt x="94218" y="381000"/>
                </a:cubicBezTo>
                <a:lnTo>
                  <a:pt x="25400" y="381000"/>
                </a:lnTo>
                <a:cubicBezTo>
                  <a:pt x="11351" y="381000"/>
                  <a:pt x="0" y="369649"/>
                  <a:pt x="0" y="355600"/>
                </a:cubicBezTo>
                <a:lnTo>
                  <a:pt x="0" y="330200"/>
                </a:lnTo>
                <a:close/>
                <a:moveTo>
                  <a:pt x="413782" y="381000"/>
                </a:moveTo>
                <a:cubicBezTo>
                  <a:pt x="417195" y="373221"/>
                  <a:pt x="419100" y="364649"/>
                  <a:pt x="419100" y="355600"/>
                </a:cubicBezTo>
                <a:lnTo>
                  <a:pt x="419100" y="342900"/>
                </a:lnTo>
                <a:cubicBezTo>
                  <a:pt x="419100" y="300673"/>
                  <a:pt x="403225" y="262096"/>
                  <a:pt x="377111" y="232886"/>
                </a:cubicBezTo>
                <a:cubicBezTo>
                  <a:pt x="386398" y="230108"/>
                  <a:pt x="396240" y="228600"/>
                  <a:pt x="406400" y="228600"/>
                </a:cubicBezTo>
                <a:cubicBezTo>
                  <a:pt x="462518" y="228600"/>
                  <a:pt x="508000" y="274082"/>
                  <a:pt x="508000" y="330200"/>
                </a:cubicBezTo>
                <a:lnTo>
                  <a:pt x="508000" y="355600"/>
                </a:lnTo>
                <a:cubicBezTo>
                  <a:pt x="508000" y="369649"/>
                  <a:pt x="496649" y="381000"/>
                  <a:pt x="482600" y="381000"/>
                </a:cubicBezTo>
                <a:lnTo>
                  <a:pt x="413782" y="381000"/>
                </a:lnTo>
                <a:close/>
                <a:moveTo>
                  <a:pt x="374650" y="127000"/>
                </a:moveTo>
                <a:cubicBezTo>
                  <a:pt x="374650" y="95458"/>
                  <a:pt x="400258" y="69850"/>
                  <a:pt x="431800" y="69850"/>
                </a:cubicBezTo>
                <a:cubicBezTo>
                  <a:pt x="463342" y="69850"/>
                  <a:pt x="488950" y="95458"/>
                  <a:pt x="488950" y="127000"/>
                </a:cubicBezTo>
                <a:cubicBezTo>
                  <a:pt x="488950" y="158542"/>
                  <a:pt x="463342" y="184150"/>
                  <a:pt x="431800" y="184150"/>
                </a:cubicBezTo>
                <a:cubicBezTo>
                  <a:pt x="400258" y="184150"/>
                  <a:pt x="374650" y="158542"/>
                  <a:pt x="374650" y="127000"/>
                </a:cubicBezTo>
                <a:close/>
                <a:moveTo>
                  <a:pt x="127000" y="342900"/>
                </a:moveTo>
                <a:cubicBezTo>
                  <a:pt x="127000" y="272733"/>
                  <a:pt x="183833" y="215900"/>
                  <a:pt x="254000" y="215900"/>
                </a:cubicBezTo>
                <a:cubicBezTo>
                  <a:pt x="324167" y="215900"/>
                  <a:pt x="381000" y="272733"/>
                  <a:pt x="381000" y="342900"/>
                </a:cubicBezTo>
                <a:lnTo>
                  <a:pt x="381000" y="355600"/>
                </a:lnTo>
                <a:cubicBezTo>
                  <a:pt x="381000" y="369649"/>
                  <a:pt x="369649" y="381000"/>
                  <a:pt x="355600" y="381000"/>
                </a:cubicBezTo>
                <a:lnTo>
                  <a:pt x="152400" y="381000"/>
                </a:lnTo>
                <a:cubicBezTo>
                  <a:pt x="138351" y="381000"/>
                  <a:pt x="127000" y="369649"/>
                  <a:pt x="127000" y="355600"/>
                </a:cubicBezTo>
                <a:lnTo>
                  <a:pt x="127000" y="342900"/>
                </a:lnTo>
                <a:close/>
              </a:path>
            </a:pathLst>
          </a:custGeom>
          <a:solidFill>
            <a:srgbClr val="4FC3F7"/>
          </a:solidFill>
        </p:spPr>
      </p:sp>
      <p:sp>
        <p:nvSpPr>
          <p:cNvPr id="8" name="Text 6"/>
          <p:cNvSpPr/>
          <p:nvPr/>
        </p:nvSpPr>
        <p:spPr>
          <a:xfrm>
            <a:off x="1209675" y="1524000"/>
            <a:ext cx="1905000" cy="342900"/>
          </a:xfrm>
          <a:prstGeom prst="rect">
            <a:avLst/>
          </a:prstGeom>
          <a:noFill/>
        </p:spPr>
        <p:txBody>
          <a:bodyPr wrap="none" lIns="0" tIns="0" rIns="0" bIns="0" rtlCol="0" anchor="ctr"/>
          <a:lstStyle/>
          <a:p>
            <a:pPr>
              <a:lnSpc>
                <a:spcPct val="100000"/>
              </a:lnSpc>
            </a:pPr>
            <a:r>
              <a:rPr lang="en-US" sz="13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Roles</a:t>
            </a:r>
            <a:endParaRPr lang="en-US" sz="13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9" name="Shape 7"/>
          <p:cNvSpPr/>
          <p:nvPr/>
        </p:nvSpPr>
        <p:spPr>
          <a:xfrm>
            <a:off x="809625" y="1933575"/>
            <a:ext cx="4953000" cy="0"/>
          </a:xfrm>
          <a:prstGeom prst="straightConnector1">
            <a:avLst/>
          </a:prstGeom>
          <a:solidFill>
            <a:srgbClr val="4FC3F7"/>
          </a:solidFill>
          <a:ln w="25400">
            <a:solidFill>
              <a:srgbClr val="224069"/>
            </a:solidFill>
            <a:prstDash val="solid"/>
            <a:headEnd type="none"/>
            <a:tailEnd type="none"/>
          </a:ln>
        </p:spPr>
      </p:sp>
      <p:sp>
        <p:nvSpPr>
          <p:cNvPr id="10" name="Text 8"/>
          <p:cNvSpPr/>
          <p:nvPr/>
        </p:nvSpPr>
        <p:spPr>
          <a:xfrm>
            <a:off x="771525" y="1966595"/>
            <a:ext cx="4956175" cy="1856105"/>
          </a:xfrm>
          <a:prstGeom prst="rect">
            <a:avLst/>
          </a:prstGeom>
          <a:noFill/>
        </p:spPr>
        <p:txBody>
          <a:bodyPr wrap="square" lIns="0" tIns="0" rIns="0" bIns="0" rtlCol="0" anchor="t"/>
          <a:lstStyle/>
          <a:p>
            <a:pPr>
              <a:lnSpc>
                <a:spcPct val="140000"/>
              </a:lnSpc>
            </a:pP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Product Owner</a:t>
            </a:r>
            <a:endPar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prioritizes requirements and product backlog.</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Scrum Master</a:t>
            </a:r>
            <a:endParaRPr lang="en-US" sz="1400" dirty="0">
              <a:ea typeface="Noto Sans SC" panose="020B0200000000000000" pitchFamily="34" charset="-122"/>
              <a:cs typeface="Noto Sans SC" panose="020B0200000000000000" pitchFamily="34" charset="-122"/>
            </a:endParaRPr>
          </a:p>
          <a:p>
            <a:pPr algn="l">
              <a:lnSpc>
                <a:spcPct val="140000"/>
              </a:lnSpc>
              <a:buClrTx/>
              <a:buSzTx/>
              <a:buFontTx/>
            </a:pPr>
            <a:r>
              <a:rPr lang="en-US" altLang="zh-CN"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coordinates sprint meetings, tracks blockers, and protects sprint scope.</a:t>
            </a:r>
            <a:endParaRPr lang="en-US" altLang="zh-CN"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rPr>
              <a:t>Development Team</a:t>
            </a:r>
            <a:endParaRPr lang="en-US" sz="1400" b="1" dirty="0">
              <a:solidFill>
                <a:srgbClr val="4FC3F7"/>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40000"/>
              </a:lnSpc>
            </a:pPr>
            <a:r>
              <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rPr>
              <a:t>frontend, backend, database, UI, and AI.</a:t>
            </a:r>
            <a:endParaRPr lang="en-US" sz="1400" dirty="0">
              <a:solidFill>
                <a:srgbClr val="E0E0E0"/>
              </a:solidFill>
              <a:latin typeface="Noto Sans SC" panose="020B0200000000000000" pitchFamily="34" charset="-122"/>
              <a:ea typeface="Noto Sans SC" panose="020B0200000000000000" pitchFamily="34" charset="-122"/>
              <a:cs typeface="Noto Sans SC" panose="020B0200000000000000"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5" name="Shape 2"/>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6" name="Image 1" descr="preencoded.png"/>
          <p:cNvPicPr>
            <a:picLocks noChangeAspect="1"/>
          </p:cNvPicPr>
          <p:nvPr/>
        </p:nvPicPr>
        <p:blipFill>
          <a:blip r:embed="rId2"/>
          <a:srcRect t="-12275" b="-12275"/>
          <a:stretch>
            <a:fillRect/>
          </a:stretch>
        </p:blipFill>
        <p:spPr>
          <a:xfrm>
            <a:off x="724205" y="286207"/>
            <a:ext cx="152705" cy="190195"/>
          </a:xfrm>
          <a:prstGeom prst="rect">
            <a:avLst/>
          </a:prstGeom>
        </p:spPr>
      </p:pic>
      <p:sp>
        <p:nvSpPr>
          <p:cNvPr id="7" name="Text 3"/>
          <p:cNvSpPr txBox="1"/>
          <p:nvPr/>
        </p:nvSpPr>
        <p:spPr>
          <a:xfrm>
            <a:off x="1218895" y="152705"/>
            <a:ext cx="5925312" cy="457200"/>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Scrum Iteration Rhythm (3 Sprints)</a:t>
            </a:r>
            <a:endParaRPr lang="en-US" sz="2400" dirty="0">
              <a:ea typeface="Noto Sans SC" panose="020B0200000000000000" pitchFamily="34" charset="-122"/>
              <a:cs typeface="Noto Sans SC" panose="020B0200000000000000" pitchFamily="34" charset="-122"/>
            </a:endParaRPr>
          </a:p>
        </p:txBody>
      </p:sp>
      <p:sp>
        <p:nvSpPr>
          <p:cNvPr id="8" name="Text 4"/>
          <p:cNvSpPr txBox="1"/>
          <p:nvPr/>
        </p:nvSpPr>
        <p:spPr>
          <a:xfrm>
            <a:off x="875995" y="952805"/>
            <a:ext cx="10745114" cy="372161"/>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Iterative Development Process and Outputs </a:t>
            </a:r>
            <a:endParaRPr lang="en-US" sz="1900" dirty="0">
              <a:ea typeface="Noto Sans SC" panose="020B0200000000000000" pitchFamily="34" charset="-122"/>
              <a:cs typeface="Noto Sans SC" panose="020B0200000000000000" pitchFamily="34" charset="-122"/>
            </a:endParaRPr>
          </a:p>
        </p:txBody>
      </p:sp>
      <p:pic>
        <p:nvPicPr>
          <p:cNvPr id="9" name="Image 2" descr="preencoded.png"/>
          <p:cNvPicPr>
            <a:picLocks noChangeAspect="1"/>
          </p:cNvPicPr>
          <p:nvPr/>
        </p:nvPicPr>
        <p:blipFill>
          <a:blip r:embed="rId3"/>
          <a:srcRect t="-15144" b="-15144"/>
          <a:stretch>
            <a:fillRect/>
          </a:stretch>
        </p:blipFill>
        <p:spPr>
          <a:xfrm>
            <a:off x="571500" y="1014070"/>
            <a:ext cx="190195" cy="247802"/>
          </a:xfrm>
          <a:prstGeom prst="rect">
            <a:avLst/>
          </a:prstGeom>
        </p:spPr>
      </p:pic>
      <p:sp>
        <p:nvSpPr>
          <p:cNvPr id="10" name="Shape 5"/>
          <p:cNvSpPr/>
          <p:nvPr/>
        </p:nvSpPr>
        <p:spPr>
          <a:xfrm>
            <a:off x="514350" y="1515516"/>
            <a:ext cx="11048695" cy="1285646"/>
          </a:xfrm>
          <a:prstGeom prst="roundRect">
            <a:avLst>
              <a:gd name="adj" fmla="val 12644"/>
            </a:avLst>
          </a:prstGeom>
          <a:solidFill>
            <a:srgbClr val="FFFFFF"/>
          </a:solidFill>
          <a:effectLst>
            <a:outerShdw blurRad="114300" dist="38100" dir="16200000" algn="bl" rotWithShape="0">
              <a:srgbClr val="000000">
                <a:alpha val="5000"/>
              </a:srgbClr>
            </a:outerShdw>
          </a:effectLst>
        </p:spPr>
      </p:sp>
      <p:sp>
        <p:nvSpPr>
          <p:cNvPr id="11" name="Shape 6"/>
          <p:cNvSpPr/>
          <p:nvPr/>
        </p:nvSpPr>
        <p:spPr>
          <a:xfrm>
            <a:off x="514350" y="1515516"/>
            <a:ext cx="57607" cy="1285646"/>
          </a:xfrm>
          <a:prstGeom prst="roundRect">
            <a:avLst>
              <a:gd name="adj" fmla="val 282188"/>
            </a:avLst>
          </a:prstGeom>
          <a:solidFill>
            <a:srgbClr val="3B82F6"/>
          </a:solidFill>
          <a:ln w="12700">
            <a:solidFill>
              <a:srgbClr val="3B82F6">
                <a:alpha val="0"/>
              </a:srgbClr>
            </a:solidFill>
            <a:prstDash val="solid"/>
          </a:ln>
        </p:spPr>
      </p:sp>
      <p:sp>
        <p:nvSpPr>
          <p:cNvPr id="12" name="Shape 7"/>
          <p:cNvSpPr/>
          <p:nvPr/>
        </p:nvSpPr>
        <p:spPr>
          <a:xfrm>
            <a:off x="857250" y="1744116"/>
            <a:ext cx="418795" cy="418795"/>
          </a:xfrm>
          <a:prstGeom prst="roundRect">
            <a:avLst>
              <a:gd name="adj" fmla="val 79397"/>
            </a:avLst>
          </a:prstGeom>
          <a:solidFill>
            <a:srgbClr val="3B82F6">
              <a:alpha val="10000"/>
            </a:srgbClr>
          </a:solidFill>
          <a:ln w="12700">
            <a:solidFill>
              <a:srgbClr val="FFFFFF">
                <a:alpha val="0"/>
              </a:srgbClr>
            </a:solidFill>
            <a:prstDash val="solid"/>
          </a:ln>
        </p:spPr>
      </p:sp>
      <p:pic>
        <p:nvPicPr>
          <p:cNvPr id="13" name="Image 3" descr="preencoded.png"/>
          <p:cNvPicPr>
            <a:picLocks noChangeAspect="1"/>
          </p:cNvPicPr>
          <p:nvPr/>
        </p:nvPicPr>
        <p:blipFill>
          <a:blip r:embed="rId4"/>
          <a:srcRect t="-12275" b="-12275"/>
          <a:stretch>
            <a:fillRect/>
          </a:stretch>
        </p:blipFill>
        <p:spPr>
          <a:xfrm>
            <a:off x="990752" y="1858416"/>
            <a:ext cx="152705" cy="190195"/>
          </a:xfrm>
          <a:prstGeom prst="rect">
            <a:avLst/>
          </a:prstGeom>
        </p:spPr>
      </p:pic>
      <p:sp>
        <p:nvSpPr>
          <p:cNvPr id="14" name="Text 8"/>
          <p:cNvSpPr txBox="1"/>
          <p:nvPr/>
        </p:nvSpPr>
        <p:spPr>
          <a:xfrm>
            <a:off x="1467155" y="1744116"/>
            <a:ext cx="2539289" cy="314554"/>
          </a:xfrm>
          <a:prstGeom prst="rect">
            <a:avLst/>
          </a:prstGeom>
          <a:noFill/>
        </p:spPr>
        <p:txBody>
          <a:bodyPr wrap="square" lIns="0" tIns="0" rIns="0" bIns="0" rtlCol="0" anchor="ctr"/>
          <a:lstStyle/>
          <a:p>
            <a:pPr marL="0" indent="0" algn="l">
              <a:buNone/>
            </a:pPr>
            <a:r>
              <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Sprint 1: Digital Core</a:t>
            </a:r>
            <a:endParaRPr lang="en-US" sz="1600" dirty="0">
              <a:ea typeface="Noto Sans SC" panose="020B0200000000000000" pitchFamily="34" charset="-122"/>
              <a:cs typeface="Noto Sans SC" panose="020B0200000000000000" pitchFamily="34" charset="-122"/>
            </a:endParaRPr>
          </a:p>
        </p:txBody>
      </p:sp>
      <p:pic>
        <p:nvPicPr>
          <p:cNvPr id="15" name="Image 4" descr="preencoded.png"/>
          <p:cNvPicPr>
            <a:picLocks noChangeAspect="1"/>
          </p:cNvPicPr>
          <p:nvPr/>
        </p:nvPicPr>
        <p:blipFill>
          <a:blip r:embed="rId5"/>
          <a:srcRect t="-569" b="-569"/>
          <a:stretch>
            <a:fillRect/>
          </a:stretch>
        </p:blipFill>
        <p:spPr>
          <a:xfrm>
            <a:off x="3749497" y="1770634"/>
            <a:ext cx="1047902" cy="267005"/>
          </a:xfrm>
          <a:prstGeom prst="rect">
            <a:avLst/>
          </a:prstGeom>
        </p:spPr>
      </p:pic>
      <p:sp>
        <p:nvSpPr>
          <p:cNvPr id="16" name="Text 9"/>
          <p:cNvSpPr/>
          <p:nvPr/>
        </p:nvSpPr>
        <p:spPr>
          <a:xfrm>
            <a:off x="4016502" y="1770634"/>
            <a:ext cx="780898" cy="267005"/>
          </a:xfrm>
          <a:prstGeom prst="rect">
            <a:avLst/>
          </a:prstGeom>
          <a:noFill/>
        </p:spPr>
        <p:txBody>
          <a:bodyPr wrap="square" lIns="0" tIns="0" rIns="0" bIns="0" rtlCol="0" anchor="ctr"/>
          <a:lstStyle/>
          <a:p>
            <a:pPr marL="0" indent="0" algn="l">
              <a:buNone/>
            </a:pPr>
            <a:r>
              <a:rPr lang="en-US" sz="9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 Completed </a:t>
            </a:r>
            <a:endParaRPr lang="en-US" sz="900" dirty="0">
              <a:ea typeface="Noto Sans SC" panose="020B0200000000000000" pitchFamily="34" charset="-122"/>
              <a:cs typeface="Noto Sans SC" panose="020B0200000000000000" pitchFamily="34" charset="-122"/>
            </a:endParaRPr>
          </a:p>
        </p:txBody>
      </p:sp>
      <p:pic>
        <p:nvPicPr>
          <p:cNvPr id="17" name="Image 5" descr="preencoded.png"/>
          <p:cNvPicPr>
            <a:picLocks noChangeAspect="1"/>
          </p:cNvPicPr>
          <p:nvPr/>
        </p:nvPicPr>
        <p:blipFill>
          <a:blip r:embed="rId6"/>
          <a:srcRect t="-14904" b="-14904"/>
          <a:stretch>
            <a:fillRect/>
          </a:stretch>
        </p:blipFill>
        <p:spPr>
          <a:xfrm>
            <a:off x="3863797" y="1839214"/>
            <a:ext cx="95098" cy="123444"/>
          </a:xfrm>
          <a:prstGeom prst="rect">
            <a:avLst/>
          </a:prstGeom>
        </p:spPr>
      </p:pic>
      <p:sp>
        <p:nvSpPr>
          <p:cNvPr id="18" name="Shape 10"/>
          <p:cNvSpPr/>
          <p:nvPr/>
        </p:nvSpPr>
        <p:spPr>
          <a:xfrm>
            <a:off x="1467155" y="2211375"/>
            <a:ext cx="1600200" cy="352044"/>
          </a:xfrm>
          <a:prstGeom prst="roundRect">
            <a:avLst>
              <a:gd name="adj" fmla="val 259740"/>
            </a:avLst>
          </a:prstGeom>
          <a:solidFill>
            <a:srgbClr val="F1F5F9"/>
          </a:solidFill>
          <a:ln w="12700">
            <a:solidFill>
              <a:srgbClr val="FFFFFF">
                <a:alpha val="0"/>
              </a:srgbClr>
            </a:solidFill>
            <a:prstDash val="solid"/>
          </a:ln>
        </p:spPr>
      </p:sp>
      <p:pic>
        <p:nvPicPr>
          <p:cNvPr id="19" name="Image 6" descr="preencoded.png"/>
          <p:cNvPicPr>
            <a:picLocks noChangeAspect="1"/>
          </p:cNvPicPr>
          <p:nvPr/>
        </p:nvPicPr>
        <p:blipFill>
          <a:blip r:embed="rId7"/>
          <a:srcRect t="-13478" b="-13478"/>
          <a:stretch>
            <a:fillRect/>
          </a:stretch>
        </p:blipFill>
        <p:spPr>
          <a:xfrm>
            <a:off x="1600657" y="2320188"/>
            <a:ext cx="105156" cy="133502"/>
          </a:xfrm>
          <a:prstGeom prst="rect">
            <a:avLst/>
          </a:prstGeom>
        </p:spPr>
      </p:pic>
      <p:sp>
        <p:nvSpPr>
          <p:cNvPr id="20" name="Text 11"/>
          <p:cNvSpPr txBox="1"/>
          <p:nvPr/>
        </p:nvSpPr>
        <p:spPr>
          <a:xfrm>
            <a:off x="1780794" y="2211375"/>
            <a:ext cx="1153058" cy="352958"/>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Login/Permissions</a:t>
            </a:r>
            <a:endParaRPr lang="en-US" sz="1000" dirty="0">
              <a:ea typeface="Noto Sans SC" panose="020B0200000000000000" pitchFamily="34" charset="-122"/>
              <a:cs typeface="Noto Sans SC" panose="020B0200000000000000" pitchFamily="34" charset="-122"/>
            </a:endParaRPr>
          </a:p>
        </p:txBody>
      </p:sp>
      <p:pic>
        <p:nvPicPr>
          <p:cNvPr id="21" name="Image 7" descr="preencoded.png"/>
          <p:cNvPicPr>
            <a:picLocks noChangeAspect="1"/>
          </p:cNvPicPr>
          <p:nvPr/>
        </p:nvPicPr>
        <p:blipFill>
          <a:blip r:embed="rId8"/>
          <a:srcRect t="-5544" b="-5544"/>
          <a:stretch>
            <a:fillRect/>
          </a:stretch>
        </p:blipFill>
        <p:spPr>
          <a:xfrm>
            <a:off x="3158795" y="2320188"/>
            <a:ext cx="105156" cy="133502"/>
          </a:xfrm>
          <a:prstGeom prst="rect">
            <a:avLst/>
          </a:prstGeom>
        </p:spPr>
      </p:pic>
      <p:sp>
        <p:nvSpPr>
          <p:cNvPr id="22" name="Shape 12"/>
          <p:cNvSpPr/>
          <p:nvPr/>
        </p:nvSpPr>
        <p:spPr>
          <a:xfrm>
            <a:off x="3359048" y="2211375"/>
            <a:ext cx="1580998" cy="352044"/>
          </a:xfrm>
          <a:prstGeom prst="roundRect">
            <a:avLst>
              <a:gd name="adj" fmla="val 259740"/>
            </a:avLst>
          </a:prstGeom>
          <a:solidFill>
            <a:srgbClr val="F1F5F9"/>
          </a:solidFill>
          <a:ln w="12700">
            <a:solidFill>
              <a:srgbClr val="FFFFFF">
                <a:alpha val="0"/>
              </a:srgbClr>
            </a:solidFill>
            <a:prstDash val="solid"/>
          </a:ln>
        </p:spPr>
      </p:sp>
      <p:pic>
        <p:nvPicPr>
          <p:cNvPr id="23" name="Image 8" descr="preencoded.png"/>
          <p:cNvPicPr>
            <a:picLocks noChangeAspect="1"/>
          </p:cNvPicPr>
          <p:nvPr/>
        </p:nvPicPr>
        <p:blipFill>
          <a:blip r:embed="rId9"/>
          <a:srcRect t="-29348" b="-29348"/>
          <a:stretch>
            <a:fillRect/>
          </a:stretch>
        </p:blipFill>
        <p:spPr>
          <a:xfrm>
            <a:off x="3492551" y="2320188"/>
            <a:ext cx="105156" cy="133502"/>
          </a:xfrm>
          <a:prstGeom prst="rect">
            <a:avLst/>
          </a:prstGeom>
        </p:spPr>
      </p:pic>
      <p:sp>
        <p:nvSpPr>
          <p:cNvPr id="24" name="Text 13"/>
          <p:cNvSpPr txBox="1"/>
          <p:nvPr/>
        </p:nvSpPr>
        <p:spPr>
          <a:xfrm>
            <a:off x="3672688" y="2211375"/>
            <a:ext cx="1133856" cy="352958"/>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User Management</a:t>
            </a:r>
            <a:endParaRPr lang="en-US" sz="1000" dirty="0">
              <a:ea typeface="Noto Sans SC" panose="020B0200000000000000" pitchFamily="34" charset="-122"/>
              <a:cs typeface="Noto Sans SC" panose="020B0200000000000000" pitchFamily="34" charset="-122"/>
            </a:endParaRPr>
          </a:p>
        </p:txBody>
      </p:sp>
      <p:pic>
        <p:nvPicPr>
          <p:cNvPr id="25" name="Image 9" descr="preencoded.png"/>
          <p:cNvPicPr>
            <a:picLocks noChangeAspect="1"/>
          </p:cNvPicPr>
          <p:nvPr/>
        </p:nvPicPr>
        <p:blipFill>
          <a:blip r:embed="rId8"/>
          <a:srcRect t="-5544" b="-5544"/>
          <a:stretch>
            <a:fillRect/>
          </a:stretch>
        </p:blipFill>
        <p:spPr>
          <a:xfrm>
            <a:off x="5030572" y="2320188"/>
            <a:ext cx="105156" cy="133502"/>
          </a:xfrm>
          <a:prstGeom prst="rect">
            <a:avLst/>
          </a:prstGeom>
        </p:spPr>
      </p:pic>
      <p:sp>
        <p:nvSpPr>
          <p:cNvPr id="26" name="Shape 14"/>
          <p:cNvSpPr/>
          <p:nvPr/>
        </p:nvSpPr>
        <p:spPr>
          <a:xfrm>
            <a:off x="5229911" y="2211375"/>
            <a:ext cx="2247595" cy="352044"/>
          </a:xfrm>
          <a:prstGeom prst="roundRect">
            <a:avLst>
              <a:gd name="adj" fmla="val 259740"/>
            </a:avLst>
          </a:prstGeom>
          <a:solidFill>
            <a:srgbClr val="F1F5F9"/>
          </a:solidFill>
          <a:ln w="12700">
            <a:solidFill>
              <a:srgbClr val="FFFFFF">
                <a:alpha val="0"/>
              </a:srgbClr>
            </a:solidFill>
            <a:prstDash val="solid"/>
          </a:ln>
        </p:spPr>
      </p:sp>
      <p:pic>
        <p:nvPicPr>
          <p:cNvPr id="27" name="Image 10" descr="preencoded.png"/>
          <p:cNvPicPr>
            <a:picLocks noChangeAspect="1"/>
          </p:cNvPicPr>
          <p:nvPr/>
        </p:nvPicPr>
        <p:blipFill>
          <a:blip r:embed="rId10"/>
          <a:srcRect l="-2512" r="-2512"/>
          <a:stretch>
            <a:fillRect/>
          </a:stretch>
        </p:blipFill>
        <p:spPr>
          <a:xfrm>
            <a:off x="5363413" y="2320188"/>
            <a:ext cx="105156" cy="133502"/>
          </a:xfrm>
          <a:prstGeom prst="rect">
            <a:avLst/>
          </a:prstGeom>
        </p:spPr>
      </p:pic>
      <p:sp>
        <p:nvSpPr>
          <p:cNvPr id="28" name="Text 15"/>
          <p:cNvSpPr txBox="1"/>
          <p:nvPr/>
        </p:nvSpPr>
        <p:spPr>
          <a:xfrm>
            <a:off x="5544464" y="2211375"/>
            <a:ext cx="1800454" cy="352958"/>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Building/Floor/Room Models</a:t>
            </a:r>
            <a:endParaRPr lang="en-US" sz="1000" dirty="0">
              <a:ea typeface="Noto Sans SC" panose="020B0200000000000000" pitchFamily="34" charset="-122"/>
              <a:cs typeface="Noto Sans SC" panose="020B0200000000000000" pitchFamily="34" charset="-122"/>
            </a:endParaRPr>
          </a:p>
        </p:txBody>
      </p:sp>
      <p:pic>
        <p:nvPicPr>
          <p:cNvPr id="29" name="Image 11" descr="preencoded.png"/>
          <p:cNvPicPr>
            <a:picLocks noChangeAspect="1"/>
          </p:cNvPicPr>
          <p:nvPr/>
        </p:nvPicPr>
        <p:blipFill>
          <a:blip r:embed="rId8"/>
          <a:srcRect t="-5544" b="-5544"/>
          <a:stretch>
            <a:fillRect/>
          </a:stretch>
        </p:blipFill>
        <p:spPr>
          <a:xfrm>
            <a:off x="7567117" y="2320188"/>
            <a:ext cx="105156" cy="133502"/>
          </a:xfrm>
          <a:prstGeom prst="rect">
            <a:avLst/>
          </a:prstGeom>
        </p:spPr>
      </p:pic>
      <p:sp>
        <p:nvSpPr>
          <p:cNvPr id="30" name="Shape 16"/>
          <p:cNvSpPr/>
          <p:nvPr/>
        </p:nvSpPr>
        <p:spPr>
          <a:xfrm>
            <a:off x="7766456" y="2211375"/>
            <a:ext cx="1533449" cy="352044"/>
          </a:xfrm>
          <a:prstGeom prst="roundRect">
            <a:avLst>
              <a:gd name="adj" fmla="val 259740"/>
            </a:avLst>
          </a:prstGeom>
          <a:solidFill>
            <a:srgbClr val="F1F5F9"/>
          </a:solidFill>
          <a:ln w="12700">
            <a:solidFill>
              <a:srgbClr val="FFFFFF">
                <a:alpha val="0"/>
              </a:srgbClr>
            </a:solidFill>
            <a:prstDash val="solid"/>
          </a:ln>
        </p:spPr>
      </p:sp>
      <p:pic>
        <p:nvPicPr>
          <p:cNvPr id="31" name="Image 12" descr="preencoded.png"/>
          <p:cNvPicPr>
            <a:picLocks noChangeAspect="1"/>
          </p:cNvPicPr>
          <p:nvPr/>
        </p:nvPicPr>
        <p:blipFill>
          <a:blip r:embed="rId11"/>
          <a:srcRect t="-5544" b="-5544"/>
          <a:stretch>
            <a:fillRect/>
          </a:stretch>
        </p:blipFill>
        <p:spPr>
          <a:xfrm>
            <a:off x="7899959" y="2320188"/>
            <a:ext cx="105156" cy="133502"/>
          </a:xfrm>
          <a:prstGeom prst="rect">
            <a:avLst/>
          </a:prstGeom>
        </p:spPr>
      </p:pic>
      <p:sp>
        <p:nvSpPr>
          <p:cNvPr id="32" name="Text 17"/>
          <p:cNvSpPr txBox="1"/>
          <p:nvPr/>
        </p:nvSpPr>
        <p:spPr>
          <a:xfrm>
            <a:off x="8081010" y="2211375"/>
            <a:ext cx="1086307" cy="352958"/>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CRUD &amp; Database</a:t>
            </a:r>
            <a:endParaRPr lang="en-US" sz="1000" dirty="0">
              <a:ea typeface="Noto Sans SC" panose="020B0200000000000000" pitchFamily="34" charset="-122"/>
              <a:cs typeface="Noto Sans SC" panose="020B0200000000000000" pitchFamily="34" charset="-122"/>
            </a:endParaRPr>
          </a:p>
        </p:txBody>
      </p:sp>
      <p:sp>
        <p:nvSpPr>
          <p:cNvPr id="33" name="Shape 18"/>
          <p:cNvSpPr/>
          <p:nvPr/>
        </p:nvSpPr>
        <p:spPr>
          <a:xfrm>
            <a:off x="514350" y="2992272"/>
            <a:ext cx="11048695" cy="1285646"/>
          </a:xfrm>
          <a:prstGeom prst="roundRect">
            <a:avLst>
              <a:gd name="adj" fmla="val 12644"/>
            </a:avLst>
          </a:prstGeom>
          <a:solidFill>
            <a:srgbClr val="FFFFFF"/>
          </a:solidFill>
          <a:effectLst>
            <a:outerShdw blurRad="114300" dist="38100" dir="16200000" algn="bl" rotWithShape="0">
              <a:srgbClr val="000000">
                <a:alpha val="5000"/>
              </a:srgbClr>
            </a:outerShdw>
          </a:effectLst>
        </p:spPr>
      </p:sp>
      <p:sp>
        <p:nvSpPr>
          <p:cNvPr id="34" name="Shape 19"/>
          <p:cNvSpPr/>
          <p:nvPr/>
        </p:nvSpPr>
        <p:spPr>
          <a:xfrm>
            <a:off x="514350" y="2992272"/>
            <a:ext cx="57607" cy="1285646"/>
          </a:xfrm>
          <a:prstGeom prst="roundRect">
            <a:avLst>
              <a:gd name="adj" fmla="val 282188"/>
            </a:avLst>
          </a:prstGeom>
          <a:solidFill>
            <a:srgbClr val="3B82F6"/>
          </a:solidFill>
          <a:ln w="12700">
            <a:solidFill>
              <a:srgbClr val="3B82F6">
                <a:alpha val="0"/>
              </a:srgbClr>
            </a:solidFill>
            <a:prstDash val="solid"/>
          </a:ln>
        </p:spPr>
      </p:sp>
      <p:sp>
        <p:nvSpPr>
          <p:cNvPr id="35" name="Shape 20"/>
          <p:cNvSpPr/>
          <p:nvPr/>
        </p:nvSpPr>
        <p:spPr>
          <a:xfrm>
            <a:off x="857250" y="3220872"/>
            <a:ext cx="418795" cy="418795"/>
          </a:xfrm>
          <a:prstGeom prst="roundRect">
            <a:avLst>
              <a:gd name="adj" fmla="val 79397"/>
            </a:avLst>
          </a:prstGeom>
          <a:solidFill>
            <a:srgbClr val="3B82F6">
              <a:alpha val="10000"/>
            </a:srgbClr>
          </a:solidFill>
          <a:ln w="12700">
            <a:solidFill>
              <a:srgbClr val="FFFFFF">
                <a:alpha val="0"/>
              </a:srgbClr>
            </a:solidFill>
            <a:prstDash val="solid"/>
          </a:ln>
        </p:spPr>
      </p:sp>
      <p:pic>
        <p:nvPicPr>
          <p:cNvPr id="36" name="Image 13" descr="preencoded.png"/>
          <p:cNvPicPr>
            <a:picLocks noChangeAspect="1"/>
          </p:cNvPicPr>
          <p:nvPr/>
        </p:nvPicPr>
        <p:blipFill>
          <a:blip r:embed="rId12"/>
          <a:srcRect t="-12275" b="-12275"/>
          <a:stretch>
            <a:fillRect/>
          </a:stretch>
        </p:blipFill>
        <p:spPr>
          <a:xfrm>
            <a:off x="990752" y="3335172"/>
            <a:ext cx="152705" cy="190195"/>
          </a:xfrm>
          <a:prstGeom prst="rect">
            <a:avLst/>
          </a:prstGeom>
        </p:spPr>
      </p:pic>
      <p:sp>
        <p:nvSpPr>
          <p:cNvPr id="37" name="Text 21"/>
          <p:cNvSpPr txBox="1"/>
          <p:nvPr/>
        </p:nvSpPr>
        <p:spPr>
          <a:xfrm>
            <a:off x="1467155" y="3220872"/>
            <a:ext cx="2686507" cy="314554"/>
          </a:xfrm>
          <a:prstGeom prst="rect">
            <a:avLst/>
          </a:prstGeom>
          <a:noFill/>
        </p:spPr>
        <p:txBody>
          <a:bodyPr wrap="square" lIns="0" tIns="0" rIns="0" bIns="0" rtlCol="0" anchor="ctr"/>
          <a:lstStyle/>
          <a:p>
            <a:pPr marL="0" indent="0" algn="l">
              <a:buNone/>
            </a:pPr>
            <a:r>
              <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Sprint 2: Visualization</a:t>
            </a:r>
            <a:endParaRPr lang="en-US" sz="1600" dirty="0">
              <a:ea typeface="Noto Sans SC" panose="020B0200000000000000" pitchFamily="34" charset="-122"/>
              <a:cs typeface="Noto Sans SC" panose="020B0200000000000000" pitchFamily="34" charset="-122"/>
            </a:endParaRPr>
          </a:p>
        </p:txBody>
      </p:sp>
      <p:pic>
        <p:nvPicPr>
          <p:cNvPr id="38" name="Image 14" descr="preencoded.png"/>
          <p:cNvPicPr>
            <a:picLocks noChangeAspect="1"/>
          </p:cNvPicPr>
          <p:nvPr/>
        </p:nvPicPr>
        <p:blipFill>
          <a:blip r:embed="rId5"/>
          <a:srcRect t="-569" b="-569"/>
          <a:stretch>
            <a:fillRect/>
          </a:stretch>
        </p:blipFill>
        <p:spPr>
          <a:xfrm>
            <a:off x="3872027" y="3246476"/>
            <a:ext cx="1047902" cy="267005"/>
          </a:xfrm>
          <a:prstGeom prst="rect">
            <a:avLst/>
          </a:prstGeom>
        </p:spPr>
      </p:pic>
      <p:sp>
        <p:nvSpPr>
          <p:cNvPr id="39" name="Text 22"/>
          <p:cNvSpPr/>
          <p:nvPr/>
        </p:nvSpPr>
        <p:spPr>
          <a:xfrm>
            <a:off x="4139032" y="3246476"/>
            <a:ext cx="780898" cy="267005"/>
          </a:xfrm>
          <a:prstGeom prst="rect">
            <a:avLst/>
          </a:prstGeom>
          <a:noFill/>
        </p:spPr>
        <p:txBody>
          <a:bodyPr wrap="square" lIns="0" tIns="0" rIns="0" bIns="0" rtlCol="0" anchor="ctr"/>
          <a:lstStyle/>
          <a:p>
            <a:pPr marL="0" indent="0" algn="l">
              <a:buNone/>
            </a:pPr>
            <a:r>
              <a:rPr lang="en-US" sz="9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 Completed </a:t>
            </a:r>
            <a:endParaRPr lang="en-US" sz="900" dirty="0">
              <a:ea typeface="Noto Sans SC" panose="020B0200000000000000" pitchFamily="34" charset="-122"/>
              <a:cs typeface="Noto Sans SC" panose="020B0200000000000000" pitchFamily="34" charset="-122"/>
            </a:endParaRPr>
          </a:p>
        </p:txBody>
      </p:sp>
      <p:pic>
        <p:nvPicPr>
          <p:cNvPr id="40" name="Image 15" descr="preencoded.png"/>
          <p:cNvPicPr>
            <a:picLocks noChangeAspect="1"/>
          </p:cNvPicPr>
          <p:nvPr/>
        </p:nvPicPr>
        <p:blipFill>
          <a:blip r:embed="rId6"/>
          <a:srcRect t="-14904" b="-14904"/>
          <a:stretch>
            <a:fillRect/>
          </a:stretch>
        </p:blipFill>
        <p:spPr>
          <a:xfrm>
            <a:off x="3986327" y="3315970"/>
            <a:ext cx="95098" cy="123444"/>
          </a:xfrm>
          <a:prstGeom prst="rect">
            <a:avLst/>
          </a:prstGeom>
        </p:spPr>
      </p:pic>
      <p:sp>
        <p:nvSpPr>
          <p:cNvPr id="41" name="Shape 23"/>
          <p:cNvSpPr/>
          <p:nvPr/>
        </p:nvSpPr>
        <p:spPr>
          <a:xfrm>
            <a:off x="1467155" y="3687216"/>
            <a:ext cx="1886407" cy="352044"/>
          </a:xfrm>
          <a:prstGeom prst="roundRect">
            <a:avLst>
              <a:gd name="adj" fmla="val 259740"/>
            </a:avLst>
          </a:prstGeom>
          <a:solidFill>
            <a:srgbClr val="F1F5F9"/>
          </a:solidFill>
          <a:ln w="12700">
            <a:solidFill>
              <a:srgbClr val="FFFFFF">
                <a:alpha val="0"/>
              </a:srgbClr>
            </a:solidFill>
            <a:prstDash val="solid"/>
          </a:ln>
        </p:spPr>
      </p:sp>
      <p:pic>
        <p:nvPicPr>
          <p:cNvPr id="42" name="Image 16" descr="preencoded.png"/>
          <p:cNvPicPr>
            <a:picLocks noChangeAspect="1"/>
          </p:cNvPicPr>
          <p:nvPr/>
        </p:nvPicPr>
        <p:blipFill>
          <a:blip r:embed="rId13"/>
          <a:srcRect t="-13478" b="-13478"/>
          <a:stretch>
            <a:fillRect/>
          </a:stretch>
        </p:blipFill>
        <p:spPr>
          <a:xfrm>
            <a:off x="1600657" y="3796944"/>
            <a:ext cx="105156" cy="133502"/>
          </a:xfrm>
          <a:prstGeom prst="rect">
            <a:avLst/>
          </a:prstGeom>
        </p:spPr>
      </p:pic>
      <p:sp>
        <p:nvSpPr>
          <p:cNvPr id="43" name="Text 24"/>
          <p:cNvSpPr txBox="1"/>
          <p:nvPr/>
        </p:nvSpPr>
        <p:spPr>
          <a:xfrm>
            <a:off x="1780794" y="3687216"/>
            <a:ext cx="1438351" cy="352958"/>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Management Overview</a:t>
            </a:r>
            <a:endParaRPr lang="en-US" sz="1000" dirty="0">
              <a:ea typeface="Noto Sans SC" panose="020B0200000000000000" pitchFamily="34" charset="-122"/>
              <a:cs typeface="Noto Sans SC" panose="020B0200000000000000" pitchFamily="34" charset="-122"/>
            </a:endParaRPr>
          </a:p>
        </p:txBody>
      </p:sp>
      <p:pic>
        <p:nvPicPr>
          <p:cNvPr id="44" name="Image 17" descr="preencoded.png"/>
          <p:cNvPicPr>
            <a:picLocks noChangeAspect="1"/>
          </p:cNvPicPr>
          <p:nvPr/>
        </p:nvPicPr>
        <p:blipFill>
          <a:blip r:embed="rId8"/>
          <a:srcRect t="-5544" b="-5544"/>
          <a:stretch>
            <a:fillRect/>
          </a:stretch>
        </p:blipFill>
        <p:spPr>
          <a:xfrm>
            <a:off x="3439516" y="3796944"/>
            <a:ext cx="105156" cy="133502"/>
          </a:xfrm>
          <a:prstGeom prst="rect">
            <a:avLst/>
          </a:prstGeom>
        </p:spPr>
      </p:pic>
      <p:sp>
        <p:nvSpPr>
          <p:cNvPr id="45" name="Shape 25"/>
          <p:cNvSpPr/>
          <p:nvPr/>
        </p:nvSpPr>
        <p:spPr>
          <a:xfrm>
            <a:off x="3638855" y="3687216"/>
            <a:ext cx="1257300" cy="352044"/>
          </a:xfrm>
          <a:prstGeom prst="roundRect">
            <a:avLst>
              <a:gd name="adj" fmla="val 259740"/>
            </a:avLst>
          </a:prstGeom>
          <a:solidFill>
            <a:srgbClr val="F1F5F9"/>
          </a:solidFill>
          <a:ln w="12700">
            <a:solidFill>
              <a:srgbClr val="FFFFFF">
                <a:alpha val="0"/>
              </a:srgbClr>
            </a:solidFill>
            <a:prstDash val="solid"/>
          </a:ln>
        </p:spPr>
      </p:sp>
      <p:pic>
        <p:nvPicPr>
          <p:cNvPr id="46" name="Image 18" descr="preencoded.png"/>
          <p:cNvPicPr>
            <a:picLocks noChangeAspect="1"/>
          </p:cNvPicPr>
          <p:nvPr/>
        </p:nvPicPr>
        <p:blipFill>
          <a:blip r:embed="rId14"/>
          <a:srcRect t="-29348" b="-29348"/>
          <a:stretch>
            <a:fillRect/>
          </a:stretch>
        </p:blipFill>
        <p:spPr>
          <a:xfrm>
            <a:off x="3772357" y="3796944"/>
            <a:ext cx="105156" cy="133502"/>
          </a:xfrm>
          <a:prstGeom prst="rect">
            <a:avLst/>
          </a:prstGeom>
        </p:spPr>
      </p:pic>
      <p:sp>
        <p:nvSpPr>
          <p:cNvPr id="47" name="Text 26"/>
          <p:cNvSpPr txBox="1"/>
          <p:nvPr/>
        </p:nvSpPr>
        <p:spPr>
          <a:xfrm>
            <a:off x="3953408" y="3687216"/>
            <a:ext cx="810158" cy="352958"/>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Dorm Details</a:t>
            </a:r>
            <a:endParaRPr lang="en-US" sz="1000" dirty="0">
              <a:ea typeface="Noto Sans SC" panose="020B0200000000000000" pitchFamily="34" charset="-122"/>
              <a:cs typeface="Noto Sans SC" panose="020B0200000000000000" pitchFamily="34" charset="-122"/>
            </a:endParaRPr>
          </a:p>
        </p:txBody>
      </p:sp>
      <p:pic>
        <p:nvPicPr>
          <p:cNvPr id="48" name="Image 19" descr="preencoded.png"/>
          <p:cNvPicPr>
            <a:picLocks noChangeAspect="1"/>
          </p:cNvPicPr>
          <p:nvPr/>
        </p:nvPicPr>
        <p:blipFill>
          <a:blip r:embed="rId8"/>
          <a:srcRect t="-5544" b="-5544"/>
          <a:stretch>
            <a:fillRect/>
          </a:stretch>
        </p:blipFill>
        <p:spPr>
          <a:xfrm>
            <a:off x="4982108" y="3796944"/>
            <a:ext cx="105156" cy="133502"/>
          </a:xfrm>
          <a:prstGeom prst="rect">
            <a:avLst/>
          </a:prstGeom>
        </p:spPr>
      </p:pic>
      <p:sp>
        <p:nvSpPr>
          <p:cNvPr id="49" name="Shape 27"/>
          <p:cNvSpPr/>
          <p:nvPr/>
        </p:nvSpPr>
        <p:spPr>
          <a:xfrm>
            <a:off x="5182362" y="3687216"/>
            <a:ext cx="1828800" cy="352044"/>
          </a:xfrm>
          <a:prstGeom prst="roundRect">
            <a:avLst>
              <a:gd name="adj" fmla="val 259740"/>
            </a:avLst>
          </a:prstGeom>
          <a:solidFill>
            <a:srgbClr val="F1F5F9"/>
          </a:solidFill>
          <a:ln w="12700">
            <a:solidFill>
              <a:srgbClr val="FFFFFF">
                <a:alpha val="0"/>
              </a:srgbClr>
            </a:solidFill>
            <a:prstDash val="solid"/>
          </a:ln>
        </p:spPr>
      </p:sp>
      <p:pic>
        <p:nvPicPr>
          <p:cNvPr id="50" name="Image 20" descr="preencoded.png"/>
          <p:cNvPicPr>
            <a:picLocks noChangeAspect="1"/>
          </p:cNvPicPr>
          <p:nvPr/>
        </p:nvPicPr>
        <p:blipFill>
          <a:blip r:embed="rId15"/>
          <a:srcRect t="-13478" b="-13478"/>
          <a:stretch>
            <a:fillRect/>
          </a:stretch>
        </p:blipFill>
        <p:spPr>
          <a:xfrm>
            <a:off x="5315864" y="3796944"/>
            <a:ext cx="105156" cy="133502"/>
          </a:xfrm>
          <a:prstGeom prst="rect">
            <a:avLst/>
          </a:prstGeom>
        </p:spPr>
      </p:pic>
      <p:sp>
        <p:nvSpPr>
          <p:cNvPr id="51" name="Text 28"/>
          <p:cNvSpPr txBox="1"/>
          <p:nvPr/>
        </p:nvSpPr>
        <p:spPr>
          <a:xfrm>
            <a:off x="5496916" y="3687216"/>
            <a:ext cx="1381658" cy="352958"/>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Behavior Trend Charts</a:t>
            </a:r>
            <a:endParaRPr lang="en-US" sz="1000" dirty="0">
              <a:ea typeface="Noto Sans SC" panose="020B0200000000000000" pitchFamily="34" charset="-122"/>
              <a:cs typeface="Noto Sans SC" panose="020B0200000000000000" pitchFamily="34" charset="-122"/>
            </a:endParaRPr>
          </a:p>
        </p:txBody>
      </p:sp>
      <p:pic>
        <p:nvPicPr>
          <p:cNvPr id="52" name="Image 21" descr="preencoded.png"/>
          <p:cNvPicPr>
            <a:picLocks noChangeAspect="1"/>
          </p:cNvPicPr>
          <p:nvPr/>
        </p:nvPicPr>
        <p:blipFill>
          <a:blip r:embed="rId8"/>
          <a:srcRect t="-5544" b="-5544"/>
          <a:stretch>
            <a:fillRect/>
          </a:stretch>
        </p:blipFill>
        <p:spPr>
          <a:xfrm>
            <a:off x="7105345" y="3796944"/>
            <a:ext cx="105156" cy="133502"/>
          </a:xfrm>
          <a:prstGeom prst="rect">
            <a:avLst/>
          </a:prstGeom>
        </p:spPr>
      </p:pic>
      <p:sp>
        <p:nvSpPr>
          <p:cNvPr id="53" name="Shape 29"/>
          <p:cNvSpPr/>
          <p:nvPr/>
        </p:nvSpPr>
        <p:spPr>
          <a:xfrm>
            <a:off x="7305599" y="3687216"/>
            <a:ext cx="1218895" cy="352044"/>
          </a:xfrm>
          <a:prstGeom prst="roundRect">
            <a:avLst>
              <a:gd name="adj" fmla="val 259740"/>
            </a:avLst>
          </a:prstGeom>
          <a:solidFill>
            <a:srgbClr val="F1F5F9"/>
          </a:solidFill>
          <a:ln w="12700">
            <a:solidFill>
              <a:srgbClr val="FFFFFF">
                <a:alpha val="0"/>
              </a:srgbClr>
            </a:solidFill>
            <a:prstDash val="solid"/>
          </a:ln>
        </p:spPr>
      </p:sp>
      <p:pic>
        <p:nvPicPr>
          <p:cNvPr id="54" name="Image 22" descr="preencoded.png"/>
          <p:cNvPicPr>
            <a:picLocks noChangeAspect="1"/>
          </p:cNvPicPr>
          <p:nvPr/>
        </p:nvPicPr>
        <p:blipFill>
          <a:blip r:embed="rId16"/>
          <a:srcRect t="-21413" b="-21413"/>
          <a:stretch>
            <a:fillRect/>
          </a:stretch>
        </p:blipFill>
        <p:spPr>
          <a:xfrm>
            <a:off x="7438187" y="3796944"/>
            <a:ext cx="105156" cy="133502"/>
          </a:xfrm>
          <a:prstGeom prst="rect">
            <a:avLst/>
          </a:prstGeom>
        </p:spPr>
      </p:pic>
      <p:sp>
        <p:nvSpPr>
          <p:cNvPr id="55" name="Text 30"/>
          <p:cNvSpPr txBox="1"/>
          <p:nvPr/>
        </p:nvSpPr>
        <p:spPr>
          <a:xfrm>
            <a:off x="7619238" y="3687216"/>
            <a:ext cx="771754" cy="352958"/>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Student Info</a:t>
            </a:r>
            <a:endParaRPr lang="en-US" sz="1000" dirty="0">
              <a:ea typeface="Noto Sans SC" panose="020B0200000000000000" pitchFamily="34" charset="-122"/>
              <a:cs typeface="Noto Sans SC" panose="020B0200000000000000" pitchFamily="34" charset="-122"/>
            </a:endParaRPr>
          </a:p>
        </p:txBody>
      </p:sp>
      <p:sp>
        <p:nvSpPr>
          <p:cNvPr id="56" name="Shape 31"/>
          <p:cNvSpPr/>
          <p:nvPr/>
        </p:nvSpPr>
        <p:spPr>
          <a:xfrm>
            <a:off x="514350" y="4468114"/>
            <a:ext cx="11048695" cy="1285646"/>
          </a:xfrm>
          <a:prstGeom prst="roundRect">
            <a:avLst>
              <a:gd name="adj" fmla="val 12644"/>
            </a:avLst>
          </a:prstGeom>
          <a:solidFill>
            <a:srgbClr val="FFFFFF"/>
          </a:solidFill>
          <a:effectLst>
            <a:outerShdw blurRad="114300" dist="38100" dir="16200000" algn="bl" rotWithShape="0">
              <a:srgbClr val="000000">
                <a:alpha val="5000"/>
              </a:srgbClr>
            </a:outerShdw>
          </a:effectLst>
        </p:spPr>
      </p:sp>
      <p:sp>
        <p:nvSpPr>
          <p:cNvPr id="57" name="Shape 32"/>
          <p:cNvSpPr/>
          <p:nvPr/>
        </p:nvSpPr>
        <p:spPr>
          <a:xfrm>
            <a:off x="514350" y="4468114"/>
            <a:ext cx="57607" cy="1285646"/>
          </a:xfrm>
          <a:prstGeom prst="roundRect">
            <a:avLst>
              <a:gd name="adj" fmla="val 282188"/>
            </a:avLst>
          </a:prstGeom>
          <a:solidFill>
            <a:srgbClr val="3B82F6"/>
          </a:solidFill>
          <a:ln w="12700">
            <a:solidFill>
              <a:srgbClr val="3B82F6">
                <a:alpha val="0"/>
              </a:srgbClr>
            </a:solidFill>
            <a:prstDash val="solid"/>
          </a:ln>
        </p:spPr>
      </p:sp>
      <p:sp>
        <p:nvSpPr>
          <p:cNvPr id="58" name="Shape 33"/>
          <p:cNvSpPr/>
          <p:nvPr/>
        </p:nvSpPr>
        <p:spPr>
          <a:xfrm>
            <a:off x="857250" y="4696714"/>
            <a:ext cx="418795" cy="418795"/>
          </a:xfrm>
          <a:prstGeom prst="roundRect">
            <a:avLst>
              <a:gd name="adj" fmla="val 79397"/>
            </a:avLst>
          </a:prstGeom>
          <a:solidFill>
            <a:srgbClr val="3B82F6">
              <a:alpha val="10000"/>
            </a:srgbClr>
          </a:solidFill>
          <a:ln w="12700">
            <a:solidFill>
              <a:srgbClr val="FFFFFF">
                <a:alpha val="0"/>
              </a:srgbClr>
            </a:solidFill>
            <a:prstDash val="solid"/>
          </a:ln>
        </p:spPr>
      </p:sp>
      <p:pic>
        <p:nvPicPr>
          <p:cNvPr id="59" name="Image 23" descr="preencoded.png"/>
          <p:cNvPicPr>
            <a:picLocks noChangeAspect="1"/>
          </p:cNvPicPr>
          <p:nvPr/>
        </p:nvPicPr>
        <p:blipFill>
          <a:blip r:embed="rId17"/>
          <a:srcRect t="-12275" b="-12275"/>
          <a:stretch>
            <a:fillRect/>
          </a:stretch>
        </p:blipFill>
        <p:spPr>
          <a:xfrm>
            <a:off x="990752" y="4811014"/>
            <a:ext cx="152705" cy="190195"/>
          </a:xfrm>
          <a:prstGeom prst="rect">
            <a:avLst/>
          </a:prstGeom>
        </p:spPr>
      </p:pic>
      <p:sp>
        <p:nvSpPr>
          <p:cNvPr id="60" name="Text 34"/>
          <p:cNvSpPr txBox="1"/>
          <p:nvPr/>
        </p:nvSpPr>
        <p:spPr>
          <a:xfrm>
            <a:off x="1467155" y="4696714"/>
            <a:ext cx="2369210" cy="314554"/>
          </a:xfrm>
          <a:prstGeom prst="rect">
            <a:avLst/>
          </a:prstGeom>
          <a:noFill/>
        </p:spPr>
        <p:txBody>
          <a:bodyPr wrap="square" lIns="0" tIns="0" rIns="0" bIns="0" rtlCol="0" anchor="ctr"/>
          <a:lstStyle/>
          <a:p>
            <a:pPr marL="0" indent="0" algn="l">
              <a:buNone/>
            </a:pPr>
            <a:r>
              <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Sprint 3: Expansion</a:t>
            </a:r>
            <a:endParaRPr lang="en-US" sz="1600" dirty="0">
              <a:ea typeface="Noto Sans SC" panose="020B0200000000000000" pitchFamily="34" charset="-122"/>
              <a:cs typeface="Noto Sans SC" panose="020B0200000000000000" pitchFamily="34" charset="-122"/>
            </a:endParaRPr>
          </a:p>
        </p:txBody>
      </p:sp>
      <p:pic>
        <p:nvPicPr>
          <p:cNvPr id="61" name="Image 24" descr="preencoded.png"/>
          <p:cNvPicPr>
            <a:picLocks noChangeAspect="1"/>
          </p:cNvPicPr>
          <p:nvPr/>
        </p:nvPicPr>
        <p:blipFill>
          <a:blip r:embed="rId18"/>
          <a:srcRect t="-634" b="-634"/>
          <a:stretch>
            <a:fillRect/>
          </a:stretch>
        </p:blipFill>
        <p:spPr>
          <a:xfrm>
            <a:off x="3606851" y="4723232"/>
            <a:ext cx="1057046" cy="267005"/>
          </a:xfrm>
          <a:prstGeom prst="rect">
            <a:avLst/>
          </a:prstGeom>
        </p:spPr>
      </p:pic>
      <p:sp>
        <p:nvSpPr>
          <p:cNvPr id="62" name="Text 35"/>
          <p:cNvSpPr/>
          <p:nvPr/>
        </p:nvSpPr>
        <p:spPr>
          <a:xfrm>
            <a:off x="3873856" y="4723232"/>
            <a:ext cx="790956" cy="267005"/>
          </a:xfrm>
          <a:prstGeom prst="rect">
            <a:avLst/>
          </a:prstGeom>
          <a:noFill/>
        </p:spPr>
        <p:txBody>
          <a:bodyPr wrap="square" lIns="0" tIns="0" rIns="0" bIns="0" rtlCol="0" anchor="ctr"/>
          <a:lstStyle/>
          <a:p>
            <a:pPr marL="0" indent="0" algn="l">
              <a:buNone/>
            </a:pPr>
            <a:r>
              <a:rPr lang="en-US" sz="900" b="1" dirty="0">
                <a:solidFill>
                  <a:srgbClr val="854D0E"/>
                </a:solidFill>
                <a:latin typeface="Noto Sans SC" panose="020B0200000000000000" pitchFamily="34" charset="-122"/>
                <a:ea typeface="Noto Sans SC" panose="020B0200000000000000" pitchFamily="34" charset="-122"/>
                <a:cs typeface="Noto Sans SC" panose="020B0200000000000000" pitchFamily="34" charset="-122"/>
              </a:rPr>
              <a:t> In Progress </a:t>
            </a:r>
            <a:endParaRPr lang="en-US" sz="900" dirty="0">
              <a:ea typeface="Noto Sans SC" panose="020B0200000000000000" pitchFamily="34" charset="-122"/>
              <a:cs typeface="Noto Sans SC" panose="020B0200000000000000" pitchFamily="34" charset="-122"/>
            </a:endParaRPr>
          </a:p>
        </p:txBody>
      </p:sp>
      <p:pic>
        <p:nvPicPr>
          <p:cNvPr id="63" name="Image 25" descr="preencoded.png"/>
          <p:cNvPicPr>
            <a:picLocks noChangeAspect="1"/>
          </p:cNvPicPr>
          <p:nvPr/>
        </p:nvPicPr>
        <p:blipFill>
          <a:blip r:embed="rId19"/>
          <a:srcRect l="-13478" r="-13478"/>
          <a:stretch>
            <a:fillRect/>
          </a:stretch>
        </p:blipFill>
        <p:spPr>
          <a:xfrm>
            <a:off x="3707435" y="4806442"/>
            <a:ext cx="133502" cy="105156"/>
          </a:xfrm>
          <a:prstGeom prst="rect">
            <a:avLst/>
          </a:prstGeom>
        </p:spPr>
      </p:pic>
      <p:sp>
        <p:nvSpPr>
          <p:cNvPr id="64" name="Shape 36"/>
          <p:cNvSpPr/>
          <p:nvPr/>
        </p:nvSpPr>
        <p:spPr>
          <a:xfrm>
            <a:off x="1467155" y="5163972"/>
            <a:ext cx="1933956" cy="352044"/>
          </a:xfrm>
          <a:prstGeom prst="roundRect">
            <a:avLst>
              <a:gd name="adj" fmla="val 259740"/>
            </a:avLst>
          </a:prstGeom>
          <a:solidFill>
            <a:srgbClr val="F1F5F9"/>
          </a:solidFill>
          <a:ln w="12700">
            <a:solidFill>
              <a:srgbClr val="FFFFFF">
                <a:alpha val="0"/>
              </a:srgbClr>
            </a:solidFill>
            <a:prstDash val="solid"/>
          </a:ln>
        </p:spPr>
      </p:sp>
      <p:pic>
        <p:nvPicPr>
          <p:cNvPr id="65" name="Image 26" descr="preencoded.png"/>
          <p:cNvPicPr>
            <a:picLocks noChangeAspect="1"/>
          </p:cNvPicPr>
          <p:nvPr/>
        </p:nvPicPr>
        <p:blipFill>
          <a:blip r:embed="rId20"/>
          <a:srcRect t="-5544" b="-5544"/>
          <a:stretch>
            <a:fillRect/>
          </a:stretch>
        </p:blipFill>
        <p:spPr>
          <a:xfrm>
            <a:off x="1600657" y="5273700"/>
            <a:ext cx="105156" cy="133502"/>
          </a:xfrm>
          <a:prstGeom prst="rect">
            <a:avLst/>
          </a:prstGeom>
        </p:spPr>
      </p:pic>
      <p:sp>
        <p:nvSpPr>
          <p:cNvPr id="66" name="Text 37"/>
          <p:cNvSpPr txBox="1"/>
          <p:nvPr/>
        </p:nvSpPr>
        <p:spPr>
          <a:xfrm>
            <a:off x="1780794" y="5163972"/>
            <a:ext cx="1485900" cy="352958"/>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Questionnaire Matching</a:t>
            </a:r>
            <a:endParaRPr lang="en-US" sz="1000" dirty="0">
              <a:ea typeface="Noto Sans SC" panose="020B0200000000000000" pitchFamily="34" charset="-122"/>
              <a:cs typeface="Noto Sans SC" panose="020B0200000000000000" pitchFamily="34" charset="-122"/>
            </a:endParaRPr>
          </a:p>
        </p:txBody>
      </p:sp>
      <p:pic>
        <p:nvPicPr>
          <p:cNvPr id="67" name="Image 27" descr="preencoded.png"/>
          <p:cNvPicPr>
            <a:picLocks noChangeAspect="1"/>
          </p:cNvPicPr>
          <p:nvPr/>
        </p:nvPicPr>
        <p:blipFill>
          <a:blip r:embed="rId8"/>
          <a:srcRect t="-5544" b="-5544"/>
          <a:stretch>
            <a:fillRect/>
          </a:stretch>
        </p:blipFill>
        <p:spPr>
          <a:xfrm>
            <a:off x="3489808" y="5273700"/>
            <a:ext cx="105156" cy="133502"/>
          </a:xfrm>
          <a:prstGeom prst="rect">
            <a:avLst/>
          </a:prstGeom>
        </p:spPr>
      </p:pic>
      <p:sp>
        <p:nvSpPr>
          <p:cNvPr id="68" name="Shape 38"/>
          <p:cNvSpPr/>
          <p:nvPr/>
        </p:nvSpPr>
        <p:spPr>
          <a:xfrm>
            <a:off x="3689147" y="5163972"/>
            <a:ext cx="857707" cy="352044"/>
          </a:xfrm>
          <a:prstGeom prst="roundRect">
            <a:avLst>
              <a:gd name="adj" fmla="val 259740"/>
            </a:avLst>
          </a:prstGeom>
          <a:solidFill>
            <a:srgbClr val="F1F5F9"/>
          </a:solidFill>
          <a:ln w="12700">
            <a:solidFill>
              <a:srgbClr val="FFFFFF">
                <a:alpha val="0"/>
              </a:srgbClr>
            </a:solidFill>
            <a:prstDash val="solid"/>
          </a:ln>
        </p:spPr>
      </p:sp>
      <p:pic>
        <p:nvPicPr>
          <p:cNvPr id="69" name="Image 28" descr="preencoded.png"/>
          <p:cNvPicPr>
            <a:picLocks noChangeAspect="1"/>
          </p:cNvPicPr>
          <p:nvPr/>
        </p:nvPicPr>
        <p:blipFill>
          <a:blip r:embed="rId21"/>
          <a:srcRect t="-13478" b="-13478"/>
          <a:stretch>
            <a:fillRect/>
          </a:stretch>
        </p:blipFill>
        <p:spPr>
          <a:xfrm>
            <a:off x="3822649" y="5273700"/>
            <a:ext cx="105156" cy="133502"/>
          </a:xfrm>
          <a:prstGeom prst="rect">
            <a:avLst/>
          </a:prstGeom>
        </p:spPr>
      </p:pic>
      <p:sp>
        <p:nvSpPr>
          <p:cNvPr id="70" name="Text 39"/>
          <p:cNvSpPr txBox="1"/>
          <p:nvPr/>
        </p:nvSpPr>
        <p:spPr>
          <a:xfrm>
            <a:off x="4003700" y="5163972"/>
            <a:ext cx="409651" cy="352958"/>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RMMM</a:t>
            </a:r>
            <a:endParaRPr lang="en-US" sz="1000" dirty="0">
              <a:ea typeface="Noto Sans SC" panose="020B0200000000000000" pitchFamily="34" charset="-122"/>
              <a:cs typeface="Noto Sans SC" panose="020B0200000000000000" pitchFamily="34" charset="-122"/>
            </a:endParaRPr>
          </a:p>
        </p:txBody>
      </p:sp>
      <p:pic>
        <p:nvPicPr>
          <p:cNvPr id="71" name="Image 29" descr="preencoded.png"/>
          <p:cNvPicPr>
            <a:picLocks noChangeAspect="1"/>
          </p:cNvPicPr>
          <p:nvPr/>
        </p:nvPicPr>
        <p:blipFill>
          <a:blip r:embed="rId8"/>
          <a:srcRect t="-5544" b="-5544"/>
          <a:stretch>
            <a:fillRect/>
          </a:stretch>
        </p:blipFill>
        <p:spPr>
          <a:xfrm>
            <a:off x="4641952" y="5273700"/>
            <a:ext cx="105156" cy="133502"/>
          </a:xfrm>
          <a:prstGeom prst="rect">
            <a:avLst/>
          </a:prstGeom>
        </p:spPr>
      </p:pic>
      <p:sp>
        <p:nvSpPr>
          <p:cNvPr id="72" name="Shape 40"/>
          <p:cNvSpPr/>
          <p:nvPr/>
        </p:nvSpPr>
        <p:spPr>
          <a:xfrm>
            <a:off x="4842205" y="5163972"/>
            <a:ext cx="714146" cy="352044"/>
          </a:xfrm>
          <a:prstGeom prst="roundRect">
            <a:avLst>
              <a:gd name="adj" fmla="val 259740"/>
            </a:avLst>
          </a:prstGeom>
          <a:solidFill>
            <a:srgbClr val="F1F5F9"/>
          </a:solidFill>
          <a:ln w="12700">
            <a:solidFill>
              <a:srgbClr val="FFFFFF">
                <a:alpha val="0"/>
              </a:srgbClr>
            </a:solidFill>
            <a:prstDash val="solid"/>
          </a:ln>
        </p:spPr>
      </p:sp>
      <p:pic>
        <p:nvPicPr>
          <p:cNvPr id="73" name="Image 30" descr="preencoded.png"/>
          <p:cNvPicPr>
            <a:picLocks noChangeAspect="1"/>
          </p:cNvPicPr>
          <p:nvPr/>
        </p:nvPicPr>
        <p:blipFill>
          <a:blip r:embed="rId22"/>
          <a:srcRect t="-21413" b="-21413"/>
          <a:stretch>
            <a:fillRect/>
          </a:stretch>
        </p:blipFill>
        <p:spPr>
          <a:xfrm>
            <a:off x="4975708" y="5273700"/>
            <a:ext cx="105156" cy="133502"/>
          </a:xfrm>
          <a:prstGeom prst="rect">
            <a:avLst/>
          </a:prstGeom>
        </p:spPr>
      </p:pic>
      <p:sp>
        <p:nvSpPr>
          <p:cNvPr id="74" name="Text 41"/>
          <p:cNvSpPr txBox="1"/>
          <p:nvPr/>
        </p:nvSpPr>
        <p:spPr>
          <a:xfrm>
            <a:off x="5155844" y="5163972"/>
            <a:ext cx="267005" cy="352958"/>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EVM</a:t>
            </a:r>
            <a:endParaRPr lang="en-US" sz="1000" dirty="0">
              <a:ea typeface="Noto Sans SC" panose="020B0200000000000000" pitchFamily="34" charset="-122"/>
              <a:cs typeface="Noto Sans SC" panose="020B0200000000000000" pitchFamily="34" charset="-122"/>
            </a:endParaRPr>
          </a:p>
        </p:txBody>
      </p:sp>
      <p:pic>
        <p:nvPicPr>
          <p:cNvPr id="75" name="Image 31" descr="preencoded.png"/>
          <p:cNvPicPr>
            <a:picLocks noChangeAspect="1"/>
          </p:cNvPicPr>
          <p:nvPr/>
        </p:nvPicPr>
        <p:blipFill>
          <a:blip r:embed="rId8"/>
          <a:srcRect t="-5544" b="-5544"/>
          <a:stretch>
            <a:fillRect/>
          </a:stretch>
        </p:blipFill>
        <p:spPr>
          <a:xfrm>
            <a:off x="5648706" y="5273700"/>
            <a:ext cx="105156" cy="133502"/>
          </a:xfrm>
          <a:prstGeom prst="rect">
            <a:avLst/>
          </a:prstGeom>
        </p:spPr>
      </p:pic>
      <p:sp>
        <p:nvSpPr>
          <p:cNvPr id="76" name="Shape 42"/>
          <p:cNvSpPr/>
          <p:nvPr/>
        </p:nvSpPr>
        <p:spPr>
          <a:xfrm>
            <a:off x="5848045" y="5163972"/>
            <a:ext cx="1837944" cy="352044"/>
          </a:xfrm>
          <a:prstGeom prst="roundRect">
            <a:avLst>
              <a:gd name="adj" fmla="val 259740"/>
            </a:avLst>
          </a:prstGeom>
          <a:solidFill>
            <a:srgbClr val="F1F5F9"/>
          </a:solidFill>
          <a:ln w="12700">
            <a:solidFill>
              <a:srgbClr val="FFFFFF">
                <a:alpha val="0"/>
              </a:srgbClr>
            </a:solidFill>
            <a:prstDash val="solid"/>
          </a:ln>
        </p:spPr>
      </p:sp>
      <p:pic>
        <p:nvPicPr>
          <p:cNvPr id="77" name="Image 32" descr="preencoded.png"/>
          <p:cNvPicPr>
            <a:picLocks noChangeAspect="1"/>
          </p:cNvPicPr>
          <p:nvPr/>
        </p:nvPicPr>
        <p:blipFill>
          <a:blip r:embed="rId23"/>
          <a:srcRect l="-2512" r="-2512"/>
          <a:stretch>
            <a:fillRect/>
          </a:stretch>
        </p:blipFill>
        <p:spPr>
          <a:xfrm>
            <a:off x="5981548" y="5273700"/>
            <a:ext cx="105156" cy="133502"/>
          </a:xfrm>
          <a:prstGeom prst="rect">
            <a:avLst/>
          </a:prstGeom>
        </p:spPr>
      </p:pic>
      <p:sp>
        <p:nvSpPr>
          <p:cNvPr id="78" name="Text 43"/>
          <p:cNvSpPr txBox="1"/>
          <p:nvPr/>
        </p:nvSpPr>
        <p:spPr>
          <a:xfrm>
            <a:off x="6162599" y="5163972"/>
            <a:ext cx="1390802" cy="352958"/>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Presentation Materials</a:t>
            </a:r>
            <a:endParaRPr lang="en-US" sz="1000" dirty="0">
              <a:ea typeface="Noto Sans SC" panose="020B0200000000000000" pitchFamily="34" charset="-122"/>
              <a:cs typeface="Noto Sans SC" panose="020B0200000000000000" pitchFamily="34" charset="-122"/>
            </a:endParaRPr>
          </a:p>
        </p:txBody>
      </p:sp>
      <p:pic>
        <p:nvPicPr>
          <p:cNvPr id="79" name="Image 33" descr="preencoded.png"/>
          <p:cNvPicPr>
            <a:picLocks noChangeAspect="1"/>
          </p:cNvPicPr>
          <p:nvPr/>
        </p:nvPicPr>
        <p:blipFill>
          <a:blip r:embed="rId24"/>
          <a:srcRect l="-19" r="-19"/>
          <a:stretch>
            <a:fillRect/>
          </a:stretch>
        </p:blipFill>
        <p:spPr>
          <a:xfrm>
            <a:off x="514350" y="5944870"/>
            <a:ext cx="11048695" cy="761695"/>
          </a:xfrm>
          <a:prstGeom prst="rect">
            <a:avLst/>
          </a:prstGeom>
        </p:spPr>
      </p:pic>
      <p:sp>
        <p:nvSpPr>
          <p:cNvPr id="80" name="Text 44"/>
          <p:cNvSpPr txBox="1"/>
          <p:nvPr/>
        </p:nvSpPr>
        <p:spPr>
          <a:xfrm>
            <a:off x="809701" y="6066485"/>
            <a:ext cx="10458907" cy="523951"/>
          </a:xfrm>
          <a:prstGeom prst="rect">
            <a:avLst/>
          </a:prstGeom>
          <a:noFill/>
        </p:spPr>
        <p:txBody>
          <a:bodyPr wrap="square" lIns="0" tIns="0" rIns="0" bIns="0" rtlCol="0" anchor="ctr"/>
          <a:lstStyle/>
          <a:p>
            <a:pPr marL="0" indent="0" algn="l">
              <a:buNone/>
            </a:pPr>
            <a:r>
              <a:rPr lang="en-US" sz="12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Iteration Value:</a:t>
            </a:r>
            <a:r>
              <a:rPr lang="en-US" sz="12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Through three sprints, the project progressively builds the core framework, visualizes data, and finally completes intelligent matching and management closure, ensuring steady value delivery at each stage. </a:t>
            </a:r>
            <a:endParaRPr lang="en-US" sz="1200" dirty="0">
              <a:ea typeface="Noto Sans SC" panose="020B0200000000000000" pitchFamily="34" charset="-122"/>
              <a:cs typeface="Noto Sans SC" panose="020B0200000000000000"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0" r="-10"/>
          <a:stretch>
            <a:fillRect/>
          </a:stretch>
        </p:blipFill>
        <p:spPr>
          <a:xfrm>
            <a:off x="0" y="0"/>
            <a:ext cx="12191695" cy="666598"/>
          </a:xfrm>
          <a:prstGeom prst="rect">
            <a:avLst/>
          </a:prstGeom>
        </p:spPr>
      </p:pic>
      <p:sp>
        <p:nvSpPr>
          <p:cNvPr id="5" name="Shape 2"/>
          <p:cNvSpPr/>
          <p:nvPr/>
        </p:nvSpPr>
        <p:spPr>
          <a:xfrm>
            <a:off x="381305" y="1333195"/>
            <a:ext cx="11430000" cy="4524451"/>
          </a:xfrm>
          <a:prstGeom prst="roundRect">
            <a:avLst>
              <a:gd name="adj" fmla="val 1021"/>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pic>
        <p:nvPicPr>
          <p:cNvPr id="6" name="Image 1" descr="preencoded.png"/>
          <p:cNvPicPr>
            <a:picLocks noChangeAspect="1"/>
          </p:cNvPicPr>
          <p:nvPr/>
        </p:nvPicPr>
        <p:blipFill>
          <a:blip r:embed="rId2"/>
          <a:srcRect l="-16" r="-16"/>
          <a:stretch>
            <a:fillRect/>
          </a:stretch>
        </p:blipFill>
        <p:spPr>
          <a:xfrm>
            <a:off x="381305" y="5952744"/>
            <a:ext cx="11430000" cy="714146"/>
          </a:xfrm>
          <a:prstGeom prst="rect">
            <a:avLst/>
          </a:prstGeom>
        </p:spPr>
      </p:pic>
      <p:sp>
        <p:nvSpPr>
          <p:cNvPr id="7" name="Shape 3"/>
          <p:cNvSpPr/>
          <p:nvPr/>
        </p:nvSpPr>
        <p:spPr>
          <a:xfrm>
            <a:off x="571500" y="142646"/>
            <a:ext cx="381305" cy="381305"/>
          </a:xfrm>
          <a:prstGeom prst="ellipse">
            <a:avLst/>
          </a:prstGeom>
          <a:solidFill>
            <a:srgbClr val="FFFFFF">
              <a:alpha val="15000"/>
            </a:srgbClr>
          </a:solidFill>
          <a:ln w="12700">
            <a:solidFill>
              <a:srgbClr val="FFFFFF">
                <a:alpha val="0"/>
              </a:srgbClr>
            </a:solidFill>
            <a:prstDash val="solid"/>
          </a:ln>
        </p:spPr>
      </p:sp>
      <p:pic>
        <p:nvPicPr>
          <p:cNvPr id="8" name="Image 2" descr="preencoded.png"/>
          <p:cNvPicPr>
            <a:picLocks noChangeAspect="1"/>
          </p:cNvPicPr>
          <p:nvPr/>
        </p:nvPicPr>
        <p:blipFill>
          <a:blip r:embed="rId3"/>
          <a:srcRect/>
          <a:stretch>
            <a:fillRect/>
          </a:stretch>
        </p:blipFill>
        <p:spPr>
          <a:xfrm>
            <a:off x="676656" y="247802"/>
            <a:ext cx="171907" cy="171907"/>
          </a:xfrm>
          <a:prstGeom prst="rect">
            <a:avLst/>
          </a:prstGeom>
        </p:spPr>
      </p:pic>
      <p:sp>
        <p:nvSpPr>
          <p:cNvPr id="9" name="Text 4"/>
          <p:cNvSpPr txBox="1"/>
          <p:nvPr/>
        </p:nvSpPr>
        <p:spPr>
          <a:xfrm>
            <a:off x="1143000" y="171907"/>
            <a:ext cx="7620610" cy="267005"/>
          </a:xfrm>
          <a:prstGeom prst="rect">
            <a:avLst/>
          </a:prstGeom>
          <a:noFill/>
        </p:spPr>
        <p:txBody>
          <a:bodyPr wrap="square" lIns="0" tIns="0" rIns="0" bIns="0" rtlCol="0" anchor="ctr"/>
          <a:lstStyle/>
          <a:p>
            <a:pPr marL="0" indent="0" algn="l">
              <a:buNone/>
            </a:pPr>
            <a:r>
              <a:rPr lang="en-US" sz="21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Requirements Management RTM Overview </a:t>
            </a:r>
            <a:endParaRPr lang="en-US" sz="2100" dirty="0">
              <a:ea typeface="Noto Sans SC" panose="020B0200000000000000" pitchFamily="34" charset="-122"/>
              <a:cs typeface="Noto Sans SC" panose="020B0200000000000000" pitchFamily="34" charset="-122"/>
            </a:endParaRPr>
          </a:p>
        </p:txBody>
      </p:sp>
      <p:pic>
        <p:nvPicPr>
          <p:cNvPr id="10" name="Image 3" descr="preencoded.png"/>
          <p:cNvPicPr>
            <a:picLocks noChangeAspect="1"/>
          </p:cNvPicPr>
          <p:nvPr/>
        </p:nvPicPr>
        <p:blipFill>
          <a:blip r:embed="rId4"/>
          <a:srcRect/>
          <a:stretch>
            <a:fillRect/>
          </a:stretch>
        </p:blipFill>
        <p:spPr>
          <a:xfrm>
            <a:off x="571500" y="909828"/>
            <a:ext cx="228600" cy="228600"/>
          </a:xfrm>
          <a:prstGeom prst="rect">
            <a:avLst/>
          </a:prstGeom>
        </p:spPr>
      </p:pic>
      <p:sp>
        <p:nvSpPr>
          <p:cNvPr id="11" name="Text 5"/>
          <p:cNvSpPr txBox="1"/>
          <p:nvPr/>
        </p:nvSpPr>
        <p:spPr>
          <a:xfrm>
            <a:off x="914400" y="857707"/>
            <a:ext cx="7877556" cy="333756"/>
          </a:xfrm>
          <a:prstGeom prst="rect">
            <a:avLst/>
          </a:prstGeom>
          <a:noFill/>
        </p:spPr>
        <p:txBody>
          <a:bodyPr wrap="square" lIns="0" tIns="0" rIns="0" bIns="0" rtlCol="0" anchor="ctr"/>
          <a:lstStyle/>
          <a:p>
            <a:pPr marL="0" indent="0" algn="l">
              <a:buNone/>
            </a:pPr>
            <a:r>
              <a:rPr lang="en-US" sz="1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Requirements Traceability Matrix: 10 Requirements Full Coverage</a:t>
            </a:r>
            <a:endParaRPr lang="en-US" sz="1800" dirty="0">
              <a:ea typeface="Noto Sans SC" panose="020B0200000000000000" pitchFamily="34" charset="-122"/>
              <a:cs typeface="Noto Sans SC" panose="020B0200000000000000" pitchFamily="34" charset="-122"/>
            </a:endParaRPr>
          </a:p>
        </p:txBody>
      </p:sp>
      <p:pic>
        <p:nvPicPr>
          <p:cNvPr id="12" name="Image 4" descr="preencoded.png"/>
          <p:cNvPicPr>
            <a:picLocks noChangeAspect="1"/>
          </p:cNvPicPr>
          <p:nvPr/>
        </p:nvPicPr>
        <p:blipFill>
          <a:blip r:embed="rId5"/>
          <a:srcRect l="-56" r="-56"/>
          <a:stretch>
            <a:fillRect/>
          </a:stretch>
        </p:blipFill>
        <p:spPr>
          <a:xfrm>
            <a:off x="381305" y="1333195"/>
            <a:ext cx="11430000" cy="375818"/>
          </a:xfrm>
          <a:prstGeom prst="rect">
            <a:avLst/>
          </a:prstGeom>
        </p:spPr>
      </p:pic>
      <p:sp>
        <p:nvSpPr>
          <p:cNvPr id="13" name="Text 6"/>
          <p:cNvSpPr txBox="1"/>
          <p:nvPr/>
        </p:nvSpPr>
        <p:spPr>
          <a:xfrm>
            <a:off x="476402" y="1429207"/>
            <a:ext cx="571500" cy="191110"/>
          </a:xfrm>
          <a:prstGeom prst="rect">
            <a:avLst/>
          </a:prstGeom>
          <a:noFill/>
        </p:spPr>
        <p:txBody>
          <a:bodyPr wrap="square" lIns="0" tIns="0" rIns="0" bIns="0" rtlCol="0" anchor="ctr"/>
          <a:lstStyle/>
          <a:p>
            <a:pPr marL="0" indent="0" algn="ctr">
              <a:buNone/>
            </a:pPr>
            <a:r>
              <a:rPr lang="en-US" sz="9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Req ID</a:t>
            </a:r>
            <a:endParaRPr lang="en-US" sz="900" dirty="0">
              <a:ea typeface="Noto Sans SC" panose="020B0200000000000000" pitchFamily="34" charset="-122"/>
              <a:cs typeface="Noto Sans SC" panose="020B0200000000000000" pitchFamily="34" charset="-122"/>
            </a:endParaRPr>
          </a:p>
        </p:txBody>
      </p:sp>
      <p:sp>
        <p:nvSpPr>
          <p:cNvPr id="14" name="Text 7"/>
          <p:cNvSpPr txBox="1"/>
          <p:nvPr/>
        </p:nvSpPr>
        <p:spPr>
          <a:xfrm>
            <a:off x="1143000" y="1429207"/>
            <a:ext cx="2000707" cy="191110"/>
          </a:xfrm>
          <a:prstGeom prst="rect">
            <a:avLst/>
          </a:prstGeom>
          <a:noFill/>
        </p:spPr>
        <p:txBody>
          <a:bodyPr wrap="square" lIns="0" tIns="0" rIns="0" bIns="0" rtlCol="0" anchor="ctr"/>
          <a:lstStyle/>
          <a:p>
            <a:pPr marL="0" indent="0" algn="ctr">
              <a:buNone/>
            </a:pPr>
            <a:r>
              <a:rPr lang="en-US" sz="9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Description</a:t>
            </a:r>
            <a:endParaRPr lang="en-US" sz="900" dirty="0">
              <a:ea typeface="Noto Sans SC" panose="020B0200000000000000" pitchFamily="34" charset="-122"/>
              <a:cs typeface="Noto Sans SC" panose="020B0200000000000000" pitchFamily="34" charset="-122"/>
            </a:endParaRPr>
          </a:p>
        </p:txBody>
      </p:sp>
      <p:sp>
        <p:nvSpPr>
          <p:cNvPr id="15" name="Text 8"/>
          <p:cNvSpPr txBox="1"/>
          <p:nvPr/>
        </p:nvSpPr>
        <p:spPr>
          <a:xfrm>
            <a:off x="3238805" y="1429207"/>
            <a:ext cx="1239012" cy="191110"/>
          </a:xfrm>
          <a:prstGeom prst="rect">
            <a:avLst/>
          </a:prstGeom>
          <a:noFill/>
        </p:spPr>
        <p:txBody>
          <a:bodyPr wrap="square" lIns="0" tIns="0" rIns="0" bIns="0" rtlCol="0" anchor="ctr"/>
          <a:lstStyle/>
          <a:p>
            <a:pPr marL="0" indent="0" algn="ctr">
              <a:buNone/>
            </a:pPr>
            <a:r>
              <a:rPr lang="en-US" sz="9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Source Role</a:t>
            </a:r>
            <a:endParaRPr lang="en-US" sz="900" dirty="0">
              <a:ea typeface="Noto Sans SC" panose="020B0200000000000000" pitchFamily="34" charset="-122"/>
              <a:cs typeface="Noto Sans SC" panose="020B0200000000000000" pitchFamily="34" charset="-122"/>
            </a:endParaRPr>
          </a:p>
        </p:txBody>
      </p:sp>
      <p:sp>
        <p:nvSpPr>
          <p:cNvPr id="16" name="Text 9"/>
          <p:cNvSpPr txBox="1"/>
          <p:nvPr/>
        </p:nvSpPr>
        <p:spPr>
          <a:xfrm>
            <a:off x="4572000" y="1429207"/>
            <a:ext cx="2477110" cy="191110"/>
          </a:xfrm>
          <a:prstGeom prst="rect">
            <a:avLst/>
          </a:prstGeom>
          <a:noFill/>
        </p:spPr>
        <p:txBody>
          <a:bodyPr wrap="square" lIns="0" tIns="0" rIns="0" bIns="0" rtlCol="0" anchor="ctr"/>
          <a:lstStyle/>
          <a:p>
            <a:pPr marL="0" indent="0" algn="ctr">
              <a:buNone/>
            </a:pPr>
            <a:r>
              <a:rPr lang="en-US" sz="9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Implementation Module</a:t>
            </a:r>
            <a:endParaRPr lang="en-US" sz="900" dirty="0">
              <a:ea typeface="Noto Sans SC" panose="020B0200000000000000" pitchFamily="34" charset="-122"/>
              <a:cs typeface="Noto Sans SC" panose="020B0200000000000000" pitchFamily="34" charset="-122"/>
            </a:endParaRPr>
          </a:p>
        </p:txBody>
      </p:sp>
      <p:sp>
        <p:nvSpPr>
          <p:cNvPr id="17" name="Text 10"/>
          <p:cNvSpPr txBox="1"/>
          <p:nvPr/>
        </p:nvSpPr>
        <p:spPr>
          <a:xfrm>
            <a:off x="7144207" y="1429207"/>
            <a:ext cx="2857500" cy="191110"/>
          </a:xfrm>
          <a:prstGeom prst="rect">
            <a:avLst/>
          </a:prstGeom>
          <a:noFill/>
        </p:spPr>
        <p:txBody>
          <a:bodyPr wrap="square" lIns="0" tIns="0" rIns="0" bIns="0" rtlCol="0" anchor="ctr"/>
          <a:lstStyle/>
          <a:p>
            <a:pPr marL="0" indent="0" algn="ctr">
              <a:buNone/>
            </a:pPr>
            <a:r>
              <a:rPr lang="en-US" sz="9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Acceptance Criteria</a:t>
            </a:r>
            <a:endParaRPr lang="en-US" sz="900" dirty="0">
              <a:ea typeface="Noto Sans SC" panose="020B0200000000000000" pitchFamily="34" charset="-122"/>
              <a:cs typeface="Noto Sans SC" panose="020B0200000000000000" pitchFamily="34" charset="-122"/>
            </a:endParaRPr>
          </a:p>
        </p:txBody>
      </p:sp>
      <p:sp>
        <p:nvSpPr>
          <p:cNvPr id="18" name="Text 11"/>
          <p:cNvSpPr txBox="1"/>
          <p:nvPr/>
        </p:nvSpPr>
        <p:spPr>
          <a:xfrm>
            <a:off x="10096805" y="1429207"/>
            <a:ext cx="1047902" cy="191110"/>
          </a:xfrm>
          <a:prstGeom prst="rect">
            <a:avLst/>
          </a:prstGeom>
          <a:noFill/>
        </p:spPr>
        <p:txBody>
          <a:bodyPr wrap="square" lIns="0" tIns="0" rIns="0" bIns="0" rtlCol="0" anchor="ctr"/>
          <a:lstStyle/>
          <a:p>
            <a:pPr marL="0" indent="0" algn="ctr">
              <a:buNone/>
            </a:pPr>
            <a:r>
              <a:rPr lang="en-US" sz="9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Status</a:t>
            </a:r>
            <a:endParaRPr lang="en-US" sz="900" dirty="0">
              <a:ea typeface="Noto Sans SC" panose="020B0200000000000000" pitchFamily="34" charset="-122"/>
              <a:cs typeface="Noto Sans SC" panose="020B0200000000000000" pitchFamily="34" charset="-122"/>
            </a:endParaRPr>
          </a:p>
        </p:txBody>
      </p:sp>
      <p:sp>
        <p:nvSpPr>
          <p:cNvPr id="19" name="Shape 12"/>
          <p:cNvSpPr/>
          <p:nvPr/>
        </p:nvSpPr>
        <p:spPr>
          <a:xfrm>
            <a:off x="381305" y="1709928"/>
            <a:ext cx="11430000" cy="352044"/>
          </a:xfrm>
          <a:prstGeom prst="rect">
            <a:avLst/>
          </a:prstGeom>
          <a:solidFill>
            <a:srgbClr val="FFFFFF"/>
          </a:solidFill>
        </p:spPr>
      </p:sp>
      <p:sp>
        <p:nvSpPr>
          <p:cNvPr id="20" name="Shape 13"/>
          <p:cNvSpPr/>
          <p:nvPr/>
        </p:nvSpPr>
        <p:spPr>
          <a:xfrm>
            <a:off x="381305" y="2052828"/>
            <a:ext cx="11430000" cy="9144"/>
          </a:xfrm>
          <a:prstGeom prst="rect">
            <a:avLst/>
          </a:prstGeom>
          <a:solidFill>
            <a:srgbClr val="E2E8F0"/>
          </a:solidFill>
          <a:ln w="12700">
            <a:solidFill>
              <a:srgbClr val="E2E8F0">
                <a:alpha val="0"/>
              </a:srgbClr>
            </a:solidFill>
            <a:prstDash val="solid"/>
          </a:ln>
        </p:spPr>
      </p:sp>
      <p:sp>
        <p:nvSpPr>
          <p:cNvPr id="21" name="Text 14"/>
          <p:cNvSpPr txBox="1"/>
          <p:nvPr/>
        </p:nvSpPr>
        <p:spPr>
          <a:xfrm>
            <a:off x="476402" y="1802282"/>
            <a:ext cx="571500" cy="162763"/>
          </a:xfrm>
          <a:prstGeom prst="rect">
            <a:avLst/>
          </a:prstGeom>
          <a:noFill/>
        </p:spPr>
        <p:txBody>
          <a:bodyPr wrap="square" lIns="0" tIns="0" rIns="0" bIns="0" rtlCol="0" anchor="ctr"/>
          <a:lstStyle/>
          <a:p>
            <a:pPr marL="0" indent="0" algn="ctr">
              <a:buNone/>
            </a:pPr>
            <a:r>
              <a:rPr lang="en-US" sz="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R1</a:t>
            </a:r>
            <a:endParaRPr lang="en-US" sz="800" dirty="0">
              <a:ea typeface="Noto Sans SC" panose="020B0200000000000000" pitchFamily="34" charset="-122"/>
              <a:cs typeface="Noto Sans SC" panose="020B0200000000000000" pitchFamily="34" charset="-122"/>
            </a:endParaRPr>
          </a:p>
        </p:txBody>
      </p:sp>
      <p:sp>
        <p:nvSpPr>
          <p:cNvPr id="22" name="Text 15"/>
          <p:cNvSpPr txBox="1"/>
          <p:nvPr/>
        </p:nvSpPr>
        <p:spPr>
          <a:xfrm>
            <a:off x="1143000" y="1818742"/>
            <a:ext cx="2000707"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User registration/login</a:t>
            </a:r>
            <a:endParaRPr lang="en-US" sz="800" dirty="0">
              <a:ea typeface="Noto Sans SC" panose="020B0200000000000000" pitchFamily="34" charset="-122"/>
              <a:cs typeface="Noto Sans SC" panose="020B0200000000000000" pitchFamily="34" charset="-122"/>
            </a:endParaRPr>
          </a:p>
        </p:txBody>
      </p:sp>
      <p:sp>
        <p:nvSpPr>
          <p:cNvPr id="23" name="Text 16"/>
          <p:cNvSpPr txBox="1"/>
          <p:nvPr/>
        </p:nvSpPr>
        <p:spPr>
          <a:xfrm>
            <a:off x="4572000" y="1818742"/>
            <a:ext cx="247711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user_router, JWT, login page</a:t>
            </a:r>
            <a:endParaRPr lang="en-US" sz="800" dirty="0">
              <a:ea typeface="Noto Sans SC" panose="020B0200000000000000" pitchFamily="34" charset="-122"/>
              <a:cs typeface="Noto Sans SC" panose="020B0200000000000000" pitchFamily="34" charset="-122"/>
            </a:endParaRPr>
          </a:p>
        </p:txBody>
      </p:sp>
      <p:sp>
        <p:nvSpPr>
          <p:cNvPr id="24" name="Text 17"/>
          <p:cNvSpPr txBox="1"/>
          <p:nvPr/>
        </p:nvSpPr>
        <p:spPr>
          <a:xfrm>
            <a:off x="7144207" y="1818742"/>
            <a:ext cx="285750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Login success &amp; returns role info</a:t>
            </a:r>
            <a:endParaRPr lang="en-US" sz="800" dirty="0">
              <a:ea typeface="Noto Sans SC" panose="020B0200000000000000" pitchFamily="34" charset="-122"/>
              <a:cs typeface="Noto Sans SC" panose="020B0200000000000000" pitchFamily="34" charset="-122"/>
            </a:endParaRPr>
          </a:p>
        </p:txBody>
      </p:sp>
      <p:sp>
        <p:nvSpPr>
          <p:cNvPr id="25" name="Shape 18"/>
          <p:cNvSpPr/>
          <p:nvPr/>
        </p:nvSpPr>
        <p:spPr>
          <a:xfrm>
            <a:off x="381305" y="2061972"/>
            <a:ext cx="11430000" cy="352044"/>
          </a:xfrm>
          <a:prstGeom prst="rect">
            <a:avLst/>
          </a:prstGeom>
          <a:solidFill>
            <a:srgbClr val="F8FAFC"/>
          </a:solidFill>
        </p:spPr>
      </p:sp>
      <p:sp>
        <p:nvSpPr>
          <p:cNvPr id="26" name="Shape 19"/>
          <p:cNvSpPr/>
          <p:nvPr/>
        </p:nvSpPr>
        <p:spPr>
          <a:xfrm>
            <a:off x="381305" y="2404872"/>
            <a:ext cx="11430000" cy="9144"/>
          </a:xfrm>
          <a:prstGeom prst="rect">
            <a:avLst/>
          </a:prstGeom>
          <a:solidFill>
            <a:srgbClr val="E2E8F0"/>
          </a:solidFill>
          <a:ln w="12700">
            <a:solidFill>
              <a:srgbClr val="E2E8F0">
                <a:alpha val="0"/>
              </a:srgbClr>
            </a:solidFill>
            <a:prstDash val="solid"/>
          </a:ln>
        </p:spPr>
      </p:sp>
      <p:sp>
        <p:nvSpPr>
          <p:cNvPr id="27" name="Text 20"/>
          <p:cNvSpPr txBox="1"/>
          <p:nvPr/>
        </p:nvSpPr>
        <p:spPr>
          <a:xfrm>
            <a:off x="476402" y="2155241"/>
            <a:ext cx="571500" cy="162763"/>
          </a:xfrm>
          <a:prstGeom prst="rect">
            <a:avLst/>
          </a:prstGeom>
          <a:noFill/>
        </p:spPr>
        <p:txBody>
          <a:bodyPr wrap="square" lIns="0" tIns="0" rIns="0" bIns="0" rtlCol="0" anchor="ctr"/>
          <a:lstStyle/>
          <a:p>
            <a:pPr marL="0" indent="0" algn="ctr">
              <a:buNone/>
            </a:pPr>
            <a:r>
              <a:rPr lang="en-US" sz="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R2</a:t>
            </a:r>
            <a:endParaRPr lang="en-US" sz="800" dirty="0">
              <a:ea typeface="Noto Sans SC" panose="020B0200000000000000" pitchFamily="34" charset="-122"/>
              <a:cs typeface="Noto Sans SC" panose="020B0200000000000000" pitchFamily="34" charset="-122"/>
            </a:endParaRPr>
          </a:p>
        </p:txBody>
      </p:sp>
      <p:sp>
        <p:nvSpPr>
          <p:cNvPr id="28" name="Text 21"/>
          <p:cNvSpPr txBox="1"/>
          <p:nvPr/>
        </p:nvSpPr>
        <p:spPr>
          <a:xfrm>
            <a:off x="1143000" y="2170786"/>
            <a:ext cx="2000707"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Role-based permission control</a:t>
            </a:r>
            <a:endParaRPr lang="en-US" sz="800" dirty="0">
              <a:ea typeface="Noto Sans SC" panose="020B0200000000000000" pitchFamily="34" charset="-122"/>
              <a:cs typeface="Noto Sans SC" panose="020B0200000000000000" pitchFamily="34" charset="-122"/>
            </a:endParaRPr>
          </a:p>
        </p:txBody>
      </p:sp>
      <p:sp>
        <p:nvSpPr>
          <p:cNvPr id="29" name="Text 22"/>
          <p:cNvSpPr txBox="1"/>
          <p:nvPr/>
        </p:nvSpPr>
        <p:spPr>
          <a:xfrm>
            <a:off x="4572000" y="2170786"/>
            <a:ext cx="247711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asyncRoutes, permission store</a:t>
            </a:r>
            <a:endParaRPr lang="en-US" sz="800" dirty="0">
              <a:ea typeface="Noto Sans SC" panose="020B0200000000000000" pitchFamily="34" charset="-122"/>
              <a:cs typeface="Noto Sans SC" panose="020B0200000000000000" pitchFamily="34" charset="-122"/>
            </a:endParaRPr>
          </a:p>
        </p:txBody>
      </p:sp>
      <p:sp>
        <p:nvSpPr>
          <p:cNvPr id="30" name="Text 23"/>
          <p:cNvSpPr txBox="1"/>
          <p:nvPr/>
        </p:nvSpPr>
        <p:spPr>
          <a:xfrm>
            <a:off x="7144207" y="2170786"/>
            <a:ext cx="285750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Different roles see respective menus</a:t>
            </a:r>
            <a:endParaRPr lang="en-US" sz="800" dirty="0">
              <a:ea typeface="Noto Sans SC" panose="020B0200000000000000" pitchFamily="34" charset="-122"/>
              <a:cs typeface="Noto Sans SC" panose="020B0200000000000000" pitchFamily="34" charset="-122"/>
            </a:endParaRPr>
          </a:p>
        </p:txBody>
      </p:sp>
      <p:sp>
        <p:nvSpPr>
          <p:cNvPr id="31" name="Shape 24"/>
          <p:cNvSpPr/>
          <p:nvPr/>
        </p:nvSpPr>
        <p:spPr>
          <a:xfrm>
            <a:off x="381305" y="2414930"/>
            <a:ext cx="11430000" cy="352044"/>
          </a:xfrm>
          <a:prstGeom prst="rect">
            <a:avLst/>
          </a:prstGeom>
          <a:solidFill>
            <a:srgbClr val="FFFFFF"/>
          </a:solidFill>
        </p:spPr>
      </p:sp>
      <p:sp>
        <p:nvSpPr>
          <p:cNvPr id="32" name="Shape 25"/>
          <p:cNvSpPr/>
          <p:nvPr/>
        </p:nvSpPr>
        <p:spPr>
          <a:xfrm>
            <a:off x="381305" y="2757830"/>
            <a:ext cx="11430000" cy="9144"/>
          </a:xfrm>
          <a:prstGeom prst="rect">
            <a:avLst/>
          </a:prstGeom>
          <a:solidFill>
            <a:srgbClr val="E2E8F0"/>
          </a:solidFill>
          <a:ln w="12700">
            <a:solidFill>
              <a:srgbClr val="E2E8F0">
                <a:alpha val="0"/>
              </a:srgbClr>
            </a:solidFill>
            <a:prstDash val="solid"/>
          </a:ln>
        </p:spPr>
      </p:sp>
      <p:sp>
        <p:nvSpPr>
          <p:cNvPr id="33" name="Text 26"/>
          <p:cNvSpPr txBox="1"/>
          <p:nvPr/>
        </p:nvSpPr>
        <p:spPr>
          <a:xfrm>
            <a:off x="476402" y="2507285"/>
            <a:ext cx="571500" cy="162763"/>
          </a:xfrm>
          <a:prstGeom prst="rect">
            <a:avLst/>
          </a:prstGeom>
          <a:noFill/>
        </p:spPr>
        <p:txBody>
          <a:bodyPr wrap="square" lIns="0" tIns="0" rIns="0" bIns="0" rtlCol="0" anchor="ctr"/>
          <a:lstStyle/>
          <a:p>
            <a:pPr marL="0" indent="0" algn="ctr">
              <a:buNone/>
            </a:pPr>
            <a:r>
              <a:rPr lang="en-US" sz="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R3</a:t>
            </a:r>
            <a:endParaRPr lang="en-US" sz="800" dirty="0">
              <a:ea typeface="Noto Sans SC" panose="020B0200000000000000" pitchFamily="34" charset="-122"/>
              <a:cs typeface="Noto Sans SC" panose="020B0200000000000000" pitchFamily="34" charset="-122"/>
            </a:endParaRPr>
          </a:p>
        </p:txBody>
      </p:sp>
      <p:sp>
        <p:nvSpPr>
          <p:cNvPr id="34" name="Text 27"/>
          <p:cNvSpPr txBox="1"/>
          <p:nvPr/>
        </p:nvSpPr>
        <p:spPr>
          <a:xfrm>
            <a:off x="1143000" y="2522830"/>
            <a:ext cx="221742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Super admin manages admin accounts</a:t>
            </a:r>
            <a:endParaRPr lang="en-US" sz="800" dirty="0">
              <a:ea typeface="Noto Sans SC" panose="020B0200000000000000" pitchFamily="34" charset="-122"/>
              <a:cs typeface="Noto Sans SC" panose="020B0200000000000000" pitchFamily="34" charset="-122"/>
            </a:endParaRPr>
          </a:p>
        </p:txBody>
      </p:sp>
      <p:sp>
        <p:nvSpPr>
          <p:cNvPr id="35" name="Text 28"/>
          <p:cNvSpPr txBox="1"/>
          <p:nvPr/>
        </p:nvSpPr>
        <p:spPr>
          <a:xfrm>
            <a:off x="4572000" y="2522830"/>
            <a:ext cx="247711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admin-manage, user API</a:t>
            </a:r>
            <a:endParaRPr lang="en-US" sz="800" dirty="0">
              <a:ea typeface="Noto Sans SC" panose="020B0200000000000000" pitchFamily="34" charset="-122"/>
              <a:cs typeface="Noto Sans SC" panose="020B0200000000000000" pitchFamily="34" charset="-122"/>
            </a:endParaRPr>
          </a:p>
        </p:txBody>
      </p:sp>
      <p:sp>
        <p:nvSpPr>
          <p:cNvPr id="36" name="Text 29"/>
          <p:cNvSpPr txBox="1"/>
          <p:nvPr/>
        </p:nvSpPr>
        <p:spPr>
          <a:xfrm>
            <a:off x="7144207" y="2522830"/>
            <a:ext cx="285750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Can add admins &amp; show in table</a:t>
            </a:r>
            <a:endParaRPr lang="en-US" sz="800" dirty="0">
              <a:ea typeface="Noto Sans SC" panose="020B0200000000000000" pitchFamily="34" charset="-122"/>
              <a:cs typeface="Noto Sans SC" panose="020B0200000000000000" pitchFamily="34" charset="-122"/>
            </a:endParaRPr>
          </a:p>
        </p:txBody>
      </p:sp>
      <p:sp>
        <p:nvSpPr>
          <p:cNvPr id="37" name="Shape 30"/>
          <p:cNvSpPr/>
          <p:nvPr/>
        </p:nvSpPr>
        <p:spPr>
          <a:xfrm>
            <a:off x="381305" y="2766974"/>
            <a:ext cx="11430000" cy="352044"/>
          </a:xfrm>
          <a:prstGeom prst="rect">
            <a:avLst/>
          </a:prstGeom>
          <a:solidFill>
            <a:srgbClr val="F8FAFC"/>
          </a:solidFill>
        </p:spPr>
      </p:sp>
      <p:sp>
        <p:nvSpPr>
          <p:cNvPr id="38" name="Shape 31"/>
          <p:cNvSpPr/>
          <p:nvPr/>
        </p:nvSpPr>
        <p:spPr>
          <a:xfrm>
            <a:off x="381305" y="3109874"/>
            <a:ext cx="11430000" cy="9144"/>
          </a:xfrm>
          <a:prstGeom prst="rect">
            <a:avLst/>
          </a:prstGeom>
          <a:solidFill>
            <a:srgbClr val="E2E8F0"/>
          </a:solidFill>
          <a:ln w="12700">
            <a:solidFill>
              <a:srgbClr val="E2E8F0">
                <a:alpha val="0"/>
              </a:srgbClr>
            </a:solidFill>
            <a:prstDash val="solid"/>
          </a:ln>
        </p:spPr>
      </p:sp>
      <p:sp>
        <p:nvSpPr>
          <p:cNvPr id="39" name="Text 32"/>
          <p:cNvSpPr txBox="1"/>
          <p:nvPr/>
        </p:nvSpPr>
        <p:spPr>
          <a:xfrm>
            <a:off x="476402" y="2860243"/>
            <a:ext cx="571500" cy="162763"/>
          </a:xfrm>
          <a:prstGeom prst="rect">
            <a:avLst/>
          </a:prstGeom>
          <a:noFill/>
        </p:spPr>
        <p:txBody>
          <a:bodyPr wrap="square" lIns="0" tIns="0" rIns="0" bIns="0" rtlCol="0" anchor="ctr"/>
          <a:lstStyle/>
          <a:p>
            <a:pPr marL="0" indent="0" algn="ctr">
              <a:buNone/>
            </a:pPr>
            <a:r>
              <a:rPr lang="en-US" sz="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R4</a:t>
            </a:r>
            <a:endParaRPr lang="en-US" sz="800" dirty="0">
              <a:ea typeface="Noto Sans SC" panose="020B0200000000000000" pitchFamily="34" charset="-122"/>
              <a:cs typeface="Noto Sans SC" panose="020B0200000000000000" pitchFamily="34" charset="-122"/>
            </a:endParaRPr>
          </a:p>
        </p:txBody>
      </p:sp>
      <p:sp>
        <p:nvSpPr>
          <p:cNvPr id="40" name="Text 33"/>
          <p:cNvSpPr txBox="1"/>
          <p:nvPr/>
        </p:nvSpPr>
        <p:spPr>
          <a:xfrm>
            <a:off x="1143000" y="2875788"/>
            <a:ext cx="2000707"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Building/floor management</a:t>
            </a:r>
            <a:endParaRPr lang="en-US" sz="800" dirty="0">
              <a:ea typeface="Noto Sans SC" panose="020B0200000000000000" pitchFamily="34" charset="-122"/>
              <a:cs typeface="Noto Sans SC" panose="020B0200000000000000" pitchFamily="34" charset="-122"/>
            </a:endParaRPr>
          </a:p>
        </p:txBody>
      </p:sp>
      <p:sp>
        <p:nvSpPr>
          <p:cNvPr id="41" name="Text 34"/>
          <p:cNvSpPr txBox="1"/>
          <p:nvPr/>
        </p:nvSpPr>
        <p:spPr>
          <a:xfrm>
            <a:off x="4572000" y="2875788"/>
            <a:ext cx="247711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building-manage, building API</a:t>
            </a:r>
            <a:endParaRPr lang="en-US" sz="800" dirty="0">
              <a:ea typeface="Noto Sans SC" panose="020B0200000000000000" pitchFamily="34" charset="-122"/>
              <a:cs typeface="Noto Sans SC" panose="020B0200000000000000" pitchFamily="34" charset="-122"/>
            </a:endParaRPr>
          </a:p>
        </p:txBody>
      </p:sp>
      <p:sp>
        <p:nvSpPr>
          <p:cNvPr id="42" name="Text 35"/>
          <p:cNvSpPr txBox="1"/>
          <p:nvPr/>
        </p:nvSpPr>
        <p:spPr>
          <a:xfrm>
            <a:off x="7144207" y="2875788"/>
            <a:ext cx="285750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Can create buildings, view managers</a:t>
            </a:r>
            <a:endParaRPr lang="en-US" sz="800" dirty="0">
              <a:ea typeface="Noto Sans SC" panose="020B0200000000000000" pitchFamily="34" charset="-122"/>
              <a:cs typeface="Noto Sans SC" panose="020B0200000000000000" pitchFamily="34" charset="-122"/>
            </a:endParaRPr>
          </a:p>
        </p:txBody>
      </p:sp>
      <p:sp>
        <p:nvSpPr>
          <p:cNvPr id="43" name="Shape 36"/>
          <p:cNvSpPr/>
          <p:nvPr/>
        </p:nvSpPr>
        <p:spPr>
          <a:xfrm>
            <a:off x="381305" y="3119018"/>
            <a:ext cx="11430000" cy="352044"/>
          </a:xfrm>
          <a:prstGeom prst="rect">
            <a:avLst/>
          </a:prstGeom>
          <a:solidFill>
            <a:srgbClr val="FFFFFF"/>
          </a:solidFill>
        </p:spPr>
      </p:sp>
      <p:sp>
        <p:nvSpPr>
          <p:cNvPr id="44" name="Shape 37"/>
          <p:cNvSpPr/>
          <p:nvPr/>
        </p:nvSpPr>
        <p:spPr>
          <a:xfrm>
            <a:off x="381305" y="3461918"/>
            <a:ext cx="11430000" cy="9144"/>
          </a:xfrm>
          <a:prstGeom prst="rect">
            <a:avLst/>
          </a:prstGeom>
          <a:solidFill>
            <a:srgbClr val="E2E8F0"/>
          </a:solidFill>
          <a:ln w="12700">
            <a:solidFill>
              <a:srgbClr val="E2E8F0">
                <a:alpha val="0"/>
              </a:srgbClr>
            </a:solidFill>
            <a:prstDash val="solid"/>
          </a:ln>
        </p:spPr>
      </p:sp>
      <p:sp>
        <p:nvSpPr>
          <p:cNvPr id="45" name="Text 38"/>
          <p:cNvSpPr txBox="1"/>
          <p:nvPr/>
        </p:nvSpPr>
        <p:spPr>
          <a:xfrm>
            <a:off x="476402" y="3212287"/>
            <a:ext cx="571500" cy="162763"/>
          </a:xfrm>
          <a:prstGeom prst="rect">
            <a:avLst/>
          </a:prstGeom>
          <a:noFill/>
        </p:spPr>
        <p:txBody>
          <a:bodyPr wrap="square" lIns="0" tIns="0" rIns="0" bIns="0" rtlCol="0" anchor="ctr"/>
          <a:lstStyle/>
          <a:p>
            <a:pPr marL="0" indent="0" algn="ctr">
              <a:buNone/>
            </a:pPr>
            <a:r>
              <a:rPr lang="en-US" sz="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R5</a:t>
            </a:r>
            <a:endParaRPr lang="en-US" sz="800" dirty="0">
              <a:ea typeface="Noto Sans SC" panose="020B0200000000000000" pitchFamily="34" charset="-122"/>
              <a:cs typeface="Noto Sans SC" panose="020B0200000000000000" pitchFamily="34" charset="-122"/>
            </a:endParaRPr>
          </a:p>
        </p:txBody>
      </p:sp>
      <p:sp>
        <p:nvSpPr>
          <p:cNvPr id="46" name="Text 39"/>
          <p:cNvSpPr txBox="1"/>
          <p:nvPr/>
        </p:nvSpPr>
        <p:spPr>
          <a:xfrm>
            <a:off x="1143000" y="3227832"/>
            <a:ext cx="2000707"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Admin views students/rooms</a:t>
            </a:r>
            <a:endParaRPr lang="en-US" sz="800" dirty="0">
              <a:ea typeface="Noto Sans SC" panose="020B0200000000000000" pitchFamily="34" charset="-122"/>
              <a:cs typeface="Noto Sans SC" panose="020B0200000000000000" pitchFamily="34" charset="-122"/>
            </a:endParaRPr>
          </a:p>
        </p:txBody>
      </p:sp>
      <p:sp>
        <p:nvSpPr>
          <p:cNvPr id="47" name="Text 40"/>
          <p:cNvSpPr txBox="1"/>
          <p:nvPr/>
        </p:nvSpPr>
        <p:spPr>
          <a:xfrm>
            <a:off x="4572000" y="3227832"/>
            <a:ext cx="247711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floor-manage, room/user-info</a:t>
            </a:r>
            <a:endParaRPr lang="en-US" sz="800" dirty="0">
              <a:ea typeface="Noto Sans SC" panose="020B0200000000000000" pitchFamily="34" charset="-122"/>
              <a:cs typeface="Noto Sans SC" panose="020B0200000000000000" pitchFamily="34" charset="-122"/>
            </a:endParaRPr>
          </a:p>
        </p:txBody>
      </p:sp>
      <p:sp>
        <p:nvSpPr>
          <p:cNvPr id="48" name="Text 41"/>
          <p:cNvSpPr txBox="1"/>
          <p:nvPr/>
        </p:nvSpPr>
        <p:spPr>
          <a:xfrm>
            <a:off x="7144207" y="3227832"/>
            <a:ext cx="285750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Can query by building/floor/room/student</a:t>
            </a:r>
            <a:endParaRPr lang="en-US" sz="800" dirty="0">
              <a:ea typeface="Noto Sans SC" panose="020B0200000000000000" pitchFamily="34" charset="-122"/>
              <a:cs typeface="Noto Sans SC" panose="020B0200000000000000" pitchFamily="34" charset="-122"/>
            </a:endParaRPr>
          </a:p>
        </p:txBody>
      </p:sp>
      <p:sp>
        <p:nvSpPr>
          <p:cNvPr id="49" name="Shape 42"/>
          <p:cNvSpPr/>
          <p:nvPr/>
        </p:nvSpPr>
        <p:spPr>
          <a:xfrm>
            <a:off x="381305" y="3471977"/>
            <a:ext cx="11430000" cy="352044"/>
          </a:xfrm>
          <a:prstGeom prst="rect">
            <a:avLst/>
          </a:prstGeom>
          <a:solidFill>
            <a:srgbClr val="F8FAFC"/>
          </a:solidFill>
        </p:spPr>
      </p:sp>
      <p:sp>
        <p:nvSpPr>
          <p:cNvPr id="50" name="Shape 43"/>
          <p:cNvSpPr/>
          <p:nvPr/>
        </p:nvSpPr>
        <p:spPr>
          <a:xfrm>
            <a:off x="381305" y="3814877"/>
            <a:ext cx="11430000" cy="9144"/>
          </a:xfrm>
          <a:prstGeom prst="rect">
            <a:avLst/>
          </a:prstGeom>
          <a:solidFill>
            <a:srgbClr val="E2E8F0"/>
          </a:solidFill>
          <a:ln w="12700">
            <a:solidFill>
              <a:srgbClr val="E2E8F0">
                <a:alpha val="0"/>
              </a:srgbClr>
            </a:solidFill>
            <a:prstDash val="solid"/>
          </a:ln>
        </p:spPr>
      </p:sp>
      <p:sp>
        <p:nvSpPr>
          <p:cNvPr id="51" name="Text 44"/>
          <p:cNvSpPr txBox="1"/>
          <p:nvPr/>
        </p:nvSpPr>
        <p:spPr>
          <a:xfrm>
            <a:off x="476402" y="3564331"/>
            <a:ext cx="571500" cy="162763"/>
          </a:xfrm>
          <a:prstGeom prst="rect">
            <a:avLst/>
          </a:prstGeom>
          <a:noFill/>
        </p:spPr>
        <p:txBody>
          <a:bodyPr wrap="square" lIns="0" tIns="0" rIns="0" bIns="0" rtlCol="0" anchor="ctr"/>
          <a:lstStyle/>
          <a:p>
            <a:pPr marL="0" indent="0" algn="ctr">
              <a:buNone/>
            </a:pPr>
            <a:r>
              <a:rPr lang="en-US" sz="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R6</a:t>
            </a:r>
            <a:endParaRPr lang="en-US" sz="800" dirty="0">
              <a:ea typeface="Noto Sans SC" panose="020B0200000000000000" pitchFamily="34" charset="-122"/>
              <a:cs typeface="Noto Sans SC" panose="020B0200000000000000" pitchFamily="34" charset="-122"/>
            </a:endParaRPr>
          </a:p>
        </p:txBody>
      </p:sp>
      <p:sp>
        <p:nvSpPr>
          <p:cNvPr id="52" name="Text 45"/>
          <p:cNvSpPr txBox="1"/>
          <p:nvPr/>
        </p:nvSpPr>
        <p:spPr>
          <a:xfrm>
            <a:off x="1143000" y="3580790"/>
            <a:ext cx="2381098"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Submit wake-up/return/cleaning records</a:t>
            </a:r>
            <a:endParaRPr lang="en-US" sz="800" dirty="0">
              <a:ea typeface="Noto Sans SC" panose="020B0200000000000000" pitchFamily="34" charset="-122"/>
              <a:cs typeface="Noto Sans SC" panose="020B0200000000000000" pitchFamily="34" charset="-122"/>
            </a:endParaRPr>
          </a:p>
        </p:txBody>
      </p:sp>
      <p:sp>
        <p:nvSpPr>
          <p:cNvPr id="53" name="Text 46"/>
          <p:cNvSpPr txBox="1"/>
          <p:nvPr/>
        </p:nvSpPr>
        <p:spPr>
          <a:xfrm>
            <a:off x="4572000" y="3580790"/>
            <a:ext cx="247711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getup/back/clean record pages</a:t>
            </a:r>
            <a:endParaRPr lang="en-US" sz="800" dirty="0">
              <a:ea typeface="Noto Sans SC" panose="020B0200000000000000" pitchFamily="34" charset="-122"/>
              <a:cs typeface="Noto Sans SC" panose="020B0200000000000000" pitchFamily="34" charset="-122"/>
            </a:endParaRPr>
          </a:p>
        </p:txBody>
      </p:sp>
      <p:sp>
        <p:nvSpPr>
          <p:cNvPr id="54" name="Text 47"/>
          <p:cNvSpPr txBox="1"/>
          <p:nvPr/>
        </p:nvSpPr>
        <p:spPr>
          <a:xfrm>
            <a:off x="7144207" y="3580790"/>
            <a:ext cx="285750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Records can be added and displayed</a:t>
            </a:r>
            <a:endParaRPr lang="en-US" sz="800" dirty="0">
              <a:ea typeface="Noto Sans SC" panose="020B0200000000000000" pitchFamily="34" charset="-122"/>
              <a:cs typeface="Noto Sans SC" panose="020B0200000000000000" pitchFamily="34" charset="-122"/>
            </a:endParaRPr>
          </a:p>
        </p:txBody>
      </p:sp>
      <p:sp>
        <p:nvSpPr>
          <p:cNvPr id="55" name="Shape 48"/>
          <p:cNvSpPr/>
          <p:nvPr/>
        </p:nvSpPr>
        <p:spPr>
          <a:xfrm>
            <a:off x="381305" y="3824021"/>
            <a:ext cx="11430000" cy="352044"/>
          </a:xfrm>
          <a:prstGeom prst="rect">
            <a:avLst/>
          </a:prstGeom>
          <a:solidFill>
            <a:srgbClr val="FFFFFF"/>
          </a:solidFill>
        </p:spPr>
      </p:sp>
      <p:sp>
        <p:nvSpPr>
          <p:cNvPr id="56" name="Shape 49"/>
          <p:cNvSpPr/>
          <p:nvPr/>
        </p:nvSpPr>
        <p:spPr>
          <a:xfrm>
            <a:off x="381305" y="4166921"/>
            <a:ext cx="11430000" cy="9144"/>
          </a:xfrm>
          <a:prstGeom prst="rect">
            <a:avLst/>
          </a:prstGeom>
          <a:solidFill>
            <a:srgbClr val="E2E8F0"/>
          </a:solidFill>
          <a:ln w="12700">
            <a:solidFill>
              <a:srgbClr val="E2E8F0">
                <a:alpha val="0"/>
              </a:srgbClr>
            </a:solidFill>
            <a:prstDash val="solid"/>
          </a:ln>
        </p:spPr>
      </p:sp>
      <p:sp>
        <p:nvSpPr>
          <p:cNvPr id="57" name="Text 50"/>
          <p:cNvSpPr txBox="1"/>
          <p:nvPr/>
        </p:nvSpPr>
        <p:spPr>
          <a:xfrm>
            <a:off x="476402" y="3917290"/>
            <a:ext cx="571500" cy="162763"/>
          </a:xfrm>
          <a:prstGeom prst="rect">
            <a:avLst/>
          </a:prstGeom>
          <a:noFill/>
        </p:spPr>
        <p:txBody>
          <a:bodyPr wrap="square" lIns="0" tIns="0" rIns="0" bIns="0" rtlCol="0" anchor="ctr"/>
          <a:lstStyle/>
          <a:p>
            <a:pPr marL="0" indent="0" algn="ctr">
              <a:buNone/>
            </a:pPr>
            <a:r>
              <a:rPr lang="en-US" sz="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R7</a:t>
            </a:r>
            <a:endParaRPr lang="en-US" sz="800" dirty="0">
              <a:ea typeface="Noto Sans SC" panose="020B0200000000000000" pitchFamily="34" charset="-122"/>
              <a:cs typeface="Noto Sans SC" panose="020B0200000000000000" pitchFamily="34" charset="-122"/>
            </a:endParaRPr>
          </a:p>
        </p:txBody>
      </p:sp>
      <p:sp>
        <p:nvSpPr>
          <p:cNvPr id="58" name="Text 51"/>
          <p:cNvSpPr txBox="1"/>
          <p:nvPr/>
        </p:nvSpPr>
        <p:spPr>
          <a:xfrm>
            <a:off x="1143000" y="3932834"/>
            <a:ext cx="2000707"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Statistical visualization</a:t>
            </a:r>
            <a:endParaRPr lang="en-US" sz="800" dirty="0">
              <a:ea typeface="Noto Sans SC" panose="020B0200000000000000" pitchFamily="34" charset="-122"/>
              <a:cs typeface="Noto Sans SC" panose="020B0200000000000000" pitchFamily="34" charset="-122"/>
            </a:endParaRPr>
          </a:p>
        </p:txBody>
      </p:sp>
      <p:sp>
        <p:nvSpPr>
          <p:cNvPr id="59" name="Text 52"/>
          <p:cNvSpPr txBox="1"/>
          <p:nvPr/>
        </p:nvSpPr>
        <p:spPr>
          <a:xfrm>
            <a:off x="4572000" y="3932834"/>
            <a:ext cx="247711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dashboard, line chart, prob API</a:t>
            </a:r>
            <a:endParaRPr lang="en-US" sz="800" dirty="0">
              <a:ea typeface="Noto Sans SC" panose="020B0200000000000000" pitchFamily="34" charset="-122"/>
              <a:cs typeface="Noto Sans SC" panose="020B0200000000000000" pitchFamily="34" charset="-122"/>
            </a:endParaRPr>
          </a:p>
        </p:txBody>
      </p:sp>
      <p:sp>
        <p:nvSpPr>
          <p:cNvPr id="60" name="Text 53"/>
          <p:cNvSpPr txBox="1"/>
          <p:nvPr/>
        </p:nvSpPr>
        <p:spPr>
          <a:xfrm>
            <a:off x="7144207" y="3932834"/>
            <a:ext cx="285750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Show trend charts, probabilities &amp; stats</a:t>
            </a:r>
            <a:endParaRPr lang="en-US" sz="800" dirty="0">
              <a:ea typeface="Noto Sans SC" panose="020B0200000000000000" pitchFamily="34" charset="-122"/>
              <a:cs typeface="Noto Sans SC" panose="020B0200000000000000" pitchFamily="34" charset="-122"/>
            </a:endParaRPr>
          </a:p>
        </p:txBody>
      </p:sp>
      <p:sp>
        <p:nvSpPr>
          <p:cNvPr id="61" name="Shape 54"/>
          <p:cNvSpPr/>
          <p:nvPr/>
        </p:nvSpPr>
        <p:spPr>
          <a:xfrm>
            <a:off x="381305" y="4176979"/>
            <a:ext cx="11430000" cy="352044"/>
          </a:xfrm>
          <a:prstGeom prst="rect">
            <a:avLst/>
          </a:prstGeom>
          <a:solidFill>
            <a:srgbClr val="F8FAFC"/>
          </a:solidFill>
        </p:spPr>
      </p:sp>
      <p:sp>
        <p:nvSpPr>
          <p:cNvPr id="62" name="Shape 55"/>
          <p:cNvSpPr/>
          <p:nvPr/>
        </p:nvSpPr>
        <p:spPr>
          <a:xfrm>
            <a:off x="381305" y="4519879"/>
            <a:ext cx="11430000" cy="9144"/>
          </a:xfrm>
          <a:prstGeom prst="rect">
            <a:avLst/>
          </a:prstGeom>
          <a:solidFill>
            <a:srgbClr val="E2E8F0"/>
          </a:solidFill>
          <a:ln w="12700">
            <a:solidFill>
              <a:srgbClr val="E2E8F0">
                <a:alpha val="0"/>
              </a:srgbClr>
            </a:solidFill>
            <a:prstDash val="solid"/>
          </a:ln>
        </p:spPr>
      </p:sp>
      <p:sp>
        <p:nvSpPr>
          <p:cNvPr id="63" name="Text 56"/>
          <p:cNvSpPr txBox="1"/>
          <p:nvPr/>
        </p:nvSpPr>
        <p:spPr>
          <a:xfrm>
            <a:off x="476402" y="4269334"/>
            <a:ext cx="571500" cy="162763"/>
          </a:xfrm>
          <a:prstGeom prst="rect">
            <a:avLst/>
          </a:prstGeom>
          <a:noFill/>
        </p:spPr>
        <p:txBody>
          <a:bodyPr wrap="square" lIns="0" tIns="0" rIns="0" bIns="0" rtlCol="0" anchor="ctr"/>
          <a:lstStyle/>
          <a:p>
            <a:pPr marL="0" indent="0" algn="ctr">
              <a:buNone/>
            </a:pPr>
            <a:r>
              <a:rPr lang="en-US" sz="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R8</a:t>
            </a:r>
            <a:endParaRPr lang="en-US" sz="800" dirty="0">
              <a:ea typeface="Noto Sans SC" panose="020B0200000000000000" pitchFamily="34" charset="-122"/>
              <a:cs typeface="Noto Sans SC" panose="020B0200000000000000" pitchFamily="34" charset="-122"/>
            </a:endParaRPr>
          </a:p>
        </p:txBody>
      </p:sp>
      <p:sp>
        <p:nvSpPr>
          <p:cNvPr id="64" name="Text 57"/>
          <p:cNvSpPr txBox="1"/>
          <p:nvPr/>
        </p:nvSpPr>
        <p:spPr>
          <a:xfrm>
            <a:off x="1143000" y="4285793"/>
            <a:ext cx="2000707"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Dorm evaluation</a:t>
            </a:r>
            <a:endParaRPr lang="en-US" sz="800" dirty="0">
              <a:ea typeface="Noto Sans SC" panose="020B0200000000000000" pitchFamily="34" charset="-122"/>
              <a:cs typeface="Noto Sans SC" panose="020B0200000000000000" pitchFamily="34" charset="-122"/>
            </a:endParaRPr>
          </a:p>
        </p:txBody>
      </p:sp>
      <p:sp>
        <p:nvSpPr>
          <p:cNvPr id="65" name="Text 58"/>
          <p:cNvSpPr txBox="1"/>
          <p:nvPr/>
        </p:nvSpPr>
        <p:spPr>
          <a:xfrm>
            <a:off x="4572000" y="4285793"/>
            <a:ext cx="247711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evaluate API, dorm details page</a:t>
            </a:r>
            <a:endParaRPr lang="en-US" sz="800" dirty="0">
              <a:ea typeface="Noto Sans SC" panose="020B0200000000000000" pitchFamily="34" charset="-122"/>
              <a:cs typeface="Noto Sans SC" panose="020B0200000000000000" pitchFamily="34" charset="-122"/>
            </a:endParaRPr>
          </a:p>
        </p:txBody>
      </p:sp>
      <p:sp>
        <p:nvSpPr>
          <p:cNvPr id="66" name="Text 59"/>
          <p:cNvSpPr txBox="1"/>
          <p:nvPr/>
        </p:nvSpPr>
        <p:spPr>
          <a:xfrm>
            <a:off x="7144207" y="4285793"/>
            <a:ext cx="285750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Can submit scores and feedback</a:t>
            </a:r>
            <a:endParaRPr lang="en-US" sz="800" dirty="0">
              <a:ea typeface="Noto Sans SC" panose="020B0200000000000000" pitchFamily="34" charset="-122"/>
              <a:cs typeface="Noto Sans SC" panose="020B0200000000000000" pitchFamily="34" charset="-122"/>
            </a:endParaRPr>
          </a:p>
        </p:txBody>
      </p:sp>
      <p:sp>
        <p:nvSpPr>
          <p:cNvPr id="67" name="Shape 60"/>
          <p:cNvSpPr/>
          <p:nvPr/>
        </p:nvSpPr>
        <p:spPr>
          <a:xfrm>
            <a:off x="381305" y="4529023"/>
            <a:ext cx="11430000" cy="352044"/>
          </a:xfrm>
          <a:prstGeom prst="rect">
            <a:avLst/>
          </a:prstGeom>
          <a:solidFill>
            <a:srgbClr val="FFFFFF"/>
          </a:solidFill>
        </p:spPr>
      </p:sp>
      <p:sp>
        <p:nvSpPr>
          <p:cNvPr id="68" name="Shape 61"/>
          <p:cNvSpPr/>
          <p:nvPr/>
        </p:nvSpPr>
        <p:spPr>
          <a:xfrm>
            <a:off x="381305" y="4871923"/>
            <a:ext cx="11430000" cy="9144"/>
          </a:xfrm>
          <a:prstGeom prst="rect">
            <a:avLst/>
          </a:prstGeom>
          <a:solidFill>
            <a:srgbClr val="E2E8F0"/>
          </a:solidFill>
          <a:ln w="12700">
            <a:solidFill>
              <a:srgbClr val="E2E8F0">
                <a:alpha val="0"/>
              </a:srgbClr>
            </a:solidFill>
            <a:prstDash val="solid"/>
          </a:ln>
        </p:spPr>
      </p:sp>
      <p:sp>
        <p:nvSpPr>
          <p:cNvPr id="69" name="Text 62"/>
          <p:cNvSpPr txBox="1"/>
          <p:nvPr/>
        </p:nvSpPr>
        <p:spPr>
          <a:xfrm>
            <a:off x="476402" y="4622292"/>
            <a:ext cx="571500" cy="162763"/>
          </a:xfrm>
          <a:prstGeom prst="rect">
            <a:avLst/>
          </a:prstGeom>
          <a:noFill/>
        </p:spPr>
        <p:txBody>
          <a:bodyPr wrap="square" lIns="0" tIns="0" rIns="0" bIns="0" rtlCol="0" anchor="ctr"/>
          <a:lstStyle/>
          <a:p>
            <a:pPr marL="0" indent="0" algn="ctr">
              <a:buNone/>
            </a:pPr>
            <a:r>
              <a:rPr lang="en-US" sz="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R9</a:t>
            </a:r>
            <a:endParaRPr lang="en-US" sz="800" dirty="0">
              <a:ea typeface="Noto Sans SC" panose="020B0200000000000000" pitchFamily="34" charset="-122"/>
              <a:cs typeface="Noto Sans SC" panose="020B0200000000000000" pitchFamily="34" charset="-122"/>
            </a:endParaRPr>
          </a:p>
        </p:txBody>
      </p:sp>
      <p:sp>
        <p:nvSpPr>
          <p:cNvPr id="70" name="Text 63"/>
          <p:cNvSpPr txBox="1"/>
          <p:nvPr/>
        </p:nvSpPr>
        <p:spPr>
          <a:xfrm>
            <a:off x="1143000" y="4637837"/>
            <a:ext cx="2000707"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Visitor registration</a:t>
            </a:r>
            <a:endParaRPr lang="en-US" sz="800" dirty="0">
              <a:ea typeface="Noto Sans SC" panose="020B0200000000000000" pitchFamily="34" charset="-122"/>
              <a:cs typeface="Noto Sans SC" panose="020B0200000000000000" pitchFamily="34" charset="-122"/>
            </a:endParaRPr>
          </a:p>
        </p:txBody>
      </p:sp>
      <p:sp>
        <p:nvSpPr>
          <p:cNvPr id="71" name="Text 64"/>
          <p:cNvSpPr txBox="1"/>
          <p:nvPr/>
        </p:nvSpPr>
        <p:spPr>
          <a:xfrm>
            <a:off x="4572000" y="4637837"/>
            <a:ext cx="247711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visitor-manage, visitor API</a:t>
            </a:r>
            <a:endParaRPr lang="en-US" sz="800" dirty="0">
              <a:ea typeface="Noto Sans SC" panose="020B0200000000000000" pitchFamily="34" charset="-122"/>
              <a:cs typeface="Noto Sans SC" panose="020B0200000000000000" pitchFamily="34" charset="-122"/>
            </a:endParaRPr>
          </a:p>
        </p:txBody>
      </p:sp>
      <p:sp>
        <p:nvSpPr>
          <p:cNvPr id="72" name="Text 65"/>
          <p:cNvSpPr txBox="1"/>
          <p:nvPr/>
        </p:nvSpPr>
        <p:spPr>
          <a:xfrm>
            <a:off x="7144207" y="4637837"/>
            <a:ext cx="285750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Can add visitors and view list</a:t>
            </a:r>
            <a:endParaRPr lang="en-US" sz="800" dirty="0">
              <a:ea typeface="Noto Sans SC" panose="020B0200000000000000" pitchFamily="34" charset="-122"/>
              <a:cs typeface="Noto Sans SC" panose="020B0200000000000000" pitchFamily="34" charset="-122"/>
            </a:endParaRPr>
          </a:p>
        </p:txBody>
      </p:sp>
      <p:sp>
        <p:nvSpPr>
          <p:cNvPr id="73" name="Shape 66"/>
          <p:cNvSpPr/>
          <p:nvPr/>
        </p:nvSpPr>
        <p:spPr>
          <a:xfrm>
            <a:off x="381305" y="4881982"/>
            <a:ext cx="11430000" cy="371246"/>
          </a:xfrm>
          <a:prstGeom prst="rect">
            <a:avLst/>
          </a:prstGeom>
          <a:solidFill>
            <a:srgbClr val="F8FAFC"/>
          </a:solidFill>
          <a:ln w="12700">
            <a:solidFill>
              <a:srgbClr val="FFFFFF">
                <a:alpha val="0"/>
              </a:srgbClr>
            </a:solidFill>
            <a:prstDash val="solid"/>
          </a:ln>
        </p:spPr>
      </p:sp>
      <p:sp>
        <p:nvSpPr>
          <p:cNvPr id="74" name="Text 67"/>
          <p:cNvSpPr txBox="1"/>
          <p:nvPr/>
        </p:nvSpPr>
        <p:spPr>
          <a:xfrm>
            <a:off x="476402" y="4985309"/>
            <a:ext cx="571500" cy="162763"/>
          </a:xfrm>
          <a:prstGeom prst="rect">
            <a:avLst/>
          </a:prstGeom>
          <a:noFill/>
        </p:spPr>
        <p:txBody>
          <a:bodyPr wrap="square" lIns="0" tIns="0" rIns="0" bIns="0" rtlCol="0" anchor="ctr"/>
          <a:lstStyle/>
          <a:p>
            <a:pPr marL="0" indent="0" algn="ctr">
              <a:buNone/>
            </a:pPr>
            <a:r>
              <a:rPr lang="en-US" sz="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R10</a:t>
            </a:r>
            <a:endParaRPr lang="en-US" sz="800" dirty="0">
              <a:ea typeface="Noto Sans SC" panose="020B0200000000000000" pitchFamily="34" charset="-122"/>
              <a:cs typeface="Noto Sans SC" panose="020B0200000000000000" pitchFamily="34" charset="-122"/>
            </a:endParaRPr>
          </a:p>
        </p:txBody>
      </p:sp>
      <p:sp>
        <p:nvSpPr>
          <p:cNvPr id="75" name="Text 68"/>
          <p:cNvSpPr txBox="1"/>
          <p:nvPr/>
        </p:nvSpPr>
        <p:spPr>
          <a:xfrm>
            <a:off x="1143000" y="4938674"/>
            <a:ext cx="2000707" cy="257861"/>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Future questionnaire/matching expansion</a:t>
            </a:r>
            <a:endParaRPr lang="en-US" sz="800" dirty="0">
              <a:ea typeface="Noto Sans SC" panose="020B0200000000000000" pitchFamily="34" charset="-122"/>
              <a:cs typeface="Noto Sans SC" panose="020B0200000000000000" pitchFamily="34" charset="-122"/>
            </a:endParaRPr>
          </a:p>
        </p:txBody>
      </p:sp>
      <p:sp>
        <p:nvSpPr>
          <p:cNvPr id="76" name="Text 69"/>
          <p:cNvSpPr txBox="1"/>
          <p:nvPr/>
        </p:nvSpPr>
        <p:spPr>
          <a:xfrm>
            <a:off x="4572000" y="5001768"/>
            <a:ext cx="247711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questionnaire / matching modules</a:t>
            </a:r>
            <a:endParaRPr lang="en-US" sz="800" dirty="0">
              <a:ea typeface="Noto Sans SC" panose="020B0200000000000000" pitchFamily="34" charset="-122"/>
              <a:cs typeface="Noto Sans SC" panose="020B0200000000000000" pitchFamily="34" charset="-122"/>
            </a:endParaRPr>
          </a:p>
        </p:txBody>
      </p:sp>
      <p:sp>
        <p:nvSpPr>
          <p:cNvPr id="77" name="Text 70"/>
          <p:cNvSpPr txBox="1"/>
          <p:nvPr/>
        </p:nvSpPr>
        <p:spPr>
          <a:xfrm>
            <a:off x="7144207" y="5001768"/>
            <a:ext cx="2857500" cy="133502"/>
          </a:xfrm>
          <a:prstGeom prst="rect">
            <a:avLst/>
          </a:prstGeom>
          <a:noFill/>
        </p:spPr>
        <p:txBody>
          <a:bodyPr wrap="square" lIns="0" tIns="0" rIns="0" bIns="0" rtlCol="0" anchor="ctr"/>
          <a:lstStyle/>
          <a:p>
            <a:pPr marL="0" indent="0" algn="l">
              <a:buNone/>
            </a:pPr>
            <a:r>
              <a:rPr lang="en-US" sz="8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Design completed and reviewed</a:t>
            </a:r>
            <a:endParaRPr lang="en-US" sz="800" dirty="0">
              <a:ea typeface="Noto Sans SC" panose="020B0200000000000000" pitchFamily="34" charset="-122"/>
              <a:cs typeface="Noto Sans SC" panose="020B0200000000000000" pitchFamily="34" charset="-122"/>
            </a:endParaRPr>
          </a:p>
        </p:txBody>
      </p:sp>
      <p:sp>
        <p:nvSpPr>
          <p:cNvPr id="78" name="Shape 71"/>
          <p:cNvSpPr/>
          <p:nvPr/>
        </p:nvSpPr>
        <p:spPr>
          <a:xfrm>
            <a:off x="3430829" y="1814170"/>
            <a:ext cx="857707" cy="181051"/>
          </a:xfrm>
          <a:prstGeom prst="roundRect">
            <a:avLst>
              <a:gd name="adj" fmla="val 212653"/>
            </a:avLst>
          </a:prstGeom>
          <a:solidFill>
            <a:srgbClr val="DBEAFE"/>
          </a:solidFill>
          <a:ln w="12700">
            <a:solidFill>
              <a:srgbClr val="FFFFFF">
                <a:alpha val="0"/>
              </a:srgbClr>
            </a:solidFill>
            <a:prstDash val="solid"/>
          </a:ln>
        </p:spPr>
      </p:sp>
      <p:sp>
        <p:nvSpPr>
          <p:cNvPr id="79" name="Text 72"/>
          <p:cNvSpPr txBox="1"/>
          <p:nvPr/>
        </p:nvSpPr>
        <p:spPr>
          <a:xfrm>
            <a:off x="3430829" y="1814170"/>
            <a:ext cx="857707"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Student/Admin</a:t>
            </a:r>
            <a:endParaRPr lang="en-US" sz="800" dirty="0">
              <a:ea typeface="Noto Sans SC" panose="020B0200000000000000" pitchFamily="34" charset="-122"/>
              <a:cs typeface="Noto Sans SC" panose="020B0200000000000000" pitchFamily="34" charset="-122"/>
            </a:endParaRPr>
          </a:p>
        </p:txBody>
      </p:sp>
      <p:sp>
        <p:nvSpPr>
          <p:cNvPr id="80" name="Shape 73"/>
          <p:cNvSpPr/>
          <p:nvPr/>
        </p:nvSpPr>
        <p:spPr>
          <a:xfrm>
            <a:off x="10290658" y="1814170"/>
            <a:ext cx="666598" cy="181051"/>
          </a:xfrm>
          <a:prstGeom prst="roundRect">
            <a:avLst>
              <a:gd name="adj" fmla="val 212653"/>
            </a:avLst>
          </a:prstGeom>
          <a:solidFill>
            <a:srgbClr val="DCFCE7"/>
          </a:solidFill>
          <a:ln w="12700">
            <a:solidFill>
              <a:srgbClr val="FFFFFF">
                <a:alpha val="0"/>
              </a:srgbClr>
            </a:solidFill>
            <a:prstDash val="solid"/>
          </a:ln>
        </p:spPr>
      </p:sp>
      <p:sp>
        <p:nvSpPr>
          <p:cNvPr id="81" name="Text 74"/>
          <p:cNvSpPr txBox="1"/>
          <p:nvPr/>
        </p:nvSpPr>
        <p:spPr>
          <a:xfrm>
            <a:off x="10290658" y="1814170"/>
            <a:ext cx="667512"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Completed</a:t>
            </a:r>
            <a:endParaRPr lang="en-US" sz="800" dirty="0">
              <a:ea typeface="Noto Sans SC" panose="020B0200000000000000" pitchFamily="34" charset="-122"/>
              <a:cs typeface="Noto Sans SC" panose="020B0200000000000000" pitchFamily="34" charset="-122"/>
            </a:endParaRPr>
          </a:p>
        </p:txBody>
      </p:sp>
      <p:sp>
        <p:nvSpPr>
          <p:cNvPr id="82" name="Shape 75"/>
          <p:cNvSpPr/>
          <p:nvPr/>
        </p:nvSpPr>
        <p:spPr>
          <a:xfrm>
            <a:off x="3631082" y="2167128"/>
            <a:ext cx="457200" cy="181051"/>
          </a:xfrm>
          <a:prstGeom prst="roundRect">
            <a:avLst>
              <a:gd name="adj" fmla="val 212653"/>
            </a:avLst>
          </a:prstGeom>
          <a:solidFill>
            <a:srgbClr val="DCFCE7"/>
          </a:solidFill>
          <a:ln w="12700">
            <a:solidFill>
              <a:srgbClr val="FFFFFF">
                <a:alpha val="0"/>
              </a:srgbClr>
            </a:solidFill>
            <a:prstDash val="solid"/>
          </a:ln>
        </p:spPr>
      </p:sp>
      <p:sp>
        <p:nvSpPr>
          <p:cNvPr id="83" name="Text 76"/>
          <p:cNvSpPr txBox="1"/>
          <p:nvPr/>
        </p:nvSpPr>
        <p:spPr>
          <a:xfrm>
            <a:off x="3631082" y="2167128"/>
            <a:ext cx="457200"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Admin</a:t>
            </a:r>
            <a:endParaRPr lang="en-US" sz="800" dirty="0">
              <a:ea typeface="Noto Sans SC" panose="020B0200000000000000" pitchFamily="34" charset="-122"/>
              <a:cs typeface="Noto Sans SC" panose="020B0200000000000000" pitchFamily="34" charset="-122"/>
            </a:endParaRPr>
          </a:p>
        </p:txBody>
      </p:sp>
      <p:sp>
        <p:nvSpPr>
          <p:cNvPr id="84" name="Shape 77"/>
          <p:cNvSpPr/>
          <p:nvPr/>
        </p:nvSpPr>
        <p:spPr>
          <a:xfrm>
            <a:off x="10290658" y="2167128"/>
            <a:ext cx="666598" cy="181051"/>
          </a:xfrm>
          <a:prstGeom prst="roundRect">
            <a:avLst>
              <a:gd name="adj" fmla="val 212653"/>
            </a:avLst>
          </a:prstGeom>
          <a:solidFill>
            <a:srgbClr val="DCFCE7"/>
          </a:solidFill>
          <a:ln w="12700">
            <a:solidFill>
              <a:srgbClr val="FFFFFF">
                <a:alpha val="0"/>
              </a:srgbClr>
            </a:solidFill>
            <a:prstDash val="solid"/>
          </a:ln>
        </p:spPr>
      </p:sp>
      <p:sp>
        <p:nvSpPr>
          <p:cNvPr id="85" name="Text 78"/>
          <p:cNvSpPr txBox="1"/>
          <p:nvPr/>
        </p:nvSpPr>
        <p:spPr>
          <a:xfrm>
            <a:off x="10290658" y="2167128"/>
            <a:ext cx="667512"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Completed</a:t>
            </a:r>
            <a:endParaRPr lang="en-US" sz="800" dirty="0">
              <a:ea typeface="Noto Sans SC" panose="020B0200000000000000" pitchFamily="34" charset="-122"/>
              <a:cs typeface="Noto Sans SC" panose="020B0200000000000000" pitchFamily="34" charset="-122"/>
            </a:endParaRPr>
          </a:p>
        </p:txBody>
      </p:sp>
      <p:sp>
        <p:nvSpPr>
          <p:cNvPr id="86" name="Shape 79"/>
          <p:cNvSpPr/>
          <p:nvPr/>
        </p:nvSpPr>
        <p:spPr>
          <a:xfrm>
            <a:off x="3483864" y="2519172"/>
            <a:ext cx="752551" cy="181051"/>
          </a:xfrm>
          <a:prstGeom prst="roundRect">
            <a:avLst>
              <a:gd name="adj" fmla="val 212653"/>
            </a:avLst>
          </a:prstGeom>
          <a:solidFill>
            <a:srgbClr val="FEF3C7"/>
          </a:solidFill>
          <a:ln w="12700">
            <a:solidFill>
              <a:srgbClr val="FFFFFF">
                <a:alpha val="0"/>
              </a:srgbClr>
            </a:solidFill>
            <a:prstDash val="solid"/>
          </a:ln>
        </p:spPr>
      </p:sp>
      <p:sp>
        <p:nvSpPr>
          <p:cNvPr id="87" name="Text 80"/>
          <p:cNvSpPr txBox="1"/>
          <p:nvPr/>
        </p:nvSpPr>
        <p:spPr>
          <a:xfrm>
            <a:off x="3483864" y="2519172"/>
            <a:ext cx="752551"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92400E"/>
                </a:solidFill>
                <a:latin typeface="Noto Sans SC" panose="020B0200000000000000" pitchFamily="34" charset="-122"/>
                <a:ea typeface="Noto Sans SC" panose="020B0200000000000000" pitchFamily="34" charset="-122"/>
                <a:cs typeface="Noto Sans SC" panose="020B0200000000000000" pitchFamily="34" charset="-122"/>
              </a:rPr>
              <a:t>Super Admin</a:t>
            </a:r>
            <a:endParaRPr lang="en-US" sz="800" dirty="0">
              <a:ea typeface="Noto Sans SC" panose="020B0200000000000000" pitchFamily="34" charset="-122"/>
              <a:cs typeface="Noto Sans SC" panose="020B0200000000000000" pitchFamily="34" charset="-122"/>
            </a:endParaRPr>
          </a:p>
        </p:txBody>
      </p:sp>
      <p:sp>
        <p:nvSpPr>
          <p:cNvPr id="88" name="Shape 81"/>
          <p:cNvSpPr/>
          <p:nvPr/>
        </p:nvSpPr>
        <p:spPr>
          <a:xfrm>
            <a:off x="10290658" y="2519172"/>
            <a:ext cx="666598" cy="181051"/>
          </a:xfrm>
          <a:prstGeom prst="roundRect">
            <a:avLst>
              <a:gd name="adj" fmla="val 212653"/>
            </a:avLst>
          </a:prstGeom>
          <a:solidFill>
            <a:srgbClr val="DCFCE7"/>
          </a:solidFill>
          <a:ln w="12700">
            <a:solidFill>
              <a:srgbClr val="FFFFFF">
                <a:alpha val="0"/>
              </a:srgbClr>
            </a:solidFill>
            <a:prstDash val="solid"/>
          </a:ln>
        </p:spPr>
      </p:sp>
      <p:sp>
        <p:nvSpPr>
          <p:cNvPr id="89" name="Text 82"/>
          <p:cNvSpPr txBox="1"/>
          <p:nvPr/>
        </p:nvSpPr>
        <p:spPr>
          <a:xfrm>
            <a:off x="10290658" y="2519172"/>
            <a:ext cx="667512"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Completed</a:t>
            </a:r>
            <a:endParaRPr lang="en-US" sz="800" dirty="0">
              <a:ea typeface="Noto Sans SC" panose="020B0200000000000000" pitchFamily="34" charset="-122"/>
              <a:cs typeface="Noto Sans SC" panose="020B0200000000000000" pitchFamily="34" charset="-122"/>
            </a:endParaRPr>
          </a:p>
        </p:txBody>
      </p:sp>
      <p:sp>
        <p:nvSpPr>
          <p:cNvPr id="90" name="Shape 83"/>
          <p:cNvSpPr/>
          <p:nvPr/>
        </p:nvSpPr>
        <p:spPr>
          <a:xfrm>
            <a:off x="3483864" y="2872130"/>
            <a:ext cx="752551" cy="181051"/>
          </a:xfrm>
          <a:prstGeom prst="roundRect">
            <a:avLst>
              <a:gd name="adj" fmla="val 212653"/>
            </a:avLst>
          </a:prstGeom>
          <a:solidFill>
            <a:srgbClr val="FEF3C7"/>
          </a:solidFill>
          <a:ln w="12700">
            <a:solidFill>
              <a:srgbClr val="FFFFFF">
                <a:alpha val="0"/>
              </a:srgbClr>
            </a:solidFill>
            <a:prstDash val="solid"/>
          </a:ln>
        </p:spPr>
      </p:sp>
      <p:sp>
        <p:nvSpPr>
          <p:cNvPr id="91" name="Text 84"/>
          <p:cNvSpPr txBox="1"/>
          <p:nvPr/>
        </p:nvSpPr>
        <p:spPr>
          <a:xfrm>
            <a:off x="3483864" y="2872130"/>
            <a:ext cx="752551"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92400E"/>
                </a:solidFill>
                <a:latin typeface="Noto Sans SC" panose="020B0200000000000000" pitchFamily="34" charset="-122"/>
                <a:ea typeface="Noto Sans SC" panose="020B0200000000000000" pitchFamily="34" charset="-122"/>
                <a:cs typeface="Noto Sans SC" panose="020B0200000000000000" pitchFamily="34" charset="-122"/>
              </a:rPr>
              <a:t>Super Admin</a:t>
            </a:r>
            <a:endParaRPr lang="en-US" sz="800" dirty="0">
              <a:ea typeface="Noto Sans SC" panose="020B0200000000000000" pitchFamily="34" charset="-122"/>
              <a:cs typeface="Noto Sans SC" panose="020B0200000000000000" pitchFamily="34" charset="-122"/>
            </a:endParaRPr>
          </a:p>
        </p:txBody>
      </p:sp>
      <p:sp>
        <p:nvSpPr>
          <p:cNvPr id="92" name="Shape 85"/>
          <p:cNvSpPr/>
          <p:nvPr/>
        </p:nvSpPr>
        <p:spPr>
          <a:xfrm>
            <a:off x="10290658" y="2872130"/>
            <a:ext cx="666598" cy="181051"/>
          </a:xfrm>
          <a:prstGeom prst="roundRect">
            <a:avLst>
              <a:gd name="adj" fmla="val 212653"/>
            </a:avLst>
          </a:prstGeom>
          <a:solidFill>
            <a:srgbClr val="DCFCE7"/>
          </a:solidFill>
          <a:ln w="12700">
            <a:solidFill>
              <a:srgbClr val="FFFFFF">
                <a:alpha val="0"/>
              </a:srgbClr>
            </a:solidFill>
            <a:prstDash val="solid"/>
          </a:ln>
        </p:spPr>
      </p:sp>
      <p:sp>
        <p:nvSpPr>
          <p:cNvPr id="93" name="Text 86"/>
          <p:cNvSpPr txBox="1"/>
          <p:nvPr/>
        </p:nvSpPr>
        <p:spPr>
          <a:xfrm>
            <a:off x="10290658" y="2872130"/>
            <a:ext cx="667512"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Completed</a:t>
            </a:r>
            <a:endParaRPr lang="en-US" sz="800" dirty="0">
              <a:ea typeface="Noto Sans SC" panose="020B0200000000000000" pitchFamily="34" charset="-122"/>
              <a:cs typeface="Noto Sans SC" panose="020B0200000000000000" pitchFamily="34" charset="-122"/>
            </a:endParaRPr>
          </a:p>
        </p:txBody>
      </p:sp>
      <p:sp>
        <p:nvSpPr>
          <p:cNvPr id="94" name="Shape 87"/>
          <p:cNvSpPr/>
          <p:nvPr/>
        </p:nvSpPr>
        <p:spPr>
          <a:xfrm>
            <a:off x="3631082" y="3224174"/>
            <a:ext cx="457200" cy="181051"/>
          </a:xfrm>
          <a:prstGeom prst="roundRect">
            <a:avLst>
              <a:gd name="adj" fmla="val 212653"/>
            </a:avLst>
          </a:prstGeom>
          <a:solidFill>
            <a:srgbClr val="DCFCE7"/>
          </a:solidFill>
          <a:ln w="12700">
            <a:solidFill>
              <a:srgbClr val="FFFFFF">
                <a:alpha val="0"/>
              </a:srgbClr>
            </a:solidFill>
            <a:prstDash val="solid"/>
          </a:ln>
        </p:spPr>
      </p:sp>
      <p:sp>
        <p:nvSpPr>
          <p:cNvPr id="95" name="Text 88"/>
          <p:cNvSpPr txBox="1"/>
          <p:nvPr/>
        </p:nvSpPr>
        <p:spPr>
          <a:xfrm>
            <a:off x="3631082" y="3224174"/>
            <a:ext cx="457200"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Admin</a:t>
            </a:r>
            <a:endParaRPr lang="en-US" sz="800" dirty="0">
              <a:ea typeface="Noto Sans SC" panose="020B0200000000000000" pitchFamily="34" charset="-122"/>
              <a:cs typeface="Noto Sans SC" panose="020B0200000000000000" pitchFamily="34" charset="-122"/>
            </a:endParaRPr>
          </a:p>
        </p:txBody>
      </p:sp>
      <p:sp>
        <p:nvSpPr>
          <p:cNvPr id="96" name="Shape 89"/>
          <p:cNvSpPr/>
          <p:nvPr/>
        </p:nvSpPr>
        <p:spPr>
          <a:xfrm>
            <a:off x="10290658" y="3224174"/>
            <a:ext cx="666598" cy="181051"/>
          </a:xfrm>
          <a:prstGeom prst="roundRect">
            <a:avLst>
              <a:gd name="adj" fmla="val 212653"/>
            </a:avLst>
          </a:prstGeom>
          <a:solidFill>
            <a:srgbClr val="DCFCE7"/>
          </a:solidFill>
          <a:ln w="12700">
            <a:solidFill>
              <a:srgbClr val="FFFFFF">
                <a:alpha val="0"/>
              </a:srgbClr>
            </a:solidFill>
            <a:prstDash val="solid"/>
          </a:ln>
        </p:spPr>
      </p:sp>
      <p:sp>
        <p:nvSpPr>
          <p:cNvPr id="97" name="Text 90"/>
          <p:cNvSpPr txBox="1"/>
          <p:nvPr/>
        </p:nvSpPr>
        <p:spPr>
          <a:xfrm>
            <a:off x="10290658" y="3224174"/>
            <a:ext cx="667512"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Completed</a:t>
            </a:r>
            <a:endParaRPr lang="en-US" sz="800" dirty="0">
              <a:ea typeface="Noto Sans SC" panose="020B0200000000000000" pitchFamily="34" charset="-122"/>
              <a:cs typeface="Noto Sans SC" panose="020B0200000000000000" pitchFamily="34" charset="-122"/>
            </a:endParaRPr>
          </a:p>
        </p:txBody>
      </p:sp>
      <p:sp>
        <p:nvSpPr>
          <p:cNvPr id="98" name="Shape 91"/>
          <p:cNvSpPr/>
          <p:nvPr/>
        </p:nvSpPr>
        <p:spPr>
          <a:xfrm>
            <a:off x="3597250" y="3576218"/>
            <a:ext cx="523951" cy="181051"/>
          </a:xfrm>
          <a:prstGeom prst="roundRect">
            <a:avLst>
              <a:gd name="adj" fmla="val 212653"/>
            </a:avLst>
          </a:prstGeom>
          <a:solidFill>
            <a:srgbClr val="DBEAFE"/>
          </a:solidFill>
          <a:ln w="12700">
            <a:solidFill>
              <a:srgbClr val="FFFFFF">
                <a:alpha val="0"/>
              </a:srgbClr>
            </a:solidFill>
            <a:prstDash val="solid"/>
          </a:ln>
        </p:spPr>
      </p:sp>
      <p:sp>
        <p:nvSpPr>
          <p:cNvPr id="99" name="Text 92"/>
          <p:cNvSpPr txBox="1"/>
          <p:nvPr/>
        </p:nvSpPr>
        <p:spPr>
          <a:xfrm>
            <a:off x="3597250" y="3576218"/>
            <a:ext cx="523951"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Student</a:t>
            </a:r>
            <a:endParaRPr lang="en-US" sz="800" dirty="0">
              <a:ea typeface="Noto Sans SC" panose="020B0200000000000000" pitchFamily="34" charset="-122"/>
              <a:cs typeface="Noto Sans SC" panose="020B0200000000000000" pitchFamily="34" charset="-122"/>
            </a:endParaRPr>
          </a:p>
        </p:txBody>
      </p:sp>
      <p:sp>
        <p:nvSpPr>
          <p:cNvPr id="100" name="Shape 93"/>
          <p:cNvSpPr/>
          <p:nvPr/>
        </p:nvSpPr>
        <p:spPr>
          <a:xfrm>
            <a:off x="10290658" y="3576218"/>
            <a:ext cx="666598" cy="181051"/>
          </a:xfrm>
          <a:prstGeom prst="roundRect">
            <a:avLst>
              <a:gd name="adj" fmla="val 212653"/>
            </a:avLst>
          </a:prstGeom>
          <a:solidFill>
            <a:srgbClr val="DCFCE7"/>
          </a:solidFill>
          <a:ln w="12700">
            <a:solidFill>
              <a:srgbClr val="FFFFFF">
                <a:alpha val="0"/>
              </a:srgbClr>
            </a:solidFill>
            <a:prstDash val="solid"/>
          </a:ln>
        </p:spPr>
      </p:sp>
      <p:sp>
        <p:nvSpPr>
          <p:cNvPr id="101" name="Text 94"/>
          <p:cNvSpPr txBox="1"/>
          <p:nvPr/>
        </p:nvSpPr>
        <p:spPr>
          <a:xfrm>
            <a:off x="10290658" y="3576218"/>
            <a:ext cx="667512"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Completed</a:t>
            </a:r>
            <a:endParaRPr lang="en-US" sz="800" dirty="0">
              <a:ea typeface="Noto Sans SC" panose="020B0200000000000000" pitchFamily="34" charset="-122"/>
              <a:cs typeface="Noto Sans SC" panose="020B0200000000000000" pitchFamily="34" charset="-122"/>
            </a:endParaRPr>
          </a:p>
        </p:txBody>
      </p:sp>
      <p:sp>
        <p:nvSpPr>
          <p:cNvPr id="102" name="Shape 95"/>
          <p:cNvSpPr/>
          <p:nvPr/>
        </p:nvSpPr>
        <p:spPr>
          <a:xfrm>
            <a:off x="3429000" y="3929177"/>
            <a:ext cx="866851" cy="181051"/>
          </a:xfrm>
          <a:prstGeom prst="roundRect">
            <a:avLst>
              <a:gd name="adj" fmla="val 212653"/>
            </a:avLst>
          </a:prstGeom>
          <a:solidFill>
            <a:srgbClr val="DBEAFE"/>
          </a:solidFill>
          <a:ln w="12700">
            <a:solidFill>
              <a:srgbClr val="FFFFFF">
                <a:alpha val="0"/>
              </a:srgbClr>
            </a:solidFill>
            <a:prstDash val="solid"/>
          </a:ln>
        </p:spPr>
      </p:sp>
      <p:sp>
        <p:nvSpPr>
          <p:cNvPr id="103" name="Text 96"/>
          <p:cNvSpPr txBox="1"/>
          <p:nvPr/>
        </p:nvSpPr>
        <p:spPr>
          <a:xfrm>
            <a:off x="3429000" y="3929177"/>
            <a:ext cx="866851"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Admin/Student</a:t>
            </a:r>
            <a:endParaRPr lang="en-US" sz="800" dirty="0">
              <a:ea typeface="Noto Sans SC" panose="020B0200000000000000" pitchFamily="34" charset="-122"/>
              <a:cs typeface="Noto Sans SC" panose="020B0200000000000000" pitchFamily="34" charset="-122"/>
            </a:endParaRPr>
          </a:p>
        </p:txBody>
      </p:sp>
      <p:sp>
        <p:nvSpPr>
          <p:cNvPr id="104" name="Shape 97"/>
          <p:cNvSpPr/>
          <p:nvPr/>
        </p:nvSpPr>
        <p:spPr>
          <a:xfrm>
            <a:off x="10290658" y="3929177"/>
            <a:ext cx="666598" cy="181051"/>
          </a:xfrm>
          <a:prstGeom prst="roundRect">
            <a:avLst>
              <a:gd name="adj" fmla="val 212653"/>
            </a:avLst>
          </a:prstGeom>
          <a:solidFill>
            <a:srgbClr val="DCFCE7"/>
          </a:solidFill>
          <a:ln w="12700">
            <a:solidFill>
              <a:srgbClr val="FFFFFF">
                <a:alpha val="0"/>
              </a:srgbClr>
            </a:solidFill>
            <a:prstDash val="solid"/>
          </a:ln>
        </p:spPr>
      </p:sp>
      <p:sp>
        <p:nvSpPr>
          <p:cNvPr id="105" name="Text 98"/>
          <p:cNvSpPr txBox="1"/>
          <p:nvPr/>
        </p:nvSpPr>
        <p:spPr>
          <a:xfrm>
            <a:off x="10290658" y="3929177"/>
            <a:ext cx="667512"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Completed</a:t>
            </a:r>
            <a:endParaRPr lang="en-US" sz="800" dirty="0">
              <a:ea typeface="Noto Sans SC" panose="020B0200000000000000" pitchFamily="34" charset="-122"/>
              <a:cs typeface="Noto Sans SC" panose="020B0200000000000000" pitchFamily="34" charset="-122"/>
            </a:endParaRPr>
          </a:p>
        </p:txBody>
      </p:sp>
      <p:sp>
        <p:nvSpPr>
          <p:cNvPr id="106" name="Shape 99"/>
          <p:cNvSpPr/>
          <p:nvPr/>
        </p:nvSpPr>
        <p:spPr>
          <a:xfrm>
            <a:off x="3631082" y="4281221"/>
            <a:ext cx="457200" cy="181051"/>
          </a:xfrm>
          <a:prstGeom prst="roundRect">
            <a:avLst>
              <a:gd name="adj" fmla="val 212653"/>
            </a:avLst>
          </a:prstGeom>
          <a:solidFill>
            <a:srgbClr val="DCFCE7"/>
          </a:solidFill>
          <a:ln w="12700">
            <a:solidFill>
              <a:srgbClr val="FFFFFF">
                <a:alpha val="0"/>
              </a:srgbClr>
            </a:solidFill>
            <a:prstDash val="solid"/>
          </a:ln>
        </p:spPr>
      </p:sp>
      <p:sp>
        <p:nvSpPr>
          <p:cNvPr id="107" name="Text 100"/>
          <p:cNvSpPr txBox="1"/>
          <p:nvPr/>
        </p:nvSpPr>
        <p:spPr>
          <a:xfrm>
            <a:off x="3631082" y="4281221"/>
            <a:ext cx="457200"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Admin</a:t>
            </a:r>
            <a:endParaRPr lang="en-US" sz="800" dirty="0">
              <a:ea typeface="Noto Sans SC" panose="020B0200000000000000" pitchFamily="34" charset="-122"/>
              <a:cs typeface="Noto Sans SC" panose="020B0200000000000000" pitchFamily="34" charset="-122"/>
            </a:endParaRPr>
          </a:p>
        </p:txBody>
      </p:sp>
      <p:sp>
        <p:nvSpPr>
          <p:cNvPr id="108" name="Shape 101"/>
          <p:cNvSpPr/>
          <p:nvPr/>
        </p:nvSpPr>
        <p:spPr>
          <a:xfrm>
            <a:off x="10290658" y="4281221"/>
            <a:ext cx="666598" cy="181051"/>
          </a:xfrm>
          <a:prstGeom prst="roundRect">
            <a:avLst>
              <a:gd name="adj" fmla="val 212653"/>
            </a:avLst>
          </a:prstGeom>
          <a:solidFill>
            <a:srgbClr val="DCFCE7"/>
          </a:solidFill>
          <a:ln w="12700">
            <a:solidFill>
              <a:srgbClr val="FFFFFF">
                <a:alpha val="0"/>
              </a:srgbClr>
            </a:solidFill>
            <a:prstDash val="solid"/>
          </a:ln>
        </p:spPr>
      </p:sp>
      <p:sp>
        <p:nvSpPr>
          <p:cNvPr id="109" name="Text 102"/>
          <p:cNvSpPr txBox="1"/>
          <p:nvPr/>
        </p:nvSpPr>
        <p:spPr>
          <a:xfrm>
            <a:off x="10290658" y="4281221"/>
            <a:ext cx="667512"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Completed</a:t>
            </a:r>
            <a:endParaRPr lang="en-US" sz="800" dirty="0">
              <a:ea typeface="Noto Sans SC" panose="020B0200000000000000" pitchFamily="34" charset="-122"/>
              <a:cs typeface="Noto Sans SC" panose="020B0200000000000000" pitchFamily="34" charset="-122"/>
            </a:endParaRPr>
          </a:p>
        </p:txBody>
      </p:sp>
      <p:sp>
        <p:nvSpPr>
          <p:cNvPr id="110" name="Shape 103"/>
          <p:cNvSpPr/>
          <p:nvPr/>
        </p:nvSpPr>
        <p:spPr>
          <a:xfrm>
            <a:off x="3483864" y="4634179"/>
            <a:ext cx="752551" cy="181051"/>
          </a:xfrm>
          <a:prstGeom prst="roundRect">
            <a:avLst>
              <a:gd name="adj" fmla="val 212653"/>
            </a:avLst>
          </a:prstGeom>
          <a:solidFill>
            <a:srgbClr val="FEF3C7"/>
          </a:solidFill>
          <a:ln w="12700">
            <a:solidFill>
              <a:srgbClr val="FFFFFF">
                <a:alpha val="0"/>
              </a:srgbClr>
            </a:solidFill>
            <a:prstDash val="solid"/>
          </a:ln>
        </p:spPr>
      </p:sp>
      <p:sp>
        <p:nvSpPr>
          <p:cNvPr id="111" name="Text 104"/>
          <p:cNvSpPr txBox="1"/>
          <p:nvPr/>
        </p:nvSpPr>
        <p:spPr>
          <a:xfrm>
            <a:off x="3483864" y="4634179"/>
            <a:ext cx="752551"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92400E"/>
                </a:solidFill>
                <a:latin typeface="Noto Sans SC" panose="020B0200000000000000" pitchFamily="34" charset="-122"/>
                <a:ea typeface="Noto Sans SC" panose="020B0200000000000000" pitchFamily="34" charset="-122"/>
                <a:cs typeface="Noto Sans SC" panose="020B0200000000000000" pitchFamily="34" charset="-122"/>
              </a:rPr>
              <a:t>Super Admin</a:t>
            </a:r>
            <a:endParaRPr lang="en-US" sz="800" dirty="0">
              <a:ea typeface="Noto Sans SC" panose="020B0200000000000000" pitchFamily="34" charset="-122"/>
              <a:cs typeface="Noto Sans SC" panose="020B0200000000000000" pitchFamily="34" charset="-122"/>
            </a:endParaRPr>
          </a:p>
        </p:txBody>
      </p:sp>
      <p:sp>
        <p:nvSpPr>
          <p:cNvPr id="112" name="Shape 105"/>
          <p:cNvSpPr/>
          <p:nvPr/>
        </p:nvSpPr>
        <p:spPr>
          <a:xfrm>
            <a:off x="10290658" y="4634179"/>
            <a:ext cx="666598" cy="181051"/>
          </a:xfrm>
          <a:prstGeom prst="roundRect">
            <a:avLst>
              <a:gd name="adj" fmla="val 212653"/>
            </a:avLst>
          </a:prstGeom>
          <a:solidFill>
            <a:srgbClr val="DCFCE7"/>
          </a:solidFill>
          <a:ln w="12700">
            <a:solidFill>
              <a:srgbClr val="FFFFFF">
                <a:alpha val="0"/>
              </a:srgbClr>
            </a:solidFill>
            <a:prstDash val="solid"/>
          </a:ln>
        </p:spPr>
      </p:sp>
      <p:sp>
        <p:nvSpPr>
          <p:cNvPr id="113" name="Text 106"/>
          <p:cNvSpPr txBox="1"/>
          <p:nvPr/>
        </p:nvSpPr>
        <p:spPr>
          <a:xfrm>
            <a:off x="10290658" y="4634179"/>
            <a:ext cx="667512"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Completed</a:t>
            </a:r>
            <a:endParaRPr lang="en-US" sz="800" dirty="0">
              <a:ea typeface="Noto Sans SC" panose="020B0200000000000000" pitchFamily="34" charset="-122"/>
              <a:cs typeface="Noto Sans SC" panose="020B0200000000000000" pitchFamily="34" charset="-122"/>
            </a:endParaRPr>
          </a:p>
        </p:txBody>
      </p:sp>
      <p:sp>
        <p:nvSpPr>
          <p:cNvPr id="114" name="Shape 107"/>
          <p:cNvSpPr/>
          <p:nvPr/>
        </p:nvSpPr>
        <p:spPr>
          <a:xfrm>
            <a:off x="3631082" y="4997196"/>
            <a:ext cx="457200" cy="181051"/>
          </a:xfrm>
          <a:prstGeom prst="roundRect">
            <a:avLst>
              <a:gd name="adj" fmla="val 212653"/>
            </a:avLst>
          </a:prstGeom>
          <a:solidFill>
            <a:srgbClr val="DCFCE7"/>
          </a:solidFill>
          <a:ln w="12700">
            <a:solidFill>
              <a:srgbClr val="FFFFFF">
                <a:alpha val="0"/>
              </a:srgbClr>
            </a:solidFill>
            <a:prstDash val="solid"/>
          </a:ln>
        </p:spPr>
      </p:sp>
      <p:sp>
        <p:nvSpPr>
          <p:cNvPr id="115" name="Text 108"/>
          <p:cNvSpPr txBox="1"/>
          <p:nvPr/>
        </p:nvSpPr>
        <p:spPr>
          <a:xfrm>
            <a:off x="3631082" y="4997196"/>
            <a:ext cx="457200"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Admin</a:t>
            </a:r>
            <a:endParaRPr lang="en-US" sz="800" dirty="0">
              <a:ea typeface="Noto Sans SC" panose="020B0200000000000000" pitchFamily="34" charset="-122"/>
              <a:cs typeface="Noto Sans SC" panose="020B0200000000000000" pitchFamily="34" charset="-122"/>
            </a:endParaRPr>
          </a:p>
        </p:txBody>
      </p:sp>
      <p:sp>
        <p:nvSpPr>
          <p:cNvPr id="116" name="Shape 109"/>
          <p:cNvSpPr/>
          <p:nvPr/>
        </p:nvSpPr>
        <p:spPr>
          <a:xfrm>
            <a:off x="10287000" y="4997196"/>
            <a:ext cx="676656" cy="181051"/>
          </a:xfrm>
          <a:prstGeom prst="roundRect">
            <a:avLst>
              <a:gd name="adj" fmla="val 212653"/>
            </a:avLst>
          </a:prstGeom>
          <a:solidFill>
            <a:srgbClr val="FEF3C7"/>
          </a:solidFill>
          <a:ln w="12700">
            <a:solidFill>
              <a:srgbClr val="FFFFFF">
                <a:alpha val="0"/>
              </a:srgbClr>
            </a:solidFill>
            <a:prstDash val="solid"/>
          </a:ln>
        </p:spPr>
      </p:sp>
      <p:sp>
        <p:nvSpPr>
          <p:cNvPr id="117" name="Text 110"/>
          <p:cNvSpPr txBox="1"/>
          <p:nvPr/>
        </p:nvSpPr>
        <p:spPr>
          <a:xfrm>
            <a:off x="10287000" y="4997196"/>
            <a:ext cx="676656" cy="181051"/>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ctr">
              <a:buNone/>
            </a:pPr>
            <a:r>
              <a:rPr lang="en-US" sz="800" b="1" dirty="0">
                <a:solidFill>
                  <a:srgbClr val="92400E"/>
                </a:solidFill>
                <a:latin typeface="Noto Sans SC" panose="020B0200000000000000" pitchFamily="34" charset="-122"/>
                <a:ea typeface="Noto Sans SC" panose="020B0200000000000000" pitchFamily="34" charset="-122"/>
                <a:cs typeface="Noto Sans SC" panose="020B0200000000000000" pitchFamily="34" charset="-122"/>
              </a:rPr>
              <a:t>In Progress</a:t>
            </a:r>
            <a:endParaRPr lang="en-US" sz="800" dirty="0">
              <a:ea typeface="Noto Sans SC" panose="020B0200000000000000" pitchFamily="34" charset="-122"/>
              <a:cs typeface="Noto Sans SC" panose="020B0200000000000000" pitchFamily="34" charset="-122"/>
            </a:endParaRPr>
          </a:p>
        </p:txBody>
      </p:sp>
      <p:sp>
        <p:nvSpPr>
          <p:cNvPr id="118" name="Shape 111"/>
          <p:cNvSpPr/>
          <p:nvPr/>
        </p:nvSpPr>
        <p:spPr>
          <a:xfrm>
            <a:off x="952805" y="6139282"/>
            <a:ext cx="342900" cy="342900"/>
          </a:xfrm>
          <a:prstGeom prst="roundRect">
            <a:avLst>
              <a:gd name="adj" fmla="val 118519"/>
            </a:avLst>
          </a:prstGeom>
          <a:solidFill>
            <a:srgbClr val="3B82F6"/>
          </a:solidFill>
          <a:ln w="12700">
            <a:solidFill>
              <a:srgbClr val="FFFFFF">
                <a:alpha val="0"/>
              </a:srgbClr>
            </a:solidFill>
            <a:prstDash val="solid"/>
          </a:ln>
        </p:spPr>
      </p:sp>
      <p:pic>
        <p:nvPicPr>
          <p:cNvPr id="119" name="Image 5" descr="preencoded.png"/>
          <p:cNvPicPr>
            <a:picLocks noChangeAspect="1"/>
          </p:cNvPicPr>
          <p:nvPr/>
        </p:nvPicPr>
        <p:blipFill>
          <a:blip r:embed="rId6"/>
          <a:srcRect/>
          <a:stretch>
            <a:fillRect/>
          </a:stretch>
        </p:blipFill>
        <p:spPr>
          <a:xfrm>
            <a:off x="1047902" y="6234379"/>
            <a:ext cx="152705" cy="152705"/>
          </a:xfrm>
          <a:prstGeom prst="rect">
            <a:avLst/>
          </a:prstGeom>
        </p:spPr>
      </p:pic>
      <p:sp>
        <p:nvSpPr>
          <p:cNvPr id="120" name="Text 112"/>
          <p:cNvSpPr txBox="1"/>
          <p:nvPr/>
        </p:nvSpPr>
        <p:spPr>
          <a:xfrm>
            <a:off x="1438351" y="6053328"/>
            <a:ext cx="1799539" cy="200254"/>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Requirements Coverage</a:t>
            </a:r>
            <a:endParaRPr lang="en-US" sz="1000" dirty="0">
              <a:ea typeface="Noto Sans SC" panose="020B0200000000000000" pitchFamily="34" charset="-122"/>
              <a:cs typeface="Noto Sans SC" panose="020B0200000000000000" pitchFamily="34" charset="-122"/>
            </a:endParaRPr>
          </a:p>
        </p:txBody>
      </p:sp>
      <p:sp>
        <p:nvSpPr>
          <p:cNvPr id="121" name="Text 113"/>
          <p:cNvSpPr txBox="1"/>
          <p:nvPr/>
        </p:nvSpPr>
        <p:spPr>
          <a:xfrm>
            <a:off x="1438351" y="6253582"/>
            <a:ext cx="1562710" cy="314554"/>
          </a:xfrm>
          <a:prstGeom prst="rect">
            <a:avLst/>
          </a:prstGeom>
          <a:noFill/>
        </p:spPr>
        <p:txBody>
          <a:bodyPr wrap="square" lIns="0" tIns="0" rIns="0" bIns="0" rtlCol="0" anchor="ctr"/>
          <a:lstStyle/>
          <a:p>
            <a:pPr marL="0" indent="0" algn="l">
              <a:buNone/>
            </a:pPr>
            <a:r>
              <a:rPr lang="en-US" sz="1600" b="1" dirty="0">
                <a:solidFill>
                  <a:srgbClr val="1D4ED8"/>
                </a:solidFill>
                <a:latin typeface="Noto Sans SC" panose="020B0200000000000000" pitchFamily="34" charset="-122"/>
                <a:ea typeface="Noto Sans SC" panose="020B0200000000000000" pitchFamily="34" charset="-122"/>
                <a:cs typeface="Noto Sans SC" panose="020B0200000000000000" pitchFamily="34" charset="-122"/>
              </a:rPr>
              <a:t>100%</a:t>
            </a:r>
            <a:endParaRPr lang="en-US" sz="1600" dirty="0">
              <a:ea typeface="Noto Sans SC" panose="020B0200000000000000" pitchFamily="34" charset="-122"/>
              <a:cs typeface="Noto Sans SC" panose="020B0200000000000000" pitchFamily="34" charset="-122"/>
            </a:endParaRPr>
          </a:p>
        </p:txBody>
      </p:sp>
      <p:sp>
        <p:nvSpPr>
          <p:cNvPr id="122" name="Shape 114"/>
          <p:cNvSpPr/>
          <p:nvPr/>
        </p:nvSpPr>
        <p:spPr>
          <a:xfrm>
            <a:off x="5052060" y="6139282"/>
            <a:ext cx="342900" cy="342900"/>
          </a:xfrm>
          <a:prstGeom prst="roundRect">
            <a:avLst>
              <a:gd name="adj" fmla="val 118519"/>
            </a:avLst>
          </a:prstGeom>
          <a:solidFill>
            <a:srgbClr val="3B82F6"/>
          </a:solidFill>
          <a:ln w="12700">
            <a:solidFill>
              <a:srgbClr val="FFFFFF">
                <a:alpha val="0"/>
              </a:srgbClr>
            </a:solidFill>
            <a:prstDash val="solid"/>
          </a:ln>
        </p:spPr>
      </p:sp>
      <p:pic>
        <p:nvPicPr>
          <p:cNvPr id="123" name="Image 6" descr="preencoded.png"/>
          <p:cNvPicPr>
            <a:picLocks noChangeAspect="1"/>
          </p:cNvPicPr>
          <p:nvPr/>
        </p:nvPicPr>
        <p:blipFill>
          <a:blip r:embed="rId7"/>
          <a:srcRect t="-180" b="-180"/>
          <a:stretch>
            <a:fillRect/>
          </a:stretch>
        </p:blipFill>
        <p:spPr>
          <a:xfrm>
            <a:off x="5127955" y="6234379"/>
            <a:ext cx="190195" cy="152705"/>
          </a:xfrm>
          <a:prstGeom prst="rect">
            <a:avLst/>
          </a:prstGeom>
        </p:spPr>
      </p:pic>
      <p:sp>
        <p:nvSpPr>
          <p:cNvPr id="124" name="Text 115"/>
          <p:cNvSpPr txBox="1"/>
          <p:nvPr/>
        </p:nvSpPr>
        <p:spPr>
          <a:xfrm>
            <a:off x="5537606" y="6053328"/>
            <a:ext cx="1886407" cy="200254"/>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Completed Requirements</a:t>
            </a:r>
            <a:endParaRPr lang="en-US" sz="1000" dirty="0">
              <a:ea typeface="Noto Sans SC" panose="020B0200000000000000" pitchFamily="34" charset="-122"/>
              <a:cs typeface="Noto Sans SC" panose="020B0200000000000000" pitchFamily="34" charset="-122"/>
            </a:endParaRPr>
          </a:p>
        </p:txBody>
      </p:sp>
      <p:sp>
        <p:nvSpPr>
          <p:cNvPr id="125" name="Text 116"/>
          <p:cNvSpPr txBox="1"/>
          <p:nvPr/>
        </p:nvSpPr>
        <p:spPr>
          <a:xfrm>
            <a:off x="5537606" y="6253582"/>
            <a:ext cx="1677010" cy="314554"/>
          </a:xfrm>
          <a:prstGeom prst="rect">
            <a:avLst/>
          </a:prstGeom>
          <a:noFill/>
        </p:spPr>
        <p:txBody>
          <a:bodyPr wrap="square" lIns="0" tIns="0" rIns="0" bIns="0" rtlCol="0" anchor="ctr"/>
          <a:lstStyle/>
          <a:p>
            <a:pPr marL="0" indent="0" algn="l">
              <a:buNone/>
            </a:pPr>
            <a:r>
              <a:rPr lang="en-US" sz="1600" b="1" dirty="0">
                <a:solidFill>
                  <a:srgbClr val="1D4ED8"/>
                </a:solidFill>
                <a:latin typeface="Noto Sans SC" panose="020B0200000000000000" pitchFamily="34" charset="-122"/>
                <a:ea typeface="Noto Sans SC" panose="020B0200000000000000" pitchFamily="34" charset="-122"/>
                <a:cs typeface="Noto Sans SC" panose="020B0200000000000000" pitchFamily="34" charset="-122"/>
              </a:rPr>
              <a:t>9 / 10</a:t>
            </a:r>
            <a:endParaRPr lang="en-US" sz="1600" dirty="0">
              <a:ea typeface="Noto Sans SC" panose="020B0200000000000000" pitchFamily="34" charset="-122"/>
              <a:cs typeface="Noto Sans SC" panose="020B0200000000000000" pitchFamily="34" charset="-122"/>
            </a:endParaRPr>
          </a:p>
        </p:txBody>
      </p:sp>
      <p:sp>
        <p:nvSpPr>
          <p:cNvPr id="126" name="Shape 117"/>
          <p:cNvSpPr/>
          <p:nvPr/>
        </p:nvSpPr>
        <p:spPr>
          <a:xfrm>
            <a:off x="9261958" y="6139282"/>
            <a:ext cx="342900" cy="342900"/>
          </a:xfrm>
          <a:prstGeom prst="roundRect">
            <a:avLst>
              <a:gd name="adj" fmla="val 118519"/>
            </a:avLst>
          </a:prstGeom>
          <a:solidFill>
            <a:srgbClr val="3B82F6"/>
          </a:solidFill>
          <a:ln w="12700">
            <a:solidFill>
              <a:srgbClr val="FFFFFF">
                <a:alpha val="0"/>
              </a:srgbClr>
            </a:solidFill>
            <a:prstDash val="solid"/>
          </a:ln>
        </p:spPr>
      </p:sp>
      <p:pic>
        <p:nvPicPr>
          <p:cNvPr id="127" name="Image 7" descr="preencoded.png"/>
          <p:cNvPicPr>
            <a:picLocks noChangeAspect="1"/>
          </p:cNvPicPr>
          <p:nvPr/>
        </p:nvPicPr>
        <p:blipFill>
          <a:blip r:embed="rId8"/>
          <a:srcRect/>
          <a:stretch>
            <a:fillRect/>
          </a:stretch>
        </p:blipFill>
        <p:spPr>
          <a:xfrm>
            <a:off x="9357055" y="6234379"/>
            <a:ext cx="152705" cy="152705"/>
          </a:xfrm>
          <a:prstGeom prst="rect">
            <a:avLst/>
          </a:prstGeom>
        </p:spPr>
      </p:pic>
      <p:sp>
        <p:nvSpPr>
          <p:cNvPr id="128" name="Text 118"/>
          <p:cNvSpPr txBox="1"/>
          <p:nvPr/>
        </p:nvSpPr>
        <p:spPr>
          <a:xfrm>
            <a:off x="9747504" y="6053328"/>
            <a:ext cx="1844345" cy="200254"/>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Pending Requirements</a:t>
            </a:r>
            <a:endParaRPr lang="en-US" sz="1000" dirty="0">
              <a:ea typeface="Noto Sans SC" panose="020B0200000000000000" pitchFamily="34" charset="-122"/>
              <a:cs typeface="Noto Sans SC" panose="020B0200000000000000" pitchFamily="34" charset="-122"/>
            </a:endParaRPr>
          </a:p>
        </p:txBody>
      </p:sp>
      <p:sp>
        <p:nvSpPr>
          <p:cNvPr id="129" name="Text 119"/>
          <p:cNvSpPr txBox="1"/>
          <p:nvPr/>
        </p:nvSpPr>
        <p:spPr>
          <a:xfrm>
            <a:off x="9747504" y="6253582"/>
            <a:ext cx="1495958" cy="314554"/>
          </a:xfrm>
          <a:prstGeom prst="rect">
            <a:avLst/>
          </a:prstGeom>
          <a:noFill/>
        </p:spPr>
        <p:txBody>
          <a:bodyPr wrap="square" lIns="0" tIns="0" rIns="0" bIns="0" rtlCol="0" anchor="ctr"/>
          <a:lstStyle/>
          <a:p>
            <a:pPr marL="0" indent="0" algn="l">
              <a:buNone/>
            </a:pPr>
            <a:r>
              <a:rPr lang="en-US" sz="1600" b="1" dirty="0">
                <a:solidFill>
                  <a:srgbClr val="1D4ED8"/>
                </a:solidFill>
                <a:latin typeface="Noto Sans SC" panose="020B0200000000000000" pitchFamily="34" charset="-122"/>
                <a:ea typeface="Noto Sans SC" panose="020B0200000000000000" pitchFamily="34" charset="-122"/>
                <a:cs typeface="Noto Sans SC" panose="020B0200000000000000" pitchFamily="34" charset="-122"/>
              </a:rPr>
              <a:t>1</a:t>
            </a:r>
            <a:endParaRPr lang="en-US" sz="1600" dirty="0">
              <a:ea typeface="Noto Sans SC" panose="020B0200000000000000" pitchFamily="34" charset="-122"/>
              <a:cs typeface="Noto Sans SC" panose="020B0200000000000000"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0" r="-10"/>
          <a:stretch>
            <a:fillRect/>
          </a:stretch>
        </p:blipFill>
        <p:spPr>
          <a:xfrm>
            <a:off x="0" y="0"/>
            <a:ext cx="12191695" cy="666598"/>
          </a:xfrm>
          <a:prstGeom prst="rect">
            <a:avLst/>
          </a:prstGeom>
        </p:spPr>
      </p:pic>
      <p:sp>
        <p:nvSpPr>
          <p:cNvPr id="7" name="Shape 3"/>
          <p:cNvSpPr/>
          <p:nvPr/>
        </p:nvSpPr>
        <p:spPr>
          <a:xfrm>
            <a:off x="571500" y="142646"/>
            <a:ext cx="381305" cy="381305"/>
          </a:xfrm>
          <a:prstGeom prst="ellipse">
            <a:avLst/>
          </a:prstGeom>
          <a:solidFill>
            <a:srgbClr val="FFFFFF">
              <a:alpha val="15000"/>
            </a:srgbClr>
          </a:solidFill>
          <a:ln w="12700">
            <a:solidFill>
              <a:srgbClr val="FFFFFF">
                <a:alpha val="0"/>
              </a:srgbClr>
            </a:solidFill>
            <a:prstDash val="solid"/>
          </a:ln>
        </p:spPr>
      </p:sp>
      <p:pic>
        <p:nvPicPr>
          <p:cNvPr id="8" name="Image 2" descr="preencoded.png"/>
          <p:cNvPicPr>
            <a:picLocks noChangeAspect="1"/>
          </p:cNvPicPr>
          <p:nvPr/>
        </p:nvPicPr>
        <p:blipFill>
          <a:blip r:embed="rId2"/>
          <a:srcRect/>
          <a:stretch>
            <a:fillRect/>
          </a:stretch>
        </p:blipFill>
        <p:spPr>
          <a:xfrm>
            <a:off x="676656" y="247802"/>
            <a:ext cx="171907" cy="171907"/>
          </a:xfrm>
          <a:prstGeom prst="rect">
            <a:avLst/>
          </a:prstGeom>
        </p:spPr>
      </p:pic>
      <p:sp>
        <p:nvSpPr>
          <p:cNvPr id="9" name="Text 4"/>
          <p:cNvSpPr txBox="1"/>
          <p:nvPr/>
        </p:nvSpPr>
        <p:spPr>
          <a:xfrm>
            <a:off x="1143000" y="171907"/>
            <a:ext cx="7620610" cy="267005"/>
          </a:xfrm>
          <a:prstGeom prst="rect">
            <a:avLst/>
          </a:prstGeom>
          <a:noFill/>
        </p:spPr>
        <p:txBody>
          <a:bodyPr wrap="square" lIns="0" tIns="0" rIns="0" bIns="0" rtlCol="0" anchor="ctr"/>
          <a:lstStyle/>
          <a:p>
            <a:pPr marL="0" indent="0" algn="l">
              <a:buNone/>
            </a:pPr>
            <a:r>
              <a:rPr lang="en-US" sz="21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Requirements Management RTM</a:t>
            </a:r>
            <a:endParaRPr lang="en-US" sz="2100" dirty="0">
              <a:ea typeface="Noto Sans SC" panose="020B0200000000000000" pitchFamily="34" charset="-122"/>
              <a:cs typeface="Noto Sans SC" panose="020B0200000000000000" pitchFamily="34" charset="-122"/>
            </a:endParaRPr>
          </a:p>
        </p:txBody>
      </p:sp>
      <p:pic>
        <p:nvPicPr>
          <p:cNvPr id="130" name="图片 129"/>
          <p:cNvPicPr>
            <a:picLocks noChangeAspect="1"/>
          </p:cNvPicPr>
          <p:nvPr/>
        </p:nvPicPr>
        <p:blipFill>
          <a:blip r:embed="rId3"/>
          <a:stretch>
            <a:fillRect/>
          </a:stretch>
        </p:blipFill>
        <p:spPr>
          <a:xfrm>
            <a:off x="635" y="667385"/>
            <a:ext cx="12184380" cy="63392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5" name="Shape 2"/>
          <p:cNvSpPr/>
          <p:nvPr/>
        </p:nvSpPr>
        <p:spPr>
          <a:xfrm>
            <a:off x="571500" y="1571854"/>
            <a:ext cx="11048695" cy="1666951"/>
          </a:xfrm>
          <a:prstGeom prst="roundRect">
            <a:avLst>
              <a:gd name="adj" fmla="val 7523"/>
            </a:avLst>
          </a:prstGeom>
          <a:solidFill>
            <a:srgbClr val="FFFFFF"/>
          </a:solidFill>
          <a:effectLst>
            <a:outerShdw blurRad="114300" dist="38100" dir="16200000" algn="bl" rotWithShape="0">
              <a:srgbClr val="000000">
                <a:alpha val="5000"/>
              </a:srgbClr>
            </a:outerShdw>
          </a:effectLst>
        </p:spPr>
      </p:sp>
      <p:sp>
        <p:nvSpPr>
          <p:cNvPr id="6" name="Shape 3"/>
          <p:cNvSpPr/>
          <p:nvPr/>
        </p:nvSpPr>
        <p:spPr>
          <a:xfrm>
            <a:off x="571500" y="1571854"/>
            <a:ext cx="57607" cy="1666951"/>
          </a:xfrm>
          <a:prstGeom prst="roundRect">
            <a:avLst>
              <a:gd name="adj" fmla="val 217688"/>
            </a:avLst>
          </a:prstGeom>
          <a:solidFill>
            <a:srgbClr val="3B82F6"/>
          </a:solidFill>
          <a:ln w="12700">
            <a:solidFill>
              <a:srgbClr val="3B82F6">
                <a:alpha val="0"/>
              </a:srgbClr>
            </a:solidFill>
            <a:prstDash val="solid"/>
          </a:ln>
        </p:spPr>
      </p:sp>
      <p:sp>
        <p:nvSpPr>
          <p:cNvPr id="7" name="Shape 4"/>
          <p:cNvSpPr/>
          <p:nvPr/>
        </p:nvSpPr>
        <p:spPr>
          <a:xfrm>
            <a:off x="571500" y="3429000"/>
            <a:ext cx="11048695" cy="1666951"/>
          </a:xfrm>
          <a:prstGeom prst="roundRect">
            <a:avLst>
              <a:gd name="adj" fmla="val 7523"/>
            </a:avLst>
          </a:prstGeom>
          <a:solidFill>
            <a:srgbClr val="FFFFFF"/>
          </a:solidFill>
          <a:effectLst>
            <a:outerShdw blurRad="114300" dist="38100" dir="16200000" algn="bl" rotWithShape="0">
              <a:srgbClr val="000000">
                <a:alpha val="5000"/>
              </a:srgbClr>
            </a:outerShdw>
          </a:effectLst>
        </p:spPr>
      </p:sp>
      <p:sp>
        <p:nvSpPr>
          <p:cNvPr id="8" name="Shape 5"/>
          <p:cNvSpPr/>
          <p:nvPr/>
        </p:nvSpPr>
        <p:spPr>
          <a:xfrm>
            <a:off x="571500" y="3429000"/>
            <a:ext cx="57607" cy="1666951"/>
          </a:xfrm>
          <a:prstGeom prst="roundRect">
            <a:avLst>
              <a:gd name="adj" fmla="val 217688"/>
            </a:avLst>
          </a:prstGeom>
          <a:solidFill>
            <a:srgbClr val="3B82F6"/>
          </a:solidFill>
          <a:ln w="12700">
            <a:solidFill>
              <a:srgbClr val="3B82F6">
                <a:alpha val="0"/>
              </a:srgbClr>
            </a:solidFill>
            <a:prstDash val="solid"/>
          </a:ln>
        </p:spPr>
      </p:sp>
      <p:pic>
        <p:nvPicPr>
          <p:cNvPr id="9" name="Image 1" descr="preencoded.png"/>
          <p:cNvPicPr>
            <a:picLocks noChangeAspect="1"/>
          </p:cNvPicPr>
          <p:nvPr/>
        </p:nvPicPr>
        <p:blipFill>
          <a:blip r:embed="rId2"/>
          <a:srcRect t="-5" b="-5"/>
          <a:stretch>
            <a:fillRect/>
          </a:stretch>
        </p:blipFill>
        <p:spPr>
          <a:xfrm>
            <a:off x="571500" y="5381244"/>
            <a:ext cx="11048695" cy="1095451"/>
          </a:xfrm>
          <a:prstGeom prst="rect">
            <a:avLst/>
          </a:prstGeom>
        </p:spPr>
      </p:pic>
      <p:sp>
        <p:nvSpPr>
          <p:cNvPr id="10" name="Shape 6"/>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1" name="Image 2" descr="preencoded.png"/>
          <p:cNvPicPr>
            <a:picLocks noChangeAspect="1"/>
          </p:cNvPicPr>
          <p:nvPr/>
        </p:nvPicPr>
        <p:blipFill>
          <a:blip r:embed="rId3"/>
          <a:srcRect/>
          <a:stretch>
            <a:fillRect/>
          </a:stretch>
        </p:blipFill>
        <p:spPr>
          <a:xfrm>
            <a:off x="681228" y="286207"/>
            <a:ext cx="237744" cy="190195"/>
          </a:xfrm>
          <a:prstGeom prst="rect">
            <a:avLst/>
          </a:prstGeom>
        </p:spPr>
      </p:pic>
      <p:sp>
        <p:nvSpPr>
          <p:cNvPr id="12" name="Text 7"/>
          <p:cNvSpPr txBox="1"/>
          <p:nvPr/>
        </p:nvSpPr>
        <p:spPr>
          <a:xfrm>
            <a:off x="1218895" y="190195"/>
            <a:ext cx="9525305" cy="457200"/>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RTM Traceability Chain Examples</a:t>
            </a:r>
            <a:endParaRPr lang="en-US" sz="2400" dirty="0">
              <a:ea typeface="Noto Sans SC" panose="020B0200000000000000" pitchFamily="34" charset="-122"/>
              <a:cs typeface="Noto Sans SC" panose="020B0200000000000000" pitchFamily="34" charset="-122"/>
            </a:endParaRPr>
          </a:p>
        </p:txBody>
      </p:sp>
      <p:sp>
        <p:nvSpPr>
          <p:cNvPr id="13" name="Text 8"/>
          <p:cNvSpPr txBox="1"/>
          <p:nvPr/>
        </p:nvSpPr>
        <p:spPr>
          <a:xfrm>
            <a:off x="961949" y="952805"/>
            <a:ext cx="10659161" cy="372161"/>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Complete Traceability Chain from Requirement Source to Acceptance </a:t>
            </a:r>
            <a:endParaRPr lang="en-US" sz="1900" dirty="0">
              <a:ea typeface="Noto Sans SC" panose="020B0200000000000000" pitchFamily="34" charset="-122"/>
              <a:cs typeface="Noto Sans SC" panose="020B0200000000000000" pitchFamily="34" charset="-122"/>
            </a:endParaRPr>
          </a:p>
        </p:txBody>
      </p:sp>
      <p:pic>
        <p:nvPicPr>
          <p:cNvPr id="14" name="Image 3" descr="preencoded.png"/>
          <p:cNvPicPr>
            <a:picLocks noChangeAspect="1"/>
          </p:cNvPicPr>
          <p:nvPr/>
        </p:nvPicPr>
        <p:blipFill>
          <a:blip r:embed="rId4"/>
          <a:srcRect t="-476" b="-476"/>
          <a:stretch>
            <a:fillRect/>
          </a:stretch>
        </p:blipFill>
        <p:spPr>
          <a:xfrm>
            <a:off x="571500" y="1014070"/>
            <a:ext cx="276149" cy="247802"/>
          </a:xfrm>
          <a:prstGeom prst="rect">
            <a:avLst/>
          </a:prstGeom>
        </p:spPr>
      </p:pic>
      <p:sp>
        <p:nvSpPr>
          <p:cNvPr id="15" name="Shape 9"/>
          <p:cNvSpPr/>
          <p:nvPr/>
        </p:nvSpPr>
        <p:spPr>
          <a:xfrm>
            <a:off x="875995" y="1800454"/>
            <a:ext cx="418795" cy="418795"/>
          </a:xfrm>
          <a:prstGeom prst="roundRect">
            <a:avLst>
              <a:gd name="adj" fmla="val 79397"/>
            </a:avLst>
          </a:prstGeom>
          <a:solidFill>
            <a:srgbClr val="3B82F6">
              <a:alpha val="10000"/>
            </a:srgbClr>
          </a:solidFill>
          <a:ln w="12700">
            <a:solidFill>
              <a:srgbClr val="FFFFFF">
                <a:alpha val="0"/>
              </a:srgbClr>
            </a:solidFill>
            <a:prstDash val="solid"/>
          </a:ln>
        </p:spPr>
      </p:sp>
      <p:pic>
        <p:nvPicPr>
          <p:cNvPr id="16" name="Image 4" descr="preencoded.png"/>
          <p:cNvPicPr>
            <a:picLocks noChangeAspect="1"/>
          </p:cNvPicPr>
          <p:nvPr/>
        </p:nvPicPr>
        <p:blipFill>
          <a:blip r:embed="rId5"/>
          <a:srcRect/>
          <a:stretch>
            <a:fillRect/>
          </a:stretch>
        </p:blipFill>
        <p:spPr>
          <a:xfrm>
            <a:off x="1014070" y="1914754"/>
            <a:ext cx="142646" cy="190195"/>
          </a:xfrm>
          <a:prstGeom prst="rect">
            <a:avLst/>
          </a:prstGeom>
        </p:spPr>
      </p:pic>
      <p:sp>
        <p:nvSpPr>
          <p:cNvPr id="17" name="Text 10"/>
          <p:cNvSpPr txBox="1"/>
          <p:nvPr/>
        </p:nvSpPr>
        <p:spPr>
          <a:xfrm>
            <a:off x="1447495" y="1814170"/>
            <a:ext cx="6982358" cy="286207"/>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Requirement R6: Students submit wake-up/return/cleaning records</a:t>
            </a:r>
            <a:endParaRPr lang="en-US" sz="1500" dirty="0">
              <a:ea typeface="Noto Sans SC" panose="020B0200000000000000" pitchFamily="34" charset="-122"/>
              <a:cs typeface="Noto Sans SC" panose="020B0200000000000000" pitchFamily="34" charset="-122"/>
            </a:endParaRPr>
          </a:p>
        </p:txBody>
      </p:sp>
      <p:pic>
        <p:nvPicPr>
          <p:cNvPr id="18" name="Image 5" descr="preencoded.png"/>
          <p:cNvPicPr>
            <a:picLocks noChangeAspect="1"/>
          </p:cNvPicPr>
          <p:nvPr/>
        </p:nvPicPr>
        <p:blipFill>
          <a:blip r:embed="rId6"/>
          <a:srcRect l="-244" r="-244"/>
          <a:stretch>
            <a:fillRect/>
          </a:stretch>
        </p:blipFill>
        <p:spPr>
          <a:xfrm>
            <a:off x="7888529" y="1800454"/>
            <a:ext cx="1067105" cy="314554"/>
          </a:xfrm>
          <a:prstGeom prst="rect">
            <a:avLst/>
          </a:prstGeom>
        </p:spPr>
      </p:pic>
      <p:sp>
        <p:nvSpPr>
          <p:cNvPr id="19" name="Text 11"/>
          <p:cNvSpPr txBox="1"/>
          <p:nvPr/>
        </p:nvSpPr>
        <p:spPr>
          <a:xfrm>
            <a:off x="8231429" y="1800454"/>
            <a:ext cx="724205" cy="314554"/>
          </a:xfrm>
          <a:prstGeom prst="rect">
            <a:avLst/>
          </a:prstGeom>
          <a:noFill/>
        </p:spPr>
        <p:txBody>
          <a:bodyPr wrap="square" lIns="0" tIns="0" rIns="0" bIns="0" rtlCol="0" anchor="ctr"/>
          <a:lstStyle/>
          <a:p>
            <a:pPr marL="0" indent="0" algn="l">
              <a:buNone/>
            </a:pPr>
            <a:r>
              <a:rPr lang="en-US" sz="10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 Accepted </a:t>
            </a:r>
            <a:endParaRPr lang="en-US" sz="1000" dirty="0">
              <a:ea typeface="Noto Sans SC" panose="020B0200000000000000" pitchFamily="34" charset="-122"/>
              <a:cs typeface="Noto Sans SC" panose="020B0200000000000000" pitchFamily="34" charset="-122"/>
            </a:endParaRPr>
          </a:p>
        </p:txBody>
      </p:sp>
      <p:pic>
        <p:nvPicPr>
          <p:cNvPr id="20" name="Image 6" descr="preencoded.png"/>
          <p:cNvPicPr>
            <a:picLocks noChangeAspect="1"/>
          </p:cNvPicPr>
          <p:nvPr/>
        </p:nvPicPr>
        <p:blipFill>
          <a:blip r:embed="rId7"/>
          <a:srcRect/>
          <a:stretch>
            <a:fillRect/>
          </a:stretch>
        </p:blipFill>
        <p:spPr>
          <a:xfrm>
            <a:off x="8021117" y="1890979"/>
            <a:ext cx="133502" cy="133502"/>
          </a:xfrm>
          <a:prstGeom prst="rect">
            <a:avLst/>
          </a:prstGeom>
        </p:spPr>
      </p:pic>
      <p:sp>
        <p:nvSpPr>
          <p:cNvPr id="21" name="Shape 12"/>
          <p:cNvSpPr/>
          <p:nvPr/>
        </p:nvSpPr>
        <p:spPr>
          <a:xfrm>
            <a:off x="1447495" y="2229307"/>
            <a:ext cx="1133856" cy="409651"/>
          </a:xfrm>
          <a:prstGeom prst="roundRect">
            <a:avLst>
              <a:gd name="adj" fmla="val 207641"/>
            </a:avLst>
          </a:prstGeom>
          <a:solidFill>
            <a:srgbClr val="F1F5F9"/>
          </a:solidFill>
          <a:ln w="12700">
            <a:solidFill>
              <a:srgbClr val="FFFFFF">
                <a:alpha val="0"/>
              </a:srgbClr>
            </a:solidFill>
            <a:prstDash val="solid"/>
          </a:ln>
        </p:spPr>
      </p:sp>
      <p:pic>
        <p:nvPicPr>
          <p:cNvPr id="22" name="Image 7" descr="preencoded.png"/>
          <p:cNvPicPr>
            <a:picLocks noChangeAspect="1"/>
          </p:cNvPicPr>
          <p:nvPr/>
        </p:nvPicPr>
        <p:blipFill>
          <a:blip r:embed="rId8"/>
          <a:srcRect t="-556" b="-556"/>
          <a:stretch>
            <a:fillRect/>
          </a:stretch>
        </p:blipFill>
        <p:spPr>
          <a:xfrm>
            <a:off x="1638605" y="2360066"/>
            <a:ext cx="123444" cy="142646"/>
          </a:xfrm>
          <a:prstGeom prst="rect">
            <a:avLst/>
          </a:prstGeom>
        </p:spPr>
      </p:pic>
      <p:sp>
        <p:nvSpPr>
          <p:cNvPr id="23" name="Text 13"/>
          <p:cNvSpPr txBox="1"/>
          <p:nvPr/>
        </p:nvSpPr>
        <p:spPr>
          <a:xfrm>
            <a:off x="1857146" y="2229307"/>
            <a:ext cx="534010" cy="409651"/>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Student</a:t>
            </a:r>
            <a:endParaRPr lang="en-US" sz="1100" dirty="0">
              <a:ea typeface="Noto Sans SC" panose="020B0200000000000000" pitchFamily="34" charset="-122"/>
              <a:cs typeface="Noto Sans SC" panose="020B0200000000000000" pitchFamily="34" charset="-122"/>
            </a:endParaRPr>
          </a:p>
        </p:txBody>
      </p:sp>
      <p:sp>
        <p:nvSpPr>
          <p:cNvPr id="24" name="Shape 14"/>
          <p:cNvSpPr/>
          <p:nvPr/>
        </p:nvSpPr>
        <p:spPr>
          <a:xfrm>
            <a:off x="3016606" y="2229307"/>
            <a:ext cx="2229307" cy="409651"/>
          </a:xfrm>
          <a:prstGeom prst="roundRect">
            <a:avLst>
              <a:gd name="adj" fmla="val 207641"/>
            </a:avLst>
          </a:prstGeom>
          <a:solidFill>
            <a:srgbClr val="F1F5F9"/>
          </a:solidFill>
          <a:ln w="12700">
            <a:solidFill>
              <a:srgbClr val="FFFFFF">
                <a:alpha val="0"/>
              </a:srgbClr>
            </a:solidFill>
            <a:prstDash val="solid"/>
          </a:ln>
        </p:spPr>
      </p:sp>
      <p:pic>
        <p:nvPicPr>
          <p:cNvPr id="25" name="Image 8" descr="preencoded.png"/>
          <p:cNvPicPr>
            <a:picLocks noChangeAspect="1"/>
          </p:cNvPicPr>
          <p:nvPr/>
        </p:nvPicPr>
        <p:blipFill>
          <a:blip r:embed="rId9"/>
          <a:srcRect l="-428" r="-428"/>
          <a:stretch>
            <a:fillRect/>
          </a:stretch>
        </p:blipFill>
        <p:spPr>
          <a:xfrm>
            <a:off x="3206801" y="2360066"/>
            <a:ext cx="161849" cy="142646"/>
          </a:xfrm>
          <a:prstGeom prst="rect">
            <a:avLst/>
          </a:prstGeom>
        </p:spPr>
      </p:pic>
      <p:sp>
        <p:nvSpPr>
          <p:cNvPr id="26" name="Text 15"/>
          <p:cNvSpPr txBox="1"/>
          <p:nvPr/>
        </p:nvSpPr>
        <p:spPr>
          <a:xfrm>
            <a:off x="3463747" y="2229307"/>
            <a:ext cx="1591056" cy="409651"/>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getup/back/clean pages</a:t>
            </a:r>
            <a:endParaRPr lang="en-US" sz="1100" dirty="0">
              <a:ea typeface="Noto Sans SC" panose="020B0200000000000000" pitchFamily="34" charset="-122"/>
              <a:cs typeface="Noto Sans SC" panose="020B0200000000000000" pitchFamily="34" charset="-122"/>
            </a:endParaRPr>
          </a:p>
        </p:txBody>
      </p:sp>
      <p:sp>
        <p:nvSpPr>
          <p:cNvPr id="27" name="Shape 16"/>
          <p:cNvSpPr/>
          <p:nvPr/>
        </p:nvSpPr>
        <p:spPr>
          <a:xfrm>
            <a:off x="5681167" y="2229307"/>
            <a:ext cx="1343254" cy="409651"/>
          </a:xfrm>
          <a:prstGeom prst="roundRect">
            <a:avLst>
              <a:gd name="adj" fmla="val 207641"/>
            </a:avLst>
          </a:prstGeom>
          <a:solidFill>
            <a:srgbClr val="F1F5F9"/>
          </a:solidFill>
          <a:ln w="12700">
            <a:solidFill>
              <a:srgbClr val="FFFFFF">
                <a:alpha val="0"/>
              </a:srgbClr>
            </a:solidFill>
            <a:prstDash val="solid"/>
          </a:ln>
        </p:spPr>
      </p:sp>
      <p:pic>
        <p:nvPicPr>
          <p:cNvPr id="28" name="Image 9" descr="preencoded.png"/>
          <p:cNvPicPr>
            <a:picLocks noChangeAspect="1"/>
          </p:cNvPicPr>
          <p:nvPr/>
        </p:nvPicPr>
        <p:blipFill>
          <a:blip r:embed="rId10"/>
          <a:srcRect l="-769" r="-769"/>
          <a:stretch>
            <a:fillRect/>
          </a:stretch>
        </p:blipFill>
        <p:spPr>
          <a:xfrm>
            <a:off x="5871362" y="2360066"/>
            <a:ext cx="181051" cy="142646"/>
          </a:xfrm>
          <a:prstGeom prst="rect">
            <a:avLst/>
          </a:prstGeom>
        </p:spPr>
      </p:pic>
      <p:sp>
        <p:nvSpPr>
          <p:cNvPr id="29" name="Text 17"/>
          <p:cNvSpPr txBox="1"/>
          <p:nvPr/>
        </p:nvSpPr>
        <p:spPr>
          <a:xfrm>
            <a:off x="6147511" y="2229307"/>
            <a:ext cx="685800" cy="409651"/>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record API</a:t>
            </a:r>
            <a:endParaRPr lang="en-US" sz="1100" dirty="0">
              <a:ea typeface="Noto Sans SC" panose="020B0200000000000000" pitchFamily="34" charset="-122"/>
              <a:cs typeface="Noto Sans SC" panose="020B0200000000000000" pitchFamily="34" charset="-122"/>
            </a:endParaRPr>
          </a:p>
        </p:txBody>
      </p:sp>
      <p:sp>
        <p:nvSpPr>
          <p:cNvPr id="30" name="Shape 18"/>
          <p:cNvSpPr/>
          <p:nvPr/>
        </p:nvSpPr>
        <p:spPr>
          <a:xfrm>
            <a:off x="7457846" y="2229307"/>
            <a:ext cx="2000707" cy="409651"/>
          </a:xfrm>
          <a:prstGeom prst="roundRect">
            <a:avLst>
              <a:gd name="adj" fmla="val 207641"/>
            </a:avLst>
          </a:prstGeom>
          <a:solidFill>
            <a:srgbClr val="F1F5F9"/>
          </a:solidFill>
          <a:ln w="12700">
            <a:solidFill>
              <a:srgbClr val="FFFFFF">
                <a:alpha val="0"/>
              </a:srgbClr>
            </a:solidFill>
            <a:prstDash val="solid"/>
          </a:ln>
        </p:spPr>
      </p:sp>
      <p:pic>
        <p:nvPicPr>
          <p:cNvPr id="31" name="Image 10" descr="preencoded.png"/>
          <p:cNvPicPr>
            <a:picLocks noChangeAspect="1"/>
          </p:cNvPicPr>
          <p:nvPr/>
        </p:nvPicPr>
        <p:blipFill>
          <a:blip r:embed="rId11"/>
          <a:srcRect t="-556" b="-556"/>
          <a:stretch>
            <a:fillRect/>
          </a:stretch>
        </p:blipFill>
        <p:spPr>
          <a:xfrm>
            <a:off x="7648956" y="2360066"/>
            <a:ext cx="123444" cy="142646"/>
          </a:xfrm>
          <a:prstGeom prst="rect">
            <a:avLst/>
          </a:prstGeom>
        </p:spPr>
      </p:pic>
      <p:sp>
        <p:nvSpPr>
          <p:cNvPr id="32" name="Text 19"/>
          <p:cNvSpPr txBox="1"/>
          <p:nvPr/>
        </p:nvSpPr>
        <p:spPr>
          <a:xfrm>
            <a:off x="7867498" y="2229307"/>
            <a:ext cx="1400861" cy="409651"/>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Create and read back</a:t>
            </a:r>
            <a:endParaRPr lang="en-US" sz="1100" dirty="0">
              <a:ea typeface="Noto Sans SC" panose="020B0200000000000000" pitchFamily="34" charset="-122"/>
              <a:cs typeface="Noto Sans SC" panose="020B0200000000000000" pitchFamily="34" charset="-122"/>
            </a:endParaRPr>
          </a:p>
        </p:txBody>
      </p:sp>
      <p:sp>
        <p:nvSpPr>
          <p:cNvPr id="33" name="Text 20"/>
          <p:cNvSpPr txBox="1"/>
          <p:nvPr/>
        </p:nvSpPr>
        <p:spPr>
          <a:xfrm>
            <a:off x="1698955" y="2786177"/>
            <a:ext cx="9560052" cy="219456"/>
          </a:xfrm>
          <a:prstGeom prst="rect">
            <a:avLst/>
          </a:prstGeom>
          <a:noFill/>
        </p:spPr>
        <p:txBody>
          <a:bodyPr wrap="square" lIns="0" tIns="0" rIns="0" bIns="0" rtlCol="0" anchor="ctr"/>
          <a:lstStyle/>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 Acceptance Criteria: Records can be created and displayed correctly, data accuracy 100% </a:t>
            </a:r>
            <a:endParaRPr lang="en-US" sz="1100" dirty="0">
              <a:ea typeface="Noto Sans SC" panose="020B0200000000000000" pitchFamily="34" charset="-122"/>
              <a:cs typeface="Noto Sans SC" panose="020B0200000000000000" pitchFamily="34" charset="-122"/>
            </a:endParaRPr>
          </a:p>
        </p:txBody>
      </p:sp>
      <p:pic>
        <p:nvPicPr>
          <p:cNvPr id="34" name="Image 11" descr="preencoded.png"/>
          <p:cNvPicPr>
            <a:picLocks noChangeAspect="1"/>
          </p:cNvPicPr>
          <p:nvPr/>
        </p:nvPicPr>
        <p:blipFill>
          <a:blip r:embed="rId12"/>
          <a:srcRect l="-760" r="-760"/>
          <a:stretch>
            <a:fillRect/>
          </a:stretch>
        </p:blipFill>
        <p:spPr>
          <a:xfrm>
            <a:off x="2721254" y="2352751"/>
            <a:ext cx="152705" cy="171907"/>
          </a:xfrm>
          <a:prstGeom prst="rect">
            <a:avLst/>
          </a:prstGeom>
        </p:spPr>
      </p:pic>
      <p:pic>
        <p:nvPicPr>
          <p:cNvPr id="35" name="Image 12" descr="preencoded.png"/>
          <p:cNvPicPr>
            <a:picLocks noChangeAspect="1"/>
          </p:cNvPicPr>
          <p:nvPr/>
        </p:nvPicPr>
        <p:blipFill>
          <a:blip r:embed="rId12"/>
          <a:srcRect l="-760" r="-760"/>
          <a:stretch>
            <a:fillRect/>
          </a:stretch>
        </p:blipFill>
        <p:spPr>
          <a:xfrm>
            <a:off x="5385816" y="2352751"/>
            <a:ext cx="152705" cy="171907"/>
          </a:xfrm>
          <a:prstGeom prst="rect">
            <a:avLst/>
          </a:prstGeom>
        </p:spPr>
      </p:pic>
      <p:pic>
        <p:nvPicPr>
          <p:cNvPr id="36" name="Image 13" descr="preencoded.png"/>
          <p:cNvPicPr>
            <a:picLocks noChangeAspect="1"/>
          </p:cNvPicPr>
          <p:nvPr/>
        </p:nvPicPr>
        <p:blipFill>
          <a:blip r:embed="rId12"/>
          <a:srcRect l="-760" r="-760"/>
          <a:stretch>
            <a:fillRect/>
          </a:stretch>
        </p:blipFill>
        <p:spPr>
          <a:xfrm>
            <a:off x="7162495" y="2352751"/>
            <a:ext cx="152705" cy="171907"/>
          </a:xfrm>
          <a:prstGeom prst="rect">
            <a:avLst/>
          </a:prstGeom>
        </p:spPr>
      </p:pic>
      <p:pic>
        <p:nvPicPr>
          <p:cNvPr id="37" name="Image 14" descr="preencoded.png"/>
          <p:cNvPicPr>
            <a:picLocks noChangeAspect="1"/>
          </p:cNvPicPr>
          <p:nvPr/>
        </p:nvPicPr>
        <p:blipFill>
          <a:blip r:embed="rId13"/>
          <a:srcRect/>
          <a:stretch>
            <a:fillRect/>
          </a:stretch>
        </p:blipFill>
        <p:spPr>
          <a:xfrm>
            <a:off x="1447495" y="2822753"/>
            <a:ext cx="142646" cy="142646"/>
          </a:xfrm>
          <a:prstGeom prst="rect">
            <a:avLst/>
          </a:prstGeom>
        </p:spPr>
      </p:pic>
      <p:sp>
        <p:nvSpPr>
          <p:cNvPr id="38" name="Shape 21"/>
          <p:cNvSpPr/>
          <p:nvPr/>
        </p:nvSpPr>
        <p:spPr>
          <a:xfrm>
            <a:off x="875995" y="3657600"/>
            <a:ext cx="418795" cy="418795"/>
          </a:xfrm>
          <a:prstGeom prst="roundRect">
            <a:avLst>
              <a:gd name="adj" fmla="val 79397"/>
            </a:avLst>
          </a:prstGeom>
          <a:solidFill>
            <a:srgbClr val="3B82F6">
              <a:alpha val="10000"/>
            </a:srgbClr>
          </a:solidFill>
          <a:ln w="12700">
            <a:solidFill>
              <a:srgbClr val="FFFFFF">
                <a:alpha val="0"/>
              </a:srgbClr>
            </a:solidFill>
            <a:prstDash val="solid"/>
          </a:ln>
        </p:spPr>
      </p:sp>
      <p:pic>
        <p:nvPicPr>
          <p:cNvPr id="39" name="Image 15" descr="preencoded.png"/>
          <p:cNvPicPr>
            <a:picLocks noChangeAspect="1"/>
          </p:cNvPicPr>
          <p:nvPr/>
        </p:nvPicPr>
        <p:blipFill>
          <a:blip r:embed="rId14"/>
          <a:srcRect/>
          <a:stretch>
            <a:fillRect/>
          </a:stretch>
        </p:blipFill>
        <p:spPr>
          <a:xfrm>
            <a:off x="990295" y="3771900"/>
            <a:ext cx="190195" cy="190195"/>
          </a:xfrm>
          <a:prstGeom prst="rect">
            <a:avLst/>
          </a:prstGeom>
        </p:spPr>
      </p:pic>
      <p:sp>
        <p:nvSpPr>
          <p:cNvPr id="40" name="Text 22"/>
          <p:cNvSpPr txBox="1"/>
          <p:nvPr/>
        </p:nvSpPr>
        <p:spPr>
          <a:xfrm>
            <a:off x="1447495" y="3672230"/>
            <a:ext cx="7277710" cy="286207"/>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Requirement R2: Role-based permission control for pages and features</a:t>
            </a:r>
            <a:endParaRPr lang="en-US" sz="1500" dirty="0">
              <a:ea typeface="Noto Sans SC" panose="020B0200000000000000" pitchFamily="34" charset="-122"/>
              <a:cs typeface="Noto Sans SC" panose="020B0200000000000000" pitchFamily="34" charset="-122"/>
            </a:endParaRPr>
          </a:p>
        </p:txBody>
      </p:sp>
      <p:pic>
        <p:nvPicPr>
          <p:cNvPr id="41" name="Image 16" descr="preencoded.png"/>
          <p:cNvPicPr>
            <a:picLocks noChangeAspect="1"/>
          </p:cNvPicPr>
          <p:nvPr/>
        </p:nvPicPr>
        <p:blipFill>
          <a:blip r:embed="rId6"/>
          <a:srcRect l="-244" r="-244"/>
          <a:stretch>
            <a:fillRect/>
          </a:stretch>
        </p:blipFill>
        <p:spPr>
          <a:xfrm>
            <a:off x="8185709" y="3657600"/>
            <a:ext cx="1067105" cy="314554"/>
          </a:xfrm>
          <a:prstGeom prst="rect">
            <a:avLst/>
          </a:prstGeom>
        </p:spPr>
      </p:pic>
      <p:sp>
        <p:nvSpPr>
          <p:cNvPr id="42" name="Text 23"/>
          <p:cNvSpPr txBox="1"/>
          <p:nvPr/>
        </p:nvSpPr>
        <p:spPr>
          <a:xfrm>
            <a:off x="8528609" y="3657600"/>
            <a:ext cx="724205" cy="314554"/>
          </a:xfrm>
          <a:prstGeom prst="rect">
            <a:avLst/>
          </a:prstGeom>
          <a:noFill/>
        </p:spPr>
        <p:txBody>
          <a:bodyPr wrap="square" lIns="0" tIns="0" rIns="0" bIns="0" rtlCol="0" anchor="ctr"/>
          <a:lstStyle/>
          <a:p>
            <a:pPr marL="0" indent="0" algn="l">
              <a:buNone/>
            </a:pPr>
            <a:r>
              <a:rPr lang="en-US" sz="10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 Accepted </a:t>
            </a:r>
            <a:endParaRPr lang="en-US" sz="1000" dirty="0">
              <a:ea typeface="Noto Sans SC" panose="020B0200000000000000" pitchFamily="34" charset="-122"/>
              <a:cs typeface="Noto Sans SC" panose="020B0200000000000000" pitchFamily="34" charset="-122"/>
            </a:endParaRPr>
          </a:p>
        </p:txBody>
      </p:sp>
      <p:pic>
        <p:nvPicPr>
          <p:cNvPr id="43" name="Image 17" descr="preencoded.png"/>
          <p:cNvPicPr>
            <a:picLocks noChangeAspect="1"/>
          </p:cNvPicPr>
          <p:nvPr/>
        </p:nvPicPr>
        <p:blipFill>
          <a:blip r:embed="rId7"/>
          <a:srcRect/>
          <a:stretch>
            <a:fillRect/>
          </a:stretch>
        </p:blipFill>
        <p:spPr>
          <a:xfrm>
            <a:off x="8319211" y="3748126"/>
            <a:ext cx="133502" cy="133502"/>
          </a:xfrm>
          <a:prstGeom prst="rect">
            <a:avLst/>
          </a:prstGeom>
        </p:spPr>
      </p:pic>
      <p:sp>
        <p:nvSpPr>
          <p:cNvPr id="44" name="Shape 24"/>
          <p:cNvSpPr/>
          <p:nvPr/>
        </p:nvSpPr>
        <p:spPr>
          <a:xfrm>
            <a:off x="1447495" y="4086454"/>
            <a:ext cx="1067105" cy="409651"/>
          </a:xfrm>
          <a:prstGeom prst="roundRect">
            <a:avLst>
              <a:gd name="adj" fmla="val 207641"/>
            </a:avLst>
          </a:prstGeom>
          <a:solidFill>
            <a:srgbClr val="F1F5F9"/>
          </a:solidFill>
          <a:ln w="12700">
            <a:solidFill>
              <a:srgbClr val="FFFFFF">
                <a:alpha val="0"/>
              </a:srgbClr>
            </a:solidFill>
            <a:prstDash val="solid"/>
          </a:ln>
        </p:spPr>
      </p:sp>
      <p:pic>
        <p:nvPicPr>
          <p:cNvPr id="45" name="Image 18" descr="preencoded.png"/>
          <p:cNvPicPr>
            <a:picLocks noChangeAspect="1"/>
          </p:cNvPicPr>
          <p:nvPr/>
        </p:nvPicPr>
        <p:blipFill>
          <a:blip r:embed="rId15"/>
          <a:srcRect l="-769" r="-769"/>
          <a:stretch>
            <a:fillRect/>
          </a:stretch>
        </p:blipFill>
        <p:spPr>
          <a:xfrm>
            <a:off x="1638605" y="4217213"/>
            <a:ext cx="181051" cy="142646"/>
          </a:xfrm>
          <a:prstGeom prst="rect">
            <a:avLst/>
          </a:prstGeom>
        </p:spPr>
      </p:pic>
      <p:sp>
        <p:nvSpPr>
          <p:cNvPr id="46" name="Text 25"/>
          <p:cNvSpPr txBox="1"/>
          <p:nvPr/>
        </p:nvSpPr>
        <p:spPr>
          <a:xfrm>
            <a:off x="1914754" y="4086454"/>
            <a:ext cx="409651" cy="409651"/>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Policy</a:t>
            </a:r>
            <a:endParaRPr lang="en-US" sz="1100" dirty="0">
              <a:ea typeface="Noto Sans SC" panose="020B0200000000000000" pitchFamily="34" charset="-122"/>
              <a:cs typeface="Noto Sans SC" panose="020B0200000000000000" pitchFamily="34" charset="-122"/>
            </a:endParaRPr>
          </a:p>
        </p:txBody>
      </p:sp>
      <p:sp>
        <p:nvSpPr>
          <p:cNvPr id="47" name="Shape 26"/>
          <p:cNvSpPr/>
          <p:nvPr/>
        </p:nvSpPr>
        <p:spPr>
          <a:xfrm>
            <a:off x="2943454" y="4086454"/>
            <a:ext cx="2628900" cy="409651"/>
          </a:xfrm>
          <a:prstGeom prst="roundRect">
            <a:avLst>
              <a:gd name="adj" fmla="val 207641"/>
            </a:avLst>
          </a:prstGeom>
          <a:solidFill>
            <a:srgbClr val="F1F5F9"/>
          </a:solidFill>
          <a:ln w="12700">
            <a:solidFill>
              <a:srgbClr val="FFFFFF">
                <a:alpha val="0"/>
              </a:srgbClr>
            </a:solidFill>
            <a:prstDash val="solid"/>
          </a:ln>
        </p:spPr>
      </p:sp>
      <p:pic>
        <p:nvPicPr>
          <p:cNvPr id="48" name="Image 19" descr="preencoded.png"/>
          <p:cNvPicPr>
            <a:picLocks noChangeAspect="1"/>
          </p:cNvPicPr>
          <p:nvPr/>
        </p:nvPicPr>
        <p:blipFill>
          <a:blip r:embed="rId16"/>
          <a:srcRect/>
          <a:stretch>
            <a:fillRect/>
          </a:stretch>
        </p:blipFill>
        <p:spPr>
          <a:xfrm>
            <a:off x="3134563" y="4217213"/>
            <a:ext cx="142646" cy="142646"/>
          </a:xfrm>
          <a:prstGeom prst="rect">
            <a:avLst/>
          </a:prstGeom>
        </p:spPr>
      </p:pic>
      <p:sp>
        <p:nvSpPr>
          <p:cNvPr id="49" name="Text 27"/>
          <p:cNvSpPr txBox="1"/>
          <p:nvPr/>
        </p:nvSpPr>
        <p:spPr>
          <a:xfrm>
            <a:off x="3372307" y="4086454"/>
            <a:ext cx="2009851" cy="409651"/>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asyncRoutes/permission store</a:t>
            </a:r>
            <a:endParaRPr lang="en-US" sz="1100" dirty="0">
              <a:ea typeface="Noto Sans SC" panose="020B0200000000000000" pitchFamily="34" charset="-122"/>
              <a:cs typeface="Noto Sans SC" panose="020B0200000000000000" pitchFamily="34" charset="-122"/>
            </a:endParaRPr>
          </a:p>
        </p:txBody>
      </p:sp>
      <p:sp>
        <p:nvSpPr>
          <p:cNvPr id="50" name="Shape 28"/>
          <p:cNvSpPr/>
          <p:nvPr/>
        </p:nvSpPr>
        <p:spPr>
          <a:xfrm>
            <a:off x="6005779" y="4086454"/>
            <a:ext cx="1447495" cy="409651"/>
          </a:xfrm>
          <a:prstGeom prst="roundRect">
            <a:avLst>
              <a:gd name="adj" fmla="val 207641"/>
            </a:avLst>
          </a:prstGeom>
          <a:solidFill>
            <a:srgbClr val="F1F5F9"/>
          </a:solidFill>
          <a:ln w="12700">
            <a:solidFill>
              <a:srgbClr val="FFFFFF">
                <a:alpha val="0"/>
              </a:srgbClr>
            </a:solidFill>
            <a:prstDash val="solid"/>
          </a:ln>
        </p:spPr>
      </p:sp>
      <p:pic>
        <p:nvPicPr>
          <p:cNvPr id="51" name="Image 20" descr="preencoded.png"/>
          <p:cNvPicPr>
            <a:picLocks noChangeAspect="1"/>
          </p:cNvPicPr>
          <p:nvPr/>
        </p:nvPicPr>
        <p:blipFill>
          <a:blip r:embed="rId17"/>
          <a:srcRect/>
          <a:stretch>
            <a:fillRect/>
          </a:stretch>
        </p:blipFill>
        <p:spPr>
          <a:xfrm>
            <a:off x="6195974" y="4217213"/>
            <a:ext cx="142646" cy="142646"/>
          </a:xfrm>
          <a:prstGeom prst="rect">
            <a:avLst/>
          </a:prstGeom>
        </p:spPr>
      </p:pic>
      <p:sp>
        <p:nvSpPr>
          <p:cNvPr id="52" name="Text 29"/>
          <p:cNvSpPr txBox="1"/>
          <p:nvPr/>
        </p:nvSpPr>
        <p:spPr>
          <a:xfrm>
            <a:off x="6433718" y="4086454"/>
            <a:ext cx="829361" cy="409651"/>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Token check</a:t>
            </a:r>
            <a:endParaRPr lang="en-US" sz="1100" dirty="0">
              <a:ea typeface="Noto Sans SC" panose="020B0200000000000000" pitchFamily="34" charset="-122"/>
              <a:cs typeface="Noto Sans SC" panose="020B0200000000000000" pitchFamily="34" charset="-122"/>
            </a:endParaRPr>
          </a:p>
        </p:txBody>
      </p:sp>
      <p:sp>
        <p:nvSpPr>
          <p:cNvPr id="53" name="Shape 30"/>
          <p:cNvSpPr/>
          <p:nvPr/>
        </p:nvSpPr>
        <p:spPr>
          <a:xfrm>
            <a:off x="7888529" y="4086454"/>
            <a:ext cx="1876349" cy="409651"/>
          </a:xfrm>
          <a:prstGeom prst="roundRect">
            <a:avLst>
              <a:gd name="adj" fmla="val 207641"/>
            </a:avLst>
          </a:prstGeom>
          <a:solidFill>
            <a:srgbClr val="F1F5F9"/>
          </a:solidFill>
          <a:ln w="12700">
            <a:solidFill>
              <a:srgbClr val="FFFFFF">
                <a:alpha val="0"/>
              </a:srgbClr>
            </a:solidFill>
            <a:prstDash val="solid"/>
          </a:ln>
        </p:spPr>
      </p:sp>
      <p:pic>
        <p:nvPicPr>
          <p:cNvPr id="54" name="Image 21" descr="preencoded.png"/>
          <p:cNvPicPr>
            <a:picLocks noChangeAspect="1"/>
          </p:cNvPicPr>
          <p:nvPr/>
        </p:nvPicPr>
        <p:blipFill>
          <a:blip r:embed="rId18"/>
          <a:srcRect l="-428" r="-428"/>
          <a:stretch>
            <a:fillRect/>
          </a:stretch>
        </p:blipFill>
        <p:spPr>
          <a:xfrm>
            <a:off x="8078724" y="4217213"/>
            <a:ext cx="161849" cy="142646"/>
          </a:xfrm>
          <a:prstGeom prst="rect">
            <a:avLst/>
          </a:prstGeom>
        </p:spPr>
      </p:pic>
      <p:sp>
        <p:nvSpPr>
          <p:cNvPr id="55" name="Text 31"/>
          <p:cNvSpPr txBox="1"/>
          <p:nvPr/>
        </p:nvSpPr>
        <p:spPr>
          <a:xfrm>
            <a:off x="8335670" y="4086454"/>
            <a:ext cx="1239012" cy="409651"/>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Role-based menus</a:t>
            </a:r>
            <a:endParaRPr lang="en-US" sz="1100" dirty="0">
              <a:ea typeface="Noto Sans SC" panose="020B0200000000000000" pitchFamily="34" charset="-122"/>
              <a:cs typeface="Noto Sans SC" panose="020B0200000000000000" pitchFamily="34" charset="-122"/>
            </a:endParaRPr>
          </a:p>
        </p:txBody>
      </p:sp>
      <p:sp>
        <p:nvSpPr>
          <p:cNvPr id="56" name="Text 32"/>
          <p:cNvSpPr txBox="1"/>
          <p:nvPr/>
        </p:nvSpPr>
        <p:spPr>
          <a:xfrm>
            <a:off x="1698955" y="4643323"/>
            <a:ext cx="9560052" cy="219456"/>
          </a:xfrm>
          <a:prstGeom prst="rect">
            <a:avLst/>
          </a:prstGeom>
          <a:noFill/>
        </p:spPr>
        <p:txBody>
          <a:bodyPr wrap="square" lIns="0" tIns="0" rIns="0" bIns="0" rtlCol="0" anchor="ctr"/>
          <a:lstStyle/>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 Acceptance Criteria: Different roles only see their respective menus, permission control 100% accurate </a:t>
            </a:r>
            <a:endParaRPr lang="en-US" sz="1100" dirty="0">
              <a:ea typeface="Noto Sans SC" panose="020B0200000000000000" pitchFamily="34" charset="-122"/>
              <a:cs typeface="Noto Sans SC" panose="020B0200000000000000" pitchFamily="34" charset="-122"/>
            </a:endParaRPr>
          </a:p>
        </p:txBody>
      </p:sp>
      <p:pic>
        <p:nvPicPr>
          <p:cNvPr id="57" name="Image 22" descr="preencoded.png"/>
          <p:cNvPicPr>
            <a:picLocks noChangeAspect="1"/>
          </p:cNvPicPr>
          <p:nvPr/>
        </p:nvPicPr>
        <p:blipFill>
          <a:blip r:embed="rId12"/>
          <a:srcRect l="-760" r="-760"/>
          <a:stretch>
            <a:fillRect/>
          </a:stretch>
        </p:blipFill>
        <p:spPr>
          <a:xfrm>
            <a:off x="2648102" y="4209898"/>
            <a:ext cx="152705" cy="171907"/>
          </a:xfrm>
          <a:prstGeom prst="rect">
            <a:avLst/>
          </a:prstGeom>
        </p:spPr>
      </p:pic>
      <p:pic>
        <p:nvPicPr>
          <p:cNvPr id="58" name="Image 23" descr="preencoded.png"/>
          <p:cNvPicPr>
            <a:picLocks noChangeAspect="1"/>
          </p:cNvPicPr>
          <p:nvPr/>
        </p:nvPicPr>
        <p:blipFill>
          <a:blip r:embed="rId12"/>
          <a:srcRect l="-760" r="-760"/>
          <a:stretch>
            <a:fillRect/>
          </a:stretch>
        </p:blipFill>
        <p:spPr>
          <a:xfrm>
            <a:off x="5710428" y="4209898"/>
            <a:ext cx="152705" cy="171907"/>
          </a:xfrm>
          <a:prstGeom prst="rect">
            <a:avLst/>
          </a:prstGeom>
        </p:spPr>
      </p:pic>
      <p:pic>
        <p:nvPicPr>
          <p:cNvPr id="59" name="Image 24" descr="preencoded.png"/>
          <p:cNvPicPr>
            <a:picLocks noChangeAspect="1"/>
          </p:cNvPicPr>
          <p:nvPr/>
        </p:nvPicPr>
        <p:blipFill>
          <a:blip r:embed="rId12"/>
          <a:srcRect l="-760" r="-760"/>
          <a:stretch>
            <a:fillRect/>
          </a:stretch>
        </p:blipFill>
        <p:spPr>
          <a:xfrm>
            <a:off x="7593178" y="4209898"/>
            <a:ext cx="152705" cy="171907"/>
          </a:xfrm>
          <a:prstGeom prst="rect">
            <a:avLst/>
          </a:prstGeom>
        </p:spPr>
      </p:pic>
      <p:pic>
        <p:nvPicPr>
          <p:cNvPr id="60" name="Image 25" descr="preencoded.png"/>
          <p:cNvPicPr>
            <a:picLocks noChangeAspect="1"/>
          </p:cNvPicPr>
          <p:nvPr/>
        </p:nvPicPr>
        <p:blipFill>
          <a:blip r:embed="rId13"/>
          <a:srcRect/>
          <a:stretch>
            <a:fillRect/>
          </a:stretch>
        </p:blipFill>
        <p:spPr>
          <a:xfrm>
            <a:off x="1447495" y="4679899"/>
            <a:ext cx="142646" cy="142646"/>
          </a:xfrm>
          <a:prstGeom prst="rect">
            <a:avLst/>
          </a:prstGeom>
        </p:spPr>
      </p:pic>
      <p:sp>
        <p:nvSpPr>
          <p:cNvPr id="61" name="Text 33"/>
          <p:cNvSpPr txBox="1"/>
          <p:nvPr/>
        </p:nvSpPr>
        <p:spPr>
          <a:xfrm>
            <a:off x="875995" y="5572354"/>
            <a:ext cx="10439705" cy="553212"/>
          </a:xfrm>
          <a:prstGeom prst="rect">
            <a:avLst/>
          </a:prstGeom>
          <a:noFill/>
        </p:spPr>
        <p:txBody>
          <a:bodyPr wrap="square" lIns="0" tIns="0" rIns="0" bIns="0" rtlCol="0" anchor="ctr"/>
          <a:lstStyle/>
          <a:p>
            <a:pPr marL="0" indent="0" algn="l">
              <a:buNone/>
            </a:pPr>
            <a:r>
              <a:rPr lang="en-US" sz="13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Traceability Value:</a:t>
            </a:r>
            <a:r>
              <a:rPr lang="en-US" sz="13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Every requirement can be traced to specific roles, pages, APIs, and acceptance actions, ensuring no requirements are lost, implementation is traceable, and testing is verifiable, forming a complete project management closed loop. </a:t>
            </a:r>
            <a:endParaRPr lang="en-US" sz="1300" dirty="0">
              <a:ea typeface="Noto Sans SC" panose="020B0200000000000000" pitchFamily="34" charset="-122"/>
              <a:cs typeface="Noto Sans SC" panose="020B0200000000000000"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5" name="Shape 2"/>
          <p:cNvSpPr/>
          <p:nvPr/>
        </p:nvSpPr>
        <p:spPr>
          <a:xfrm>
            <a:off x="571500" y="1524305"/>
            <a:ext cx="6715354" cy="1495044"/>
          </a:xfrm>
          <a:prstGeom prst="roundRect">
            <a:avLst>
              <a:gd name="adj" fmla="val 9350"/>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sp>
        <p:nvSpPr>
          <p:cNvPr id="6" name="Shape 3"/>
          <p:cNvSpPr/>
          <p:nvPr/>
        </p:nvSpPr>
        <p:spPr>
          <a:xfrm>
            <a:off x="571500" y="1524305"/>
            <a:ext cx="38405" cy="1495044"/>
          </a:xfrm>
          <a:prstGeom prst="roundRect">
            <a:avLst>
              <a:gd name="adj" fmla="val 363965"/>
            </a:avLst>
          </a:prstGeom>
          <a:solidFill>
            <a:srgbClr val="3B82F6"/>
          </a:solidFill>
          <a:ln w="12700">
            <a:solidFill>
              <a:srgbClr val="3B82F6">
                <a:alpha val="0"/>
              </a:srgbClr>
            </a:solidFill>
            <a:prstDash val="solid"/>
          </a:ln>
        </p:spPr>
      </p:sp>
      <p:sp>
        <p:nvSpPr>
          <p:cNvPr id="7" name="Shape 4"/>
          <p:cNvSpPr/>
          <p:nvPr/>
        </p:nvSpPr>
        <p:spPr>
          <a:xfrm>
            <a:off x="7429500" y="1524305"/>
            <a:ext cx="4238244" cy="1495044"/>
          </a:xfrm>
          <a:prstGeom prst="roundRect">
            <a:avLst>
              <a:gd name="adj" fmla="val 9350"/>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sp>
        <p:nvSpPr>
          <p:cNvPr id="8" name="Shape 5"/>
          <p:cNvSpPr/>
          <p:nvPr/>
        </p:nvSpPr>
        <p:spPr>
          <a:xfrm>
            <a:off x="7429500" y="1524305"/>
            <a:ext cx="38405" cy="1495044"/>
          </a:xfrm>
          <a:prstGeom prst="roundRect">
            <a:avLst>
              <a:gd name="adj" fmla="val 363965"/>
            </a:avLst>
          </a:prstGeom>
          <a:solidFill>
            <a:srgbClr val="3B82F6"/>
          </a:solidFill>
          <a:ln w="12700">
            <a:solidFill>
              <a:srgbClr val="3B82F6">
                <a:alpha val="0"/>
              </a:srgbClr>
            </a:solidFill>
            <a:prstDash val="solid"/>
          </a:ln>
        </p:spPr>
      </p:sp>
      <p:sp>
        <p:nvSpPr>
          <p:cNvPr id="9" name="Shape 6"/>
          <p:cNvSpPr/>
          <p:nvPr/>
        </p:nvSpPr>
        <p:spPr>
          <a:xfrm>
            <a:off x="571500" y="3152851"/>
            <a:ext cx="5477256" cy="1495044"/>
          </a:xfrm>
          <a:prstGeom prst="roundRect">
            <a:avLst>
              <a:gd name="adj" fmla="val 9350"/>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sp>
        <p:nvSpPr>
          <p:cNvPr id="10" name="Shape 7"/>
          <p:cNvSpPr/>
          <p:nvPr/>
        </p:nvSpPr>
        <p:spPr>
          <a:xfrm>
            <a:off x="571500" y="3152851"/>
            <a:ext cx="38405" cy="1495044"/>
          </a:xfrm>
          <a:prstGeom prst="roundRect">
            <a:avLst>
              <a:gd name="adj" fmla="val 363965"/>
            </a:avLst>
          </a:prstGeom>
          <a:solidFill>
            <a:srgbClr val="10B981"/>
          </a:solidFill>
          <a:ln w="12700">
            <a:solidFill>
              <a:srgbClr val="10B981">
                <a:alpha val="0"/>
              </a:srgbClr>
            </a:solidFill>
            <a:prstDash val="solid"/>
          </a:ln>
        </p:spPr>
      </p:sp>
      <p:sp>
        <p:nvSpPr>
          <p:cNvPr id="11" name="Shape 8"/>
          <p:cNvSpPr/>
          <p:nvPr/>
        </p:nvSpPr>
        <p:spPr>
          <a:xfrm>
            <a:off x="6191402" y="3152851"/>
            <a:ext cx="5477256" cy="1495044"/>
          </a:xfrm>
          <a:prstGeom prst="roundRect">
            <a:avLst>
              <a:gd name="adj" fmla="val 9350"/>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sp>
        <p:nvSpPr>
          <p:cNvPr id="12" name="Shape 9"/>
          <p:cNvSpPr/>
          <p:nvPr/>
        </p:nvSpPr>
        <p:spPr>
          <a:xfrm>
            <a:off x="6191402" y="3152851"/>
            <a:ext cx="38405" cy="1495044"/>
          </a:xfrm>
          <a:prstGeom prst="roundRect">
            <a:avLst>
              <a:gd name="adj" fmla="val 363965"/>
            </a:avLst>
          </a:prstGeom>
          <a:solidFill>
            <a:srgbClr val="10B981"/>
          </a:solidFill>
          <a:ln w="12700">
            <a:solidFill>
              <a:srgbClr val="10B981">
                <a:alpha val="0"/>
              </a:srgbClr>
            </a:solidFill>
            <a:prstDash val="solid"/>
          </a:ln>
        </p:spPr>
      </p:sp>
      <p:sp>
        <p:nvSpPr>
          <p:cNvPr id="13" name="Shape 10"/>
          <p:cNvSpPr/>
          <p:nvPr/>
        </p:nvSpPr>
        <p:spPr>
          <a:xfrm>
            <a:off x="571500" y="4781398"/>
            <a:ext cx="5477256" cy="1162202"/>
          </a:xfrm>
          <a:prstGeom prst="roundRect">
            <a:avLst>
              <a:gd name="adj" fmla="val 15478"/>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sp>
        <p:nvSpPr>
          <p:cNvPr id="14" name="Shape 11"/>
          <p:cNvSpPr/>
          <p:nvPr/>
        </p:nvSpPr>
        <p:spPr>
          <a:xfrm>
            <a:off x="571500" y="4781398"/>
            <a:ext cx="38405" cy="1162202"/>
          </a:xfrm>
          <a:prstGeom prst="roundRect">
            <a:avLst>
              <a:gd name="adj" fmla="val 468382"/>
            </a:avLst>
          </a:prstGeom>
          <a:solidFill>
            <a:srgbClr val="F59E0B"/>
          </a:solidFill>
          <a:ln w="12700">
            <a:solidFill>
              <a:srgbClr val="F59E0B">
                <a:alpha val="0"/>
              </a:srgbClr>
            </a:solidFill>
            <a:prstDash val="solid"/>
          </a:ln>
        </p:spPr>
      </p:sp>
      <p:sp>
        <p:nvSpPr>
          <p:cNvPr id="15" name="Shape 12"/>
          <p:cNvSpPr/>
          <p:nvPr/>
        </p:nvSpPr>
        <p:spPr>
          <a:xfrm>
            <a:off x="6191402" y="4781398"/>
            <a:ext cx="5477256" cy="1162202"/>
          </a:xfrm>
          <a:prstGeom prst="roundRect">
            <a:avLst>
              <a:gd name="adj" fmla="val 15478"/>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sp>
        <p:nvSpPr>
          <p:cNvPr id="16" name="Shape 13"/>
          <p:cNvSpPr/>
          <p:nvPr/>
        </p:nvSpPr>
        <p:spPr>
          <a:xfrm>
            <a:off x="6191402" y="4781398"/>
            <a:ext cx="38405" cy="1162202"/>
          </a:xfrm>
          <a:prstGeom prst="roundRect">
            <a:avLst>
              <a:gd name="adj" fmla="val 468382"/>
            </a:avLst>
          </a:prstGeom>
          <a:solidFill>
            <a:srgbClr val="F59E0B"/>
          </a:solidFill>
          <a:ln w="12700">
            <a:solidFill>
              <a:srgbClr val="F59E0B">
                <a:alpha val="0"/>
              </a:srgbClr>
            </a:solidFill>
            <a:prstDash val="solid"/>
          </a:ln>
        </p:spPr>
      </p:sp>
      <p:pic>
        <p:nvPicPr>
          <p:cNvPr id="17" name="Image 1" descr="preencoded.png"/>
          <p:cNvPicPr>
            <a:picLocks noChangeAspect="1"/>
          </p:cNvPicPr>
          <p:nvPr/>
        </p:nvPicPr>
        <p:blipFill>
          <a:blip r:embed="rId2"/>
          <a:srcRect t="-26" b="-26"/>
          <a:stretch>
            <a:fillRect/>
          </a:stretch>
        </p:blipFill>
        <p:spPr>
          <a:xfrm>
            <a:off x="571500" y="6077102"/>
            <a:ext cx="11067898" cy="609905"/>
          </a:xfrm>
          <a:prstGeom prst="rect">
            <a:avLst/>
          </a:prstGeom>
        </p:spPr>
      </p:pic>
      <p:sp>
        <p:nvSpPr>
          <p:cNvPr id="18" name="Shape 14"/>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9" name="Image 2" descr="preencoded.png"/>
          <p:cNvPicPr>
            <a:picLocks noChangeAspect="1"/>
          </p:cNvPicPr>
          <p:nvPr/>
        </p:nvPicPr>
        <p:blipFill>
          <a:blip r:embed="rId3"/>
          <a:srcRect t="-20060" b="-20060"/>
          <a:stretch>
            <a:fillRect/>
          </a:stretch>
        </p:blipFill>
        <p:spPr>
          <a:xfrm>
            <a:off x="724205" y="286207"/>
            <a:ext cx="152705" cy="190195"/>
          </a:xfrm>
          <a:prstGeom prst="rect">
            <a:avLst/>
          </a:prstGeom>
        </p:spPr>
      </p:pic>
      <p:sp>
        <p:nvSpPr>
          <p:cNvPr id="20" name="Text 15"/>
          <p:cNvSpPr txBox="1"/>
          <p:nvPr/>
        </p:nvSpPr>
        <p:spPr>
          <a:xfrm>
            <a:off x="1218895" y="190195"/>
            <a:ext cx="9525305" cy="438912"/>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WBS Work Breakdown Structure (Six Modules)</a:t>
            </a:r>
            <a:endParaRPr lang="en-US" sz="2400" dirty="0">
              <a:ea typeface="Noto Sans SC" panose="020B0200000000000000" pitchFamily="34" charset="-122"/>
              <a:cs typeface="Noto Sans SC" panose="020B0200000000000000" pitchFamily="34" charset="-122"/>
            </a:endParaRPr>
          </a:p>
        </p:txBody>
      </p:sp>
      <p:sp>
        <p:nvSpPr>
          <p:cNvPr id="21" name="Text 16"/>
          <p:cNvSpPr txBox="1"/>
          <p:nvPr/>
        </p:nvSpPr>
        <p:spPr>
          <a:xfrm>
            <a:off x="875995" y="952805"/>
            <a:ext cx="10745114" cy="352958"/>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Project Work Breakdown and Module Relationship Diagram </a:t>
            </a:r>
            <a:endParaRPr lang="en-US" sz="1900" dirty="0">
              <a:ea typeface="Noto Sans SC" panose="020B0200000000000000" pitchFamily="34" charset="-122"/>
              <a:cs typeface="Noto Sans SC" panose="020B0200000000000000" pitchFamily="34" charset="-122"/>
            </a:endParaRPr>
          </a:p>
        </p:txBody>
      </p:sp>
      <p:pic>
        <p:nvPicPr>
          <p:cNvPr id="22" name="Image 3" descr="preencoded.png"/>
          <p:cNvPicPr>
            <a:picLocks noChangeAspect="1"/>
          </p:cNvPicPr>
          <p:nvPr/>
        </p:nvPicPr>
        <p:blipFill>
          <a:blip r:embed="rId4"/>
          <a:srcRect t="-23287" b="-23287"/>
          <a:stretch>
            <a:fillRect/>
          </a:stretch>
        </p:blipFill>
        <p:spPr>
          <a:xfrm>
            <a:off x="571500" y="1004926"/>
            <a:ext cx="190195" cy="247802"/>
          </a:xfrm>
          <a:prstGeom prst="rect">
            <a:avLst/>
          </a:prstGeom>
        </p:spPr>
      </p:pic>
      <p:sp>
        <p:nvSpPr>
          <p:cNvPr id="23" name="Shape 17"/>
          <p:cNvSpPr/>
          <p:nvPr/>
        </p:nvSpPr>
        <p:spPr>
          <a:xfrm>
            <a:off x="761695" y="1676095"/>
            <a:ext cx="304495" cy="304495"/>
          </a:xfrm>
          <a:prstGeom prst="roundRect">
            <a:avLst>
              <a:gd name="adj" fmla="val 150150"/>
            </a:avLst>
          </a:prstGeom>
          <a:solidFill>
            <a:srgbClr val="3B82F6">
              <a:alpha val="10000"/>
            </a:srgbClr>
          </a:solidFill>
          <a:ln w="12700">
            <a:solidFill>
              <a:srgbClr val="FFFFFF">
                <a:alpha val="0"/>
              </a:srgbClr>
            </a:solidFill>
            <a:prstDash val="solid"/>
          </a:ln>
        </p:spPr>
      </p:sp>
      <p:pic>
        <p:nvPicPr>
          <p:cNvPr id="24" name="Image 4" descr="preencoded.png"/>
          <p:cNvPicPr>
            <a:picLocks noChangeAspect="1"/>
          </p:cNvPicPr>
          <p:nvPr/>
        </p:nvPicPr>
        <p:blipFill>
          <a:blip r:embed="rId5"/>
          <a:srcRect t="-13478" b="-13478"/>
          <a:stretch>
            <a:fillRect/>
          </a:stretch>
        </p:blipFill>
        <p:spPr>
          <a:xfrm>
            <a:off x="862279" y="1762049"/>
            <a:ext cx="105156" cy="133502"/>
          </a:xfrm>
          <a:prstGeom prst="rect">
            <a:avLst/>
          </a:prstGeom>
        </p:spPr>
      </p:pic>
      <p:sp>
        <p:nvSpPr>
          <p:cNvPr id="25" name="Text 18"/>
          <p:cNvSpPr txBox="1"/>
          <p:nvPr/>
        </p:nvSpPr>
        <p:spPr>
          <a:xfrm>
            <a:off x="1181405" y="1714500"/>
            <a:ext cx="5906110" cy="238658"/>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1. Project Initiation &amp; Scope</a:t>
            </a:r>
            <a:endParaRPr lang="en-US" sz="1200" dirty="0">
              <a:ea typeface="Noto Sans SC" panose="020B0200000000000000" pitchFamily="34" charset="-122"/>
              <a:cs typeface="Noto Sans SC" panose="020B0200000000000000" pitchFamily="34" charset="-122"/>
            </a:endParaRPr>
          </a:p>
        </p:txBody>
      </p:sp>
      <p:sp>
        <p:nvSpPr>
          <p:cNvPr id="26" name="Text 19"/>
          <p:cNvSpPr txBox="1"/>
          <p:nvPr/>
        </p:nvSpPr>
        <p:spPr>
          <a:xfrm>
            <a:off x="761695" y="2057400"/>
            <a:ext cx="6286500" cy="400507"/>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Requirements collection, problem analysis, vision/scope definition, stakeholder identification, RTM establishment</a:t>
            </a:r>
            <a:endParaRPr lang="en-US" sz="1000" dirty="0">
              <a:ea typeface="Noto Sans SC" panose="020B0200000000000000" pitchFamily="34" charset="-122"/>
              <a:cs typeface="Noto Sans SC" panose="020B0200000000000000" pitchFamily="34" charset="-122"/>
            </a:endParaRPr>
          </a:p>
        </p:txBody>
      </p:sp>
      <p:sp>
        <p:nvSpPr>
          <p:cNvPr id="27" name="Shape 20"/>
          <p:cNvSpPr/>
          <p:nvPr/>
        </p:nvSpPr>
        <p:spPr>
          <a:xfrm>
            <a:off x="761695" y="2533802"/>
            <a:ext cx="942746" cy="219456"/>
          </a:xfrm>
          <a:prstGeom prst="roundRect">
            <a:avLst>
              <a:gd name="adj" fmla="val 416667"/>
            </a:avLst>
          </a:prstGeom>
          <a:solidFill>
            <a:srgbClr val="F1F5F9"/>
          </a:solidFill>
          <a:ln w="12700">
            <a:solidFill>
              <a:srgbClr val="FFFFFF">
                <a:alpha val="0"/>
              </a:srgbClr>
            </a:solidFill>
            <a:prstDash val="solid"/>
          </a:ln>
        </p:spPr>
      </p:sp>
      <p:sp>
        <p:nvSpPr>
          <p:cNvPr id="28" name="Text 21"/>
          <p:cNvSpPr/>
          <p:nvPr/>
        </p:nvSpPr>
        <p:spPr>
          <a:xfrm>
            <a:off x="761695" y="2533802"/>
            <a:ext cx="943661"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Requirements</a:t>
            </a:r>
            <a:endParaRPr lang="en-US" sz="900" dirty="0">
              <a:ea typeface="Noto Sans SC" panose="020B0200000000000000" pitchFamily="34" charset="-122"/>
              <a:cs typeface="Noto Sans SC" panose="020B0200000000000000" pitchFamily="34" charset="-122"/>
            </a:endParaRPr>
          </a:p>
        </p:txBody>
      </p:sp>
      <p:sp>
        <p:nvSpPr>
          <p:cNvPr id="29" name="Shape 22"/>
          <p:cNvSpPr/>
          <p:nvPr/>
        </p:nvSpPr>
        <p:spPr>
          <a:xfrm>
            <a:off x="1774850" y="2533802"/>
            <a:ext cx="857707" cy="219456"/>
          </a:xfrm>
          <a:prstGeom prst="roundRect">
            <a:avLst>
              <a:gd name="adj" fmla="val 416667"/>
            </a:avLst>
          </a:prstGeom>
          <a:solidFill>
            <a:srgbClr val="F1F5F9"/>
          </a:solidFill>
          <a:ln w="12700">
            <a:solidFill>
              <a:srgbClr val="FFFFFF">
                <a:alpha val="0"/>
              </a:srgbClr>
            </a:solidFill>
            <a:prstDash val="solid"/>
          </a:ln>
        </p:spPr>
      </p:sp>
      <p:sp>
        <p:nvSpPr>
          <p:cNvPr id="30" name="Text 23"/>
          <p:cNvSpPr/>
          <p:nvPr/>
        </p:nvSpPr>
        <p:spPr>
          <a:xfrm>
            <a:off x="1774850" y="2533802"/>
            <a:ext cx="857707"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Scope Mgmt</a:t>
            </a:r>
            <a:endParaRPr lang="en-US" sz="900" dirty="0">
              <a:ea typeface="Noto Sans SC" panose="020B0200000000000000" pitchFamily="34" charset="-122"/>
              <a:cs typeface="Noto Sans SC" panose="020B0200000000000000" pitchFamily="34" charset="-122"/>
            </a:endParaRPr>
          </a:p>
        </p:txBody>
      </p:sp>
      <p:sp>
        <p:nvSpPr>
          <p:cNvPr id="31" name="Shape 24"/>
          <p:cNvSpPr/>
          <p:nvPr/>
        </p:nvSpPr>
        <p:spPr>
          <a:xfrm>
            <a:off x="2700223" y="2533802"/>
            <a:ext cx="428854" cy="219456"/>
          </a:xfrm>
          <a:prstGeom prst="roundRect">
            <a:avLst>
              <a:gd name="adj" fmla="val 416667"/>
            </a:avLst>
          </a:prstGeom>
          <a:solidFill>
            <a:srgbClr val="F1F5F9"/>
          </a:solidFill>
          <a:ln w="12700">
            <a:solidFill>
              <a:srgbClr val="FFFFFF">
                <a:alpha val="0"/>
              </a:srgbClr>
            </a:solidFill>
            <a:prstDash val="solid"/>
          </a:ln>
        </p:spPr>
      </p:sp>
      <p:sp>
        <p:nvSpPr>
          <p:cNvPr id="32" name="Text 25"/>
          <p:cNvSpPr/>
          <p:nvPr/>
        </p:nvSpPr>
        <p:spPr>
          <a:xfrm>
            <a:off x="2700223" y="2533802"/>
            <a:ext cx="428854"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RTM</a:t>
            </a:r>
            <a:endParaRPr lang="en-US" sz="900" dirty="0">
              <a:ea typeface="Noto Sans SC" panose="020B0200000000000000" pitchFamily="34" charset="-122"/>
              <a:cs typeface="Noto Sans SC" panose="020B0200000000000000" pitchFamily="34" charset="-122"/>
            </a:endParaRPr>
          </a:p>
        </p:txBody>
      </p:sp>
      <p:sp>
        <p:nvSpPr>
          <p:cNvPr id="33" name="Shape 26"/>
          <p:cNvSpPr/>
          <p:nvPr/>
        </p:nvSpPr>
        <p:spPr>
          <a:xfrm>
            <a:off x="7619695" y="1676095"/>
            <a:ext cx="304495" cy="304495"/>
          </a:xfrm>
          <a:prstGeom prst="roundRect">
            <a:avLst>
              <a:gd name="adj" fmla="val 150150"/>
            </a:avLst>
          </a:prstGeom>
          <a:solidFill>
            <a:srgbClr val="3B82F6">
              <a:alpha val="10000"/>
            </a:srgbClr>
          </a:solidFill>
          <a:ln w="12700">
            <a:solidFill>
              <a:srgbClr val="FFFFFF">
                <a:alpha val="0"/>
              </a:srgbClr>
            </a:solidFill>
            <a:prstDash val="solid"/>
          </a:ln>
        </p:spPr>
      </p:sp>
      <p:pic>
        <p:nvPicPr>
          <p:cNvPr id="34" name="Image 5" descr="preencoded.png"/>
          <p:cNvPicPr>
            <a:picLocks noChangeAspect="1"/>
          </p:cNvPicPr>
          <p:nvPr/>
        </p:nvPicPr>
        <p:blipFill>
          <a:blip r:embed="rId6"/>
          <a:srcRect t="-13478" b="-13478"/>
          <a:stretch>
            <a:fillRect/>
          </a:stretch>
        </p:blipFill>
        <p:spPr>
          <a:xfrm>
            <a:off x="7720279" y="1762049"/>
            <a:ext cx="105156" cy="133502"/>
          </a:xfrm>
          <a:prstGeom prst="rect">
            <a:avLst/>
          </a:prstGeom>
        </p:spPr>
      </p:pic>
      <p:sp>
        <p:nvSpPr>
          <p:cNvPr id="35" name="Text 27"/>
          <p:cNvSpPr txBox="1"/>
          <p:nvPr/>
        </p:nvSpPr>
        <p:spPr>
          <a:xfrm>
            <a:off x="8039405" y="1714500"/>
            <a:ext cx="3429000" cy="238658"/>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2. System Design</a:t>
            </a:r>
            <a:endParaRPr lang="en-US" sz="1200" dirty="0">
              <a:ea typeface="Noto Sans SC" panose="020B0200000000000000" pitchFamily="34" charset="-122"/>
              <a:cs typeface="Noto Sans SC" panose="020B0200000000000000" pitchFamily="34" charset="-122"/>
            </a:endParaRPr>
          </a:p>
        </p:txBody>
      </p:sp>
      <p:sp>
        <p:nvSpPr>
          <p:cNvPr id="36" name="Text 28"/>
          <p:cNvSpPr txBox="1"/>
          <p:nvPr/>
        </p:nvSpPr>
        <p:spPr>
          <a:xfrm>
            <a:off x="7619695" y="2057400"/>
            <a:ext cx="3810305" cy="400507"/>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Tech stack confirmed, DB ER design, role/permission design, API design, UI style design</a:t>
            </a:r>
            <a:endParaRPr lang="en-US" sz="1000" dirty="0">
              <a:ea typeface="Noto Sans SC" panose="020B0200000000000000" pitchFamily="34" charset="-122"/>
              <a:cs typeface="Noto Sans SC" panose="020B0200000000000000" pitchFamily="34" charset="-122"/>
            </a:endParaRPr>
          </a:p>
        </p:txBody>
      </p:sp>
      <p:sp>
        <p:nvSpPr>
          <p:cNvPr id="37" name="Shape 29"/>
          <p:cNvSpPr/>
          <p:nvPr/>
        </p:nvSpPr>
        <p:spPr>
          <a:xfrm>
            <a:off x="7619695" y="2533802"/>
            <a:ext cx="847649" cy="219456"/>
          </a:xfrm>
          <a:prstGeom prst="roundRect">
            <a:avLst>
              <a:gd name="adj" fmla="val 416667"/>
            </a:avLst>
          </a:prstGeom>
          <a:solidFill>
            <a:srgbClr val="F1F5F9"/>
          </a:solidFill>
          <a:ln w="12700">
            <a:solidFill>
              <a:srgbClr val="FFFFFF">
                <a:alpha val="0"/>
              </a:srgbClr>
            </a:solidFill>
            <a:prstDash val="solid"/>
          </a:ln>
        </p:spPr>
      </p:sp>
      <p:sp>
        <p:nvSpPr>
          <p:cNvPr id="38" name="Text 30"/>
          <p:cNvSpPr/>
          <p:nvPr/>
        </p:nvSpPr>
        <p:spPr>
          <a:xfrm>
            <a:off x="7619695" y="2533802"/>
            <a:ext cx="848563"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Architecture</a:t>
            </a:r>
            <a:endParaRPr lang="en-US" sz="900" dirty="0">
              <a:ea typeface="Noto Sans SC" panose="020B0200000000000000" pitchFamily="34" charset="-122"/>
              <a:cs typeface="Noto Sans SC" panose="020B0200000000000000" pitchFamily="34" charset="-122"/>
            </a:endParaRPr>
          </a:p>
        </p:txBody>
      </p:sp>
      <p:sp>
        <p:nvSpPr>
          <p:cNvPr id="39" name="Shape 31"/>
          <p:cNvSpPr/>
          <p:nvPr/>
        </p:nvSpPr>
        <p:spPr>
          <a:xfrm>
            <a:off x="8537753" y="2533802"/>
            <a:ext cx="685800" cy="219456"/>
          </a:xfrm>
          <a:prstGeom prst="roundRect">
            <a:avLst>
              <a:gd name="adj" fmla="val 416667"/>
            </a:avLst>
          </a:prstGeom>
          <a:solidFill>
            <a:srgbClr val="F1F5F9"/>
          </a:solidFill>
          <a:ln w="12700">
            <a:solidFill>
              <a:srgbClr val="FFFFFF">
                <a:alpha val="0"/>
              </a:srgbClr>
            </a:solidFill>
            <a:prstDash val="solid"/>
          </a:ln>
        </p:spPr>
      </p:sp>
      <p:sp>
        <p:nvSpPr>
          <p:cNvPr id="40" name="Text 32"/>
          <p:cNvSpPr/>
          <p:nvPr/>
        </p:nvSpPr>
        <p:spPr>
          <a:xfrm>
            <a:off x="8537753" y="2533802"/>
            <a:ext cx="685800"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Database</a:t>
            </a:r>
            <a:endParaRPr lang="en-US" sz="900" dirty="0">
              <a:ea typeface="Noto Sans SC" panose="020B0200000000000000" pitchFamily="34" charset="-122"/>
              <a:cs typeface="Noto Sans SC" panose="020B0200000000000000" pitchFamily="34" charset="-122"/>
            </a:endParaRPr>
          </a:p>
        </p:txBody>
      </p:sp>
      <p:sp>
        <p:nvSpPr>
          <p:cNvPr id="41" name="Shape 33"/>
          <p:cNvSpPr/>
          <p:nvPr/>
        </p:nvSpPr>
        <p:spPr>
          <a:xfrm>
            <a:off x="761695" y="3305556"/>
            <a:ext cx="304495" cy="304495"/>
          </a:xfrm>
          <a:prstGeom prst="roundRect">
            <a:avLst>
              <a:gd name="adj" fmla="val 150150"/>
            </a:avLst>
          </a:prstGeom>
          <a:solidFill>
            <a:srgbClr val="3B82F6">
              <a:alpha val="10000"/>
            </a:srgbClr>
          </a:solidFill>
          <a:ln w="12700">
            <a:solidFill>
              <a:srgbClr val="FFFFFF">
                <a:alpha val="0"/>
              </a:srgbClr>
            </a:solidFill>
            <a:prstDash val="solid"/>
          </a:ln>
        </p:spPr>
      </p:sp>
      <p:pic>
        <p:nvPicPr>
          <p:cNvPr id="42" name="Image 6" descr="preencoded.png"/>
          <p:cNvPicPr>
            <a:picLocks noChangeAspect="1"/>
          </p:cNvPicPr>
          <p:nvPr/>
        </p:nvPicPr>
        <p:blipFill>
          <a:blip r:embed="rId7"/>
          <a:srcRect t="-29348" b="-29348"/>
          <a:stretch>
            <a:fillRect/>
          </a:stretch>
        </p:blipFill>
        <p:spPr>
          <a:xfrm>
            <a:off x="862279" y="3390595"/>
            <a:ext cx="105156" cy="133502"/>
          </a:xfrm>
          <a:prstGeom prst="rect">
            <a:avLst/>
          </a:prstGeom>
        </p:spPr>
      </p:pic>
      <p:sp>
        <p:nvSpPr>
          <p:cNvPr id="43" name="Text 34"/>
          <p:cNvSpPr txBox="1"/>
          <p:nvPr/>
        </p:nvSpPr>
        <p:spPr>
          <a:xfrm>
            <a:off x="1181405" y="3343046"/>
            <a:ext cx="4668012" cy="238658"/>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3. Core Development</a:t>
            </a:r>
            <a:endParaRPr lang="en-US" sz="1200" dirty="0">
              <a:ea typeface="Noto Sans SC" panose="020B0200000000000000" pitchFamily="34" charset="-122"/>
              <a:cs typeface="Noto Sans SC" panose="020B0200000000000000" pitchFamily="34" charset="-122"/>
            </a:endParaRPr>
          </a:p>
        </p:txBody>
      </p:sp>
      <p:sp>
        <p:nvSpPr>
          <p:cNvPr id="44" name="Text 35"/>
          <p:cNvSpPr txBox="1"/>
          <p:nvPr/>
        </p:nvSpPr>
        <p:spPr>
          <a:xfrm>
            <a:off x="761695" y="3685946"/>
            <a:ext cx="5048402" cy="400507"/>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Login/auth, role control, building/floor/room mgmt, student info, behavior records, dorm evaluation, visitor registration, statistical visualization</a:t>
            </a:r>
            <a:endParaRPr lang="en-US" sz="1000" dirty="0">
              <a:ea typeface="Noto Sans SC" panose="020B0200000000000000" pitchFamily="34" charset="-122"/>
              <a:cs typeface="Noto Sans SC" panose="020B0200000000000000" pitchFamily="34" charset="-122"/>
            </a:endParaRPr>
          </a:p>
        </p:txBody>
      </p:sp>
      <p:sp>
        <p:nvSpPr>
          <p:cNvPr id="45" name="Shape 36"/>
          <p:cNvSpPr/>
          <p:nvPr/>
        </p:nvSpPr>
        <p:spPr>
          <a:xfrm>
            <a:off x="761695" y="4162349"/>
            <a:ext cx="866851" cy="219456"/>
          </a:xfrm>
          <a:prstGeom prst="roundRect">
            <a:avLst>
              <a:gd name="adj" fmla="val 416667"/>
            </a:avLst>
          </a:prstGeom>
          <a:solidFill>
            <a:srgbClr val="F1F5F9"/>
          </a:solidFill>
          <a:ln w="12700">
            <a:solidFill>
              <a:srgbClr val="FFFFFF">
                <a:alpha val="0"/>
              </a:srgbClr>
            </a:solidFill>
            <a:prstDash val="solid"/>
          </a:ln>
        </p:spPr>
      </p:sp>
      <p:sp>
        <p:nvSpPr>
          <p:cNvPr id="46" name="Text 37"/>
          <p:cNvSpPr/>
          <p:nvPr/>
        </p:nvSpPr>
        <p:spPr>
          <a:xfrm>
            <a:off x="761695" y="4162349"/>
            <a:ext cx="866851"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10+ Features</a:t>
            </a:r>
            <a:endParaRPr lang="en-US" sz="900" dirty="0">
              <a:ea typeface="Noto Sans SC" panose="020B0200000000000000" pitchFamily="34" charset="-122"/>
              <a:cs typeface="Noto Sans SC" panose="020B0200000000000000" pitchFamily="34" charset="-122"/>
            </a:endParaRPr>
          </a:p>
        </p:txBody>
      </p:sp>
      <p:sp>
        <p:nvSpPr>
          <p:cNvPr id="47" name="Shape 38"/>
          <p:cNvSpPr/>
          <p:nvPr/>
        </p:nvSpPr>
        <p:spPr>
          <a:xfrm>
            <a:off x="1700784" y="4162349"/>
            <a:ext cx="657454" cy="219456"/>
          </a:xfrm>
          <a:prstGeom prst="roundRect">
            <a:avLst>
              <a:gd name="adj" fmla="val 416667"/>
            </a:avLst>
          </a:prstGeom>
          <a:solidFill>
            <a:srgbClr val="F1F5F9"/>
          </a:solidFill>
          <a:ln w="12700">
            <a:solidFill>
              <a:srgbClr val="FFFFFF">
                <a:alpha val="0"/>
              </a:srgbClr>
            </a:solidFill>
            <a:prstDash val="solid"/>
          </a:ln>
        </p:spPr>
      </p:sp>
      <p:sp>
        <p:nvSpPr>
          <p:cNvPr id="48" name="Text 39"/>
          <p:cNvSpPr/>
          <p:nvPr/>
        </p:nvSpPr>
        <p:spPr>
          <a:xfrm>
            <a:off x="1700784" y="4162349"/>
            <a:ext cx="657454"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Vue+Koa</a:t>
            </a:r>
            <a:endParaRPr lang="en-US" sz="900" dirty="0">
              <a:ea typeface="Noto Sans SC" panose="020B0200000000000000" pitchFamily="34" charset="-122"/>
              <a:cs typeface="Noto Sans SC" panose="020B0200000000000000" pitchFamily="34" charset="-122"/>
            </a:endParaRPr>
          </a:p>
        </p:txBody>
      </p:sp>
      <p:sp>
        <p:nvSpPr>
          <p:cNvPr id="49" name="Shape 40"/>
          <p:cNvSpPr/>
          <p:nvPr/>
        </p:nvSpPr>
        <p:spPr>
          <a:xfrm>
            <a:off x="6381598" y="3305556"/>
            <a:ext cx="304495" cy="304495"/>
          </a:xfrm>
          <a:prstGeom prst="roundRect">
            <a:avLst>
              <a:gd name="adj" fmla="val 150150"/>
            </a:avLst>
          </a:prstGeom>
          <a:solidFill>
            <a:srgbClr val="3B82F6">
              <a:alpha val="10000"/>
            </a:srgbClr>
          </a:solidFill>
          <a:ln w="12700">
            <a:solidFill>
              <a:srgbClr val="FFFFFF">
                <a:alpha val="0"/>
              </a:srgbClr>
            </a:solidFill>
            <a:prstDash val="solid"/>
          </a:ln>
        </p:spPr>
      </p:sp>
      <p:pic>
        <p:nvPicPr>
          <p:cNvPr id="50" name="Image 7" descr="preencoded.png"/>
          <p:cNvPicPr>
            <a:picLocks noChangeAspect="1"/>
          </p:cNvPicPr>
          <p:nvPr/>
        </p:nvPicPr>
        <p:blipFill>
          <a:blip r:embed="rId8"/>
          <a:srcRect t="-13478" b="-13478"/>
          <a:stretch>
            <a:fillRect/>
          </a:stretch>
        </p:blipFill>
        <p:spPr>
          <a:xfrm>
            <a:off x="6482182" y="3390595"/>
            <a:ext cx="105156" cy="133502"/>
          </a:xfrm>
          <a:prstGeom prst="rect">
            <a:avLst/>
          </a:prstGeom>
        </p:spPr>
      </p:pic>
      <p:sp>
        <p:nvSpPr>
          <p:cNvPr id="51" name="Text 41"/>
          <p:cNvSpPr txBox="1"/>
          <p:nvPr/>
        </p:nvSpPr>
        <p:spPr>
          <a:xfrm>
            <a:off x="6801307" y="3343046"/>
            <a:ext cx="4668012" cy="238658"/>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4. Project Management &amp; Control</a:t>
            </a:r>
            <a:endParaRPr lang="en-US" sz="1200" dirty="0">
              <a:ea typeface="Noto Sans SC" panose="020B0200000000000000" pitchFamily="34" charset="-122"/>
              <a:cs typeface="Noto Sans SC" panose="020B0200000000000000" pitchFamily="34" charset="-122"/>
            </a:endParaRPr>
          </a:p>
        </p:txBody>
      </p:sp>
      <p:sp>
        <p:nvSpPr>
          <p:cNvPr id="52" name="Text 42"/>
          <p:cNvSpPr txBox="1"/>
          <p:nvPr/>
        </p:nvSpPr>
        <p:spPr>
          <a:xfrm>
            <a:off x="6381598" y="3685946"/>
            <a:ext cx="5048402" cy="400507"/>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Scrum planning, GitHub commits &amp; branch management, Leangoo Kanban, periodic checks &amp; risk tracking</a:t>
            </a:r>
            <a:endParaRPr lang="en-US" sz="1000" dirty="0">
              <a:ea typeface="Noto Sans SC" panose="020B0200000000000000" pitchFamily="34" charset="-122"/>
              <a:cs typeface="Noto Sans SC" panose="020B0200000000000000" pitchFamily="34" charset="-122"/>
            </a:endParaRPr>
          </a:p>
        </p:txBody>
      </p:sp>
      <p:sp>
        <p:nvSpPr>
          <p:cNvPr id="53" name="Shape 43"/>
          <p:cNvSpPr/>
          <p:nvPr/>
        </p:nvSpPr>
        <p:spPr>
          <a:xfrm>
            <a:off x="6381598" y="4162349"/>
            <a:ext cx="543154" cy="219456"/>
          </a:xfrm>
          <a:prstGeom prst="roundRect">
            <a:avLst>
              <a:gd name="adj" fmla="val 416667"/>
            </a:avLst>
          </a:prstGeom>
          <a:solidFill>
            <a:srgbClr val="F1F5F9"/>
          </a:solidFill>
          <a:ln w="12700">
            <a:solidFill>
              <a:srgbClr val="FFFFFF">
                <a:alpha val="0"/>
              </a:srgbClr>
            </a:solidFill>
            <a:prstDash val="solid"/>
          </a:ln>
        </p:spPr>
      </p:sp>
      <p:sp>
        <p:nvSpPr>
          <p:cNvPr id="54" name="Text 44"/>
          <p:cNvSpPr/>
          <p:nvPr/>
        </p:nvSpPr>
        <p:spPr>
          <a:xfrm>
            <a:off x="6381598" y="4162349"/>
            <a:ext cx="543154"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Scrum</a:t>
            </a:r>
            <a:endParaRPr lang="en-US" sz="900" dirty="0">
              <a:ea typeface="Noto Sans SC" panose="020B0200000000000000" pitchFamily="34" charset="-122"/>
              <a:cs typeface="Noto Sans SC" panose="020B0200000000000000" pitchFamily="34" charset="-122"/>
            </a:endParaRPr>
          </a:p>
        </p:txBody>
      </p:sp>
      <p:sp>
        <p:nvSpPr>
          <p:cNvPr id="55" name="Shape 45"/>
          <p:cNvSpPr/>
          <p:nvPr/>
        </p:nvSpPr>
        <p:spPr>
          <a:xfrm>
            <a:off x="6994246" y="4162349"/>
            <a:ext cx="571500" cy="219456"/>
          </a:xfrm>
          <a:prstGeom prst="roundRect">
            <a:avLst>
              <a:gd name="adj" fmla="val 416667"/>
            </a:avLst>
          </a:prstGeom>
          <a:solidFill>
            <a:srgbClr val="F1F5F9"/>
          </a:solidFill>
          <a:ln w="12700">
            <a:solidFill>
              <a:srgbClr val="FFFFFF">
                <a:alpha val="0"/>
              </a:srgbClr>
            </a:solidFill>
            <a:prstDash val="solid"/>
          </a:ln>
        </p:spPr>
      </p:sp>
      <p:sp>
        <p:nvSpPr>
          <p:cNvPr id="56" name="Text 46"/>
          <p:cNvSpPr/>
          <p:nvPr/>
        </p:nvSpPr>
        <p:spPr>
          <a:xfrm>
            <a:off x="6994246" y="4162349"/>
            <a:ext cx="571500"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GitHub</a:t>
            </a:r>
            <a:endParaRPr lang="en-US" sz="900" dirty="0">
              <a:ea typeface="Noto Sans SC" panose="020B0200000000000000" pitchFamily="34" charset="-122"/>
              <a:cs typeface="Noto Sans SC" panose="020B0200000000000000" pitchFamily="34" charset="-122"/>
            </a:endParaRPr>
          </a:p>
        </p:txBody>
      </p:sp>
      <p:sp>
        <p:nvSpPr>
          <p:cNvPr id="57" name="Shape 47"/>
          <p:cNvSpPr/>
          <p:nvPr/>
        </p:nvSpPr>
        <p:spPr>
          <a:xfrm>
            <a:off x="761695" y="4934102"/>
            <a:ext cx="304495" cy="304495"/>
          </a:xfrm>
          <a:prstGeom prst="roundRect">
            <a:avLst>
              <a:gd name="adj" fmla="val 150150"/>
            </a:avLst>
          </a:prstGeom>
          <a:solidFill>
            <a:srgbClr val="3B82F6">
              <a:alpha val="10000"/>
            </a:srgbClr>
          </a:solidFill>
          <a:ln w="12700">
            <a:solidFill>
              <a:srgbClr val="FFFFFF">
                <a:alpha val="0"/>
              </a:srgbClr>
            </a:solidFill>
            <a:prstDash val="solid"/>
          </a:ln>
        </p:spPr>
      </p:sp>
      <p:pic>
        <p:nvPicPr>
          <p:cNvPr id="58" name="Image 8" descr="preencoded.png"/>
          <p:cNvPicPr>
            <a:picLocks noChangeAspect="1"/>
          </p:cNvPicPr>
          <p:nvPr/>
        </p:nvPicPr>
        <p:blipFill>
          <a:blip r:embed="rId9"/>
          <a:srcRect t="-13478" b="-13478"/>
          <a:stretch>
            <a:fillRect/>
          </a:stretch>
        </p:blipFill>
        <p:spPr>
          <a:xfrm>
            <a:off x="862279" y="5020056"/>
            <a:ext cx="105156" cy="133502"/>
          </a:xfrm>
          <a:prstGeom prst="rect">
            <a:avLst/>
          </a:prstGeom>
        </p:spPr>
      </p:pic>
      <p:sp>
        <p:nvSpPr>
          <p:cNvPr id="59" name="Text 48"/>
          <p:cNvSpPr txBox="1"/>
          <p:nvPr/>
        </p:nvSpPr>
        <p:spPr>
          <a:xfrm>
            <a:off x="1181405" y="4972507"/>
            <a:ext cx="4668012" cy="238658"/>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5. Quality &amp; Verification</a:t>
            </a:r>
            <a:endParaRPr lang="en-US" sz="1200" dirty="0">
              <a:ea typeface="Noto Sans SC" panose="020B0200000000000000" pitchFamily="34" charset="-122"/>
              <a:cs typeface="Noto Sans SC" panose="020B0200000000000000" pitchFamily="34" charset="-122"/>
            </a:endParaRPr>
          </a:p>
        </p:txBody>
      </p:sp>
      <p:sp>
        <p:nvSpPr>
          <p:cNvPr id="60" name="Text 49"/>
          <p:cNvSpPr txBox="1"/>
          <p:nvPr/>
        </p:nvSpPr>
        <p:spPr>
          <a:xfrm>
            <a:off x="761695" y="5315407"/>
            <a:ext cx="5048402" cy="400507"/>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FTR (Formal Technical Review), functional testing, defect tracking &amp; fixing, quality metrics (DRE, defect density)</a:t>
            </a:r>
            <a:endParaRPr lang="en-US" sz="1000" dirty="0">
              <a:ea typeface="Noto Sans SC" panose="020B0200000000000000" pitchFamily="34" charset="-122"/>
              <a:cs typeface="Noto Sans SC" panose="020B0200000000000000" pitchFamily="34" charset="-122"/>
            </a:endParaRPr>
          </a:p>
        </p:txBody>
      </p:sp>
      <p:sp>
        <p:nvSpPr>
          <p:cNvPr id="61" name="Shape 50"/>
          <p:cNvSpPr/>
          <p:nvPr/>
        </p:nvSpPr>
        <p:spPr>
          <a:xfrm>
            <a:off x="6381598" y="4934102"/>
            <a:ext cx="304495" cy="304495"/>
          </a:xfrm>
          <a:prstGeom prst="roundRect">
            <a:avLst>
              <a:gd name="adj" fmla="val 150150"/>
            </a:avLst>
          </a:prstGeom>
          <a:solidFill>
            <a:srgbClr val="3B82F6">
              <a:alpha val="10000"/>
            </a:srgbClr>
          </a:solidFill>
          <a:ln w="12700">
            <a:solidFill>
              <a:srgbClr val="FFFFFF">
                <a:alpha val="0"/>
              </a:srgbClr>
            </a:solidFill>
            <a:prstDash val="solid"/>
          </a:ln>
        </p:spPr>
      </p:sp>
      <p:pic>
        <p:nvPicPr>
          <p:cNvPr id="62" name="Image 9" descr="preencoded.png"/>
          <p:cNvPicPr>
            <a:picLocks noChangeAspect="1"/>
          </p:cNvPicPr>
          <p:nvPr/>
        </p:nvPicPr>
        <p:blipFill>
          <a:blip r:embed="rId10"/>
          <a:srcRect t="-13478" b="-13478"/>
          <a:stretch>
            <a:fillRect/>
          </a:stretch>
        </p:blipFill>
        <p:spPr>
          <a:xfrm>
            <a:off x="6482182" y="5020056"/>
            <a:ext cx="105156" cy="133502"/>
          </a:xfrm>
          <a:prstGeom prst="rect">
            <a:avLst/>
          </a:prstGeom>
        </p:spPr>
      </p:pic>
      <p:sp>
        <p:nvSpPr>
          <p:cNvPr id="63" name="Text 51"/>
          <p:cNvSpPr txBox="1"/>
          <p:nvPr/>
        </p:nvSpPr>
        <p:spPr>
          <a:xfrm>
            <a:off x="6801307" y="4972507"/>
            <a:ext cx="4668012" cy="238658"/>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6. Post Mid-term Expansion</a:t>
            </a:r>
            <a:endParaRPr lang="en-US" sz="1200" dirty="0">
              <a:ea typeface="Noto Sans SC" panose="020B0200000000000000" pitchFamily="34" charset="-122"/>
              <a:cs typeface="Noto Sans SC" panose="020B0200000000000000" pitchFamily="34" charset="-122"/>
            </a:endParaRPr>
          </a:p>
        </p:txBody>
      </p:sp>
      <p:sp>
        <p:nvSpPr>
          <p:cNvPr id="64" name="Text 52"/>
          <p:cNvSpPr txBox="1"/>
          <p:nvPr/>
        </p:nvSpPr>
        <p:spPr>
          <a:xfrm>
            <a:off x="6381598" y="5315407"/>
            <a:ext cx="5048402" cy="400507"/>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Questionnaire model design, matching algorithm design, student questionnaire/matching pages, admin config/results pages</a:t>
            </a:r>
            <a:endParaRPr lang="en-US" sz="1000" dirty="0">
              <a:ea typeface="Noto Sans SC" panose="020B0200000000000000" pitchFamily="34" charset="-122"/>
              <a:cs typeface="Noto Sans SC" panose="020B0200000000000000" pitchFamily="34" charset="-122"/>
            </a:endParaRPr>
          </a:p>
        </p:txBody>
      </p:sp>
      <p:sp>
        <p:nvSpPr>
          <p:cNvPr id="65" name="Text 53"/>
          <p:cNvSpPr txBox="1"/>
          <p:nvPr/>
        </p:nvSpPr>
        <p:spPr>
          <a:xfrm>
            <a:off x="800100" y="6229807"/>
            <a:ext cx="11278210" cy="219456"/>
          </a:xfrm>
          <a:prstGeom prst="rect">
            <a:avLst/>
          </a:prstGeom>
          <a:noFill/>
        </p:spPr>
        <p:txBody>
          <a:bodyPr wrap="square" lIns="0" tIns="0" rIns="0" bIns="0" rtlCol="0" anchor="ctr"/>
          <a:lstStyle/>
          <a:p>
            <a:pPr marL="0" indent="0" algn="l">
              <a:buNone/>
            </a:pPr>
            <a:r>
              <a:rPr lang="en-US" sz="11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Work Breakdown Principle:</a:t>
            </a:r>
            <a:r>
              <a:rPr lang="en-US" sz="11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Documents/management/dev/test integrated structure ensures clear inputs/outputs and acceptance criteria for traceability. </a:t>
            </a:r>
            <a:endParaRPr lang="en-US" sz="1100" dirty="0">
              <a:ea typeface="Noto Sans SC" panose="020B0200000000000000" pitchFamily="34" charset="-122"/>
              <a:cs typeface="Noto Sans SC" panose="020B0200000000000000"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18" name="Shape 14"/>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9" name="Image 2" descr="preencoded.png"/>
          <p:cNvPicPr>
            <a:picLocks noChangeAspect="1"/>
          </p:cNvPicPr>
          <p:nvPr/>
        </p:nvPicPr>
        <p:blipFill>
          <a:blip r:embed="rId2"/>
          <a:srcRect t="-20060" b="-20060"/>
          <a:stretch>
            <a:fillRect/>
          </a:stretch>
        </p:blipFill>
        <p:spPr>
          <a:xfrm>
            <a:off x="724205" y="286207"/>
            <a:ext cx="152705" cy="190195"/>
          </a:xfrm>
          <a:prstGeom prst="rect">
            <a:avLst/>
          </a:prstGeom>
        </p:spPr>
      </p:pic>
      <p:sp>
        <p:nvSpPr>
          <p:cNvPr id="20" name="Text 15"/>
          <p:cNvSpPr txBox="1"/>
          <p:nvPr/>
        </p:nvSpPr>
        <p:spPr>
          <a:xfrm>
            <a:off x="1218895" y="190195"/>
            <a:ext cx="9525305" cy="438912"/>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WBS</a:t>
            </a:r>
            <a:endParaRPr lang="en-US" sz="2400" dirty="0">
              <a:ea typeface="Noto Sans SC" panose="020B0200000000000000" pitchFamily="34" charset="-122"/>
              <a:cs typeface="Noto Sans SC" panose="020B0200000000000000" pitchFamily="34" charset="-122"/>
            </a:endParaRPr>
          </a:p>
        </p:txBody>
      </p:sp>
      <p:pic>
        <p:nvPicPr>
          <p:cNvPr id="66" name="图片 65"/>
          <p:cNvPicPr>
            <a:picLocks noChangeAspect="1"/>
          </p:cNvPicPr>
          <p:nvPr/>
        </p:nvPicPr>
        <p:blipFill>
          <a:blip r:embed="rId3"/>
          <a:stretch>
            <a:fillRect/>
          </a:stretch>
        </p:blipFill>
        <p:spPr>
          <a:xfrm>
            <a:off x="-200025" y="763905"/>
            <a:ext cx="12385040" cy="60940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0" r="-10"/>
          <a:stretch>
            <a:fillRect/>
          </a:stretch>
        </p:blipFill>
        <p:spPr>
          <a:xfrm>
            <a:off x="0" y="0"/>
            <a:ext cx="13334695" cy="666598"/>
          </a:xfrm>
          <a:prstGeom prst="rect">
            <a:avLst/>
          </a:prstGeom>
        </p:spPr>
      </p:pic>
      <p:sp>
        <p:nvSpPr>
          <p:cNvPr id="5" name="Shape 2"/>
          <p:cNvSpPr/>
          <p:nvPr/>
        </p:nvSpPr>
        <p:spPr>
          <a:xfrm>
            <a:off x="571500" y="142646"/>
            <a:ext cx="381305" cy="381305"/>
          </a:xfrm>
          <a:prstGeom prst="ellipse">
            <a:avLst/>
          </a:prstGeom>
          <a:solidFill>
            <a:srgbClr val="FFFFFF">
              <a:alpha val="15000"/>
            </a:srgbClr>
          </a:solidFill>
          <a:ln w="12700">
            <a:solidFill>
              <a:srgbClr val="FFFFFF">
                <a:alpha val="0"/>
              </a:srgbClr>
            </a:solidFill>
            <a:prstDash val="solid"/>
          </a:ln>
        </p:spPr>
      </p:sp>
      <p:pic>
        <p:nvPicPr>
          <p:cNvPr id="6" name="Image 1" descr="preencoded.png"/>
          <p:cNvPicPr>
            <a:picLocks noChangeAspect="1"/>
          </p:cNvPicPr>
          <p:nvPr/>
        </p:nvPicPr>
        <p:blipFill>
          <a:blip r:embed="rId2"/>
          <a:srcRect l="-1773" r="-1773"/>
          <a:stretch>
            <a:fillRect/>
          </a:stretch>
        </p:blipFill>
        <p:spPr>
          <a:xfrm>
            <a:off x="694944" y="247802"/>
            <a:ext cx="133502" cy="171907"/>
          </a:xfrm>
          <a:prstGeom prst="rect">
            <a:avLst/>
          </a:prstGeom>
        </p:spPr>
      </p:pic>
      <p:sp>
        <p:nvSpPr>
          <p:cNvPr id="7" name="Text 3"/>
          <p:cNvSpPr txBox="1"/>
          <p:nvPr/>
        </p:nvSpPr>
        <p:spPr>
          <a:xfrm>
            <a:off x="1143000" y="152705"/>
            <a:ext cx="7448702" cy="362102"/>
          </a:xfrm>
          <a:prstGeom prst="rect">
            <a:avLst/>
          </a:prstGeom>
          <a:noFill/>
        </p:spPr>
        <p:txBody>
          <a:bodyPr wrap="square" lIns="0" tIns="0" rIns="0" bIns="0" rtlCol="0" anchor="ctr"/>
          <a:lstStyle/>
          <a:p>
            <a:pPr marL="0" indent="0" algn="l">
              <a:buNone/>
            </a:pPr>
            <a:r>
              <a:rPr lang="en-US" sz="21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Scale Estimation: Function Point Derivation (FP=87)</a:t>
            </a:r>
            <a:endParaRPr lang="en-US" sz="2100" dirty="0">
              <a:ea typeface="Noto Sans SC" panose="020B0200000000000000" pitchFamily="34" charset="-122"/>
              <a:cs typeface="Noto Sans SC" panose="020B0200000000000000" pitchFamily="34" charset="-122"/>
            </a:endParaRPr>
          </a:p>
        </p:txBody>
      </p:sp>
      <p:pic>
        <p:nvPicPr>
          <p:cNvPr id="8" name="Image 2" descr="preencoded.png"/>
          <p:cNvPicPr>
            <a:picLocks noChangeAspect="1"/>
          </p:cNvPicPr>
          <p:nvPr/>
        </p:nvPicPr>
        <p:blipFill>
          <a:blip r:embed="rId3"/>
          <a:srcRect/>
          <a:stretch>
            <a:fillRect/>
          </a:stretch>
        </p:blipFill>
        <p:spPr>
          <a:xfrm>
            <a:off x="571500" y="871423"/>
            <a:ext cx="190195" cy="190195"/>
          </a:xfrm>
          <a:prstGeom prst="rect">
            <a:avLst/>
          </a:prstGeom>
        </p:spPr>
      </p:pic>
      <p:sp>
        <p:nvSpPr>
          <p:cNvPr id="9" name="Text 4"/>
          <p:cNvSpPr txBox="1"/>
          <p:nvPr/>
        </p:nvSpPr>
        <p:spPr>
          <a:xfrm>
            <a:off x="875995" y="809244"/>
            <a:ext cx="5915254" cy="314554"/>
          </a:xfrm>
          <a:prstGeom prst="rect">
            <a:avLst/>
          </a:prstGeom>
          <a:noFill/>
        </p:spPr>
        <p:txBody>
          <a:bodyPr wrap="square" lIns="0" tIns="0" rIns="0" bIns="0" rtlCol="0" anchor="ctr"/>
          <a:lstStyle/>
          <a:p>
            <a:pPr marL="0" indent="0" algn="l">
              <a:buNone/>
            </a:pPr>
            <a:r>
              <a:rPr lang="en-US" sz="1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Detailed Calculation Process of Function Points</a:t>
            </a:r>
            <a:endParaRPr lang="en-US" sz="1800" dirty="0">
              <a:ea typeface="Noto Sans SC" panose="020B0200000000000000" pitchFamily="34" charset="-122"/>
              <a:cs typeface="Noto Sans SC" panose="020B0200000000000000" pitchFamily="34" charset="-122"/>
            </a:endParaRPr>
          </a:p>
        </p:txBody>
      </p:sp>
      <p:sp>
        <p:nvSpPr>
          <p:cNvPr id="10" name="Shape 5"/>
          <p:cNvSpPr/>
          <p:nvPr/>
        </p:nvSpPr>
        <p:spPr>
          <a:xfrm>
            <a:off x="381305" y="1314907"/>
            <a:ext cx="11449202" cy="3705149"/>
          </a:xfrm>
          <a:prstGeom prst="roundRect">
            <a:avLst>
              <a:gd name="adj" fmla="val 1523"/>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pic>
        <p:nvPicPr>
          <p:cNvPr id="11" name="Image 3" descr="preencoded.png"/>
          <p:cNvPicPr>
            <a:picLocks noChangeAspect="1"/>
          </p:cNvPicPr>
          <p:nvPr/>
        </p:nvPicPr>
        <p:blipFill>
          <a:blip r:embed="rId4"/>
          <a:srcRect l="-36" r="-36"/>
          <a:stretch>
            <a:fillRect/>
          </a:stretch>
        </p:blipFill>
        <p:spPr>
          <a:xfrm>
            <a:off x="390449" y="1324051"/>
            <a:ext cx="11430000" cy="418795"/>
          </a:xfrm>
          <a:prstGeom prst="rect">
            <a:avLst/>
          </a:prstGeom>
        </p:spPr>
      </p:pic>
      <p:sp>
        <p:nvSpPr>
          <p:cNvPr id="12" name="Text 6"/>
          <p:cNvSpPr txBox="1"/>
          <p:nvPr/>
        </p:nvSpPr>
        <p:spPr>
          <a:xfrm>
            <a:off x="580644" y="1438351"/>
            <a:ext cx="762610" cy="191110"/>
          </a:xfrm>
          <a:prstGeom prst="rect">
            <a:avLst/>
          </a:prstGeom>
          <a:noFill/>
        </p:spPr>
        <p:txBody>
          <a:bodyPr wrap="square" lIns="0" tIns="0" rIns="0" bIns="0" rtlCol="0" anchor="ctr"/>
          <a:lstStyle/>
          <a:p>
            <a:pPr marL="0" indent="0" algn="ctr">
              <a:buNone/>
            </a:pPr>
            <a:r>
              <a:rPr lang="en-US" sz="11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Type</a:t>
            </a:r>
            <a:endParaRPr lang="en-US" sz="1100" dirty="0">
              <a:ea typeface="Noto Sans SC" panose="020B0200000000000000" pitchFamily="34" charset="-122"/>
              <a:cs typeface="Noto Sans SC" panose="020B0200000000000000" pitchFamily="34" charset="-122"/>
            </a:endParaRPr>
          </a:p>
        </p:txBody>
      </p:sp>
      <p:sp>
        <p:nvSpPr>
          <p:cNvPr id="13" name="Text 7"/>
          <p:cNvSpPr txBox="1"/>
          <p:nvPr/>
        </p:nvSpPr>
        <p:spPr>
          <a:xfrm>
            <a:off x="1438351" y="1438351"/>
            <a:ext cx="4572000" cy="191110"/>
          </a:xfrm>
          <a:prstGeom prst="rect">
            <a:avLst/>
          </a:prstGeom>
          <a:noFill/>
        </p:spPr>
        <p:txBody>
          <a:bodyPr wrap="square" lIns="0" tIns="0" rIns="0" bIns="0" rtlCol="0" anchor="ctr"/>
          <a:lstStyle/>
          <a:p>
            <a:pPr marL="0" indent="0" algn="ctr">
              <a:buNone/>
            </a:pPr>
            <a:r>
              <a:rPr lang="en-US" sz="11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Identified Items</a:t>
            </a:r>
            <a:endParaRPr lang="en-US" sz="1100" dirty="0">
              <a:ea typeface="Noto Sans SC" panose="020B0200000000000000" pitchFamily="34" charset="-122"/>
              <a:cs typeface="Noto Sans SC" panose="020B0200000000000000" pitchFamily="34" charset="-122"/>
            </a:endParaRPr>
          </a:p>
        </p:txBody>
      </p:sp>
      <p:sp>
        <p:nvSpPr>
          <p:cNvPr id="14" name="Text 8"/>
          <p:cNvSpPr txBox="1"/>
          <p:nvPr/>
        </p:nvSpPr>
        <p:spPr>
          <a:xfrm>
            <a:off x="6105449" y="1438351"/>
            <a:ext cx="1143000" cy="191110"/>
          </a:xfrm>
          <a:prstGeom prst="rect">
            <a:avLst/>
          </a:prstGeom>
          <a:noFill/>
        </p:spPr>
        <p:txBody>
          <a:bodyPr wrap="square" lIns="0" tIns="0" rIns="0" bIns="0" rtlCol="0" anchor="ctr"/>
          <a:lstStyle/>
          <a:p>
            <a:pPr marL="0" indent="0" algn="ctr">
              <a:buNone/>
            </a:pPr>
            <a:r>
              <a:rPr lang="en-US" sz="11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Complexity</a:t>
            </a:r>
            <a:endParaRPr lang="en-US" sz="1100" dirty="0">
              <a:ea typeface="Noto Sans SC" panose="020B0200000000000000" pitchFamily="34" charset="-122"/>
              <a:cs typeface="Noto Sans SC" panose="020B0200000000000000" pitchFamily="34" charset="-122"/>
            </a:endParaRPr>
          </a:p>
        </p:txBody>
      </p:sp>
      <p:sp>
        <p:nvSpPr>
          <p:cNvPr id="15" name="Text 9"/>
          <p:cNvSpPr txBox="1"/>
          <p:nvPr/>
        </p:nvSpPr>
        <p:spPr>
          <a:xfrm>
            <a:off x="7343546" y="1438351"/>
            <a:ext cx="952805" cy="191110"/>
          </a:xfrm>
          <a:prstGeom prst="rect">
            <a:avLst/>
          </a:prstGeom>
          <a:noFill/>
        </p:spPr>
        <p:txBody>
          <a:bodyPr wrap="square" lIns="0" tIns="0" rIns="0" bIns="0" rtlCol="0" anchor="ctr"/>
          <a:lstStyle/>
          <a:p>
            <a:pPr marL="0" indent="0" algn="ctr">
              <a:buNone/>
            </a:pPr>
            <a:r>
              <a:rPr lang="en-US" sz="11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Quantity</a:t>
            </a:r>
            <a:endParaRPr lang="en-US" sz="1100" dirty="0">
              <a:ea typeface="Noto Sans SC" panose="020B0200000000000000" pitchFamily="34" charset="-122"/>
              <a:cs typeface="Noto Sans SC" panose="020B0200000000000000" pitchFamily="34" charset="-122"/>
            </a:endParaRPr>
          </a:p>
        </p:txBody>
      </p:sp>
      <p:sp>
        <p:nvSpPr>
          <p:cNvPr id="16" name="Text 10"/>
          <p:cNvSpPr txBox="1"/>
          <p:nvPr/>
        </p:nvSpPr>
        <p:spPr>
          <a:xfrm>
            <a:off x="8391449" y="1438351"/>
            <a:ext cx="952805" cy="191110"/>
          </a:xfrm>
          <a:prstGeom prst="rect">
            <a:avLst/>
          </a:prstGeom>
          <a:noFill/>
        </p:spPr>
        <p:txBody>
          <a:bodyPr wrap="square" lIns="0" tIns="0" rIns="0" bIns="0" rtlCol="0" anchor="ctr"/>
          <a:lstStyle/>
          <a:p>
            <a:pPr marL="0" indent="0" algn="ctr">
              <a:buNone/>
            </a:pPr>
            <a:r>
              <a:rPr lang="en-US" sz="11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Weight</a:t>
            </a:r>
            <a:endParaRPr lang="en-US" sz="1100" dirty="0">
              <a:ea typeface="Noto Sans SC" panose="020B0200000000000000" pitchFamily="34" charset="-122"/>
              <a:cs typeface="Noto Sans SC" panose="020B0200000000000000" pitchFamily="34" charset="-122"/>
            </a:endParaRPr>
          </a:p>
        </p:txBody>
      </p:sp>
      <p:sp>
        <p:nvSpPr>
          <p:cNvPr id="17" name="Text 11"/>
          <p:cNvSpPr txBox="1"/>
          <p:nvPr/>
        </p:nvSpPr>
        <p:spPr>
          <a:xfrm>
            <a:off x="9439351" y="1438351"/>
            <a:ext cx="952805" cy="191110"/>
          </a:xfrm>
          <a:prstGeom prst="rect">
            <a:avLst/>
          </a:prstGeom>
          <a:noFill/>
        </p:spPr>
        <p:txBody>
          <a:bodyPr wrap="square" lIns="0" tIns="0" rIns="0" bIns="0" rtlCol="0" anchor="ctr"/>
          <a:lstStyle/>
          <a:p>
            <a:pPr marL="0" indent="0" algn="ctr">
              <a:buNone/>
            </a:pPr>
            <a:r>
              <a:rPr lang="en-US" sz="11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Subtotal</a:t>
            </a:r>
            <a:endParaRPr lang="en-US" sz="1100" dirty="0">
              <a:ea typeface="Noto Sans SC" panose="020B0200000000000000" pitchFamily="34" charset="-122"/>
              <a:cs typeface="Noto Sans SC" panose="020B0200000000000000" pitchFamily="34" charset="-122"/>
            </a:endParaRPr>
          </a:p>
        </p:txBody>
      </p:sp>
      <p:sp>
        <p:nvSpPr>
          <p:cNvPr id="18" name="Shape 12"/>
          <p:cNvSpPr/>
          <p:nvPr/>
        </p:nvSpPr>
        <p:spPr>
          <a:xfrm>
            <a:off x="390449" y="1742846"/>
            <a:ext cx="11430000" cy="743407"/>
          </a:xfrm>
          <a:prstGeom prst="rect">
            <a:avLst/>
          </a:prstGeom>
          <a:solidFill>
            <a:srgbClr val="F8FAFC"/>
          </a:solidFill>
        </p:spPr>
      </p:sp>
      <p:sp>
        <p:nvSpPr>
          <p:cNvPr id="19" name="Shape 13"/>
          <p:cNvSpPr/>
          <p:nvPr/>
        </p:nvSpPr>
        <p:spPr>
          <a:xfrm>
            <a:off x="390449" y="2477110"/>
            <a:ext cx="11430000" cy="9144"/>
          </a:xfrm>
          <a:prstGeom prst="rect">
            <a:avLst/>
          </a:prstGeom>
          <a:solidFill>
            <a:srgbClr val="E2E8F0"/>
          </a:solidFill>
          <a:ln w="12700">
            <a:solidFill>
              <a:srgbClr val="E2E8F0">
                <a:alpha val="0"/>
              </a:srgbClr>
            </a:solidFill>
            <a:prstDash val="solid"/>
          </a:ln>
        </p:spPr>
      </p:sp>
      <p:sp>
        <p:nvSpPr>
          <p:cNvPr id="20" name="Text 14"/>
          <p:cNvSpPr txBox="1"/>
          <p:nvPr/>
        </p:nvSpPr>
        <p:spPr>
          <a:xfrm>
            <a:off x="580644" y="2010766"/>
            <a:ext cx="762610" cy="200254"/>
          </a:xfrm>
          <a:prstGeom prst="rect">
            <a:avLst/>
          </a:prstGeom>
          <a:noFill/>
        </p:spPr>
        <p:txBody>
          <a:bodyPr wrap="square" lIns="0" tIns="0" rIns="0" bIns="0" rtlCol="0" anchor="ctr"/>
          <a:lstStyle/>
          <a:p>
            <a:pPr marL="0" indent="0" algn="ctr">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EI</a:t>
            </a:r>
            <a:endParaRPr lang="en-US" sz="1000" dirty="0">
              <a:ea typeface="Noto Sans SC" panose="020B0200000000000000" pitchFamily="34" charset="-122"/>
              <a:cs typeface="Noto Sans SC" panose="020B0200000000000000" pitchFamily="34" charset="-122"/>
            </a:endParaRPr>
          </a:p>
        </p:txBody>
      </p:sp>
      <p:sp>
        <p:nvSpPr>
          <p:cNvPr id="21" name="Text 15"/>
          <p:cNvSpPr txBox="1"/>
          <p:nvPr/>
        </p:nvSpPr>
        <p:spPr>
          <a:xfrm>
            <a:off x="1438351" y="1914754"/>
            <a:ext cx="4572000" cy="391363"/>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Login, Register, Edit Profile, Add Admin, Add Building, Assign Cleaner/Admin, Submit Evaluation, Submit Behavior Record</a:t>
            </a:r>
            <a:endParaRPr lang="en-US" sz="1000" dirty="0">
              <a:ea typeface="Noto Sans SC" panose="020B0200000000000000" pitchFamily="34" charset="-122"/>
              <a:cs typeface="Noto Sans SC" panose="020B0200000000000000" pitchFamily="34" charset="-122"/>
            </a:endParaRPr>
          </a:p>
        </p:txBody>
      </p:sp>
      <p:sp>
        <p:nvSpPr>
          <p:cNvPr id="22" name="Text 16"/>
          <p:cNvSpPr txBox="1"/>
          <p:nvPr/>
        </p:nvSpPr>
        <p:spPr>
          <a:xfrm>
            <a:off x="7343546" y="2010766"/>
            <a:ext cx="952805" cy="200254"/>
          </a:xfrm>
          <a:prstGeom prst="rect">
            <a:avLst/>
          </a:prstGeom>
          <a:noFill/>
        </p:spPr>
        <p:txBody>
          <a:bodyPr wrap="square" lIns="0" tIns="0" rIns="0" bIns="0" rtlCol="0" anchor="ctr"/>
          <a:lstStyle/>
          <a:p>
            <a:pPr marL="0" indent="0" algn="ctr">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8</a:t>
            </a:r>
            <a:endParaRPr lang="en-US" sz="1000" dirty="0">
              <a:ea typeface="Noto Sans SC" panose="020B0200000000000000" pitchFamily="34" charset="-122"/>
              <a:cs typeface="Noto Sans SC" panose="020B0200000000000000" pitchFamily="34" charset="-122"/>
            </a:endParaRPr>
          </a:p>
        </p:txBody>
      </p:sp>
      <p:sp>
        <p:nvSpPr>
          <p:cNvPr id="23" name="Text 17"/>
          <p:cNvSpPr txBox="1"/>
          <p:nvPr/>
        </p:nvSpPr>
        <p:spPr>
          <a:xfrm>
            <a:off x="8391449" y="2010766"/>
            <a:ext cx="952805" cy="200254"/>
          </a:xfrm>
          <a:prstGeom prst="rect">
            <a:avLst/>
          </a:prstGeom>
          <a:noFill/>
        </p:spPr>
        <p:txBody>
          <a:bodyPr wrap="square" lIns="0" tIns="0" rIns="0" bIns="0" rtlCol="0" anchor="ctr"/>
          <a:lstStyle/>
          <a:p>
            <a:pPr marL="0" indent="0" algn="ctr">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3</a:t>
            </a:r>
            <a:endParaRPr lang="en-US" sz="1000" dirty="0">
              <a:ea typeface="Noto Sans SC" panose="020B0200000000000000" pitchFamily="34" charset="-122"/>
              <a:cs typeface="Noto Sans SC" panose="020B0200000000000000" pitchFamily="34" charset="-122"/>
            </a:endParaRPr>
          </a:p>
        </p:txBody>
      </p:sp>
      <p:sp>
        <p:nvSpPr>
          <p:cNvPr id="24" name="Text 18"/>
          <p:cNvSpPr txBox="1"/>
          <p:nvPr/>
        </p:nvSpPr>
        <p:spPr>
          <a:xfrm>
            <a:off x="9439351" y="2010766"/>
            <a:ext cx="952805" cy="200254"/>
          </a:xfrm>
          <a:prstGeom prst="rect">
            <a:avLst/>
          </a:prstGeom>
          <a:noFill/>
        </p:spPr>
        <p:txBody>
          <a:bodyPr wrap="square" lIns="0" tIns="0" rIns="0" bIns="0" rtlCol="0" anchor="ctr"/>
          <a:lstStyle/>
          <a:p>
            <a:pPr marL="0" indent="0" algn="ctr">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24</a:t>
            </a:r>
            <a:endParaRPr lang="en-US" sz="1000" dirty="0">
              <a:ea typeface="Noto Sans SC" panose="020B0200000000000000" pitchFamily="34" charset="-122"/>
              <a:cs typeface="Noto Sans SC" panose="020B0200000000000000" pitchFamily="34" charset="-122"/>
            </a:endParaRPr>
          </a:p>
        </p:txBody>
      </p:sp>
      <p:sp>
        <p:nvSpPr>
          <p:cNvPr id="25" name="Shape 19"/>
          <p:cNvSpPr/>
          <p:nvPr/>
        </p:nvSpPr>
        <p:spPr>
          <a:xfrm>
            <a:off x="390449" y="3215945"/>
            <a:ext cx="11430000" cy="9144"/>
          </a:xfrm>
          <a:prstGeom prst="rect">
            <a:avLst/>
          </a:prstGeom>
          <a:solidFill>
            <a:srgbClr val="E2E8F0"/>
          </a:solidFill>
          <a:ln w="12700">
            <a:solidFill>
              <a:srgbClr val="E2E8F0">
                <a:alpha val="0"/>
              </a:srgbClr>
            </a:solidFill>
            <a:prstDash val="solid"/>
          </a:ln>
        </p:spPr>
      </p:sp>
      <p:sp>
        <p:nvSpPr>
          <p:cNvPr id="26" name="Text 20"/>
          <p:cNvSpPr txBox="1"/>
          <p:nvPr/>
        </p:nvSpPr>
        <p:spPr>
          <a:xfrm>
            <a:off x="580644" y="2749601"/>
            <a:ext cx="762610" cy="200254"/>
          </a:xfrm>
          <a:prstGeom prst="rect">
            <a:avLst/>
          </a:prstGeom>
          <a:noFill/>
        </p:spPr>
        <p:txBody>
          <a:bodyPr wrap="square" lIns="0" tIns="0" rIns="0" bIns="0" rtlCol="0" anchor="ctr"/>
          <a:lstStyle/>
          <a:p>
            <a:pPr marL="0" indent="0" algn="ctr">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EO</a:t>
            </a:r>
            <a:endParaRPr lang="en-US" sz="1000" dirty="0">
              <a:ea typeface="Noto Sans SC" panose="020B0200000000000000" pitchFamily="34" charset="-122"/>
              <a:cs typeface="Noto Sans SC" panose="020B0200000000000000" pitchFamily="34" charset="-122"/>
            </a:endParaRPr>
          </a:p>
        </p:txBody>
      </p:sp>
      <p:sp>
        <p:nvSpPr>
          <p:cNvPr id="27" name="Text 21"/>
          <p:cNvSpPr txBox="1"/>
          <p:nvPr/>
        </p:nvSpPr>
        <p:spPr>
          <a:xfrm>
            <a:off x="1438351" y="2652674"/>
            <a:ext cx="4572000" cy="391363"/>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Management Overview Stats, Floor Stats, Dorm Details Output, Student Details Output, Behavior Trend Chart, Visitor List Output</a:t>
            </a:r>
            <a:endParaRPr lang="en-US" sz="1000" dirty="0">
              <a:ea typeface="Noto Sans SC" panose="020B0200000000000000" pitchFamily="34" charset="-122"/>
              <a:cs typeface="Noto Sans SC" panose="020B0200000000000000" pitchFamily="34" charset="-122"/>
            </a:endParaRPr>
          </a:p>
        </p:txBody>
      </p:sp>
      <p:sp>
        <p:nvSpPr>
          <p:cNvPr id="28" name="Text 22"/>
          <p:cNvSpPr txBox="1"/>
          <p:nvPr/>
        </p:nvSpPr>
        <p:spPr>
          <a:xfrm>
            <a:off x="7343546" y="2749601"/>
            <a:ext cx="952805" cy="200254"/>
          </a:xfrm>
          <a:prstGeom prst="rect">
            <a:avLst/>
          </a:prstGeom>
          <a:noFill/>
        </p:spPr>
        <p:txBody>
          <a:bodyPr wrap="square" lIns="0" tIns="0" rIns="0" bIns="0" rtlCol="0" anchor="ctr"/>
          <a:lstStyle/>
          <a:p>
            <a:pPr marL="0" indent="0" algn="ctr">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6</a:t>
            </a:r>
            <a:endParaRPr lang="en-US" sz="1000" dirty="0">
              <a:ea typeface="Noto Sans SC" panose="020B0200000000000000" pitchFamily="34" charset="-122"/>
              <a:cs typeface="Noto Sans SC" panose="020B0200000000000000" pitchFamily="34" charset="-122"/>
            </a:endParaRPr>
          </a:p>
        </p:txBody>
      </p:sp>
      <p:sp>
        <p:nvSpPr>
          <p:cNvPr id="29" name="Text 23"/>
          <p:cNvSpPr txBox="1"/>
          <p:nvPr/>
        </p:nvSpPr>
        <p:spPr>
          <a:xfrm>
            <a:off x="8391449" y="2749601"/>
            <a:ext cx="952805" cy="200254"/>
          </a:xfrm>
          <a:prstGeom prst="rect">
            <a:avLst/>
          </a:prstGeom>
          <a:noFill/>
        </p:spPr>
        <p:txBody>
          <a:bodyPr wrap="square" lIns="0" tIns="0" rIns="0" bIns="0" rtlCol="0" anchor="ctr"/>
          <a:lstStyle/>
          <a:p>
            <a:pPr marL="0" indent="0" algn="ctr">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4</a:t>
            </a:r>
            <a:endParaRPr lang="en-US" sz="1000" dirty="0">
              <a:ea typeface="Noto Sans SC" panose="020B0200000000000000" pitchFamily="34" charset="-122"/>
              <a:cs typeface="Noto Sans SC" panose="020B0200000000000000" pitchFamily="34" charset="-122"/>
            </a:endParaRPr>
          </a:p>
        </p:txBody>
      </p:sp>
      <p:sp>
        <p:nvSpPr>
          <p:cNvPr id="30" name="Text 24"/>
          <p:cNvSpPr txBox="1"/>
          <p:nvPr/>
        </p:nvSpPr>
        <p:spPr>
          <a:xfrm>
            <a:off x="9439351" y="2749601"/>
            <a:ext cx="952805" cy="200254"/>
          </a:xfrm>
          <a:prstGeom prst="rect">
            <a:avLst/>
          </a:prstGeom>
          <a:noFill/>
        </p:spPr>
        <p:txBody>
          <a:bodyPr wrap="square" lIns="0" tIns="0" rIns="0" bIns="0" rtlCol="0" anchor="ctr"/>
          <a:lstStyle/>
          <a:p>
            <a:pPr marL="0" indent="0" algn="ctr">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24</a:t>
            </a:r>
            <a:endParaRPr lang="en-US" sz="1000" dirty="0">
              <a:ea typeface="Noto Sans SC" panose="020B0200000000000000" pitchFamily="34" charset="-122"/>
              <a:cs typeface="Noto Sans SC" panose="020B0200000000000000" pitchFamily="34" charset="-122"/>
            </a:endParaRPr>
          </a:p>
        </p:txBody>
      </p:sp>
      <p:sp>
        <p:nvSpPr>
          <p:cNvPr id="31" name="Shape 25"/>
          <p:cNvSpPr/>
          <p:nvPr/>
        </p:nvSpPr>
        <p:spPr>
          <a:xfrm>
            <a:off x="390449" y="3219602"/>
            <a:ext cx="11430000" cy="599846"/>
          </a:xfrm>
          <a:prstGeom prst="rect">
            <a:avLst/>
          </a:prstGeom>
          <a:solidFill>
            <a:srgbClr val="F8FAFC"/>
          </a:solidFill>
        </p:spPr>
      </p:sp>
      <p:sp>
        <p:nvSpPr>
          <p:cNvPr id="32" name="Shape 26"/>
          <p:cNvSpPr/>
          <p:nvPr/>
        </p:nvSpPr>
        <p:spPr>
          <a:xfrm>
            <a:off x="390449" y="3810305"/>
            <a:ext cx="11430000" cy="9144"/>
          </a:xfrm>
          <a:prstGeom prst="rect">
            <a:avLst/>
          </a:prstGeom>
          <a:solidFill>
            <a:srgbClr val="E2E8F0"/>
          </a:solidFill>
          <a:ln w="12700">
            <a:solidFill>
              <a:srgbClr val="E2E8F0">
                <a:alpha val="0"/>
              </a:srgbClr>
            </a:solidFill>
            <a:prstDash val="solid"/>
          </a:ln>
        </p:spPr>
      </p:sp>
      <p:sp>
        <p:nvSpPr>
          <p:cNvPr id="33" name="Text 27"/>
          <p:cNvSpPr txBox="1"/>
          <p:nvPr/>
        </p:nvSpPr>
        <p:spPr>
          <a:xfrm>
            <a:off x="580644" y="3418027"/>
            <a:ext cx="762610" cy="200254"/>
          </a:xfrm>
          <a:prstGeom prst="rect">
            <a:avLst/>
          </a:prstGeom>
          <a:noFill/>
        </p:spPr>
        <p:txBody>
          <a:bodyPr wrap="square" lIns="0" tIns="0" rIns="0" bIns="0" rtlCol="0" anchor="ctr"/>
          <a:lstStyle/>
          <a:p>
            <a:pPr marL="0" indent="0" algn="ctr">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EQ</a:t>
            </a:r>
            <a:endParaRPr lang="en-US" sz="1000" dirty="0">
              <a:ea typeface="Noto Sans SC" panose="020B0200000000000000" pitchFamily="34" charset="-122"/>
              <a:cs typeface="Noto Sans SC" panose="020B0200000000000000" pitchFamily="34" charset="-122"/>
            </a:endParaRPr>
          </a:p>
        </p:txBody>
      </p:sp>
      <p:sp>
        <p:nvSpPr>
          <p:cNvPr id="34" name="Text 28"/>
          <p:cNvSpPr txBox="1"/>
          <p:nvPr/>
        </p:nvSpPr>
        <p:spPr>
          <a:xfrm>
            <a:off x="1438351" y="3418027"/>
            <a:ext cx="4572000" cy="200254"/>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Student Query, Admin Query, Room Query, Record Query</a:t>
            </a:r>
            <a:endParaRPr lang="en-US" sz="1000" dirty="0">
              <a:ea typeface="Noto Sans SC" panose="020B0200000000000000" pitchFamily="34" charset="-122"/>
              <a:cs typeface="Noto Sans SC" panose="020B0200000000000000" pitchFamily="34" charset="-122"/>
            </a:endParaRPr>
          </a:p>
        </p:txBody>
      </p:sp>
      <p:sp>
        <p:nvSpPr>
          <p:cNvPr id="35" name="Text 29"/>
          <p:cNvSpPr txBox="1"/>
          <p:nvPr/>
        </p:nvSpPr>
        <p:spPr>
          <a:xfrm>
            <a:off x="7343546" y="3418027"/>
            <a:ext cx="952805" cy="200254"/>
          </a:xfrm>
          <a:prstGeom prst="rect">
            <a:avLst/>
          </a:prstGeom>
          <a:noFill/>
        </p:spPr>
        <p:txBody>
          <a:bodyPr wrap="square" lIns="0" tIns="0" rIns="0" bIns="0" rtlCol="0" anchor="ctr"/>
          <a:lstStyle/>
          <a:p>
            <a:pPr marL="0" indent="0" algn="ctr">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4</a:t>
            </a:r>
            <a:endParaRPr lang="en-US" sz="1000" dirty="0">
              <a:ea typeface="Noto Sans SC" panose="020B0200000000000000" pitchFamily="34" charset="-122"/>
              <a:cs typeface="Noto Sans SC" panose="020B0200000000000000" pitchFamily="34" charset="-122"/>
            </a:endParaRPr>
          </a:p>
        </p:txBody>
      </p:sp>
      <p:sp>
        <p:nvSpPr>
          <p:cNvPr id="36" name="Text 30"/>
          <p:cNvSpPr txBox="1"/>
          <p:nvPr/>
        </p:nvSpPr>
        <p:spPr>
          <a:xfrm>
            <a:off x="8391449" y="3418027"/>
            <a:ext cx="952805" cy="200254"/>
          </a:xfrm>
          <a:prstGeom prst="rect">
            <a:avLst/>
          </a:prstGeom>
          <a:noFill/>
        </p:spPr>
        <p:txBody>
          <a:bodyPr wrap="square" lIns="0" tIns="0" rIns="0" bIns="0" rtlCol="0" anchor="ctr"/>
          <a:lstStyle/>
          <a:p>
            <a:pPr marL="0" indent="0" algn="ctr">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3</a:t>
            </a:r>
            <a:endParaRPr lang="en-US" sz="1000" dirty="0">
              <a:ea typeface="Noto Sans SC" panose="020B0200000000000000" pitchFamily="34" charset="-122"/>
              <a:cs typeface="Noto Sans SC" panose="020B0200000000000000" pitchFamily="34" charset="-122"/>
            </a:endParaRPr>
          </a:p>
        </p:txBody>
      </p:sp>
      <p:sp>
        <p:nvSpPr>
          <p:cNvPr id="37" name="Text 31"/>
          <p:cNvSpPr txBox="1"/>
          <p:nvPr/>
        </p:nvSpPr>
        <p:spPr>
          <a:xfrm>
            <a:off x="9439351" y="3418027"/>
            <a:ext cx="952805" cy="200254"/>
          </a:xfrm>
          <a:prstGeom prst="rect">
            <a:avLst/>
          </a:prstGeom>
          <a:noFill/>
        </p:spPr>
        <p:txBody>
          <a:bodyPr wrap="square" lIns="0" tIns="0" rIns="0" bIns="0" rtlCol="0" anchor="ctr"/>
          <a:lstStyle/>
          <a:p>
            <a:pPr marL="0" indent="0" algn="ctr">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12</a:t>
            </a:r>
            <a:endParaRPr lang="en-US" sz="1000" dirty="0">
              <a:ea typeface="Noto Sans SC" panose="020B0200000000000000" pitchFamily="34" charset="-122"/>
              <a:cs typeface="Noto Sans SC" panose="020B0200000000000000" pitchFamily="34" charset="-122"/>
            </a:endParaRPr>
          </a:p>
        </p:txBody>
      </p:sp>
      <p:sp>
        <p:nvSpPr>
          <p:cNvPr id="38" name="Shape 32"/>
          <p:cNvSpPr/>
          <p:nvPr/>
        </p:nvSpPr>
        <p:spPr>
          <a:xfrm>
            <a:off x="390449" y="4410151"/>
            <a:ext cx="11430000" cy="9144"/>
          </a:xfrm>
          <a:prstGeom prst="rect">
            <a:avLst/>
          </a:prstGeom>
          <a:solidFill>
            <a:srgbClr val="E2E8F0"/>
          </a:solidFill>
          <a:ln w="12700">
            <a:solidFill>
              <a:srgbClr val="E2E8F0">
                <a:alpha val="0"/>
              </a:srgbClr>
            </a:solidFill>
            <a:prstDash val="solid"/>
          </a:ln>
        </p:spPr>
      </p:sp>
      <p:sp>
        <p:nvSpPr>
          <p:cNvPr id="39" name="Text 33"/>
          <p:cNvSpPr txBox="1"/>
          <p:nvPr/>
        </p:nvSpPr>
        <p:spPr>
          <a:xfrm>
            <a:off x="580644" y="4018788"/>
            <a:ext cx="762610" cy="200254"/>
          </a:xfrm>
          <a:prstGeom prst="rect">
            <a:avLst/>
          </a:prstGeom>
          <a:noFill/>
        </p:spPr>
        <p:txBody>
          <a:bodyPr wrap="square" lIns="0" tIns="0" rIns="0" bIns="0" rtlCol="0" anchor="ctr"/>
          <a:lstStyle/>
          <a:p>
            <a:pPr marL="0" indent="0" algn="ctr">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ILF</a:t>
            </a:r>
            <a:endParaRPr lang="en-US" sz="1000" dirty="0">
              <a:ea typeface="Noto Sans SC" panose="020B0200000000000000" pitchFamily="34" charset="-122"/>
              <a:cs typeface="Noto Sans SC" panose="020B0200000000000000" pitchFamily="34" charset="-122"/>
            </a:endParaRPr>
          </a:p>
        </p:txBody>
      </p:sp>
      <p:sp>
        <p:nvSpPr>
          <p:cNvPr id="40" name="Text 34"/>
          <p:cNvSpPr txBox="1"/>
          <p:nvPr/>
        </p:nvSpPr>
        <p:spPr>
          <a:xfrm>
            <a:off x="1438351" y="4018788"/>
            <a:ext cx="4975250" cy="200254"/>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Accommodation Resource Logic File, User and Behavior Logic File</a:t>
            </a:r>
            <a:endParaRPr lang="en-US" sz="1000" dirty="0">
              <a:ea typeface="Noto Sans SC" panose="020B0200000000000000" pitchFamily="34" charset="-122"/>
              <a:cs typeface="Noto Sans SC" panose="020B0200000000000000" pitchFamily="34" charset="-122"/>
            </a:endParaRPr>
          </a:p>
        </p:txBody>
      </p:sp>
      <p:sp>
        <p:nvSpPr>
          <p:cNvPr id="41" name="Text 35"/>
          <p:cNvSpPr txBox="1"/>
          <p:nvPr/>
        </p:nvSpPr>
        <p:spPr>
          <a:xfrm>
            <a:off x="7343546" y="4018788"/>
            <a:ext cx="952805" cy="200254"/>
          </a:xfrm>
          <a:prstGeom prst="rect">
            <a:avLst/>
          </a:prstGeom>
          <a:noFill/>
        </p:spPr>
        <p:txBody>
          <a:bodyPr wrap="square" lIns="0" tIns="0" rIns="0" bIns="0" rtlCol="0" anchor="ctr"/>
          <a:lstStyle/>
          <a:p>
            <a:pPr marL="0" indent="0" algn="ctr">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2</a:t>
            </a:r>
            <a:endParaRPr lang="en-US" sz="1000" dirty="0">
              <a:ea typeface="Noto Sans SC" panose="020B0200000000000000" pitchFamily="34" charset="-122"/>
              <a:cs typeface="Noto Sans SC" panose="020B0200000000000000" pitchFamily="34" charset="-122"/>
            </a:endParaRPr>
          </a:p>
        </p:txBody>
      </p:sp>
      <p:sp>
        <p:nvSpPr>
          <p:cNvPr id="42" name="Text 36"/>
          <p:cNvSpPr txBox="1"/>
          <p:nvPr/>
        </p:nvSpPr>
        <p:spPr>
          <a:xfrm>
            <a:off x="8391449" y="4018788"/>
            <a:ext cx="952805" cy="200254"/>
          </a:xfrm>
          <a:prstGeom prst="rect">
            <a:avLst/>
          </a:prstGeom>
          <a:noFill/>
        </p:spPr>
        <p:txBody>
          <a:bodyPr wrap="square" lIns="0" tIns="0" rIns="0" bIns="0" rtlCol="0" anchor="ctr"/>
          <a:lstStyle/>
          <a:p>
            <a:pPr marL="0" indent="0" algn="ctr">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10</a:t>
            </a:r>
            <a:endParaRPr lang="en-US" sz="1000" dirty="0">
              <a:ea typeface="Noto Sans SC" panose="020B0200000000000000" pitchFamily="34" charset="-122"/>
              <a:cs typeface="Noto Sans SC" panose="020B0200000000000000" pitchFamily="34" charset="-122"/>
            </a:endParaRPr>
          </a:p>
        </p:txBody>
      </p:sp>
      <p:sp>
        <p:nvSpPr>
          <p:cNvPr id="43" name="Text 37"/>
          <p:cNvSpPr txBox="1"/>
          <p:nvPr/>
        </p:nvSpPr>
        <p:spPr>
          <a:xfrm>
            <a:off x="9439351" y="4018788"/>
            <a:ext cx="952805" cy="200254"/>
          </a:xfrm>
          <a:prstGeom prst="rect">
            <a:avLst/>
          </a:prstGeom>
          <a:noFill/>
        </p:spPr>
        <p:txBody>
          <a:bodyPr wrap="square" lIns="0" tIns="0" rIns="0" bIns="0" rtlCol="0" anchor="ctr"/>
          <a:lstStyle/>
          <a:p>
            <a:pPr marL="0" indent="0" algn="ctr">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20</a:t>
            </a:r>
            <a:endParaRPr lang="en-US" sz="1000" dirty="0">
              <a:ea typeface="Noto Sans SC" panose="020B0200000000000000" pitchFamily="34" charset="-122"/>
              <a:cs typeface="Noto Sans SC" panose="020B0200000000000000" pitchFamily="34" charset="-122"/>
            </a:endParaRPr>
          </a:p>
        </p:txBody>
      </p:sp>
      <p:sp>
        <p:nvSpPr>
          <p:cNvPr id="44" name="Shape 38"/>
          <p:cNvSpPr/>
          <p:nvPr/>
        </p:nvSpPr>
        <p:spPr>
          <a:xfrm>
            <a:off x="390449" y="4419295"/>
            <a:ext cx="11430000" cy="590702"/>
          </a:xfrm>
          <a:prstGeom prst="roundRect">
            <a:avLst>
              <a:gd name="adj" fmla="val 59922"/>
            </a:avLst>
          </a:prstGeom>
          <a:solidFill>
            <a:srgbClr val="F8FAFC"/>
          </a:solidFill>
          <a:ln w="12700">
            <a:solidFill>
              <a:srgbClr val="FFFFFF">
                <a:alpha val="0"/>
              </a:srgbClr>
            </a:solidFill>
            <a:prstDash val="solid"/>
          </a:ln>
        </p:spPr>
      </p:sp>
      <p:sp>
        <p:nvSpPr>
          <p:cNvPr id="45" name="Text 39"/>
          <p:cNvSpPr txBox="1"/>
          <p:nvPr/>
        </p:nvSpPr>
        <p:spPr>
          <a:xfrm>
            <a:off x="580644" y="4618634"/>
            <a:ext cx="762610" cy="200254"/>
          </a:xfrm>
          <a:prstGeom prst="rect">
            <a:avLst/>
          </a:prstGeom>
          <a:noFill/>
        </p:spPr>
        <p:txBody>
          <a:bodyPr wrap="square" lIns="0" tIns="0" rIns="0" bIns="0" rtlCol="0" anchor="ctr"/>
          <a:lstStyle/>
          <a:p>
            <a:pPr marL="0" indent="0" algn="ctr">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EIF</a:t>
            </a:r>
            <a:endParaRPr lang="en-US" sz="1000" dirty="0">
              <a:ea typeface="Noto Sans SC" panose="020B0200000000000000" pitchFamily="34" charset="-122"/>
              <a:cs typeface="Noto Sans SC" panose="020B0200000000000000" pitchFamily="34" charset="-122"/>
            </a:endParaRPr>
          </a:p>
        </p:txBody>
      </p:sp>
      <p:sp>
        <p:nvSpPr>
          <p:cNvPr id="46" name="Text 40"/>
          <p:cNvSpPr txBox="1"/>
          <p:nvPr/>
        </p:nvSpPr>
        <p:spPr>
          <a:xfrm>
            <a:off x="1438351" y="4618634"/>
            <a:ext cx="4572000" cy="200254"/>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Department-Major Basic Dictionary</a:t>
            </a:r>
            <a:endParaRPr lang="en-US" sz="1000" dirty="0">
              <a:ea typeface="Noto Sans SC" panose="020B0200000000000000" pitchFamily="34" charset="-122"/>
              <a:cs typeface="Noto Sans SC" panose="020B0200000000000000" pitchFamily="34" charset="-122"/>
            </a:endParaRPr>
          </a:p>
        </p:txBody>
      </p:sp>
      <p:sp>
        <p:nvSpPr>
          <p:cNvPr id="47" name="Text 41"/>
          <p:cNvSpPr txBox="1"/>
          <p:nvPr/>
        </p:nvSpPr>
        <p:spPr>
          <a:xfrm>
            <a:off x="7343546" y="4618634"/>
            <a:ext cx="952805" cy="200254"/>
          </a:xfrm>
          <a:prstGeom prst="rect">
            <a:avLst/>
          </a:prstGeom>
          <a:noFill/>
        </p:spPr>
        <p:txBody>
          <a:bodyPr wrap="square" lIns="0" tIns="0" rIns="0" bIns="0" rtlCol="0" anchor="ctr"/>
          <a:lstStyle/>
          <a:p>
            <a:pPr marL="0" indent="0" algn="ctr">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1</a:t>
            </a:r>
            <a:endParaRPr lang="en-US" sz="1000" dirty="0">
              <a:ea typeface="Noto Sans SC" panose="020B0200000000000000" pitchFamily="34" charset="-122"/>
              <a:cs typeface="Noto Sans SC" panose="020B0200000000000000" pitchFamily="34" charset="-122"/>
            </a:endParaRPr>
          </a:p>
        </p:txBody>
      </p:sp>
      <p:sp>
        <p:nvSpPr>
          <p:cNvPr id="48" name="Text 42"/>
          <p:cNvSpPr txBox="1"/>
          <p:nvPr/>
        </p:nvSpPr>
        <p:spPr>
          <a:xfrm>
            <a:off x="8391449" y="4618634"/>
            <a:ext cx="952805" cy="200254"/>
          </a:xfrm>
          <a:prstGeom prst="rect">
            <a:avLst/>
          </a:prstGeom>
          <a:noFill/>
        </p:spPr>
        <p:txBody>
          <a:bodyPr wrap="square" lIns="0" tIns="0" rIns="0" bIns="0" rtlCol="0" anchor="ctr"/>
          <a:lstStyle/>
          <a:p>
            <a:pPr marL="0" indent="0" algn="ctr">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7</a:t>
            </a:r>
            <a:endParaRPr lang="en-US" sz="1000" dirty="0">
              <a:ea typeface="Noto Sans SC" panose="020B0200000000000000" pitchFamily="34" charset="-122"/>
              <a:cs typeface="Noto Sans SC" panose="020B0200000000000000" pitchFamily="34" charset="-122"/>
            </a:endParaRPr>
          </a:p>
        </p:txBody>
      </p:sp>
      <p:sp>
        <p:nvSpPr>
          <p:cNvPr id="49" name="Text 43"/>
          <p:cNvSpPr txBox="1"/>
          <p:nvPr/>
        </p:nvSpPr>
        <p:spPr>
          <a:xfrm>
            <a:off x="9439351" y="4618634"/>
            <a:ext cx="952805" cy="200254"/>
          </a:xfrm>
          <a:prstGeom prst="rect">
            <a:avLst/>
          </a:prstGeom>
          <a:noFill/>
        </p:spPr>
        <p:txBody>
          <a:bodyPr wrap="square" lIns="0" tIns="0" rIns="0" bIns="0" rtlCol="0" anchor="ctr"/>
          <a:lstStyle/>
          <a:p>
            <a:pPr marL="0" indent="0" algn="ctr">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7</a:t>
            </a:r>
            <a:endParaRPr lang="en-US" sz="1000" dirty="0">
              <a:ea typeface="Noto Sans SC" panose="020B0200000000000000" pitchFamily="34" charset="-122"/>
              <a:cs typeface="Noto Sans SC" panose="020B0200000000000000" pitchFamily="34" charset="-122"/>
            </a:endParaRPr>
          </a:p>
        </p:txBody>
      </p:sp>
      <p:pic>
        <p:nvPicPr>
          <p:cNvPr id="50" name="Image 4" descr="preencoded.png"/>
          <p:cNvPicPr>
            <a:picLocks noChangeAspect="1"/>
          </p:cNvPicPr>
          <p:nvPr/>
        </p:nvPicPr>
        <p:blipFill>
          <a:blip r:embed="rId5"/>
          <a:srcRect t="-12" b="-12"/>
          <a:stretch>
            <a:fillRect/>
          </a:stretch>
        </p:blipFill>
        <p:spPr>
          <a:xfrm>
            <a:off x="381305" y="5305349"/>
            <a:ext cx="11430000" cy="1206094"/>
          </a:xfrm>
          <a:prstGeom prst="rect">
            <a:avLst/>
          </a:prstGeom>
        </p:spPr>
      </p:pic>
      <p:sp>
        <p:nvSpPr>
          <p:cNvPr id="51" name="Shape 44"/>
          <p:cNvSpPr/>
          <p:nvPr/>
        </p:nvSpPr>
        <p:spPr>
          <a:xfrm>
            <a:off x="1628546" y="5670194"/>
            <a:ext cx="476402" cy="476402"/>
          </a:xfrm>
          <a:prstGeom prst="roundRect">
            <a:avLst>
              <a:gd name="adj" fmla="val 92131"/>
            </a:avLst>
          </a:prstGeom>
          <a:solidFill>
            <a:srgbClr val="3B82F6"/>
          </a:solidFill>
          <a:ln w="12700">
            <a:solidFill>
              <a:srgbClr val="FFFFFF">
                <a:alpha val="0"/>
              </a:srgbClr>
            </a:solidFill>
            <a:prstDash val="solid"/>
          </a:ln>
        </p:spPr>
      </p:sp>
      <p:pic>
        <p:nvPicPr>
          <p:cNvPr id="52" name="Image 5" descr="preencoded.png"/>
          <p:cNvPicPr>
            <a:picLocks noChangeAspect="1"/>
          </p:cNvPicPr>
          <p:nvPr/>
        </p:nvPicPr>
        <p:blipFill>
          <a:blip r:embed="rId6"/>
          <a:srcRect/>
          <a:stretch>
            <a:fillRect/>
          </a:stretch>
        </p:blipFill>
        <p:spPr>
          <a:xfrm>
            <a:off x="1762049" y="5803697"/>
            <a:ext cx="209398" cy="209398"/>
          </a:xfrm>
          <a:prstGeom prst="rect">
            <a:avLst/>
          </a:prstGeom>
        </p:spPr>
      </p:pic>
      <p:sp>
        <p:nvSpPr>
          <p:cNvPr id="53" name="Text 45"/>
          <p:cNvSpPr txBox="1"/>
          <p:nvPr/>
        </p:nvSpPr>
        <p:spPr>
          <a:xfrm>
            <a:off x="2295144" y="5544007"/>
            <a:ext cx="1467612" cy="191110"/>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UFP (Unadjusted)</a:t>
            </a:r>
            <a:endParaRPr lang="en-US" sz="1100" dirty="0">
              <a:ea typeface="Noto Sans SC" panose="020B0200000000000000" pitchFamily="34" charset="-122"/>
              <a:cs typeface="Noto Sans SC" panose="020B0200000000000000" pitchFamily="34" charset="-122"/>
            </a:endParaRPr>
          </a:p>
        </p:txBody>
      </p:sp>
      <p:sp>
        <p:nvSpPr>
          <p:cNvPr id="54" name="Text 46"/>
          <p:cNvSpPr txBox="1"/>
          <p:nvPr/>
        </p:nvSpPr>
        <p:spPr>
          <a:xfrm>
            <a:off x="2295144" y="5753405"/>
            <a:ext cx="1239012" cy="324612"/>
          </a:xfrm>
          <a:prstGeom prst="rect">
            <a:avLst/>
          </a:prstGeom>
          <a:noFill/>
        </p:spPr>
        <p:txBody>
          <a:bodyPr wrap="square" lIns="0" tIns="0" rIns="0" bIns="0" rtlCol="0" anchor="ctr"/>
          <a:lstStyle/>
          <a:p>
            <a:pPr marL="0" indent="0" algn="l">
              <a:buNone/>
            </a:pPr>
            <a:r>
              <a:rPr lang="en-US" sz="2100" b="1" dirty="0">
                <a:solidFill>
                  <a:srgbClr val="1D4ED8"/>
                </a:solidFill>
                <a:latin typeface="Noto Sans SC" panose="020B0200000000000000" pitchFamily="34" charset="-122"/>
                <a:ea typeface="Noto Sans SC" panose="020B0200000000000000" pitchFamily="34" charset="-122"/>
                <a:cs typeface="Noto Sans SC" panose="020B0200000000000000" pitchFamily="34" charset="-122"/>
              </a:rPr>
              <a:t>87</a:t>
            </a:r>
            <a:endParaRPr lang="en-US" sz="2100" dirty="0">
              <a:ea typeface="Noto Sans SC" panose="020B0200000000000000" pitchFamily="34" charset="-122"/>
              <a:cs typeface="Noto Sans SC" panose="020B0200000000000000" pitchFamily="34" charset="-122"/>
            </a:endParaRPr>
          </a:p>
        </p:txBody>
      </p:sp>
      <p:sp>
        <p:nvSpPr>
          <p:cNvPr id="55" name="Text 47"/>
          <p:cNvSpPr txBox="1"/>
          <p:nvPr/>
        </p:nvSpPr>
        <p:spPr>
          <a:xfrm>
            <a:off x="2295144" y="6110935"/>
            <a:ext cx="1474013"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24 + 24 + 12 + 20 + 7</a:t>
            </a:r>
            <a:endParaRPr lang="en-US" sz="900" dirty="0">
              <a:ea typeface="Noto Sans SC" panose="020B0200000000000000" pitchFamily="34" charset="-122"/>
              <a:cs typeface="Noto Sans SC" panose="020B0200000000000000" pitchFamily="34" charset="-122"/>
            </a:endParaRPr>
          </a:p>
        </p:txBody>
      </p:sp>
      <p:sp>
        <p:nvSpPr>
          <p:cNvPr id="56" name="Shape 48"/>
          <p:cNvSpPr/>
          <p:nvPr/>
        </p:nvSpPr>
        <p:spPr>
          <a:xfrm>
            <a:off x="5239512" y="5670194"/>
            <a:ext cx="476402" cy="476402"/>
          </a:xfrm>
          <a:prstGeom prst="roundRect">
            <a:avLst>
              <a:gd name="adj" fmla="val 92131"/>
            </a:avLst>
          </a:prstGeom>
          <a:solidFill>
            <a:srgbClr val="0EA5E9"/>
          </a:solidFill>
          <a:ln w="12700">
            <a:solidFill>
              <a:srgbClr val="FFFFFF">
                <a:alpha val="0"/>
              </a:srgbClr>
            </a:solidFill>
            <a:prstDash val="solid"/>
          </a:ln>
        </p:spPr>
      </p:sp>
      <p:pic>
        <p:nvPicPr>
          <p:cNvPr id="57" name="Image 6" descr="preencoded.png"/>
          <p:cNvPicPr>
            <a:picLocks noChangeAspect="1"/>
          </p:cNvPicPr>
          <p:nvPr/>
        </p:nvPicPr>
        <p:blipFill>
          <a:blip r:embed="rId7"/>
          <a:srcRect l="-1528" r="-1528"/>
          <a:stretch>
            <a:fillRect/>
          </a:stretch>
        </p:blipFill>
        <p:spPr>
          <a:xfrm>
            <a:off x="5396789" y="5803697"/>
            <a:ext cx="161849" cy="209398"/>
          </a:xfrm>
          <a:prstGeom prst="rect">
            <a:avLst/>
          </a:prstGeom>
        </p:spPr>
      </p:pic>
      <p:sp>
        <p:nvSpPr>
          <p:cNvPr id="58" name="Text 49"/>
          <p:cNvSpPr txBox="1"/>
          <p:nvPr/>
        </p:nvSpPr>
        <p:spPr>
          <a:xfrm>
            <a:off x="5906110" y="5544007"/>
            <a:ext cx="1467612" cy="191110"/>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VAF (Adjustment)</a:t>
            </a:r>
            <a:endParaRPr lang="en-US" sz="1100" dirty="0">
              <a:ea typeface="Noto Sans SC" panose="020B0200000000000000" pitchFamily="34" charset="-122"/>
              <a:cs typeface="Noto Sans SC" panose="020B0200000000000000" pitchFamily="34" charset="-122"/>
            </a:endParaRPr>
          </a:p>
        </p:txBody>
      </p:sp>
      <p:sp>
        <p:nvSpPr>
          <p:cNvPr id="59" name="Text 50"/>
          <p:cNvSpPr txBox="1"/>
          <p:nvPr/>
        </p:nvSpPr>
        <p:spPr>
          <a:xfrm>
            <a:off x="5906110" y="5753405"/>
            <a:ext cx="1239012" cy="324612"/>
          </a:xfrm>
          <a:prstGeom prst="rect">
            <a:avLst/>
          </a:prstGeom>
          <a:noFill/>
        </p:spPr>
        <p:txBody>
          <a:bodyPr wrap="square" lIns="0" tIns="0" rIns="0" bIns="0" rtlCol="0" anchor="ctr"/>
          <a:lstStyle/>
          <a:p>
            <a:pPr marL="0" indent="0" algn="l">
              <a:buNone/>
            </a:pPr>
            <a:r>
              <a:rPr lang="en-US" sz="2100" b="1" dirty="0">
                <a:solidFill>
                  <a:srgbClr val="1D4ED8"/>
                </a:solidFill>
                <a:latin typeface="Noto Sans SC" panose="020B0200000000000000" pitchFamily="34" charset="-122"/>
                <a:ea typeface="Noto Sans SC" panose="020B0200000000000000" pitchFamily="34" charset="-122"/>
                <a:cs typeface="Noto Sans SC" panose="020B0200000000000000" pitchFamily="34" charset="-122"/>
              </a:rPr>
              <a:t>≈ 1.00</a:t>
            </a:r>
            <a:endParaRPr lang="en-US" sz="2100" dirty="0">
              <a:ea typeface="Noto Sans SC" panose="020B0200000000000000" pitchFamily="34" charset="-122"/>
              <a:cs typeface="Noto Sans SC" panose="020B0200000000000000" pitchFamily="34" charset="-122"/>
            </a:endParaRPr>
          </a:p>
        </p:txBody>
      </p:sp>
      <p:sp>
        <p:nvSpPr>
          <p:cNvPr id="60" name="Text 51"/>
          <p:cNvSpPr txBox="1"/>
          <p:nvPr/>
        </p:nvSpPr>
        <p:spPr>
          <a:xfrm>
            <a:off x="5906110" y="6110935"/>
            <a:ext cx="1239012"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0.65 + 0.01 × 35</a:t>
            </a:r>
            <a:endParaRPr lang="en-US" sz="900" dirty="0">
              <a:ea typeface="Noto Sans SC" panose="020B0200000000000000" pitchFamily="34" charset="-122"/>
              <a:cs typeface="Noto Sans SC" panose="020B0200000000000000" pitchFamily="34" charset="-122"/>
            </a:endParaRPr>
          </a:p>
        </p:txBody>
      </p:sp>
      <p:sp>
        <p:nvSpPr>
          <p:cNvPr id="61" name="Shape 52"/>
          <p:cNvSpPr/>
          <p:nvPr/>
        </p:nvSpPr>
        <p:spPr>
          <a:xfrm>
            <a:off x="8856878" y="5670194"/>
            <a:ext cx="476402" cy="476402"/>
          </a:xfrm>
          <a:prstGeom prst="roundRect">
            <a:avLst>
              <a:gd name="adj" fmla="val 92131"/>
            </a:avLst>
          </a:prstGeom>
          <a:solidFill>
            <a:srgbClr val="2563EB"/>
          </a:solidFill>
          <a:ln w="12700">
            <a:solidFill>
              <a:srgbClr val="FFFFFF">
                <a:alpha val="0"/>
              </a:srgbClr>
            </a:solidFill>
            <a:prstDash val="solid"/>
          </a:ln>
        </p:spPr>
      </p:sp>
      <p:pic>
        <p:nvPicPr>
          <p:cNvPr id="62" name="Image 7" descr="preencoded.png"/>
          <p:cNvPicPr>
            <a:picLocks noChangeAspect="1"/>
          </p:cNvPicPr>
          <p:nvPr/>
        </p:nvPicPr>
        <p:blipFill>
          <a:blip r:embed="rId8"/>
          <a:srcRect/>
          <a:stretch>
            <a:fillRect/>
          </a:stretch>
        </p:blipFill>
        <p:spPr>
          <a:xfrm>
            <a:off x="8989466" y="5803697"/>
            <a:ext cx="209398" cy="209398"/>
          </a:xfrm>
          <a:prstGeom prst="rect">
            <a:avLst/>
          </a:prstGeom>
        </p:spPr>
      </p:pic>
      <p:sp>
        <p:nvSpPr>
          <p:cNvPr id="63" name="Text 53"/>
          <p:cNvSpPr txBox="1"/>
          <p:nvPr/>
        </p:nvSpPr>
        <p:spPr>
          <a:xfrm>
            <a:off x="9523476" y="5544007"/>
            <a:ext cx="1247242" cy="191110"/>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Final FP Target</a:t>
            </a:r>
            <a:endParaRPr lang="en-US" sz="1100" dirty="0">
              <a:ea typeface="Noto Sans SC" panose="020B0200000000000000" pitchFamily="34" charset="-122"/>
              <a:cs typeface="Noto Sans SC" panose="020B0200000000000000" pitchFamily="34" charset="-122"/>
            </a:endParaRPr>
          </a:p>
        </p:txBody>
      </p:sp>
      <p:sp>
        <p:nvSpPr>
          <p:cNvPr id="64" name="Text 54"/>
          <p:cNvSpPr txBox="1"/>
          <p:nvPr/>
        </p:nvSpPr>
        <p:spPr>
          <a:xfrm>
            <a:off x="9523476" y="5753405"/>
            <a:ext cx="1047902" cy="324612"/>
          </a:xfrm>
          <a:prstGeom prst="rect">
            <a:avLst/>
          </a:prstGeom>
          <a:noFill/>
        </p:spPr>
        <p:txBody>
          <a:bodyPr wrap="square" lIns="0" tIns="0" rIns="0" bIns="0" rtlCol="0" anchor="ctr"/>
          <a:lstStyle/>
          <a:p>
            <a:pPr marL="0" indent="0" algn="l">
              <a:buNone/>
            </a:pPr>
            <a:r>
              <a:rPr lang="en-US" sz="2100" b="1" dirty="0">
                <a:solidFill>
                  <a:srgbClr val="1D4ED8"/>
                </a:solidFill>
                <a:latin typeface="Noto Sans SC" panose="020B0200000000000000" pitchFamily="34" charset="-122"/>
                <a:ea typeface="Noto Sans SC" panose="020B0200000000000000" pitchFamily="34" charset="-122"/>
                <a:cs typeface="Noto Sans SC" panose="020B0200000000000000" pitchFamily="34" charset="-122"/>
              </a:rPr>
              <a:t>87</a:t>
            </a:r>
            <a:endParaRPr lang="en-US" sz="2100" dirty="0">
              <a:ea typeface="Noto Sans SC" panose="020B0200000000000000" pitchFamily="34" charset="-122"/>
              <a:cs typeface="Noto Sans SC" panose="020B0200000000000000" pitchFamily="34" charset="-122"/>
            </a:endParaRPr>
          </a:p>
        </p:txBody>
      </p:sp>
      <p:sp>
        <p:nvSpPr>
          <p:cNvPr id="65" name="Text 55"/>
          <p:cNvSpPr txBox="1"/>
          <p:nvPr/>
        </p:nvSpPr>
        <p:spPr>
          <a:xfrm>
            <a:off x="9523476" y="6110935"/>
            <a:ext cx="1047902"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UFP × VAF</a:t>
            </a:r>
            <a:endParaRPr lang="en-US" sz="900" dirty="0">
              <a:ea typeface="Noto Sans SC" panose="020B0200000000000000" pitchFamily="34" charset="-122"/>
              <a:cs typeface="Noto Sans SC" panose="020B0200000000000000" pitchFamily="34" charset="-122"/>
            </a:endParaRPr>
          </a:p>
        </p:txBody>
      </p:sp>
      <p:sp>
        <p:nvSpPr>
          <p:cNvPr id="66" name="Shape 56"/>
          <p:cNvSpPr/>
          <p:nvPr/>
        </p:nvSpPr>
        <p:spPr>
          <a:xfrm>
            <a:off x="6447434" y="1983334"/>
            <a:ext cx="466344" cy="247802"/>
          </a:xfrm>
          <a:prstGeom prst="roundRect">
            <a:avLst>
              <a:gd name="adj" fmla="val 113540"/>
            </a:avLst>
          </a:prstGeom>
          <a:solidFill>
            <a:srgbClr val="DCFCE7"/>
          </a:solidFill>
          <a:ln w="12700">
            <a:solidFill>
              <a:srgbClr val="FFFFFF">
                <a:alpha val="0"/>
              </a:srgbClr>
            </a:solidFill>
            <a:prstDash val="solid"/>
          </a:ln>
        </p:spPr>
      </p:sp>
      <p:sp>
        <p:nvSpPr>
          <p:cNvPr id="67" name="Text 57"/>
          <p:cNvSpPr txBox="1"/>
          <p:nvPr/>
        </p:nvSpPr>
        <p:spPr>
          <a:xfrm>
            <a:off x="6447434" y="1983334"/>
            <a:ext cx="467258"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Low</a:t>
            </a:r>
            <a:endParaRPr lang="en-US" sz="900" dirty="0">
              <a:ea typeface="Noto Sans SC" panose="020B0200000000000000" pitchFamily="34" charset="-122"/>
              <a:cs typeface="Noto Sans SC" panose="020B0200000000000000" pitchFamily="34" charset="-122"/>
            </a:endParaRPr>
          </a:p>
        </p:txBody>
      </p:sp>
      <p:sp>
        <p:nvSpPr>
          <p:cNvPr id="68" name="Shape 58"/>
          <p:cNvSpPr/>
          <p:nvPr/>
        </p:nvSpPr>
        <p:spPr>
          <a:xfrm>
            <a:off x="6447434" y="2722169"/>
            <a:ext cx="466344" cy="247802"/>
          </a:xfrm>
          <a:prstGeom prst="roundRect">
            <a:avLst>
              <a:gd name="adj" fmla="val 113540"/>
            </a:avLst>
          </a:prstGeom>
          <a:solidFill>
            <a:srgbClr val="DCFCE7"/>
          </a:solidFill>
          <a:ln w="12700">
            <a:solidFill>
              <a:srgbClr val="FFFFFF">
                <a:alpha val="0"/>
              </a:srgbClr>
            </a:solidFill>
            <a:prstDash val="solid"/>
          </a:ln>
        </p:spPr>
      </p:sp>
      <p:sp>
        <p:nvSpPr>
          <p:cNvPr id="69" name="Text 59"/>
          <p:cNvSpPr txBox="1"/>
          <p:nvPr/>
        </p:nvSpPr>
        <p:spPr>
          <a:xfrm>
            <a:off x="6447434" y="2722169"/>
            <a:ext cx="467258"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Low</a:t>
            </a:r>
            <a:endParaRPr lang="en-US" sz="900" dirty="0">
              <a:ea typeface="Noto Sans SC" panose="020B0200000000000000" pitchFamily="34" charset="-122"/>
              <a:cs typeface="Noto Sans SC" panose="020B0200000000000000" pitchFamily="34" charset="-122"/>
            </a:endParaRPr>
          </a:p>
        </p:txBody>
      </p:sp>
      <p:sp>
        <p:nvSpPr>
          <p:cNvPr id="70" name="Shape 60"/>
          <p:cNvSpPr/>
          <p:nvPr/>
        </p:nvSpPr>
        <p:spPr>
          <a:xfrm>
            <a:off x="6447434" y="3390595"/>
            <a:ext cx="466344" cy="247802"/>
          </a:xfrm>
          <a:prstGeom prst="roundRect">
            <a:avLst>
              <a:gd name="adj" fmla="val 113540"/>
            </a:avLst>
          </a:prstGeom>
          <a:solidFill>
            <a:srgbClr val="DCFCE7"/>
          </a:solidFill>
          <a:ln w="12700">
            <a:solidFill>
              <a:srgbClr val="FFFFFF">
                <a:alpha val="0"/>
              </a:srgbClr>
            </a:solidFill>
            <a:prstDash val="solid"/>
          </a:ln>
        </p:spPr>
      </p:sp>
      <p:sp>
        <p:nvSpPr>
          <p:cNvPr id="71" name="Text 61"/>
          <p:cNvSpPr txBox="1"/>
          <p:nvPr/>
        </p:nvSpPr>
        <p:spPr>
          <a:xfrm>
            <a:off x="6447434" y="3390595"/>
            <a:ext cx="467258"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Low</a:t>
            </a:r>
            <a:endParaRPr lang="en-US" sz="900" dirty="0">
              <a:ea typeface="Noto Sans SC" panose="020B0200000000000000" pitchFamily="34" charset="-122"/>
              <a:cs typeface="Noto Sans SC" panose="020B0200000000000000" pitchFamily="34" charset="-122"/>
            </a:endParaRPr>
          </a:p>
        </p:txBody>
      </p:sp>
      <p:sp>
        <p:nvSpPr>
          <p:cNvPr id="72" name="Shape 62"/>
          <p:cNvSpPr/>
          <p:nvPr/>
        </p:nvSpPr>
        <p:spPr>
          <a:xfrm>
            <a:off x="6327648" y="3991356"/>
            <a:ext cx="705002" cy="247802"/>
          </a:xfrm>
          <a:prstGeom prst="roundRect">
            <a:avLst>
              <a:gd name="adj" fmla="val 113540"/>
            </a:avLst>
          </a:prstGeom>
          <a:solidFill>
            <a:srgbClr val="FEF3C7"/>
          </a:solidFill>
          <a:ln w="12700">
            <a:solidFill>
              <a:srgbClr val="FFFFFF">
                <a:alpha val="0"/>
              </a:srgbClr>
            </a:solidFill>
            <a:prstDash val="solid"/>
          </a:ln>
        </p:spPr>
      </p:sp>
      <p:sp>
        <p:nvSpPr>
          <p:cNvPr id="73" name="Text 63"/>
          <p:cNvSpPr txBox="1"/>
          <p:nvPr/>
        </p:nvSpPr>
        <p:spPr>
          <a:xfrm>
            <a:off x="6327648" y="3991356"/>
            <a:ext cx="705002"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92400E"/>
                </a:solidFill>
                <a:latin typeface="Noto Sans SC" panose="020B0200000000000000" pitchFamily="34" charset="-122"/>
                <a:ea typeface="Noto Sans SC" panose="020B0200000000000000" pitchFamily="34" charset="-122"/>
                <a:cs typeface="Noto Sans SC" panose="020B0200000000000000" pitchFamily="34" charset="-122"/>
              </a:rPr>
              <a:t>Average</a:t>
            </a:r>
            <a:endParaRPr lang="en-US" sz="900" dirty="0">
              <a:ea typeface="Noto Sans SC" panose="020B0200000000000000" pitchFamily="34" charset="-122"/>
              <a:cs typeface="Noto Sans SC" panose="020B0200000000000000" pitchFamily="34" charset="-122"/>
            </a:endParaRPr>
          </a:p>
        </p:txBody>
      </p:sp>
      <p:sp>
        <p:nvSpPr>
          <p:cNvPr id="74" name="Shape 64"/>
          <p:cNvSpPr/>
          <p:nvPr/>
        </p:nvSpPr>
        <p:spPr>
          <a:xfrm>
            <a:off x="6327648" y="4591202"/>
            <a:ext cx="705002" cy="247802"/>
          </a:xfrm>
          <a:prstGeom prst="roundRect">
            <a:avLst>
              <a:gd name="adj" fmla="val 113540"/>
            </a:avLst>
          </a:prstGeom>
          <a:solidFill>
            <a:srgbClr val="FEF3C7"/>
          </a:solidFill>
          <a:ln w="12700">
            <a:solidFill>
              <a:srgbClr val="FFFFFF">
                <a:alpha val="0"/>
              </a:srgbClr>
            </a:solidFill>
            <a:prstDash val="solid"/>
          </a:ln>
        </p:spPr>
      </p:sp>
      <p:sp>
        <p:nvSpPr>
          <p:cNvPr id="75" name="Text 65"/>
          <p:cNvSpPr txBox="1"/>
          <p:nvPr/>
        </p:nvSpPr>
        <p:spPr>
          <a:xfrm>
            <a:off x="6327648" y="4591202"/>
            <a:ext cx="705002"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900" b="1" dirty="0">
                <a:solidFill>
                  <a:srgbClr val="92400E"/>
                </a:solidFill>
                <a:latin typeface="Noto Sans SC" panose="020B0200000000000000" pitchFamily="34" charset="-122"/>
                <a:ea typeface="Noto Sans SC" panose="020B0200000000000000" pitchFamily="34" charset="-122"/>
                <a:cs typeface="Noto Sans SC" panose="020B0200000000000000" pitchFamily="34" charset="-122"/>
              </a:rPr>
              <a:t>Average</a:t>
            </a:r>
            <a:endParaRPr lang="en-US" sz="900" dirty="0">
              <a:ea typeface="Noto Sans SC" panose="020B0200000000000000" pitchFamily="34" charset="-122"/>
              <a:cs typeface="Noto Sans SC" panose="020B0200000000000000"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0" r="-10"/>
          <a:stretch>
            <a:fillRect/>
          </a:stretch>
        </p:blipFill>
        <p:spPr>
          <a:xfrm>
            <a:off x="0" y="0"/>
            <a:ext cx="13334695" cy="666598"/>
          </a:xfrm>
          <a:prstGeom prst="rect">
            <a:avLst/>
          </a:prstGeom>
        </p:spPr>
      </p:pic>
      <p:sp>
        <p:nvSpPr>
          <p:cNvPr id="5" name="Shape 2"/>
          <p:cNvSpPr/>
          <p:nvPr/>
        </p:nvSpPr>
        <p:spPr>
          <a:xfrm>
            <a:off x="571500" y="142646"/>
            <a:ext cx="381305" cy="381305"/>
          </a:xfrm>
          <a:prstGeom prst="ellipse">
            <a:avLst/>
          </a:prstGeom>
          <a:solidFill>
            <a:srgbClr val="FFFFFF">
              <a:alpha val="15000"/>
            </a:srgbClr>
          </a:solidFill>
          <a:ln w="12700">
            <a:solidFill>
              <a:srgbClr val="FFFFFF">
                <a:alpha val="0"/>
              </a:srgbClr>
            </a:solidFill>
            <a:prstDash val="solid"/>
          </a:ln>
        </p:spPr>
      </p:sp>
      <p:pic>
        <p:nvPicPr>
          <p:cNvPr id="6" name="Image 1" descr="preencoded.png"/>
          <p:cNvPicPr>
            <a:picLocks noChangeAspect="1"/>
          </p:cNvPicPr>
          <p:nvPr/>
        </p:nvPicPr>
        <p:blipFill>
          <a:blip r:embed="rId2"/>
          <a:srcRect l="-1773" r="-1773"/>
          <a:stretch>
            <a:fillRect/>
          </a:stretch>
        </p:blipFill>
        <p:spPr>
          <a:xfrm>
            <a:off x="694944" y="247802"/>
            <a:ext cx="133502" cy="171907"/>
          </a:xfrm>
          <a:prstGeom prst="rect">
            <a:avLst/>
          </a:prstGeom>
        </p:spPr>
      </p:pic>
      <p:sp>
        <p:nvSpPr>
          <p:cNvPr id="7" name="Text 3"/>
          <p:cNvSpPr txBox="1"/>
          <p:nvPr/>
        </p:nvSpPr>
        <p:spPr>
          <a:xfrm>
            <a:off x="1143000" y="152705"/>
            <a:ext cx="7448702" cy="362102"/>
          </a:xfrm>
          <a:prstGeom prst="rect">
            <a:avLst/>
          </a:prstGeom>
          <a:noFill/>
        </p:spPr>
        <p:txBody>
          <a:bodyPr wrap="square" lIns="0" tIns="0" rIns="0" bIns="0" rtlCol="0" anchor="ctr"/>
          <a:lstStyle/>
          <a:p>
            <a:pPr marL="0" indent="0" algn="l">
              <a:buNone/>
            </a:pPr>
            <a:r>
              <a:rPr lang="en-US" sz="2100" b="1" kern="0" spc="38"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sym typeface="+mn-ea"/>
              </a:rPr>
              <a:t>Set of Size-oriented metrics</a:t>
            </a:r>
            <a:endParaRPr lang="en-US" sz="2100" dirty="0">
              <a:ea typeface="Noto Sans SC" panose="020B0200000000000000" pitchFamily="34" charset="-122"/>
              <a:cs typeface="Noto Sans SC" panose="020B0200000000000000" pitchFamily="34" charset="-122"/>
            </a:endParaRPr>
          </a:p>
        </p:txBody>
      </p:sp>
      <p:pic>
        <p:nvPicPr>
          <p:cNvPr id="8" name="Image 2" descr="preencoded.png"/>
          <p:cNvPicPr>
            <a:picLocks noChangeAspect="1"/>
          </p:cNvPicPr>
          <p:nvPr/>
        </p:nvPicPr>
        <p:blipFill>
          <a:blip r:embed="rId3"/>
          <a:srcRect/>
          <a:stretch>
            <a:fillRect/>
          </a:stretch>
        </p:blipFill>
        <p:spPr>
          <a:xfrm>
            <a:off x="390525" y="1513408"/>
            <a:ext cx="190195" cy="190195"/>
          </a:xfrm>
          <a:prstGeom prst="rect">
            <a:avLst/>
          </a:prstGeom>
        </p:spPr>
      </p:pic>
      <p:sp>
        <p:nvSpPr>
          <p:cNvPr id="10" name="Shape 5"/>
          <p:cNvSpPr/>
          <p:nvPr/>
        </p:nvSpPr>
        <p:spPr>
          <a:xfrm>
            <a:off x="381000" y="1315085"/>
            <a:ext cx="11449050" cy="5128895"/>
          </a:xfrm>
          <a:prstGeom prst="roundRect">
            <a:avLst>
              <a:gd name="adj" fmla="val 1523"/>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pic>
        <p:nvPicPr>
          <p:cNvPr id="11" name="Image 3" descr="preencoded.png"/>
          <p:cNvPicPr>
            <a:picLocks noChangeAspect="1"/>
          </p:cNvPicPr>
          <p:nvPr/>
        </p:nvPicPr>
        <p:blipFill>
          <a:blip r:embed="rId4"/>
          <a:srcRect l="-36" r="-36"/>
          <a:stretch>
            <a:fillRect/>
          </a:stretch>
        </p:blipFill>
        <p:spPr>
          <a:xfrm>
            <a:off x="390449" y="1126566"/>
            <a:ext cx="11430000" cy="418795"/>
          </a:xfrm>
          <a:prstGeom prst="rect">
            <a:avLst/>
          </a:prstGeom>
        </p:spPr>
      </p:pic>
      <p:sp>
        <p:nvSpPr>
          <p:cNvPr id="76" name="文本框 75"/>
          <p:cNvSpPr txBox="1"/>
          <p:nvPr/>
        </p:nvSpPr>
        <p:spPr>
          <a:xfrm>
            <a:off x="694690" y="1703705"/>
            <a:ext cx="5895340" cy="4399915"/>
          </a:xfrm>
          <a:prstGeom prst="rect">
            <a:avLst/>
          </a:prstGeom>
          <a:noFill/>
        </p:spPr>
        <p:txBody>
          <a:bodyPr wrap="square" rtlCol="0">
            <a:spAutoFit/>
          </a:bodyPr>
          <a:p>
            <a:r>
              <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sym typeface="+mn-ea"/>
              </a:rPr>
              <a:t>Errors per KLOC: 5</a:t>
            </a:r>
            <a:endPar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endParaRPr>
          </a:p>
          <a:p>
            <a:endPar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endParaRPr>
          </a:p>
          <a:p>
            <a:r>
              <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sym typeface="+mn-ea"/>
              </a:rPr>
              <a:t>Defects per KLOC: 5</a:t>
            </a:r>
            <a:endPar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endParaRPr>
          </a:p>
          <a:p>
            <a:endPar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endParaRPr>
          </a:p>
          <a:p>
            <a:r>
              <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sym typeface="+mn-ea"/>
              </a:rPr>
              <a:t>$per LOC: 1 yuan</a:t>
            </a:r>
            <a:endPar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endParaRPr>
          </a:p>
          <a:p>
            <a:endPar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endParaRPr>
          </a:p>
          <a:p>
            <a:r>
              <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sym typeface="+mn-ea"/>
              </a:rPr>
              <a:t>Pages of Documentation per KLOC: 1</a:t>
            </a:r>
            <a:endPar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endParaRPr>
          </a:p>
          <a:p>
            <a:endPar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endParaRPr>
          </a:p>
          <a:p>
            <a:r>
              <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sym typeface="+mn-ea"/>
              </a:rPr>
              <a:t>Errors per person-month: 2</a:t>
            </a:r>
            <a:endPar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endParaRPr>
          </a:p>
          <a:p>
            <a:endPar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endParaRPr>
          </a:p>
          <a:p>
            <a:r>
              <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sym typeface="+mn-ea"/>
              </a:rPr>
              <a:t>LOC per person-month: 1000</a:t>
            </a:r>
            <a:endPar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endParaRPr>
          </a:p>
          <a:p>
            <a:endPar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endParaRPr>
          </a:p>
          <a:p>
            <a:r>
              <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sym typeface="+mn-ea"/>
              </a:rPr>
              <a:t>$ per Page of documentation: 1 yuan</a:t>
            </a:r>
            <a:endPar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endParaRPr>
          </a:p>
          <a:p>
            <a:endParaRPr lang="en-US" altLang="zh-CN" sz="20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0" r="-10"/>
          <a:stretch>
            <a:fillRect/>
          </a:stretch>
        </p:blipFill>
        <p:spPr>
          <a:xfrm>
            <a:off x="0" y="0"/>
            <a:ext cx="13334695" cy="666598"/>
          </a:xfrm>
          <a:prstGeom prst="rect">
            <a:avLst/>
          </a:prstGeom>
        </p:spPr>
      </p:pic>
      <p:sp>
        <p:nvSpPr>
          <p:cNvPr id="5" name="Shape 2"/>
          <p:cNvSpPr/>
          <p:nvPr/>
        </p:nvSpPr>
        <p:spPr>
          <a:xfrm>
            <a:off x="571500" y="142646"/>
            <a:ext cx="381305" cy="381305"/>
          </a:xfrm>
          <a:prstGeom prst="ellipse">
            <a:avLst/>
          </a:prstGeom>
          <a:solidFill>
            <a:srgbClr val="FFFFFF">
              <a:alpha val="15000"/>
            </a:srgbClr>
          </a:solidFill>
          <a:ln w="12700">
            <a:solidFill>
              <a:srgbClr val="FFFFFF">
                <a:alpha val="0"/>
              </a:srgbClr>
            </a:solidFill>
            <a:prstDash val="solid"/>
          </a:ln>
        </p:spPr>
      </p:sp>
      <p:pic>
        <p:nvPicPr>
          <p:cNvPr id="6" name="Image 1" descr="preencoded.png"/>
          <p:cNvPicPr>
            <a:picLocks noChangeAspect="1"/>
          </p:cNvPicPr>
          <p:nvPr/>
        </p:nvPicPr>
        <p:blipFill>
          <a:blip r:embed="rId2"/>
          <a:srcRect l="-1773" r="-1773"/>
          <a:stretch>
            <a:fillRect/>
          </a:stretch>
        </p:blipFill>
        <p:spPr>
          <a:xfrm>
            <a:off x="694944" y="247802"/>
            <a:ext cx="133502" cy="171907"/>
          </a:xfrm>
          <a:prstGeom prst="rect">
            <a:avLst/>
          </a:prstGeom>
        </p:spPr>
      </p:pic>
      <p:sp>
        <p:nvSpPr>
          <p:cNvPr id="7" name="Text 3"/>
          <p:cNvSpPr txBox="1"/>
          <p:nvPr/>
        </p:nvSpPr>
        <p:spPr>
          <a:xfrm>
            <a:off x="1143000" y="152705"/>
            <a:ext cx="7448702" cy="362102"/>
          </a:xfrm>
          <a:prstGeom prst="rect">
            <a:avLst/>
          </a:prstGeom>
          <a:noFill/>
        </p:spPr>
        <p:txBody>
          <a:bodyPr wrap="square" lIns="0" tIns="0" rIns="0" bIns="0" rtlCol="0" anchor="ctr"/>
          <a:lstStyle/>
          <a:p>
            <a:pPr marL="0" indent="0" algn="l">
              <a:buNone/>
            </a:pPr>
            <a:r>
              <a:rPr lang="en-US" altLang="zh-CN" sz="2100" b="1" kern="0" spc="38"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0"/>
                <a:sym typeface="+mn-ea"/>
              </a:rPr>
              <a:t>Estimation Models</a:t>
            </a:r>
            <a:endParaRPr lang="en-US" sz="2100" dirty="0">
              <a:ea typeface="Noto Sans SC" panose="020B0200000000000000" pitchFamily="34" charset="-122"/>
              <a:cs typeface="Noto Sans SC" panose="020B0200000000000000" pitchFamily="34" charset="-122"/>
            </a:endParaRPr>
          </a:p>
        </p:txBody>
      </p:sp>
      <p:pic>
        <p:nvPicPr>
          <p:cNvPr id="8" name="Image 2" descr="preencoded.png"/>
          <p:cNvPicPr>
            <a:picLocks noChangeAspect="1"/>
          </p:cNvPicPr>
          <p:nvPr/>
        </p:nvPicPr>
        <p:blipFill>
          <a:blip r:embed="rId3"/>
          <a:srcRect/>
          <a:stretch>
            <a:fillRect/>
          </a:stretch>
        </p:blipFill>
        <p:spPr>
          <a:xfrm>
            <a:off x="571500" y="871423"/>
            <a:ext cx="190195" cy="190195"/>
          </a:xfrm>
          <a:prstGeom prst="rect">
            <a:avLst/>
          </a:prstGeom>
        </p:spPr>
      </p:pic>
      <p:sp>
        <p:nvSpPr>
          <p:cNvPr id="9" name="Text 4"/>
          <p:cNvSpPr txBox="1"/>
          <p:nvPr/>
        </p:nvSpPr>
        <p:spPr>
          <a:xfrm>
            <a:off x="923290" y="815340"/>
            <a:ext cx="10553065" cy="741680"/>
          </a:xfrm>
          <a:prstGeom prst="rect">
            <a:avLst/>
          </a:prstGeom>
          <a:noFill/>
        </p:spPr>
        <p:txBody>
          <a:bodyPr wrap="square" lIns="0" tIns="0" rIns="0" bIns="0" rtlCol="0" anchor="ctr"/>
          <a:lstStyle/>
          <a:p>
            <a:pPr marL="0" indent="0" algn="l">
              <a:buNone/>
            </a:pPr>
            <a:r>
              <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a:t>
            </a:r>
            <a:r>
              <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sym typeface="+mn-ea"/>
              </a:rPr>
              <a:t>Purpose:</a:t>
            </a:r>
            <a:endPar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endParaRPr>
          </a:p>
          <a:p>
            <a:pPr marL="0" indent="0" algn="l">
              <a:buNone/>
            </a:pPr>
            <a:r>
              <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sym typeface="+mn-ea"/>
              </a:rPr>
              <a:t>Estimate the effort, time, and cost required to complete the smart dormitory management system.</a:t>
            </a:r>
            <a:endPar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endParaRPr>
          </a:p>
          <a:p>
            <a:pPr marL="0" indent="0" algn="l">
              <a:buNone/>
            </a:pPr>
            <a:endPar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6" name="Shape 2"/>
          <p:cNvSpPr/>
          <p:nvPr/>
        </p:nvSpPr>
        <p:spPr>
          <a:xfrm>
            <a:off x="571500" y="1673860"/>
            <a:ext cx="5410200" cy="5047615"/>
          </a:xfrm>
          <a:prstGeom prst="roundRect">
            <a:avLst>
              <a:gd name="adj" fmla="val 1371"/>
            </a:avLst>
          </a:prstGeom>
          <a:solidFill>
            <a:srgbClr val="FFFFFF"/>
          </a:solidFill>
          <a:effectLst>
            <a:outerShdw blurRad="114300" dist="38100" dir="16200000" algn="bl" rotWithShape="0">
              <a:srgbClr val="000000">
                <a:alpha val="5000"/>
              </a:srgbClr>
            </a:outerShdw>
          </a:effectLst>
        </p:spPr>
      </p:sp>
      <p:sp>
        <p:nvSpPr>
          <p:cNvPr id="77" name="Shape 3"/>
          <p:cNvSpPr/>
          <p:nvPr/>
        </p:nvSpPr>
        <p:spPr>
          <a:xfrm flipH="1">
            <a:off x="540385" y="1673860"/>
            <a:ext cx="76200" cy="5053965"/>
          </a:xfrm>
          <a:prstGeom prst="roundRect">
            <a:avLst>
              <a:gd name="adj" fmla="val 112570"/>
            </a:avLst>
          </a:prstGeom>
          <a:solidFill>
            <a:srgbClr val="3B82F6"/>
          </a:solidFill>
          <a:ln w="12700">
            <a:solidFill>
              <a:srgbClr val="3B82F6">
                <a:alpha val="0"/>
              </a:srgbClr>
            </a:solidFill>
            <a:prstDash val="solid"/>
          </a:ln>
        </p:spPr>
      </p:sp>
      <p:pic>
        <p:nvPicPr>
          <p:cNvPr id="78" name="Image 1" descr="preencoded.png"/>
          <p:cNvPicPr>
            <a:picLocks noChangeAspect="1"/>
          </p:cNvPicPr>
          <p:nvPr/>
        </p:nvPicPr>
        <p:blipFill>
          <a:blip r:embed="rId4"/>
          <a:srcRect l="-2089" r="-2089"/>
          <a:stretch>
            <a:fillRect/>
          </a:stretch>
        </p:blipFill>
        <p:spPr>
          <a:xfrm>
            <a:off x="762000" y="2324735"/>
            <a:ext cx="4953305" cy="9144"/>
          </a:xfrm>
          <a:prstGeom prst="rect">
            <a:avLst/>
          </a:prstGeom>
        </p:spPr>
      </p:pic>
      <p:sp>
        <p:nvSpPr>
          <p:cNvPr id="80" name="Shape 11"/>
          <p:cNvSpPr/>
          <p:nvPr/>
        </p:nvSpPr>
        <p:spPr>
          <a:xfrm>
            <a:off x="800100" y="1902765"/>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81" name="Image 6" descr="preencoded.png"/>
          <p:cNvPicPr>
            <a:picLocks noChangeAspect="1"/>
          </p:cNvPicPr>
          <p:nvPr/>
        </p:nvPicPr>
        <p:blipFill>
          <a:blip r:embed="rId5"/>
          <a:srcRect t="-14384" b="-14384"/>
          <a:stretch>
            <a:fillRect/>
          </a:stretch>
        </p:blipFill>
        <p:spPr>
          <a:xfrm>
            <a:off x="923544" y="2007006"/>
            <a:ext cx="133502" cy="171907"/>
          </a:xfrm>
          <a:prstGeom prst="rect">
            <a:avLst/>
          </a:prstGeom>
        </p:spPr>
      </p:pic>
      <p:sp>
        <p:nvSpPr>
          <p:cNvPr id="82" name="Text 12"/>
          <p:cNvSpPr txBox="1"/>
          <p:nvPr/>
        </p:nvSpPr>
        <p:spPr>
          <a:xfrm>
            <a:off x="1406830" y="1892630"/>
            <a:ext cx="2857500" cy="314554"/>
          </a:xfrm>
          <a:prstGeom prst="rect">
            <a:avLst/>
          </a:prstGeom>
          <a:noFill/>
        </p:spPr>
        <p:txBody>
          <a:bodyPr wrap="square" lIns="0" tIns="0" rIns="0" bIns="0" rtlCol="0" anchor="ctr"/>
          <a:lstStyle/>
          <a:p>
            <a:pPr marL="0" indent="0" algn="l">
              <a:buNone/>
            </a:pPr>
            <a:r>
              <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sym typeface="+mn-ea"/>
              </a:rPr>
              <a:t>Inputs</a:t>
            </a:r>
            <a:endPar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83" name="Shape 13"/>
          <p:cNvSpPr/>
          <p:nvPr/>
        </p:nvSpPr>
        <p:spPr>
          <a:xfrm>
            <a:off x="5133442" y="1940255"/>
            <a:ext cx="705002" cy="267005"/>
          </a:xfrm>
          <a:prstGeom prst="roundRect">
            <a:avLst>
              <a:gd name="adj" fmla="val 342465"/>
            </a:avLst>
          </a:prstGeom>
          <a:solidFill>
            <a:srgbClr val="DCFCE7"/>
          </a:solidFill>
          <a:ln w="12700">
            <a:solidFill>
              <a:srgbClr val="FFFFFF">
                <a:alpha val="0"/>
              </a:srgbClr>
            </a:solidFill>
            <a:prstDash val="solid"/>
          </a:ln>
        </p:spPr>
      </p:sp>
      <p:sp>
        <p:nvSpPr>
          <p:cNvPr id="84" name="Text 14"/>
          <p:cNvSpPr/>
          <p:nvPr/>
        </p:nvSpPr>
        <p:spPr>
          <a:xfrm>
            <a:off x="5133442" y="1940255"/>
            <a:ext cx="705002" cy="267005"/>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r">
              <a:buNone/>
            </a:pPr>
            <a:r>
              <a:rPr lang="en-US" sz="900"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Primary</a:t>
            </a:r>
            <a:endParaRPr lang="en-US" sz="900" dirty="0">
              <a:ea typeface="Noto Sans SC" panose="020B0200000000000000" pitchFamily="34" charset="-122"/>
              <a:cs typeface="Noto Sans SC" panose="020B0200000000000000" pitchFamily="34" charset="-122"/>
            </a:endParaRPr>
          </a:p>
        </p:txBody>
      </p:sp>
      <p:sp>
        <p:nvSpPr>
          <p:cNvPr id="99" name="Shape 2"/>
          <p:cNvSpPr/>
          <p:nvPr/>
        </p:nvSpPr>
        <p:spPr>
          <a:xfrm>
            <a:off x="6548755" y="1801800"/>
            <a:ext cx="5410505" cy="3905402"/>
          </a:xfrm>
          <a:prstGeom prst="roundRect">
            <a:avLst>
              <a:gd name="adj" fmla="val 1371"/>
            </a:avLst>
          </a:prstGeom>
          <a:solidFill>
            <a:srgbClr val="FFFFFF"/>
          </a:solidFill>
          <a:effectLst>
            <a:outerShdw blurRad="114300" dist="38100" dir="16200000" algn="bl" rotWithShape="0">
              <a:srgbClr val="000000">
                <a:alpha val="5000"/>
              </a:srgbClr>
            </a:outerShdw>
          </a:effectLst>
        </p:spPr>
      </p:sp>
      <p:sp>
        <p:nvSpPr>
          <p:cNvPr id="100" name="Shape 3"/>
          <p:cNvSpPr/>
          <p:nvPr/>
        </p:nvSpPr>
        <p:spPr>
          <a:xfrm>
            <a:off x="6548755" y="1801800"/>
            <a:ext cx="47549" cy="3905402"/>
          </a:xfrm>
          <a:prstGeom prst="roundRect">
            <a:avLst>
              <a:gd name="adj" fmla="val 112570"/>
            </a:avLst>
          </a:prstGeom>
          <a:solidFill>
            <a:srgbClr val="3B82F6"/>
          </a:solidFill>
          <a:ln w="12700">
            <a:solidFill>
              <a:srgbClr val="3B82F6">
                <a:alpha val="0"/>
              </a:srgbClr>
            </a:solidFill>
            <a:prstDash val="solid"/>
          </a:ln>
        </p:spPr>
      </p:sp>
      <p:pic>
        <p:nvPicPr>
          <p:cNvPr id="101" name="Image 1" descr="preencoded.png"/>
          <p:cNvPicPr>
            <a:picLocks noChangeAspect="1"/>
          </p:cNvPicPr>
          <p:nvPr/>
        </p:nvPicPr>
        <p:blipFill>
          <a:blip r:embed="rId4"/>
          <a:srcRect l="-2089" r="-2089"/>
          <a:stretch>
            <a:fillRect/>
          </a:stretch>
        </p:blipFill>
        <p:spPr>
          <a:xfrm>
            <a:off x="6777355" y="2563495"/>
            <a:ext cx="4953305" cy="9144"/>
          </a:xfrm>
          <a:prstGeom prst="rect">
            <a:avLst/>
          </a:prstGeom>
        </p:spPr>
      </p:pic>
      <p:sp>
        <p:nvSpPr>
          <p:cNvPr id="103" name="Shape 11"/>
          <p:cNvSpPr/>
          <p:nvPr/>
        </p:nvSpPr>
        <p:spPr>
          <a:xfrm>
            <a:off x="6777355" y="2030400"/>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104" name="Image 6" descr="preencoded.png"/>
          <p:cNvPicPr>
            <a:picLocks noChangeAspect="1"/>
          </p:cNvPicPr>
          <p:nvPr/>
        </p:nvPicPr>
        <p:blipFill>
          <a:blip r:embed="rId5"/>
          <a:srcRect t="-14384" b="-14384"/>
          <a:stretch>
            <a:fillRect/>
          </a:stretch>
        </p:blipFill>
        <p:spPr>
          <a:xfrm>
            <a:off x="6900799" y="2134641"/>
            <a:ext cx="133502" cy="171907"/>
          </a:xfrm>
          <a:prstGeom prst="rect">
            <a:avLst/>
          </a:prstGeom>
        </p:spPr>
      </p:pic>
      <p:sp>
        <p:nvSpPr>
          <p:cNvPr id="105" name="Text 12"/>
          <p:cNvSpPr txBox="1"/>
          <p:nvPr/>
        </p:nvSpPr>
        <p:spPr>
          <a:xfrm>
            <a:off x="7306945" y="2068195"/>
            <a:ext cx="2968625" cy="314325"/>
          </a:xfrm>
          <a:prstGeom prst="rect">
            <a:avLst/>
          </a:prstGeom>
          <a:noFill/>
        </p:spPr>
        <p:txBody>
          <a:bodyPr wrap="square" lIns="0" tIns="0" rIns="0" bIns="0" rtlCol="0" anchor="ctr"/>
          <a:lstStyle/>
          <a:p>
            <a:pPr marL="0" indent="0" algn="l">
              <a:buNone/>
            </a:pPr>
            <a:r>
              <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sym typeface="+mn-ea"/>
              </a:rPr>
              <a:t>Rationale</a:t>
            </a:r>
            <a:endPar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06" name="Shape 13"/>
          <p:cNvSpPr/>
          <p:nvPr/>
        </p:nvSpPr>
        <p:spPr>
          <a:xfrm>
            <a:off x="11110697" y="2067890"/>
            <a:ext cx="705002" cy="267005"/>
          </a:xfrm>
          <a:prstGeom prst="roundRect">
            <a:avLst>
              <a:gd name="adj" fmla="val 342465"/>
            </a:avLst>
          </a:prstGeom>
          <a:solidFill>
            <a:srgbClr val="DCFCE7"/>
          </a:solidFill>
          <a:ln w="12700">
            <a:solidFill>
              <a:srgbClr val="FFFFFF">
                <a:alpha val="0"/>
              </a:srgbClr>
            </a:solidFill>
            <a:prstDash val="solid"/>
          </a:ln>
        </p:spPr>
      </p:sp>
      <p:sp>
        <p:nvSpPr>
          <p:cNvPr id="107" name="Text 14"/>
          <p:cNvSpPr/>
          <p:nvPr/>
        </p:nvSpPr>
        <p:spPr>
          <a:xfrm>
            <a:off x="11110697" y="2067890"/>
            <a:ext cx="705002" cy="267005"/>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r">
              <a:buNone/>
            </a:pPr>
            <a:r>
              <a:rPr lang="en-US" sz="900"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Primary</a:t>
            </a:r>
            <a:endParaRPr lang="en-US" sz="900" dirty="0">
              <a:ea typeface="Noto Sans SC" panose="020B0200000000000000" pitchFamily="34" charset="-122"/>
              <a:cs typeface="Noto Sans SC" panose="020B0200000000000000" pitchFamily="34" charset="-122"/>
            </a:endParaRPr>
          </a:p>
        </p:txBody>
      </p:sp>
      <p:sp>
        <p:nvSpPr>
          <p:cNvPr id="122" name="文本框 121"/>
          <p:cNvSpPr txBox="1"/>
          <p:nvPr/>
        </p:nvSpPr>
        <p:spPr>
          <a:xfrm>
            <a:off x="1181100" y="2411730"/>
            <a:ext cx="4064000" cy="2122805"/>
          </a:xfrm>
          <a:prstGeom prst="rect">
            <a:avLst/>
          </a:prstGeom>
          <a:noFill/>
        </p:spPr>
        <p:txBody>
          <a:bodyPr wrap="square" rtlCol="0">
            <a:spAutoFit/>
          </a:bodyPr>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Estimated size: 20 KLOC</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indent="0" algn="l">
              <a:buNone/>
            </a:pP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Function Points: 87 FP</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indent="0" algn="l">
              <a:buNone/>
            </a:pP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Productivity: 600</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indent="0" algn="l">
              <a:buNone/>
            </a:pP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Duration: 4 months</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indent="0" algn="l">
              <a:buNone/>
            </a:pP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Complexity factor: 0.16</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indent="0" algn="l">
              <a:buNone/>
            </a:pP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Project scope based on RTM and WBS</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p:txBody>
      </p:sp>
      <p:pic>
        <p:nvPicPr>
          <p:cNvPr id="123" name="Image 1" descr="preencoded.png"/>
          <p:cNvPicPr>
            <a:picLocks noChangeAspect="1"/>
          </p:cNvPicPr>
          <p:nvPr/>
        </p:nvPicPr>
        <p:blipFill>
          <a:blip r:embed="rId4"/>
          <a:srcRect l="-2089" r="-2089"/>
          <a:stretch>
            <a:fillRect/>
          </a:stretch>
        </p:blipFill>
        <p:spPr>
          <a:xfrm>
            <a:off x="762000" y="5102860"/>
            <a:ext cx="4953305" cy="9144"/>
          </a:xfrm>
          <a:prstGeom prst="rect">
            <a:avLst/>
          </a:prstGeom>
        </p:spPr>
      </p:pic>
      <p:sp>
        <p:nvSpPr>
          <p:cNvPr id="124" name="文本框 123"/>
          <p:cNvSpPr txBox="1"/>
          <p:nvPr/>
        </p:nvSpPr>
        <p:spPr>
          <a:xfrm>
            <a:off x="1406525" y="4738688"/>
            <a:ext cx="4064000" cy="245745"/>
          </a:xfrm>
          <a:prstGeom prst="rect">
            <a:avLst/>
          </a:prstGeom>
          <a:noFill/>
        </p:spPr>
        <p:txBody>
          <a:bodyPr wrap="square" lIns="0" tIns="0" rIns="0" bIns="0" rtlCol="0" anchor="ctr">
            <a:noAutofit/>
          </a:bodyPr>
          <a:lstStyle/>
          <a:p>
            <a:pPr lvl="0" algn="l">
              <a:buClrTx/>
              <a:buSzTx/>
              <a:buFontTx/>
            </a:pPr>
            <a:r>
              <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sym typeface="+mn-ea"/>
              </a:rPr>
              <a:t>Models Used</a:t>
            </a:r>
            <a:endPar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sym typeface="+mn-ea"/>
            </a:endParaRPr>
          </a:p>
        </p:txBody>
      </p:sp>
      <p:sp>
        <p:nvSpPr>
          <p:cNvPr id="125" name="文本框 124"/>
          <p:cNvSpPr txBox="1"/>
          <p:nvPr/>
        </p:nvSpPr>
        <p:spPr>
          <a:xfrm>
            <a:off x="1181100" y="5189220"/>
            <a:ext cx="4064000" cy="1614805"/>
          </a:xfrm>
          <a:prstGeom prst="rect">
            <a:avLst/>
          </a:prstGeom>
          <a:noFill/>
        </p:spPr>
        <p:txBody>
          <a:bodyPr wrap="square" rtlCol="0">
            <a:spAutoFit/>
          </a:bodyPr>
          <a:p>
            <a:pPr marL="0" algn="l">
              <a:buClrTx/>
              <a:buSzTx/>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FP-oriented estimation model</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algn="l">
              <a:buClrTx/>
              <a:buSzTx/>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E = -12.88 + 0.405 × FP</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algn="l">
              <a:buClrTx/>
              <a:buSzTx/>
              <a:buNone/>
            </a:pP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algn="l">
              <a:buClrTx/>
              <a:buSzTx/>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Software Equation</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algn="l">
              <a:buClrTx/>
              <a:buSzTx/>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E = [LOC × B^0.333 / P]^3 × (1/t^4)</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algn="l">
              <a:buClrTx/>
              <a:buSzTx/>
              <a:buNone/>
            </a:pP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algn="l">
              <a:buClrTx/>
              <a:buSzTx/>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COCOMO II model</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marL="0" algn="l">
              <a:buClrTx/>
              <a:buSzTx/>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PM = A × Size^E × ∏EMᵢ</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algn="l">
              <a:buClrTx/>
              <a:buSzTx/>
              <a:buNone/>
            </a:pP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26" name="文本框 125"/>
          <p:cNvSpPr txBox="1"/>
          <p:nvPr/>
        </p:nvSpPr>
        <p:spPr>
          <a:xfrm>
            <a:off x="7099935" y="2724150"/>
            <a:ext cx="2890520" cy="2800985"/>
          </a:xfrm>
          <a:prstGeom prst="rect">
            <a:avLst/>
          </a:prstGeom>
          <a:noFill/>
        </p:spPr>
        <p:txBody>
          <a:bodyPr wrap="square" rtlCol="0">
            <a:noAutofit/>
          </a:bodyPr>
          <a:p>
            <a:pPr algn="l">
              <a:buClrTx/>
              <a:buSzTx/>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The project has a defined scope, RTM and WBS, so effort can be estimated from functional requirements and estimated size.</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algn="l">
              <a:buClrTx/>
              <a:buSzTx/>
              <a:buNone/>
            </a:pP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algn="l">
              <a:buClrTx/>
              <a:buSzTx/>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FP-oriented estimation is suitable because the project requirements can be mapped to function points.</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algn="l">
              <a:buClrTx/>
              <a:buSzTx/>
              <a:buNone/>
            </a:pP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algn="l">
              <a:buClrTx/>
              <a:buSzTx/>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The Software Equation provides a second effort estimate based on LOC, productivity, skills factor and duration.</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algn="l">
              <a:buClrTx/>
              <a:buSzTx/>
              <a:buNone/>
            </a:pP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pPr algn="l">
              <a:buClrTx/>
              <a:buSzTx/>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sym typeface="+mn-ea"/>
              </a:rPr>
              <a:t>COCOMO II is included as a supporting empirical model for effort, cost and schedule estimation.</a:t>
            </a:r>
            <a:endPar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endParaRPr>
          </a:p>
          <a:p>
            <a:endParaRPr lang="zh-CN" altLang="en-US">
              <a:cs typeface="Noto Sans SC" panose="020B0200000000000000"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5" name="Shape 2"/>
          <p:cNvSpPr/>
          <p:nvPr/>
        </p:nvSpPr>
        <p:spPr>
          <a:xfrm>
            <a:off x="571500" y="1524305"/>
            <a:ext cx="5410505" cy="3905402"/>
          </a:xfrm>
          <a:prstGeom prst="roundRect">
            <a:avLst>
              <a:gd name="adj" fmla="val 1371"/>
            </a:avLst>
          </a:prstGeom>
          <a:solidFill>
            <a:srgbClr val="FFFFFF"/>
          </a:solidFill>
          <a:effectLst>
            <a:outerShdw blurRad="114300" dist="38100" dir="16200000" algn="bl" rotWithShape="0">
              <a:srgbClr val="000000">
                <a:alpha val="5000"/>
              </a:srgbClr>
            </a:outerShdw>
          </a:effectLst>
        </p:spPr>
      </p:sp>
      <p:sp>
        <p:nvSpPr>
          <p:cNvPr id="6" name="Shape 3"/>
          <p:cNvSpPr/>
          <p:nvPr/>
        </p:nvSpPr>
        <p:spPr>
          <a:xfrm>
            <a:off x="571500" y="1524305"/>
            <a:ext cx="47549" cy="3905402"/>
          </a:xfrm>
          <a:prstGeom prst="roundRect">
            <a:avLst>
              <a:gd name="adj" fmla="val 112570"/>
            </a:avLst>
          </a:prstGeom>
          <a:solidFill>
            <a:srgbClr val="3B82F6"/>
          </a:solidFill>
          <a:ln w="12700">
            <a:solidFill>
              <a:srgbClr val="3B82F6">
                <a:alpha val="0"/>
              </a:srgbClr>
            </a:solidFill>
            <a:prstDash val="solid"/>
          </a:ln>
        </p:spPr>
      </p:sp>
      <p:pic>
        <p:nvPicPr>
          <p:cNvPr id="7" name="Image 1" descr="preencoded.png"/>
          <p:cNvPicPr>
            <a:picLocks noChangeAspect="1"/>
          </p:cNvPicPr>
          <p:nvPr/>
        </p:nvPicPr>
        <p:blipFill>
          <a:blip r:embed="rId2"/>
          <a:srcRect l="-2089" r="-2089"/>
          <a:stretch>
            <a:fillRect/>
          </a:stretch>
        </p:blipFill>
        <p:spPr>
          <a:xfrm>
            <a:off x="800100" y="2286000"/>
            <a:ext cx="4953305" cy="9144"/>
          </a:xfrm>
          <a:prstGeom prst="rect">
            <a:avLst/>
          </a:prstGeom>
        </p:spPr>
      </p:pic>
      <p:sp>
        <p:nvSpPr>
          <p:cNvPr id="8" name="Shape 4"/>
          <p:cNvSpPr/>
          <p:nvPr/>
        </p:nvSpPr>
        <p:spPr>
          <a:xfrm>
            <a:off x="800100" y="2476195"/>
            <a:ext cx="4953305" cy="1047902"/>
          </a:xfrm>
          <a:prstGeom prst="roundRect">
            <a:avLst>
              <a:gd name="adj" fmla="val 12692"/>
            </a:avLst>
          </a:prstGeom>
          <a:solidFill>
            <a:srgbClr val="F8FAFC"/>
          </a:solidFill>
          <a:ln w="12700">
            <a:solidFill>
              <a:srgbClr val="E2E8F0"/>
            </a:solidFill>
            <a:prstDash val="solid"/>
          </a:ln>
        </p:spPr>
      </p:sp>
      <p:sp>
        <p:nvSpPr>
          <p:cNvPr id="9" name="Shape 5"/>
          <p:cNvSpPr/>
          <p:nvPr/>
        </p:nvSpPr>
        <p:spPr>
          <a:xfrm>
            <a:off x="6210605" y="1524305"/>
            <a:ext cx="5410505" cy="3905402"/>
          </a:xfrm>
          <a:prstGeom prst="roundRect">
            <a:avLst>
              <a:gd name="adj" fmla="val 1371"/>
            </a:avLst>
          </a:prstGeom>
          <a:solidFill>
            <a:srgbClr val="FFFFFF"/>
          </a:solidFill>
          <a:effectLst>
            <a:outerShdw blurRad="114300" dist="38100" dir="16200000" algn="bl" rotWithShape="0">
              <a:srgbClr val="000000">
                <a:alpha val="5000"/>
              </a:srgbClr>
            </a:outerShdw>
          </a:effectLst>
        </p:spPr>
      </p:sp>
      <p:sp>
        <p:nvSpPr>
          <p:cNvPr id="10" name="Shape 6"/>
          <p:cNvSpPr/>
          <p:nvPr/>
        </p:nvSpPr>
        <p:spPr>
          <a:xfrm>
            <a:off x="6210605" y="1524305"/>
            <a:ext cx="47549" cy="3905402"/>
          </a:xfrm>
          <a:prstGeom prst="roundRect">
            <a:avLst>
              <a:gd name="adj" fmla="val 112570"/>
            </a:avLst>
          </a:prstGeom>
          <a:solidFill>
            <a:srgbClr val="3B82F6"/>
          </a:solidFill>
          <a:ln w="12700">
            <a:solidFill>
              <a:srgbClr val="3B82F6">
                <a:alpha val="0"/>
              </a:srgbClr>
            </a:solidFill>
            <a:prstDash val="solid"/>
          </a:ln>
        </p:spPr>
      </p:sp>
      <p:pic>
        <p:nvPicPr>
          <p:cNvPr id="11" name="Image 2" descr="preencoded.png"/>
          <p:cNvPicPr>
            <a:picLocks noChangeAspect="1"/>
          </p:cNvPicPr>
          <p:nvPr/>
        </p:nvPicPr>
        <p:blipFill>
          <a:blip r:embed="rId2"/>
          <a:srcRect l="-2089" r="-2089"/>
          <a:stretch>
            <a:fillRect/>
          </a:stretch>
        </p:blipFill>
        <p:spPr>
          <a:xfrm>
            <a:off x="6439205" y="2286000"/>
            <a:ext cx="4953305" cy="9144"/>
          </a:xfrm>
          <a:prstGeom prst="rect">
            <a:avLst/>
          </a:prstGeom>
        </p:spPr>
      </p:pic>
      <p:sp>
        <p:nvSpPr>
          <p:cNvPr id="12" name="Shape 7"/>
          <p:cNvSpPr/>
          <p:nvPr/>
        </p:nvSpPr>
        <p:spPr>
          <a:xfrm>
            <a:off x="6439205" y="2476195"/>
            <a:ext cx="4953305" cy="1047902"/>
          </a:xfrm>
          <a:prstGeom prst="roundRect">
            <a:avLst>
              <a:gd name="adj" fmla="val 12692"/>
            </a:avLst>
          </a:prstGeom>
          <a:solidFill>
            <a:srgbClr val="F8FAFC"/>
          </a:solidFill>
          <a:ln w="12700">
            <a:solidFill>
              <a:srgbClr val="E2E8F0"/>
            </a:solidFill>
            <a:prstDash val="solid"/>
          </a:ln>
        </p:spPr>
      </p:sp>
      <p:pic>
        <p:nvPicPr>
          <p:cNvPr id="13" name="Image 3" descr="preencoded.png"/>
          <p:cNvPicPr>
            <a:picLocks noChangeAspect="1"/>
          </p:cNvPicPr>
          <p:nvPr/>
        </p:nvPicPr>
        <p:blipFill>
          <a:blip r:embed="rId3"/>
          <a:srcRect t="-13" b="-13"/>
          <a:stretch>
            <a:fillRect/>
          </a:stretch>
        </p:blipFill>
        <p:spPr>
          <a:xfrm>
            <a:off x="571500" y="5619902"/>
            <a:ext cx="11048695" cy="1000354"/>
          </a:xfrm>
          <a:prstGeom prst="rect">
            <a:avLst/>
          </a:prstGeom>
        </p:spPr>
      </p:pic>
      <p:sp>
        <p:nvSpPr>
          <p:cNvPr id="14" name="Shape 8"/>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5" name="Image 4" descr="preencoded.png"/>
          <p:cNvPicPr>
            <a:picLocks noChangeAspect="1"/>
          </p:cNvPicPr>
          <p:nvPr/>
        </p:nvPicPr>
        <p:blipFill>
          <a:blip r:embed="rId4"/>
          <a:srcRect l="-3526" r="-3526"/>
          <a:stretch>
            <a:fillRect/>
          </a:stretch>
        </p:blipFill>
        <p:spPr>
          <a:xfrm>
            <a:off x="724205" y="286207"/>
            <a:ext cx="152705" cy="190195"/>
          </a:xfrm>
          <a:prstGeom prst="rect">
            <a:avLst/>
          </a:prstGeom>
        </p:spPr>
      </p:pic>
      <p:sp>
        <p:nvSpPr>
          <p:cNvPr id="16" name="Text 9"/>
          <p:cNvSpPr txBox="1"/>
          <p:nvPr/>
        </p:nvSpPr>
        <p:spPr>
          <a:xfrm>
            <a:off x="1218895" y="190195"/>
            <a:ext cx="9525305" cy="457200"/>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Effort Estimation: Regression vs Putnam</a:t>
            </a:r>
            <a:endParaRPr lang="en-US" sz="2400" dirty="0">
              <a:ea typeface="Noto Sans SC" panose="020B0200000000000000" pitchFamily="34" charset="-122"/>
              <a:cs typeface="Noto Sans SC" panose="020B0200000000000000" pitchFamily="34" charset="-122"/>
            </a:endParaRPr>
          </a:p>
        </p:txBody>
      </p:sp>
      <p:sp>
        <p:nvSpPr>
          <p:cNvPr id="17" name="Text 10"/>
          <p:cNvSpPr txBox="1"/>
          <p:nvPr/>
        </p:nvSpPr>
        <p:spPr>
          <a:xfrm>
            <a:off x="875995" y="1000354"/>
            <a:ext cx="10745114" cy="372161"/>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Dual Model Estimation Comparison </a:t>
            </a:r>
            <a:endParaRPr lang="en-US" sz="1900" dirty="0">
              <a:ea typeface="Noto Sans SC" panose="020B0200000000000000" pitchFamily="34" charset="-122"/>
              <a:cs typeface="Noto Sans SC" panose="020B0200000000000000" pitchFamily="34" charset="-122"/>
            </a:endParaRPr>
          </a:p>
        </p:txBody>
      </p:sp>
      <p:pic>
        <p:nvPicPr>
          <p:cNvPr id="18" name="Image 5" descr="preencoded.png"/>
          <p:cNvPicPr>
            <a:picLocks noChangeAspect="1"/>
          </p:cNvPicPr>
          <p:nvPr/>
        </p:nvPicPr>
        <p:blipFill>
          <a:blip r:embed="rId5"/>
          <a:srcRect t="-31430" b="-31430"/>
          <a:stretch>
            <a:fillRect/>
          </a:stretch>
        </p:blipFill>
        <p:spPr>
          <a:xfrm>
            <a:off x="571500" y="1061618"/>
            <a:ext cx="190195" cy="247802"/>
          </a:xfrm>
          <a:prstGeom prst="rect">
            <a:avLst/>
          </a:prstGeom>
        </p:spPr>
      </p:pic>
      <p:sp>
        <p:nvSpPr>
          <p:cNvPr id="19" name="Shape 11"/>
          <p:cNvSpPr/>
          <p:nvPr/>
        </p:nvSpPr>
        <p:spPr>
          <a:xfrm>
            <a:off x="800100" y="1752905"/>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20" name="Image 6" descr="preencoded.png"/>
          <p:cNvPicPr>
            <a:picLocks noChangeAspect="1"/>
          </p:cNvPicPr>
          <p:nvPr/>
        </p:nvPicPr>
        <p:blipFill>
          <a:blip r:embed="rId6"/>
          <a:srcRect t="-14384" b="-14384"/>
          <a:stretch>
            <a:fillRect/>
          </a:stretch>
        </p:blipFill>
        <p:spPr>
          <a:xfrm>
            <a:off x="923544" y="1857146"/>
            <a:ext cx="133502" cy="171907"/>
          </a:xfrm>
          <a:prstGeom prst="rect">
            <a:avLst/>
          </a:prstGeom>
        </p:spPr>
      </p:pic>
      <p:sp>
        <p:nvSpPr>
          <p:cNvPr id="21" name="Text 12"/>
          <p:cNvSpPr txBox="1"/>
          <p:nvPr/>
        </p:nvSpPr>
        <p:spPr>
          <a:xfrm>
            <a:off x="1295705" y="1790395"/>
            <a:ext cx="2857500" cy="314554"/>
          </a:xfrm>
          <a:prstGeom prst="rect">
            <a:avLst/>
          </a:prstGeom>
          <a:noFill/>
        </p:spPr>
        <p:txBody>
          <a:bodyPr wrap="square" lIns="0" tIns="0" rIns="0" bIns="0" rtlCol="0" anchor="ctr"/>
          <a:lstStyle/>
          <a:p>
            <a:pPr marL="0" indent="0" algn="l">
              <a:buNone/>
            </a:pPr>
            <a:r>
              <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Regression Model</a:t>
            </a:r>
            <a:endParaRPr lang="en-US" sz="1600" dirty="0">
              <a:ea typeface="Noto Sans SC" panose="020B0200000000000000" pitchFamily="34" charset="-122"/>
              <a:cs typeface="Noto Sans SC" panose="020B0200000000000000" pitchFamily="34" charset="-122"/>
            </a:endParaRPr>
          </a:p>
        </p:txBody>
      </p:sp>
      <p:sp>
        <p:nvSpPr>
          <p:cNvPr id="22" name="Shape 13"/>
          <p:cNvSpPr/>
          <p:nvPr/>
        </p:nvSpPr>
        <p:spPr>
          <a:xfrm>
            <a:off x="5133442" y="1790395"/>
            <a:ext cx="705002" cy="267005"/>
          </a:xfrm>
          <a:prstGeom prst="roundRect">
            <a:avLst>
              <a:gd name="adj" fmla="val 342465"/>
            </a:avLst>
          </a:prstGeom>
          <a:solidFill>
            <a:srgbClr val="DCFCE7"/>
          </a:solidFill>
          <a:ln w="12700">
            <a:solidFill>
              <a:srgbClr val="FFFFFF">
                <a:alpha val="0"/>
              </a:srgbClr>
            </a:solidFill>
            <a:prstDash val="solid"/>
          </a:ln>
        </p:spPr>
      </p:sp>
      <p:sp>
        <p:nvSpPr>
          <p:cNvPr id="23" name="Text 14"/>
          <p:cNvSpPr/>
          <p:nvPr/>
        </p:nvSpPr>
        <p:spPr>
          <a:xfrm>
            <a:off x="5133442" y="1790395"/>
            <a:ext cx="705002" cy="267005"/>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r">
              <a:buNone/>
            </a:pPr>
            <a:r>
              <a:rPr lang="en-US" sz="900"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Primary</a:t>
            </a:r>
            <a:endParaRPr lang="en-US" sz="900" dirty="0">
              <a:ea typeface="Noto Sans SC" panose="020B0200000000000000" pitchFamily="34" charset="-122"/>
              <a:cs typeface="Noto Sans SC" panose="020B0200000000000000" pitchFamily="34" charset="-122"/>
            </a:endParaRPr>
          </a:p>
        </p:txBody>
      </p:sp>
      <p:sp>
        <p:nvSpPr>
          <p:cNvPr id="24" name="Text 15"/>
          <p:cNvSpPr txBox="1"/>
          <p:nvPr/>
        </p:nvSpPr>
        <p:spPr>
          <a:xfrm>
            <a:off x="972007" y="2609698"/>
            <a:ext cx="4610405" cy="219456"/>
          </a:xfrm>
          <a:prstGeom prst="rect">
            <a:avLst/>
          </a:prstGeom>
          <a:noFill/>
        </p:spPr>
        <p:txBody>
          <a:bodyPr wrap="square" lIns="0" tIns="0" rIns="0" bIns="0" rtlCol="0" anchor="ctr"/>
          <a:lstStyle/>
          <a:p>
            <a:pPr marL="0" indent="0" algn="l">
              <a:buNone/>
            </a:pPr>
            <a:r>
              <a:rPr lang="en-US" sz="11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E = -12.88 + 0.405 × FP</a:t>
            </a:r>
            <a:endParaRPr lang="en-US" sz="1100" dirty="0">
              <a:ea typeface="Noto Sans SC" panose="020B0200000000000000" pitchFamily="34" charset="-122"/>
              <a:cs typeface="Noto Sans SC" panose="020B0200000000000000" pitchFamily="34" charset="-122"/>
            </a:endParaRPr>
          </a:p>
        </p:txBody>
      </p:sp>
      <p:sp>
        <p:nvSpPr>
          <p:cNvPr id="25" name="Text 16"/>
          <p:cNvSpPr txBox="1"/>
          <p:nvPr/>
        </p:nvSpPr>
        <p:spPr>
          <a:xfrm>
            <a:off x="972007" y="2862072"/>
            <a:ext cx="4610405" cy="219456"/>
          </a:xfrm>
          <a:prstGeom prst="rect">
            <a:avLst/>
          </a:prstGeom>
          <a:noFill/>
        </p:spPr>
        <p:txBody>
          <a:bodyPr wrap="square" lIns="0" tIns="0" rIns="0" bIns="0" rtlCol="0" anchor="ctr"/>
          <a:lstStyle/>
          <a:p>
            <a:pPr marL="0" indent="0" algn="l">
              <a:buNone/>
            </a:pPr>
            <a:r>
              <a:rPr lang="en-US" sz="11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E = -12.88 + 0.405 × 87 = 22.355 PM</a:t>
            </a:r>
            <a:endParaRPr lang="en-US" sz="1100" dirty="0">
              <a:ea typeface="Noto Sans SC" panose="020B0200000000000000" pitchFamily="34" charset="-122"/>
              <a:cs typeface="Noto Sans SC" panose="020B0200000000000000" pitchFamily="34" charset="-122"/>
            </a:endParaRPr>
          </a:p>
        </p:txBody>
      </p:sp>
      <p:sp>
        <p:nvSpPr>
          <p:cNvPr id="26" name="Text 17"/>
          <p:cNvSpPr txBox="1"/>
          <p:nvPr/>
        </p:nvSpPr>
        <p:spPr>
          <a:xfrm>
            <a:off x="972007" y="3114446"/>
            <a:ext cx="4610405" cy="257861"/>
          </a:xfrm>
          <a:prstGeom prst="rect">
            <a:avLst/>
          </a:prstGeom>
          <a:noFill/>
        </p:spPr>
        <p:txBody>
          <a:bodyPr wrap="square" lIns="0" tIns="0" rIns="0" bIns="0" rtlCol="0" anchor="ctr"/>
          <a:lstStyle/>
          <a:p>
            <a:pPr marL="0" indent="0" algn="l">
              <a:buNone/>
            </a:pPr>
            <a:r>
              <a:rPr lang="en-US" sz="1300" b="1" dirty="0">
                <a:solidFill>
                  <a:srgbClr val="059669"/>
                </a:solidFill>
                <a:latin typeface="Noto Sans SC" panose="020B0200000000000000" pitchFamily="34" charset="-122"/>
                <a:ea typeface="Noto Sans SC" panose="020B0200000000000000" pitchFamily="34" charset="-122"/>
                <a:cs typeface="Noto Sans SC" panose="020B0200000000000000" pitchFamily="34" charset="-122"/>
              </a:rPr>
              <a:t>≈ 22.36 Person-Months</a:t>
            </a:r>
            <a:endParaRPr lang="en-US" sz="1300" dirty="0">
              <a:ea typeface="Noto Sans SC" panose="020B0200000000000000" pitchFamily="34" charset="-122"/>
              <a:cs typeface="Noto Sans SC" panose="020B0200000000000000" pitchFamily="34" charset="-122"/>
            </a:endParaRPr>
          </a:p>
        </p:txBody>
      </p:sp>
      <p:sp>
        <p:nvSpPr>
          <p:cNvPr id="27" name="Shape 18"/>
          <p:cNvSpPr/>
          <p:nvPr/>
        </p:nvSpPr>
        <p:spPr>
          <a:xfrm>
            <a:off x="800100" y="4058107"/>
            <a:ext cx="4953305" cy="9144"/>
          </a:xfrm>
          <a:prstGeom prst="rect">
            <a:avLst/>
          </a:prstGeom>
          <a:solidFill>
            <a:srgbClr val="F1F5F9"/>
          </a:solidFill>
          <a:ln w="12700">
            <a:solidFill>
              <a:srgbClr val="F1F5F9">
                <a:alpha val="0"/>
              </a:srgbClr>
            </a:solidFill>
            <a:prstDash val="solid"/>
          </a:ln>
        </p:spPr>
      </p:sp>
      <p:sp>
        <p:nvSpPr>
          <p:cNvPr id="28" name="Text 19"/>
          <p:cNvSpPr txBox="1"/>
          <p:nvPr/>
        </p:nvSpPr>
        <p:spPr>
          <a:xfrm>
            <a:off x="800100" y="3752698"/>
            <a:ext cx="1576426" cy="219456"/>
          </a:xfrm>
          <a:prstGeom prst="rect">
            <a:avLst/>
          </a:prstGeom>
          <a:noFill/>
        </p:spPr>
        <p:txBody>
          <a:bodyPr wrap="square" lIns="0" tIns="0" rIns="0" bIns="0" rtlCol="0" anchor="ctr"/>
          <a:lstStyle/>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Function Points (FP)</a:t>
            </a:r>
            <a:endParaRPr lang="en-US" sz="1100" dirty="0">
              <a:ea typeface="Noto Sans SC" panose="020B0200000000000000" pitchFamily="34" charset="-122"/>
              <a:cs typeface="Noto Sans SC" panose="020B0200000000000000" pitchFamily="34" charset="-122"/>
            </a:endParaRPr>
          </a:p>
        </p:txBody>
      </p:sp>
      <p:sp>
        <p:nvSpPr>
          <p:cNvPr id="29" name="Text 20"/>
          <p:cNvSpPr txBox="1"/>
          <p:nvPr/>
        </p:nvSpPr>
        <p:spPr>
          <a:xfrm>
            <a:off x="5589727" y="3752698"/>
            <a:ext cx="184709" cy="219456"/>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87</a:t>
            </a:r>
            <a:endParaRPr lang="en-US" sz="1100" dirty="0">
              <a:ea typeface="Noto Sans SC" panose="020B0200000000000000" pitchFamily="34" charset="-122"/>
              <a:cs typeface="Noto Sans SC" panose="020B0200000000000000" pitchFamily="34" charset="-122"/>
            </a:endParaRPr>
          </a:p>
        </p:txBody>
      </p:sp>
      <p:sp>
        <p:nvSpPr>
          <p:cNvPr id="30" name="Shape 21"/>
          <p:cNvSpPr/>
          <p:nvPr/>
        </p:nvSpPr>
        <p:spPr>
          <a:xfrm>
            <a:off x="800100" y="4454042"/>
            <a:ext cx="4953305" cy="9144"/>
          </a:xfrm>
          <a:prstGeom prst="rect">
            <a:avLst/>
          </a:prstGeom>
          <a:solidFill>
            <a:srgbClr val="F1F5F9"/>
          </a:solidFill>
          <a:ln w="12700">
            <a:solidFill>
              <a:srgbClr val="F1F5F9">
                <a:alpha val="0"/>
              </a:srgbClr>
            </a:solidFill>
            <a:prstDash val="solid"/>
          </a:ln>
        </p:spPr>
      </p:sp>
      <p:sp>
        <p:nvSpPr>
          <p:cNvPr id="31" name="Text 22"/>
          <p:cNvSpPr txBox="1"/>
          <p:nvPr/>
        </p:nvSpPr>
        <p:spPr>
          <a:xfrm>
            <a:off x="800100" y="4147718"/>
            <a:ext cx="1791310" cy="219456"/>
          </a:xfrm>
          <a:prstGeom prst="rect">
            <a:avLst/>
          </a:prstGeom>
          <a:noFill/>
        </p:spPr>
        <p:txBody>
          <a:bodyPr wrap="square" lIns="0" tIns="0" rIns="0" bIns="0" rtlCol="0" anchor="ctr"/>
          <a:lstStyle/>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Regression Coefficient</a:t>
            </a:r>
            <a:endParaRPr lang="en-US" sz="1100" dirty="0">
              <a:ea typeface="Noto Sans SC" panose="020B0200000000000000" pitchFamily="34" charset="-122"/>
              <a:cs typeface="Noto Sans SC" panose="020B0200000000000000" pitchFamily="34" charset="-122"/>
            </a:endParaRPr>
          </a:p>
        </p:txBody>
      </p:sp>
      <p:sp>
        <p:nvSpPr>
          <p:cNvPr id="32" name="Text 23"/>
          <p:cNvSpPr txBox="1"/>
          <p:nvPr/>
        </p:nvSpPr>
        <p:spPr>
          <a:xfrm>
            <a:off x="5386730" y="4147718"/>
            <a:ext cx="442570" cy="219456"/>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0.405</a:t>
            </a:r>
            <a:endParaRPr lang="en-US" sz="1100" dirty="0">
              <a:ea typeface="Noto Sans SC" panose="020B0200000000000000" pitchFamily="34" charset="-122"/>
              <a:cs typeface="Noto Sans SC" panose="020B0200000000000000" pitchFamily="34" charset="-122"/>
            </a:endParaRPr>
          </a:p>
        </p:txBody>
      </p:sp>
      <p:sp>
        <p:nvSpPr>
          <p:cNvPr id="33" name="Shape 24"/>
          <p:cNvSpPr/>
          <p:nvPr/>
        </p:nvSpPr>
        <p:spPr>
          <a:xfrm>
            <a:off x="800100" y="4849063"/>
            <a:ext cx="4953305" cy="9144"/>
          </a:xfrm>
          <a:prstGeom prst="rect">
            <a:avLst/>
          </a:prstGeom>
          <a:solidFill>
            <a:srgbClr val="F1F5F9"/>
          </a:solidFill>
          <a:ln w="12700">
            <a:solidFill>
              <a:srgbClr val="F1F5F9">
                <a:alpha val="0"/>
              </a:srgbClr>
            </a:solidFill>
            <a:prstDash val="solid"/>
          </a:ln>
        </p:spPr>
      </p:sp>
      <p:sp>
        <p:nvSpPr>
          <p:cNvPr id="34" name="Text 25"/>
          <p:cNvSpPr txBox="1"/>
          <p:nvPr/>
        </p:nvSpPr>
        <p:spPr>
          <a:xfrm>
            <a:off x="800100" y="4543654"/>
            <a:ext cx="1154887" cy="219456"/>
          </a:xfrm>
          <a:prstGeom prst="rect">
            <a:avLst/>
          </a:prstGeom>
          <a:noFill/>
        </p:spPr>
        <p:txBody>
          <a:bodyPr wrap="square" lIns="0" tIns="0" rIns="0" bIns="0" rtlCol="0" anchor="ctr"/>
          <a:lstStyle/>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Constant Term</a:t>
            </a:r>
            <a:endParaRPr lang="en-US" sz="1100" dirty="0">
              <a:ea typeface="Noto Sans SC" panose="020B0200000000000000" pitchFamily="34" charset="-122"/>
              <a:cs typeface="Noto Sans SC" panose="020B0200000000000000" pitchFamily="34" charset="-122"/>
            </a:endParaRPr>
          </a:p>
        </p:txBody>
      </p:sp>
      <p:sp>
        <p:nvSpPr>
          <p:cNvPr id="35" name="Text 26"/>
          <p:cNvSpPr txBox="1"/>
          <p:nvPr/>
        </p:nvSpPr>
        <p:spPr>
          <a:xfrm>
            <a:off x="5341010" y="4543654"/>
            <a:ext cx="499262" cy="219456"/>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-12.88</a:t>
            </a:r>
            <a:endParaRPr lang="en-US" sz="1100" dirty="0">
              <a:ea typeface="Noto Sans SC" panose="020B0200000000000000" pitchFamily="34" charset="-122"/>
              <a:cs typeface="Noto Sans SC" panose="020B0200000000000000" pitchFamily="34" charset="-122"/>
            </a:endParaRPr>
          </a:p>
        </p:txBody>
      </p:sp>
      <p:sp>
        <p:nvSpPr>
          <p:cNvPr id="36" name="Text 27"/>
          <p:cNvSpPr txBox="1"/>
          <p:nvPr/>
        </p:nvSpPr>
        <p:spPr>
          <a:xfrm>
            <a:off x="800100" y="4938674"/>
            <a:ext cx="1610258" cy="219456"/>
          </a:xfrm>
          <a:prstGeom prst="rect">
            <a:avLst/>
          </a:prstGeom>
          <a:noFill/>
        </p:spPr>
        <p:txBody>
          <a:bodyPr wrap="square" lIns="0" tIns="0" rIns="0" bIns="0" rtlCol="0" anchor="ctr"/>
          <a:lstStyle/>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Estimation Accuracy</a:t>
            </a:r>
            <a:endParaRPr lang="en-US" sz="1100" dirty="0">
              <a:ea typeface="Noto Sans SC" panose="020B0200000000000000" pitchFamily="34" charset="-122"/>
              <a:cs typeface="Noto Sans SC" panose="020B0200000000000000" pitchFamily="34" charset="-122"/>
            </a:endParaRPr>
          </a:p>
        </p:txBody>
      </p:sp>
      <p:sp>
        <p:nvSpPr>
          <p:cNvPr id="37" name="Text 28"/>
          <p:cNvSpPr txBox="1"/>
          <p:nvPr/>
        </p:nvSpPr>
        <p:spPr>
          <a:xfrm>
            <a:off x="5383073" y="4938674"/>
            <a:ext cx="372161" cy="219456"/>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±15%</a:t>
            </a:r>
            <a:endParaRPr lang="en-US" sz="1100" dirty="0">
              <a:ea typeface="Noto Sans SC" panose="020B0200000000000000" pitchFamily="34" charset="-122"/>
              <a:cs typeface="Noto Sans SC" panose="020B0200000000000000" pitchFamily="34" charset="-122"/>
            </a:endParaRPr>
          </a:p>
        </p:txBody>
      </p:sp>
      <p:sp>
        <p:nvSpPr>
          <p:cNvPr id="38" name="Shape 29"/>
          <p:cNvSpPr/>
          <p:nvPr/>
        </p:nvSpPr>
        <p:spPr>
          <a:xfrm>
            <a:off x="6439205" y="1752905"/>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39" name="Image 7" descr="preencoded.png"/>
          <p:cNvPicPr>
            <a:picLocks noChangeAspect="1"/>
          </p:cNvPicPr>
          <p:nvPr/>
        </p:nvPicPr>
        <p:blipFill>
          <a:blip r:embed="rId7"/>
          <a:srcRect t="-22432" b="-22432"/>
          <a:stretch>
            <a:fillRect/>
          </a:stretch>
        </p:blipFill>
        <p:spPr>
          <a:xfrm>
            <a:off x="6562649" y="1857146"/>
            <a:ext cx="133502" cy="171907"/>
          </a:xfrm>
          <a:prstGeom prst="rect">
            <a:avLst/>
          </a:prstGeom>
        </p:spPr>
      </p:pic>
      <p:sp>
        <p:nvSpPr>
          <p:cNvPr id="40" name="Text 30"/>
          <p:cNvSpPr txBox="1"/>
          <p:nvPr/>
        </p:nvSpPr>
        <p:spPr>
          <a:xfrm>
            <a:off x="6933895" y="1790395"/>
            <a:ext cx="2857500" cy="314554"/>
          </a:xfrm>
          <a:prstGeom prst="rect">
            <a:avLst/>
          </a:prstGeom>
          <a:noFill/>
        </p:spPr>
        <p:txBody>
          <a:bodyPr wrap="square" lIns="0" tIns="0" rIns="0" bIns="0" rtlCol="0" anchor="ctr"/>
          <a:lstStyle/>
          <a:p>
            <a:pPr marL="0" indent="0" algn="l">
              <a:buNone/>
            </a:pPr>
            <a:r>
              <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Putnam Model</a:t>
            </a:r>
            <a:endParaRPr lang="en-US" sz="1600" dirty="0">
              <a:ea typeface="Noto Sans SC" panose="020B0200000000000000" pitchFamily="34" charset="-122"/>
              <a:cs typeface="Noto Sans SC" panose="020B0200000000000000" pitchFamily="34" charset="-122"/>
            </a:endParaRPr>
          </a:p>
        </p:txBody>
      </p:sp>
      <p:sp>
        <p:nvSpPr>
          <p:cNvPr id="41" name="Shape 31"/>
          <p:cNvSpPr/>
          <p:nvPr/>
        </p:nvSpPr>
        <p:spPr>
          <a:xfrm>
            <a:off x="10644530" y="1790395"/>
            <a:ext cx="828446" cy="267005"/>
          </a:xfrm>
          <a:prstGeom prst="roundRect">
            <a:avLst>
              <a:gd name="adj" fmla="val 342465"/>
            </a:avLst>
          </a:prstGeom>
          <a:solidFill>
            <a:srgbClr val="FEF3C7"/>
          </a:solidFill>
          <a:ln w="12700">
            <a:solidFill>
              <a:srgbClr val="FFFFFF">
                <a:alpha val="0"/>
              </a:srgbClr>
            </a:solidFill>
            <a:prstDash val="solid"/>
          </a:ln>
        </p:spPr>
      </p:sp>
      <p:sp>
        <p:nvSpPr>
          <p:cNvPr id="42" name="Text 32"/>
          <p:cNvSpPr/>
          <p:nvPr/>
        </p:nvSpPr>
        <p:spPr>
          <a:xfrm>
            <a:off x="10644530" y="1790395"/>
            <a:ext cx="829361" cy="267005"/>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r">
              <a:buNone/>
            </a:pPr>
            <a:r>
              <a:rPr lang="en-US" sz="900" dirty="0">
                <a:solidFill>
                  <a:srgbClr val="92400E"/>
                </a:solidFill>
                <a:latin typeface="Noto Sans SC" panose="020B0200000000000000" pitchFamily="34" charset="-122"/>
                <a:ea typeface="Noto Sans SC" panose="020B0200000000000000" pitchFamily="34" charset="-122"/>
                <a:cs typeface="Noto Sans SC" panose="020B0200000000000000" pitchFamily="34" charset="-122"/>
              </a:rPr>
              <a:t>Reference</a:t>
            </a:r>
            <a:endParaRPr lang="en-US" sz="900" dirty="0">
              <a:ea typeface="Noto Sans SC" panose="020B0200000000000000" pitchFamily="34" charset="-122"/>
              <a:cs typeface="Noto Sans SC" panose="020B0200000000000000" pitchFamily="34" charset="-122"/>
            </a:endParaRPr>
          </a:p>
        </p:txBody>
      </p:sp>
      <p:sp>
        <p:nvSpPr>
          <p:cNvPr id="43" name="Text 33"/>
          <p:cNvSpPr txBox="1"/>
          <p:nvPr/>
        </p:nvSpPr>
        <p:spPr>
          <a:xfrm>
            <a:off x="6610198" y="2609698"/>
            <a:ext cx="4610405" cy="219456"/>
          </a:xfrm>
          <a:prstGeom prst="rect">
            <a:avLst/>
          </a:prstGeom>
          <a:noFill/>
        </p:spPr>
        <p:txBody>
          <a:bodyPr wrap="square" lIns="0" tIns="0" rIns="0" bIns="0" rtlCol="0" anchor="ctr"/>
          <a:lstStyle/>
          <a:p>
            <a:pPr marL="0" indent="0" algn="l">
              <a:buNone/>
            </a:pPr>
            <a:r>
              <a:rPr lang="en-US" sz="11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E = [LOC × B^0.333 / P]^3 × (1/t^4)</a:t>
            </a:r>
            <a:endParaRPr lang="en-US" sz="1100" dirty="0">
              <a:ea typeface="Noto Sans SC" panose="020B0200000000000000" pitchFamily="34" charset="-122"/>
              <a:cs typeface="Noto Sans SC" panose="020B0200000000000000" pitchFamily="34" charset="-122"/>
            </a:endParaRPr>
          </a:p>
        </p:txBody>
      </p:sp>
      <p:sp>
        <p:nvSpPr>
          <p:cNvPr id="44" name="Text 34"/>
          <p:cNvSpPr txBox="1"/>
          <p:nvPr/>
        </p:nvSpPr>
        <p:spPr>
          <a:xfrm>
            <a:off x="6610198" y="2862072"/>
            <a:ext cx="4610405" cy="219456"/>
          </a:xfrm>
          <a:prstGeom prst="rect">
            <a:avLst/>
          </a:prstGeom>
          <a:noFill/>
        </p:spPr>
        <p:txBody>
          <a:bodyPr wrap="square" lIns="0" tIns="0" rIns="0" bIns="0" rtlCol="0" anchor="ctr"/>
          <a:lstStyle/>
          <a:p>
            <a:pPr marL="0" indent="0" algn="l">
              <a:buNone/>
            </a:pPr>
            <a:r>
              <a:rPr lang="en-US" sz="11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E = [20000 × 0.5437 / 600]^3 × (1/256)</a:t>
            </a:r>
            <a:endParaRPr lang="en-US" sz="1100" dirty="0">
              <a:ea typeface="Noto Sans SC" panose="020B0200000000000000" pitchFamily="34" charset="-122"/>
              <a:cs typeface="Noto Sans SC" panose="020B0200000000000000" pitchFamily="34" charset="-122"/>
            </a:endParaRPr>
          </a:p>
        </p:txBody>
      </p:sp>
      <p:sp>
        <p:nvSpPr>
          <p:cNvPr id="45" name="Text 35"/>
          <p:cNvSpPr txBox="1"/>
          <p:nvPr/>
        </p:nvSpPr>
        <p:spPr>
          <a:xfrm>
            <a:off x="6610198" y="3114446"/>
            <a:ext cx="4610405" cy="257861"/>
          </a:xfrm>
          <a:prstGeom prst="rect">
            <a:avLst/>
          </a:prstGeom>
          <a:noFill/>
        </p:spPr>
        <p:txBody>
          <a:bodyPr wrap="square" lIns="0" tIns="0" rIns="0" bIns="0" rtlCol="0" anchor="ctr"/>
          <a:lstStyle/>
          <a:p>
            <a:pPr marL="0" indent="0" algn="l">
              <a:buNone/>
            </a:pPr>
            <a:r>
              <a:rPr lang="en-US" sz="1300" b="1" dirty="0">
                <a:solidFill>
                  <a:srgbClr val="059669"/>
                </a:solidFill>
                <a:latin typeface="Noto Sans SC" panose="020B0200000000000000" pitchFamily="34" charset="-122"/>
                <a:ea typeface="Noto Sans SC" panose="020B0200000000000000" pitchFamily="34" charset="-122"/>
                <a:cs typeface="Noto Sans SC" panose="020B0200000000000000" pitchFamily="34" charset="-122"/>
              </a:rPr>
              <a:t>≈ 23.2 Person-Months</a:t>
            </a:r>
            <a:endParaRPr lang="en-US" sz="1300" dirty="0">
              <a:ea typeface="Noto Sans SC" panose="020B0200000000000000" pitchFamily="34" charset="-122"/>
              <a:cs typeface="Noto Sans SC" panose="020B0200000000000000" pitchFamily="34" charset="-122"/>
            </a:endParaRPr>
          </a:p>
        </p:txBody>
      </p:sp>
      <p:sp>
        <p:nvSpPr>
          <p:cNvPr id="46" name="Shape 36"/>
          <p:cNvSpPr/>
          <p:nvPr/>
        </p:nvSpPr>
        <p:spPr>
          <a:xfrm>
            <a:off x="6439205" y="4058107"/>
            <a:ext cx="4953305" cy="9144"/>
          </a:xfrm>
          <a:prstGeom prst="rect">
            <a:avLst/>
          </a:prstGeom>
          <a:solidFill>
            <a:srgbClr val="F1F5F9"/>
          </a:solidFill>
          <a:ln w="12700">
            <a:solidFill>
              <a:srgbClr val="F1F5F9">
                <a:alpha val="0"/>
              </a:srgbClr>
            </a:solidFill>
            <a:prstDash val="solid"/>
          </a:ln>
        </p:spPr>
      </p:sp>
      <p:sp>
        <p:nvSpPr>
          <p:cNvPr id="47" name="Text 37"/>
          <p:cNvSpPr txBox="1"/>
          <p:nvPr/>
        </p:nvSpPr>
        <p:spPr>
          <a:xfrm>
            <a:off x="6439205" y="3752698"/>
            <a:ext cx="1553566" cy="219456"/>
          </a:xfrm>
          <a:prstGeom prst="rect">
            <a:avLst/>
          </a:prstGeom>
          <a:noFill/>
        </p:spPr>
        <p:txBody>
          <a:bodyPr wrap="square" lIns="0" tIns="0" rIns="0" bIns="0" rtlCol="0" anchor="ctr"/>
          <a:lstStyle/>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Lines of Code (LOC)</a:t>
            </a:r>
            <a:endParaRPr lang="en-US" sz="1100" dirty="0">
              <a:ea typeface="Noto Sans SC" panose="020B0200000000000000" pitchFamily="34" charset="-122"/>
              <a:cs typeface="Noto Sans SC" panose="020B0200000000000000" pitchFamily="34" charset="-122"/>
            </a:endParaRPr>
          </a:p>
        </p:txBody>
      </p:sp>
      <p:sp>
        <p:nvSpPr>
          <p:cNvPr id="48" name="Text 38"/>
          <p:cNvSpPr txBox="1"/>
          <p:nvPr/>
        </p:nvSpPr>
        <p:spPr>
          <a:xfrm>
            <a:off x="10943539" y="3752698"/>
            <a:ext cx="544068" cy="219456"/>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20,000</a:t>
            </a:r>
            <a:endParaRPr lang="en-US" sz="1100" dirty="0">
              <a:ea typeface="Noto Sans SC" panose="020B0200000000000000" pitchFamily="34" charset="-122"/>
              <a:cs typeface="Noto Sans SC" panose="020B0200000000000000" pitchFamily="34" charset="-122"/>
            </a:endParaRPr>
          </a:p>
        </p:txBody>
      </p:sp>
      <p:sp>
        <p:nvSpPr>
          <p:cNvPr id="49" name="Shape 39"/>
          <p:cNvSpPr/>
          <p:nvPr/>
        </p:nvSpPr>
        <p:spPr>
          <a:xfrm>
            <a:off x="6439205" y="4454042"/>
            <a:ext cx="4953305" cy="9144"/>
          </a:xfrm>
          <a:prstGeom prst="rect">
            <a:avLst/>
          </a:prstGeom>
          <a:solidFill>
            <a:srgbClr val="F1F5F9"/>
          </a:solidFill>
          <a:ln w="12700">
            <a:solidFill>
              <a:srgbClr val="F1F5F9">
                <a:alpha val="0"/>
              </a:srgbClr>
            </a:solidFill>
            <a:prstDash val="solid"/>
          </a:ln>
        </p:spPr>
      </p:sp>
      <p:sp>
        <p:nvSpPr>
          <p:cNvPr id="50" name="Text 40"/>
          <p:cNvSpPr txBox="1"/>
          <p:nvPr/>
        </p:nvSpPr>
        <p:spPr>
          <a:xfrm>
            <a:off x="6439205" y="4147718"/>
            <a:ext cx="1723644" cy="219456"/>
          </a:xfrm>
          <a:prstGeom prst="rect">
            <a:avLst/>
          </a:prstGeom>
          <a:noFill/>
        </p:spPr>
        <p:txBody>
          <a:bodyPr wrap="square" lIns="0" tIns="0" rIns="0" bIns="0" rtlCol="0" anchor="ctr"/>
          <a:lstStyle/>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Technology Factor (B)</a:t>
            </a:r>
            <a:endParaRPr lang="en-US" sz="1100" dirty="0">
              <a:ea typeface="Noto Sans SC" panose="020B0200000000000000" pitchFamily="34" charset="-122"/>
              <a:cs typeface="Noto Sans SC" panose="020B0200000000000000" pitchFamily="34" charset="-122"/>
            </a:endParaRPr>
          </a:p>
        </p:txBody>
      </p:sp>
      <p:sp>
        <p:nvSpPr>
          <p:cNvPr id="51" name="Text 41"/>
          <p:cNvSpPr txBox="1"/>
          <p:nvPr/>
        </p:nvSpPr>
        <p:spPr>
          <a:xfrm>
            <a:off x="11107217" y="4147718"/>
            <a:ext cx="340157" cy="219456"/>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0.16</a:t>
            </a:r>
            <a:endParaRPr lang="en-US" sz="1100" dirty="0">
              <a:ea typeface="Noto Sans SC" panose="020B0200000000000000" pitchFamily="34" charset="-122"/>
              <a:cs typeface="Noto Sans SC" panose="020B0200000000000000" pitchFamily="34" charset="-122"/>
            </a:endParaRPr>
          </a:p>
        </p:txBody>
      </p:sp>
      <p:sp>
        <p:nvSpPr>
          <p:cNvPr id="52" name="Shape 42"/>
          <p:cNvSpPr/>
          <p:nvPr/>
        </p:nvSpPr>
        <p:spPr>
          <a:xfrm>
            <a:off x="6439205" y="4849063"/>
            <a:ext cx="4953305" cy="9144"/>
          </a:xfrm>
          <a:prstGeom prst="rect">
            <a:avLst/>
          </a:prstGeom>
          <a:solidFill>
            <a:srgbClr val="F1F5F9"/>
          </a:solidFill>
          <a:ln w="12700">
            <a:solidFill>
              <a:srgbClr val="F1F5F9">
                <a:alpha val="0"/>
              </a:srgbClr>
            </a:solidFill>
            <a:prstDash val="solid"/>
          </a:ln>
        </p:spPr>
      </p:sp>
      <p:sp>
        <p:nvSpPr>
          <p:cNvPr id="53" name="Text 43"/>
          <p:cNvSpPr txBox="1"/>
          <p:nvPr/>
        </p:nvSpPr>
        <p:spPr>
          <a:xfrm>
            <a:off x="6439205" y="4543654"/>
            <a:ext cx="1201522" cy="219456"/>
          </a:xfrm>
          <a:prstGeom prst="rect">
            <a:avLst/>
          </a:prstGeom>
          <a:noFill/>
        </p:spPr>
        <p:txBody>
          <a:bodyPr wrap="square" lIns="0" tIns="0" rIns="0" bIns="0" rtlCol="0" anchor="ctr"/>
          <a:lstStyle/>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Productivity (P)</a:t>
            </a:r>
            <a:endParaRPr lang="en-US" sz="1100" dirty="0">
              <a:ea typeface="Noto Sans SC" panose="020B0200000000000000" pitchFamily="34" charset="-122"/>
              <a:cs typeface="Noto Sans SC" panose="020B0200000000000000" pitchFamily="34" charset="-122"/>
            </a:endParaRPr>
          </a:p>
        </p:txBody>
      </p:sp>
      <p:sp>
        <p:nvSpPr>
          <p:cNvPr id="54" name="Text 44"/>
          <p:cNvSpPr txBox="1"/>
          <p:nvPr/>
        </p:nvSpPr>
        <p:spPr>
          <a:xfrm>
            <a:off x="10553090" y="4543654"/>
            <a:ext cx="919886" cy="219456"/>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600 LOC/PM</a:t>
            </a:r>
            <a:endParaRPr lang="en-US" sz="1100" dirty="0">
              <a:ea typeface="Noto Sans SC" panose="020B0200000000000000" pitchFamily="34" charset="-122"/>
              <a:cs typeface="Noto Sans SC" panose="020B0200000000000000" pitchFamily="34" charset="-122"/>
            </a:endParaRPr>
          </a:p>
        </p:txBody>
      </p:sp>
      <p:sp>
        <p:nvSpPr>
          <p:cNvPr id="55" name="Text 45"/>
          <p:cNvSpPr txBox="1"/>
          <p:nvPr/>
        </p:nvSpPr>
        <p:spPr>
          <a:xfrm>
            <a:off x="6439205" y="4938674"/>
            <a:ext cx="1723644" cy="219456"/>
          </a:xfrm>
          <a:prstGeom prst="rect">
            <a:avLst/>
          </a:prstGeom>
          <a:noFill/>
        </p:spPr>
        <p:txBody>
          <a:bodyPr wrap="square" lIns="0" tIns="0" rIns="0" bIns="0" rtlCol="0" anchor="ctr"/>
          <a:lstStyle/>
          <a:p>
            <a:pPr marL="0" indent="0" algn="l">
              <a:buNone/>
            </a:pPr>
            <a:r>
              <a:rPr lang="en-US" sz="11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Development Time (t)</a:t>
            </a:r>
            <a:endParaRPr lang="en-US" sz="1100" dirty="0">
              <a:ea typeface="Noto Sans SC" panose="020B0200000000000000" pitchFamily="34" charset="-122"/>
              <a:cs typeface="Noto Sans SC" panose="020B0200000000000000" pitchFamily="34" charset="-122"/>
            </a:endParaRPr>
          </a:p>
        </p:txBody>
      </p:sp>
      <p:sp>
        <p:nvSpPr>
          <p:cNvPr id="56" name="Text 46"/>
          <p:cNvSpPr txBox="1"/>
          <p:nvPr/>
        </p:nvSpPr>
        <p:spPr>
          <a:xfrm>
            <a:off x="10741457" y="4938674"/>
            <a:ext cx="735178" cy="219456"/>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4 Months</a:t>
            </a:r>
            <a:endParaRPr lang="en-US" sz="1100" dirty="0">
              <a:ea typeface="Noto Sans SC" panose="020B0200000000000000" pitchFamily="34" charset="-122"/>
              <a:cs typeface="Noto Sans SC" panose="020B0200000000000000" pitchFamily="34" charset="-122"/>
            </a:endParaRPr>
          </a:p>
        </p:txBody>
      </p:sp>
      <p:sp>
        <p:nvSpPr>
          <p:cNvPr id="57" name="Text 47"/>
          <p:cNvSpPr txBox="1"/>
          <p:nvPr/>
        </p:nvSpPr>
        <p:spPr>
          <a:xfrm>
            <a:off x="857707" y="5848502"/>
            <a:ext cx="10478110" cy="534010"/>
          </a:xfrm>
          <a:prstGeom prst="rect">
            <a:avLst/>
          </a:prstGeom>
          <a:noFill/>
        </p:spPr>
        <p:txBody>
          <a:bodyPr wrap="square" lIns="0" tIns="0" rIns="0" bIns="0" rtlCol="0" anchor="ctr"/>
          <a:lstStyle/>
          <a:p>
            <a:pPr marL="0" indent="0" algn="l">
              <a:buNone/>
            </a:pPr>
            <a:r>
              <a:rPr lang="en-US" sz="13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Conclusion:</a:t>
            </a:r>
            <a:r>
              <a:rPr lang="en-US" sz="12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Total effort is approximately 22-23 person-months. The estimates from both models align closely. The 20 KLOC figure used in the Putnam model represents the target product size assumption for the prototype. </a:t>
            </a:r>
            <a:endParaRPr lang="en-US" sz="1200" dirty="0">
              <a:ea typeface="Noto Sans SC" panose="020B0200000000000000" pitchFamily="34" charset="-122"/>
              <a:cs typeface="Noto Sans SC" panose="020B0200000000000000"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0" r="-10"/>
          <a:stretch>
            <a:fillRect/>
          </a:stretch>
        </p:blipFill>
        <p:spPr>
          <a:xfrm>
            <a:off x="0" y="0"/>
            <a:ext cx="12191695" cy="666598"/>
          </a:xfrm>
          <a:prstGeom prst="rect">
            <a:avLst/>
          </a:prstGeom>
        </p:spPr>
      </p:pic>
      <p:sp>
        <p:nvSpPr>
          <p:cNvPr id="13" name="Shape 9"/>
          <p:cNvSpPr/>
          <p:nvPr/>
        </p:nvSpPr>
        <p:spPr>
          <a:xfrm>
            <a:off x="476402" y="133502"/>
            <a:ext cx="400507" cy="400507"/>
          </a:xfrm>
          <a:prstGeom prst="ellipse">
            <a:avLst/>
          </a:prstGeom>
          <a:solidFill>
            <a:srgbClr val="FFFFFF">
              <a:alpha val="15000"/>
            </a:srgbClr>
          </a:solidFill>
          <a:ln w="12700">
            <a:solidFill>
              <a:srgbClr val="FFFFFF">
                <a:alpha val="0"/>
              </a:srgbClr>
            </a:solidFill>
            <a:prstDash val="solid"/>
          </a:ln>
        </p:spPr>
      </p:sp>
      <p:pic>
        <p:nvPicPr>
          <p:cNvPr id="14" name="Image 2" descr="preencoded.png"/>
          <p:cNvPicPr>
            <a:picLocks noChangeAspect="1"/>
          </p:cNvPicPr>
          <p:nvPr/>
        </p:nvPicPr>
        <p:blipFill>
          <a:blip r:embed="rId2"/>
          <a:srcRect l="-760" r="-760"/>
          <a:stretch>
            <a:fillRect/>
          </a:stretch>
        </p:blipFill>
        <p:spPr>
          <a:xfrm>
            <a:off x="599846" y="247802"/>
            <a:ext cx="152705" cy="171907"/>
          </a:xfrm>
          <a:prstGeom prst="rect">
            <a:avLst/>
          </a:prstGeom>
        </p:spPr>
      </p:pic>
      <p:sp>
        <p:nvSpPr>
          <p:cNvPr id="15" name="Text 10"/>
          <p:cNvSpPr txBox="1"/>
          <p:nvPr/>
        </p:nvSpPr>
        <p:spPr>
          <a:xfrm>
            <a:off x="1028700" y="152400"/>
            <a:ext cx="7258685" cy="361950"/>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PNR Curve</a:t>
            </a:r>
            <a:r>
              <a:rPr lang="en-US" altLang="zh-CN" sz="2100" dirty="0">
                <a:ea typeface="Noto Sans SC" panose="020B0200000000000000" pitchFamily="34" charset="-122"/>
                <a:cs typeface="Noto Sans SC" panose="020B0200000000000000" pitchFamily="34" charset="-122"/>
              </a:rPr>
              <a:t>: </a:t>
            </a: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Schedule Compression Feasibility Analysis</a:t>
            </a:r>
            <a:endParaRPr lang="en-US" altLang="zh-CN" sz="2100" dirty="0">
              <a:ea typeface="Noto Sans SC" panose="020B0200000000000000" pitchFamily="34" charset="-122"/>
              <a:cs typeface="Noto Sans SC" panose="020B0200000000000000" pitchFamily="34" charset="-122"/>
            </a:endParaRPr>
          </a:p>
        </p:txBody>
      </p:sp>
      <p:sp>
        <p:nvSpPr>
          <p:cNvPr id="128" name="文本框 127"/>
          <p:cNvSpPr txBox="1"/>
          <p:nvPr/>
        </p:nvSpPr>
        <p:spPr>
          <a:xfrm>
            <a:off x="326390" y="1061720"/>
            <a:ext cx="5542915" cy="3138170"/>
          </a:xfrm>
          <a:prstGeom prst="rect">
            <a:avLst/>
          </a:prstGeom>
          <a:noFill/>
        </p:spPr>
        <p:txBody>
          <a:bodyPr wrap="square" rtlCol="0">
            <a:noAutofit/>
          </a:bodyPr>
          <a:p>
            <a:r>
              <a:rPr lang="en-US" altLang="zh-CN"/>
              <a:t>Putnam-Norden-Rayleigh (PNR) Curve</a:t>
            </a:r>
            <a:endParaRPr lang="en-US" altLang="zh-CN"/>
          </a:p>
          <a:p>
            <a:endParaRPr lang="en-US" altLang="zh-CN"/>
          </a:p>
          <a:p>
            <a:r>
              <a:rPr lang="en-US" altLang="zh-CN"/>
              <a:t>Core Formula:</a:t>
            </a:r>
            <a:endParaRPr lang="en-US" altLang="zh-CN"/>
          </a:p>
          <a:p>
            <a:r>
              <a:rPr lang="en-US" altLang="zh-CN"/>
              <a:t>Ea = m × (td⁴ / ta⁴)</a:t>
            </a:r>
            <a:endParaRPr lang="en-US" altLang="zh-CN"/>
          </a:p>
          <a:p>
            <a:endParaRPr lang="en-US" altLang="zh-CN"/>
          </a:p>
          <a:p>
            <a:r>
              <a:rPr lang="en-US" altLang="zh-CN"/>
              <a:t>Project Parameters:</a:t>
            </a:r>
            <a:endParaRPr lang="en-US" altLang="zh-CN"/>
          </a:p>
          <a:p>
            <a:pPr marL="285750" indent="-285750">
              <a:buFont typeface="Arial" panose="020B0604020202020204" pitchFamily="34" charset="0"/>
              <a:buChar char="•"/>
            </a:pPr>
            <a:r>
              <a:rPr lang="en-US" altLang="zh-CN"/>
              <a:t>Nominal delivery time (td): 17 weeks</a:t>
            </a:r>
            <a:endParaRPr lang="en-US" altLang="zh-CN"/>
          </a:p>
          <a:p>
            <a:pPr marL="285750" indent="-285750">
              <a:buFont typeface="Arial" panose="020B0604020202020204" pitchFamily="34" charset="0"/>
              <a:buChar char="•"/>
            </a:pPr>
            <a:r>
              <a:rPr lang="en-US" altLang="zh-CN"/>
              <a:t>Compression lower limit (0.75 × td): 12.75 weeks</a:t>
            </a:r>
            <a:endParaRPr lang="en-US" altLang="zh-CN"/>
          </a:p>
          <a:p>
            <a:pPr marL="285750" indent="-285750">
              <a:buFont typeface="Arial" panose="020B0604020202020204" pitchFamily="34" charset="0"/>
              <a:buChar char="•"/>
            </a:pPr>
            <a:r>
              <a:rPr lang="en-US" altLang="zh-CN"/>
              <a:t>Current plan: 17 weeks → Safe Region</a:t>
            </a:r>
            <a:endParaRPr lang="en-US" altLang="zh-CN"/>
          </a:p>
          <a:p>
            <a:pPr marL="285750" indent="-285750">
              <a:buFont typeface="Arial" panose="020B0604020202020204" pitchFamily="34" charset="0"/>
              <a:buChar char="•"/>
            </a:pPr>
            <a:endParaRPr lang="en-US" altLang="zh-CN"/>
          </a:p>
          <a:p>
            <a:pPr indent="0">
              <a:buNone/>
            </a:pPr>
            <a:r>
              <a:rPr lang="en-US" altLang="zh-CN"/>
              <a:t>Key Insight:</a:t>
            </a:r>
            <a:endParaRPr lang="en-US" altLang="zh-CN"/>
          </a:p>
          <a:p>
            <a:pPr indent="0">
              <a:buNone/>
            </a:pPr>
            <a:r>
              <a:rPr lang="en-US" altLang="zh-CN"/>
              <a:t>If schedule is compressed below 12.75 weeks,</a:t>
            </a:r>
            <a:endParaRPr lang="en-US" altLang="zh-CN"/>
          </a:p>
          <a:p>
            <a:pPr indent="0">
              <a:buNone/>
            </a:pPr>
            <a:r>
              <a:rPr lang="en-US" altLang="zh-CN"/>
              <a:t>effort escalates nonlinearly (4th power),</a:t>
            </a:r>
            <a:endParaRPr lang="en-US" altLang="zh-CN"/>
          </a:p>
          <a:p>
            <a:pPr indent="0">
              <a:buNone/>
            </a:pPr>
            <a:r>
              <a:rPr lang="en-US" altLang="zh-CN"/>
              <a:t>entering the "Impossible Region" —</a:t>
            </a:r>
            <a:endParaRPr lang="en-US" altLang="zh-CN"/>
          </a:p>
          <a:p>
            <a:pPr indent="0">
              <a:buNone/>
            </a:pPr>
            <a:r>
              <a:rPr lang="en-US" altLang="zh-CN"/>
              <a:t>failure risk increases sharply.</a:t>
            </a:r>
            <a:endParaRPr lang="en-US" altLang="zh-CN"/>
          </a:p>
          <a:p>
            <a:endParaRPr lang="en-US" altLang="zh-CN"/>
          </a:p>
        </p:txBody>
      </p:sp>
      <p:pic>
        <p:nvPicPr>
          <p:cNvPr id="129" name="图片 128" descr="ec9d1eb2-1306-4d9c-a9b0-482a5d69f105"/>
          <p:cNvPicPr>
            <a:picLocks noChangeAspect="1"/>
          </p:cNvPicPr>
          <p:nvPr/>
        </p:nvPicPr>
        <p:blipFill>
          <a:blip r:embed="rId3"/>
          <a:stretch>
            <a:fillRect/>
          </a:stretch>
        </p:blipFill>
        <p:spPr>
          <a:xfrm>
            <a:off x="5699760" y="666750"/>
            <a:ext cx="6492240" cy="62026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0" r="-10"/>
          <a:stretch>
            <a:fillRect/>
          </a:stretch>
        </p:blipFill>
        <p:spPr>
          <a:xfrm>
            <a:off x="0" y="0"/>
            <a:ext cx="12191695" cy="666598"/>
          </a:xfrm>
          <a:prstGeom prst="rect">
            <a:avLst/>
          </a:prstGeom>
        </p:spPr>
      </p:pic>
      <p:sp>
        <p:nvSpPr>
          <p:cNvPr id="5" name="Shape 2"/>
          <p:cNvSpPr/>
          <p:nvPr/>
        </p:nvSpPr>
        <p:spPr>
          <a:xfrm>
            <a:off x="476402" y="1285646"/>
            <a:ext cx="11259007" cy="685800"/>
          </a:xfrm>
          <a:prstGeom prst="roundRect">
            <a:avLst>
              <a:gd name="adj" fmla="val 29630"/>
            </a:avLst>
          </a:prstGeom>
          <a:solidFill>
            <a:srgbClr val="F1F5F9"/>
          </a:solidFill>
          <a:ln w="12700">
            <a:solidFill>
              <a:srgbClr val="E2E8F0"/>
            </a:solidFill>
            <a:prstDash val="solid"/>
          </a:ln>
        </p:spPr>
      </p:sp>
      <p:sp>
        <p:nvSpPr>
          <p:cNvPr id="6" name="Shape 3"/>
          <p:cNvSpPr/>
          <p:nvPr/>
        </p:nvSpPr>
        <p:spPr>
          <a:xfrm>
            <a:off x="476402" y="2095805"/>
            <a:ext cx="3619195" cy="3705149"/>
          </a:xfrm>
          <a:prstGeom prst="roundRect">
            <a:avLst>
              <a:gd name="adj" fmla="val 1330"/>
            </a:avLst>
          </a:prstGeom>
          <a:solidFill>
            <a:srgbClr val="FFFFFF"/>
          </a:solidFill>
          <a:effectLst>
            <a:outerShdw blurRad="76200" dist="25400" dir="16200000" algn="bl" rotWithShape="0">
              <a:srgbClr val="000000">
                <a:alpha val="5000"/>
              </a:srgbClr>
            </a:outerShdw>
          </a:effectLst>
        </p:spPr>
      </p:sp>
      <p:sp>
        <p:nvSpPr>
          <p:cNvPr id="7" name="Shape 4"/>
          <p:cNvSpPr/>
          <p:nvPr/>
        </p:nvSpPr>
        <p:spPr>
          <a:xfrm>
            <a:off x="476402" y="2095805"/>
            <a:ext cx="3619195" cy="38405"/>
          </a:xfrm>
          <a:prstGeom prst="roundRect">
            <a:avLst>
              <a:gd name="adj" fmla="val 125313"/>
            </a:avLst>
          </a:prstGeom>
          <a:solidFill>
            <a:srgbClr val="3B82F6"/>
          </a:solidFill>
          <a:ln w="12700">
            <a:solidFill>
              <a:srgbClr val="3B82F6">
                <a:alpha val="0"/>
              </a:srgbClr>
            </a:solidFill>
            <a:prstDash val="solid"/>
          </a:ln>
        </p:spPr>
      </p:sp>
      <p:sp>
        <p:nvSpPr>
          <p:cNvPr id="8" name="Shape 5"/>
          <p:cNvSpPr/>
          <p:nvPr/>
        </p:nvSpPr>
        <p:spPr>
          <a:xfrm>
            <a:off x="4286707" y="2095805"/>
            <a:ext cx="3619195" cy="3705149"/>
          </a:xfrm>
          <a:prstGeom prst="roundRect">
            <a:avLst>
              <a:gd name="adj" fmla="val 1330"/>
            </a:avLst>
          </a:prstGeom>
          <a:solidFill>
            <a:srgbClr val="FFFFFF"/>
          </a:solidFill>
          <a:effectLst>
            <a:outerShdw blurRad="76200" dist="25400" dir="16200000" algn="bl" rotWithShape="0">
              <a:srgbClr val="000000">
                <a:alpha val="5000"/>
              </a:srgbClr>
            </a:outerShdw>
          </a:effectLst>
        </p:spPr>
      </p:sp>
      <p:sp>
        <p:nvSpPr>
          <p:cNvPr id="9" name="Shape 6"/>
          <p:cNvSpPr/>
          <p:nvPr/>
        </p:nvSpPr>
        <p:spPr>
          <a:xfrm>
            <a:off x="4286707" y="2095805"/>
            <a:ext cx="3619195" cy="38405"/>
          </a:xfrm>
          <a:prstGeom prst="roundRect">
            <a:avLst>
              <a:gd name="adj" fmla="val 125313"/>
            </a:avLst>
          </a:prstGeom>
          <a:solidFill>
            <a:srgbClr val="3B82F6"/>
          </a:solidFill>
          <a:ln w="12700">
            <a:solidFill>
              <a:srgbClr val="3B82F6">
                <a:alpha val="0"/>
              </a:srgbClr>
            </a:solidFill>
            <a:prstDash val="solid"/>
          </a:ln>
        </p:spPr>
      </p:sp>
      <p:sp>
        <p:nvSpPr>
          <p:cNvPr id="10" name="Shape 7"/>
          <p:cNvSpPr/>
          <p:nvPr/>
        </p:nvSpPr>
        <p:spPr>
          <a:xfrm>
            <a:off x="8096098" y="2095805"/>
            <a:ext cx="3619195" cy="3705149"/>
          </a:xfrm>
          <a:prstGeom prst="roundRect">
            <a:avLst>
              <a:gd name="adj" fmla="val 1330"/>
            </a:avLst>
          </a:prstGeom>
          <a:solidFill>
            <a:srgbClr val="FFFFFF"/>
          </a:solidFill>
          <a:effectLst>
            <a:outerShdw blurRad="76200" dist="25400" dir="16200000" algn="bl" rotWithShape="0">
              <a:srgbClr val="000000">
                <a:alpha val="5000"/>
              </a:srgbClr>
            </a:outerShdw>
          </a:effectLst>
        </p:spPr>
      </p:sp>
      <p:sp>
        <p:nvSpPr>
          <p:cNvPr id="11" name="Shape 8"/>
          <p:cNvSpPr/>
          <p:nvPr/>
        </p:nvSpPr>
        <p:spPr>
          <a:xfrm>
            <a:off x="8096098" y="2095805"/>
            <a:ext cx="3619195" cy="38405"/>
          </a:xfrm>
          <a:prstGeom prst="roundRect">
            <a:avLst>
              <a:gd name="adj" fmla="val 125313"/>
            </a:avLst>
          </a:prstGeom>
          <a:solidFill>
            <a:srgbClr val="3B82F6"/>
          </a:solidFill>
          <a:ln w="12700">
            <a:solidFill>
              <a:srgbClr val="3B82F6">
                <a:alpha val="0"/>
              </a:srgbClr>
            </a:solidFill>
            <a:prstDash val="solid"/>
          </a:ln>
        </p:spPr>
      </p:sp>
      <p:pic>
        <p:nvPicPr>
          <p:cNvPr id="12" name="Image 1" descr="preencoded.png"/>
          <p:cNvPicPr>
            <a:picLocks noChangeAspect="1"/>
          </p:cNvPicPr>
          <p:nvPr/>
        </p:nvPicPr>
        <p:blipFill>
          <a:blip r:embed="rId2"/>
          <a:srcRect l="-7" r="-7"/>
          <a:stretch>
            <a:fillRect/>
          </a:stretch>
        </p:blipFill>
        <p:spPr>
          <a:xfrm>
            <a:off x="476402" y="5952744"/>
            <a:ext cx="11259007" cy="733349"/>
          </a:xfrm>
          <a:prstGeom prst="rect">
            <a:avLst/>
          </a:prstGeom>
        </p:spPr>
      </p:pic>
      <p:sp>
        <p:nvSpPr>
          <p:cNvPr id="13" name="Shape 9"/>
          <p:cNvSpPr/>
          <p:nvPr/>
        </p:nvSpPr>
        <p:spPr>
          <a:xfrm>
            <a:off x="476402" y="133502"/>
            <a:ext cx="400507" cy="400507"/>
          </a:xfrm>
          <a:prstGeom prst="ellipse">
            <a:avLst/>
          </a:prstGeom>
          <a:solidFill>
            <a:srgbClr val="FFFFFF">
              <a:alpha val="15000"/>
            </a:srgbClr>
          </a:solidFill>
          <a:ln w="12700">
            <a:solidFill>
              <a:srgbClr val="FFFFFF">
                <a:alpha val="0"/>
              </a:srgbClr>
            </a:solidFill>
            <a:prstDash val="solid"/>
          </a:ln>
        </p:spPr>
      </p:sp>
      <p:pic>
        <p:nvPicPr>
          <p:cNvPr id="14" name="Image 2" descr="preencoded.png"/>
          <p:cNvPicPr>
            <a:picLocks noChangeAspect="1"/>
          </p:cNvPicPr>
          <p:nvPr/>
        </p:nvPicPr>
        <p:blipFill>
          <a:blip r:embed="rId3"/>
          <a:srcRect l="-760" r="-760"/>
          <a:stretch>
            <a:fillRect/>
          </a:stretch>
        </p:blipFill>
        <p:spPr>
          <a:xfrm>
            <a:off x="599846" y="247802"/>
            <a:ext cx="152705" cy="171907"/>
          </a:xfrm>
          <a:prstGeom prst="rect">
            <a:avLst/>
          </a:prstGeom>
        </p:spPr>
      </p:pic>
      <p:sp>
        <p:nvSpPr>
          <p:cNvPr id="15" name="Text 10"/>
          <p:cNvSpPr txBox="1"/>
          <p:nvPr/>
        </p:nvSpPr>
        <p:spPr>
          <a:xfrm>
            <a:off x="1028700" y="152705"/>
            <a:ext cx="6505956" cy="362102"/>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Quality Management</a:t>
            </a:r>
            <a:r>
              <a:rPr lang="en-US" sz="21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 </a:t>
            </a: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Framework &amp; Metrics</a:t>
            </a:r>
            <a:endParaRPr lang="en-US" sz="2100" dirty="0">
              <a:ea typeface="Noto Sans SC" panose="020B0200000000000000" pitchFamily="34" charset="-122"/>
              <a:cs typeface="Noto Sans SC" panose="020B0200000000000000" pitchFamily="34" charset="-122"/>
            </a:endParaRPr>
          </a:p>
        </p:txBody>
      </p:sp>
      <p:sp>
        <p:nvSpPr>
          <p:cNvPr id="16" name="Text 11"/>
          <p:cNvSpPr txBox="1"/>
          <p:nvPr/>
        </p:nvSpPr>
        <p:spPr>
          <a:xfrm>
            <a:off x="743407" y="871423"/>
            <a:ext cx="6858000" cy="257861"/>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Quality Management Three Dimensions: Do Right, Clarify, Stabilize</a:t>
            </a:r>
            <a:endParaRPr lang="en-US" sz="1500" dirty="0">
              <a:ea typeface="Noto Sans SC" panose="020B0200000000000000" pitchFamily="34" charset="-122"/>
              <a:cs typeface="Noto Sans SC" panose="020B0200000000000000" pitchFamily="34" charset="-122"/>
            </a:endParaRPr>
          </a:p>
        </p:txBody>
      </p:sp>
      <p:pic>
        <p:nvPicPr>
          <p:cNvPr id="17" name="Image 3" descr="preencoded.png"/>
          <p:cNvPicPr>
            <a:picLocks noChangeAspect="1"/>
          </p:cNvPicPr>
          <p:nvPr/>
        </p:nvPicPr>
        <p:blipFill>
          <a:blip r:embed="rId4"/>
          <a:srcRect/>
          <a:stretch>
            <a:fillRect/>
          </a:stretch>
        </p:blipFill>
        <p:spPr>
          <a:xfrm>
            <a:off x="476402" y="905256"/>
            <a:ext cx="190195" cy="190195"/>
          </a:xfrm>
          <a:prstGeom prst="rect">
            <a:avLst/>
          </a:prstGeom>
        </p:spPr>
      </p:pic>
      <p:sp>
        <p:nvSpPr>
          <p:cNvPr id="18" name="Shape 12"/>
          <p:cNvSpPr/>
          <p:nvPr/>
        </p:nvSpPr>
        <p:spPr>
          <a:xfrm>
            <a:off x="2251253" y="1356970"/>
            <a:ext cx="2371954" cy="523951"/>
          </a:xfrm>
          <a:prstGeom prst="roundRect">
            <a:avLst>
              <a:gd name="adj" fmla="val 38077"/>
            </a:avLst>
          </a:prstGeom>
          <a:solidFill>
            <a:srgbClr val="FFFFFF"/>
          </a:solidFill>
          <a:ln w="12700">
            <a:solidFill>
              <a:srgbClr val="E2E8F0"/>
            </a:solidFill>
            <a:prstDash val="solid"/>
          </a:ln>
        </p:spPr>
      </p:sp>
      <p:pic>
        <p:nvPicPr>
          <p:cNvPr id="19" name="Image 4" descr="preencoded.png"/>
          <p:cNvPicPr>
            <a:picLocks noChangeAspect="1"/>
          </p:cNvPicPr>
          <p:nvPr/>
        </p:nvPicPr>
        <p:blipFill>
          <a:blip r:embed="rId5"/>
          <a:srcRect/>
          <a:stretch>
            <a:fillRect/>
          </a:stretch>
        </p:blipFill>
        <p:spPr>
          <a:xfrm>
            <a:off x="2451506" y="1533449"/>
            <a:ext cx="171907" cy="171907"/>
          </a:xfrm>
          <a:prstGeom prst="rect">
            <a:avLst/>
          </a:prstGeom>
        </p:spPr>
      </p:pic>
      <p:sp>
        <p:nvSpPr>
          <p:cNvPr id="20" name="Text 13"/>
          <p:cNvSpPr txBox="1"/>
          <p:nvPr/>
        </p:nvSpPr>
        <p:spPr>
          <a:xfrm>
            <a:off x="2718511" y="1442923"/>
            <a:ext cx="1705356" cy="191110"/>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Do Right</a:t>
            </a:r>
            <a:endParaRPr lang="en-US" sz="1100" dirty="0">
              <a:ea typeface="Noto Sans SC" panose="020B0200000000000000" pitchFamily="34" charset="-122"/>
              <a:cs typeface="Noto Sans SC" panose="020B0200000000000000" pitchFamily="34" charset="-122"/>
            </a:endParaRPr>
          </a:p>
        </p:txBody>
      </p:sp>
      <p:sp>
        <p:nvSpPr>
          <p:cNvPr id="21" name="Text 14"/>
          <p:cNvSpPr txBox="1"/>
          <p:nvPr/>
        </p:nvSpPr>
        <p:spPr>
          <a:xfrm>
            <a:off x="2718511" y="1633118"/>
            <a:ext cx="2029054"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Requirements correctly realized</a:t>
            </a:r>
            <a:endParaRPr lang="en-US" sz="900" dirty="0">
              <a:ea typeface="Noto Sans SC" panose="020B0200000000000000" pitchFamily="34" charset="-122"/>
              <a:cs typeface="Noto Sans SC" panose="020B0200000000000000" pitchFamily="34" charset="-122"/>
            </a:endParaRPr>
          </a:p>
        </p:txBody>
      </p:sp>
      <p:sp>
        <p:nvSpPr>
          <p:cNvPr id="22" name="Shape 15"/>
          <p:cNvSpPr/>
          <p:nvPr/>
        </p:nvSpPr>
        <p:spPr>
          <a:xfrm>
            <a:off x="5207508" y="1356970"/>
            <a:ext cx="2219249" cy="523951"/>
          </a:xfrm>
          <a:prstGeom prst="roundRect">
            <a:avLst>
              <a:gd name="adj" fmla="val 38077"/>
            </a:avLst>
          </a:prstGeom>
          <a:solidFill>
            <a:srgbClr val="FFFFFF"/>
          </a:solidFill>
          <a:ln w="12700">
            <a:solidFill>
              <a:srgbClr val="E2E8F0"/>
            </a:solidFill>
            <a:prstDash val="solid"/>
          </a:ln>
        </p:spPr>
      </p:sp>
      <p:pic>
        <p:nvPicPr>
          <p:cNvPr id="23" name="Image 5" descr="preencoded.png"/>
          <p:cNvPicPr>
            <a:picLocks noChangeAspect="1"/>
          </p:cNvPicPr>
          <p:nvPr/>
        </p:nvPicPr>
        <p:blipFill>
          <a:blip r:embed="rId6"/>
          <a:srcRect l="-1064" r="-1064"/>
          <a:stretch>
            <a:fillRect/>
          </a:stretch>
        </p:blipFill>
        <p:spPr>
          <a:xfrm>
            <a:off x="5407762" y="1533449"/>
            <a:ext cx="219456" cy="171907"/>
          </a:xfrm>
          <a:prstGeom prst="rect">
            <a:avLst/>
          </a:prstGeom>
        </p:spPr>
      </p:pic>
      <p:sp>
        <p:nvSpPr>
          <p:cNvPr id="24" name="Text 16"/>
          <p:cNvSpPr txBox="1"/>
          <p:nvPr/>
        </p:nvSpPr>
        <p:spPr>
          <a:xfrm>
            <a:off x="5721401" y="1442923"/>
            <a:ext cx="1505102" cy="191110"/>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Clarify</a:t>
            </a:r>
            <a:endParaRPr lang="en-US" sz="1100" dirty="0">
              <a:ea typeface="Noto Sans SC" panose="020B0200000000000000" pitchFamily="34" charset="-122"/>
              <a:cs typeface="Noto Sans SC" panose="020B0200000000000000" pitchFamily="34" charset="-122"/>
            </a:endParaRPr>
          </a:p>
        </p:txBody>
      </p:sp>
      <p:sp>
        <p:nvSpPr>
          <p:cNvPr id="25" name="Text 17"/>
          <p:cNvSpPr txBox="1"/>
          <p:nvPr/>
        </p:nvSpPr>
        <p:spPr>
          <a:xfrm>
            <a:off x="5721401" y="1633118"/>
            <a:ext cx="1791310"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Documents clearly reviewed</a:t>
            </a:r>
            <a:endParaRPr lang="en-US" sz="900" dirty="0">
              <a:ea typeface="Noto Sans SC" panose="020B0200000000000000" pitchFamily="34" charset="-122"/>
              <a:cs typeface="Noto Sans SC" panose="020B0200000000000000" pitchFamily="34" charset="-122"/>
            </a:endParaRPr>
          </a:p>
        </p:txBody>
      </p:sp>
      <p:sp>
        <p:nvSpPr>
          <p:cNvPr id="26" name="Shape 18"/>
          <p:cNvSpPr/>
          <p:nvPr/>
        </p:nvSpPr>
        <p:spPr>
          <a:xfrm>
            <a:off x="8017459" y="1356970"/>
            <a:ext cx="1923898" cy="523951"/>
          </a:xfrm>
          <a:prstGeom prst="roundRect">
            <a:avLst>
              <a:gd name="adj" fmla="val 38077"/>
            </a:avLst>
          </a:prstGeom>
          <a:solidFill>
            <a:srgbClr val="FFFFFF"/>
          </a:solidFill>
          <a:ln w="12700">
            <a:solidFill>
              <a:srgbClr val="E2E8F0"/>
            </a:solidFill>
            <a:prstDash val="solid"/>
          </a:ln>
        </p:spPr>
      </p:sp>
      <p:pic>
        <p:nvPicPr>
          <p:cNvPr id="27" name="Image 6" descr="preencoded.png"/>
          <p:cNvPicPr>
            <a:picLocks noChangeAspect="1"/>
          </p:cNvPicPr>
          <p:nvPr/>
        </p:nvPicPr>
        <p:blipFill>
          <a:blip r:embed="rId7"/>
          <a:srcRect/>
          <a:stretch>
            <a:fillRect/>
          </a:stretch>
        </p:blipFill>
        <p:spPr>
          <a:xfrm>
            <a:off x="8216798" y="1533449"/>
            <a:ext cx="171907" cy="171907"/>
          </a:xfrm>
          <a:prstGeom prst="rect">
            <a:avLst/>
          </a:prstGeom>
        </p:spPr>
      </p:pic>
      <p:sp>
        <p:nvSpPr>
          <p:cNvPr id="28" name="Text 19"/>
          <p:cNvSpPr txBox="1"/>
          <p:nvPr/>
        </p:nvSpPr>
        <p:spPr>
          <a:xfrm>
            <a:off x="8483803" y="1442923"/>
            <a:ext cx="1257300" cy="191110"/>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Stabilize</a:t>
            </a:r>
            <a:endParaRPr lang="en-US" sz="1100" dirty="0">
              <a:ea typeface="Noto Sans SC" panose="020B0200000000000000" pitchFamily="34" charset="-122"/>
              <a:cs typeface="Noto Sans SC" panose="020B0200000000000000" pitchFamily="34" charset="-122"/>
            </a:endParaRPr>
          </a:p>
        </p:txBody>
      </p:sp>
      <p:sp>
        <p:nvSpPr>
          <p:cNvPr id="29" name="Text 20"/>
          <p:cNvSpPr txBox="1"/>
          <p:nvPr/>
        </p:nvSpPr>
        <p:spPr>
          <a:xfrm>
            <a:off x="8483803" y="1633118"/>
            <a:ext cx="1496873"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Defects stably removed</a:t>
            </a:r>
            <a:endParaRPr lang="en-US" sz="900" dirty="0">
              <a:ea typeface="Noto Sans SC" panose="020B0200000000000000" pitchFamily="34" charset="-122"/>
              <a:cs typeface="Noto Sans SC" panose="020B0200000000000000" pitchFamily="34" charset="-122"/>
            </a:endParaRPr>
          </a:p>
        </p:txBody>
      </p:sp>
      <p:pic>
        <p:nvPicPr>
          <p:cNvPr id="30" name="Image 7" descr="preencoded.png"/>
          <p:cNvPicPr>
            <a:picLocks noChangeAspect="1"/>
          </p:cNvPicPr>
          <p:nvPr/>
        </p:nvPicPr>
        <p:blipFill>
          <a:blip r:embed="rId8"/>
          <a:srcRect t="-43" b="-43"/>
          <a:stretch>
            <a:fillRect/>
          </a:stretch>
        </p:blipFill>
        <p:spPr>
          <a:xfrm>
            <a:off x="4845406" y="1543507"/>
            <a:ext cx="133502" cy="152705"/>
          </a:xfrm>
          <a:prstGeom prst="rect">
            <a:avLst/>
          </a:prstGeom>
        </p:spPr>
      </p:pic>
      <p:pic>
        <p:nvPicPr>
          <p:cNvPr id="31" name="Image 8" descr="preencoded.png"/>
          <p:cNvPicPr>
            <a:picLocks noChangeAspect="1"/>
          </p:cNvPicPr>
          <p:nvPr/>
        </p:nvPicPr>
        <p:blipFill>
          <a:blip r:embed="rId8"/>
          <a:srcRect t="-43" b="-43"/>
          <a:stretch>
            <a:fillRect/>
          </a:stretch>
        </p:blipFill>
        <p:spPr>
          <a:xfrm>
            <a:off x="7655357" y="1543507"/>
            <a:ext cx="133502" cy="152705"/>
          </a:xfrm>
          <a:prstGeom prst="rect">
            <a:avLst/>
          </a:prstGeom>
        </p:spPr>
      </p:pic>
      <p:sp>
        <p:nvSpPr>
          <p:cNvPr id="32" name="Shape 21"/>
          <p:cNvSpPr/>
          <p:nvPr/>
        </p:nvSpPr>
        <p:spPr>
          <a:xfrm>
            <a:off x="666598" y="2772461"/>
            <a:ext cx="3238805" cy="9144"/>
          </a:xfrm>
          <a:prstGeom prst="rect">
            <a:avLst/>
          </a:prstGeom>
          <a:solidFill>
            <a:srgbClr val="E2E8F0"/>
          </a:solidFill>
          <a:ln w="12700">
            <a:solidFill>
              <a:srgbClr val="E2E8F0">
                <a:alpha val="0"/>
              </a:srgbClr>
            </a:solidFill>
            <a:prstDash val="solid"/>
          </a:ln>
        </p:spPr>
      </p:sp>
      <p:sp>
        <p:nvSpPr>
          <p:cNvPr id="33" name="Shape 22"/>
          <p:cNvSpPr/>
          <p:nvPr/>
        </p:nvSpPr>
        <p:spPr>
          <a:xfrm>
            <a:off x="666598" y="2238451"/>
            <a:ext cx="418795" cy="418795"/>
          </a:xfrm>
          <a:prstGeom prst="roundRect">
            <a:avLst>
              <a:gd name="adj" fmla="val 79397"/>
            </a:avLst>
          </a:prstGeom>
          <a:solidFill>
            <a:srgbClr val="3B82F6">
              <a:alpha val="10000"/>
            </a:srgbClr>
          </a:solidFill>
          <a:ln w="12700">
            <a:solidFill>
              <a:srgbClr val="FFFFFF">
                <a:alpha val="0"/>
              </a:srgbClr>
            </a:solidFill>
            <a:prstDash val="solid"/>
          </a:ln>
        </p:spPr>
      </p:sp>
      <p:pic>
        <p:nvPicPr>
          <p:cNvPr id="34" name="Image 9" descr="preencoded.png"/>
          <p:cNvPicPr>
            <a:picLocks noChangeAspect="1"/>
          </p:cNvPicPr>
          <p:nvPr/>
        </p:nvPicPr>
        <p:blipFill>
          <a:blip r:embed="rId9"/>
          <a:srcRect/>
          <a:stretch>
            <a:fillRect/>
          </a:stretch>
        </p:blipFill>
        <p:spPr>
          <a:xfrm>
            <a:off x="780898" y="2352751"/>
            <a:ext cx="190195" cy="190195"/>
          </a:xfrm>
          <a:prstGeom prst="rect">
            <a:avLst/>
          </a:prstGeom>
        </p:spPr>
      </p:pic>
      <p:sp>
        <p:nvSpPr>
          <p:cNvPr id="35" name="Text 23"/>
          <p:cNvSpPr txBox="1"/>
          <p:nvPr/>
        </p:nvSpPr>
        <p:spPr>
          <a:xfrm>
            <a:off x="1200607" y="2238451"/>
            <a:ext cx="2421331" cy="228600"/>
          </a:xfrm>
          <a:prstGeom prst="rect">
            <a:avLst/>
          </a:prstGeom>
          <a:noFill/>
        </p:spPr>
        <p:txBody>
          <a:bodyPr wrap="square" lIns="0" tIns="0" rIns="0" bIns="0" rtlCol="0" anchor="ctr"/>
          <a:lstStyle/>
          <a:p>
            <a:pPr marL="0" indent="0" algn="l">
              <a:buNone/>
            </a:pPr>
            <a:r>
              <a:rPr lang="en-US" sz="13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Do Right (Correctness)</a:t>
            </a:r>
            <a:endParaRPr lang="en-US" sz="1300" dirty="0">
              <a:ea typeface="Noto Sans SC" panose="020B0200000000000000" pitchFamily="34" charset="-122"/>
              <a:cs typeface="Noto Sans SC" panose="020B0200000000000000" pitchFamily="34" charset="-122"/>
            </a:endParaRPr>
          </a:p>
        </p:txBody>
      </p:sp>
      <p:sp>
        <p:nvSpPr>
          <p:cNvPr id="36" name="Text 24"/>
          <p:cNvSpPr txBox="1"/>
          <p:nvPr/>
        </p:nvSpPr>
        <p:spPr>
          <a:xfrm>
            <a:off x="1200607" y="2486254"/>
            <a:ext cx="2459736" cy="171907"/>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RTM ensures requirements realized</a:t>
            </a:r>
            <a:endParaRPr lang="en-US" sz="900" dirty="0">
              <a:ea typeface="Noto Sans SC" panose="020B0200000000000000" pitchFamily="34" charset="-122"/>
              <a:cs typeface="Noto Sans SC" panose="020B0200000000000000" pitchFamily="34" charset="-122"/>
            </a:endParaRPr>
          </a:p>
        </p:txBody>
      </p:sp>
      <p:sp>
        <p:nvSpPr>
          <p:cNvPr id="37" name="Shape 25"/>
          <p:cNvSpPr/>
          <p:nvPr/>
        </p:nvSpPr>
        <p:spPr>
          <a:xfrm>
            <a:off x="666598" y="2933395"/>
            <a:ext cx="1561795" cy="743407"/>
          </a:xfrm>
          <a:prstGeom prst="roundRect">
            <a:avLst>
              <a:gd name="adj" fmla="val 18923"/>
            </a:avLst>
          </a:prstGeom>
          <a:solidFill>
            <a:srgbClr val="F8FAFC"/>
          </a:solidFill>
          <a:ln w="12700">
            <a:solidFill>
              <a:srgbClr val="E2E8F0"/>
            </a:solidFill>
            <a:prstDash val="solid"/>
          </a:ln>
        </p:spPr>
      </p:sp>
      <p:sp>
        <p:nvSpPr>
          <p:cNvPr id="38" name="Text 26"/>
          <p:cNvSpPr txBox="1"/>
          <p:nvPr/>
        </p:nvSpPr>
        <p:spPr>
          <a:xfrm>
            <a:off x="790956" y="3066898"/>
            <a:ext cx="914400"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RTM Coverage</a:t>
            </a:r>
            <a:endParaRPr lang="en-US" sz="900" dirty="0">
              <a:ea typeface="Noto Sans SC" panose="020B0200000000000000" pitchFamily="34" charset="-122"/>
              <a:cs typeface="Noto Sans SC" panose="020B0200000000000000" pitchFamily="34" charset="-122"/>
            </a:endParaRPr>
          </a:p>
        </p:txBody>
      </p:sp>
      <p:sp>
        <p:nvSpPr>
          <p:cNvPr id="39" name="Text 27"/>
          <p:cNvSpPr txBox="1"/>
          <p:nvPr/>
        </p:nvSpPr>
        <p:spPr>
          <a:xfrm>
            <a:off x="1759306" y="3057754"/>
            <a:ext cx="352958" cy="181051"/>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≥90%</a:t>
            </a:r>
            <a:endParaRPr lang="en-US" sz="1000" dirty="0">
              <a:ea typeface="Noto Sans SC" panose="020B0200000000000000" pitchFamily="34" charset="-122"/>
              <a:cs typeface="Noto Sans SC" panose="020B0200000000000000" pitchFamily="34" charset="-122"/>
            </a:endParaRPr>
          </a:p>
        </p:txBody>
      </p:sp>
      <p:sp>
        <p:nvSpPr>
          <p:cNvPr id="40" name="Text 28"/>
          <p:cNvSpPr txBox="1"/>
          <p:nvPr/>
        </p:nvSpPr>
        <p:spPr>
          <a:xfrm>
            <a:off x="790956" y="3276295"/>
            <a:ext cx="1314907" cy="143561"/>
          </a:xfrm>
          <a:prstGeom prst="rect">
            <a:avLst/>
          </a:prstGeom>
          <a:noFill/>
        </p:spPr>
        <p:txBody>
          <a:bodyPr wrap="square" lIns="0" tIns="0" rIns="0" bIns="0" rtlCol="0" anchor="ctr"/>
          <a:lstStyle/>
          <a:p>
            <a:pPr marL="0" indent="0" algn="l">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Actual: 100% (10/10)</a:t>
            </a:r>
            <a:endParaRPr lang="en-US" sz="800" dirty="0">
              <a:ea typeface="Noto Sans SC" panose="020B0200000000000000" pitchFamily="34" charset="-122"/>
              <a:cs typeface="Noto Sans SC" panose="020B0200000000000000" pitchFamily="34" charset="-122"/>
            </a:endParaRPr>
          </a:p>
        </p:txBody>
      </p:sp>
      <p:pic>
        <p:nvPicPr>
          <p:cNvPr id="41" name="Image 10" descr="preencoded.png"/>
          <p:cNvPicPr>
            <a:picLocks noChangeAspect="1"/>
          </p:cNvPicPr>
          <p:nvPr/>
        </p:nvPicPr>
        <p:blipFill>
          <a:blip r:embed="rId10"/>
          <a:srcRect t="-382" b="-382"/>
          <a:stretch>
            <a:fillRect/>
          </a:stretch>
        </p:blipFill>
        <p:spPr>
          <a:xfrm>
            <a:off x="790956" y="3495751"/>
            <a:ext cx="1314907" cy="57607"/>
          </a:xfrm>
          <a:prstGeom prst="rect">
            <a:avLst/>
          </a:prstGeom>
        </p:spPr>
      </p:pic>
      <p:pic>
        <p:nvPicPr>
          <p:cNvPr id="42" name="Image 11" descr="preencoded.png"/>
          <p:cNvPicPr>
            <a:picLocks noChangeAspect="1"/>
          </p:cNvPicPr>
          <p:nvPr/>
        </p:nvPicPr>
        <p:blipFill>
          <a:blip r:embed="rId11"/>
          <a:srcRect t="-382" b="-382"/>
          <a:stretch>
            <a:fillRect/>
          </a:stretch>
        </p:blipFill>
        <p:spPr>
          <a:xfrm>
            <a:off x="790956" y="3495751"/>
            <a:ext cx="1314907" cy="57607"/>
          </a:xfrm>
          <a:prstGeom prst="rect">
            <a:avLst/>
          </a:prstGeom>
        </p:spPr>
      </p:pic>
      <p:sp>
        <p:nvSpPr>
          <p:cNvPr id="43" name="Shape 29"/>
          <p:cNvSpPr/>
          <p:nvPr/>
        </p:nvSpPr>
        <p:spPr>
          <a:xfrm>
            <a:off x="2343607" y="2933395"/>
            <a:ext cx="1561795" cy="743407"/>
          </a:xfrm>
          <a:prstGeom prst="roundRect">
            <a:avLst>
              <a:gd name="adj" fmla="val 18923"/>
            </a:avLst>
          </a:prstGeom>
          <a:solidFill>
            <a:srgbClr val="F8FAFC"/>
          </a:solidFill>
          <a:ln w="12700">
            <a:solidFill>
              <a:srgbClr val="E2E8F0"/>
            </a:solidFill>
            <a:prstDash val="solid"/>
          </a:ln>
        </p:spPr>
      </p:sp>
      <p:sp>
        <p:nvSpPr>
          <p:cNvPr id="44" name="Text 30"/>
          <p:cNvSpPr txBox="1"/>
          <p:nvPr/>
        </p:nvSpPr>
        <p:spPr>
          <a:xfrm>
            <a:off x="2467051" y="3066898"/>
            <a:ext cx="934517"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Traceability</a:t>
            </a:r>
            <a:endParaRPr lang="en-US" sz="900" dirty="0">
              <a:ea typeface="Noto Sans SC" panose="020B0200000000000000" pitchFamily="34" charset="-122"/>
              <a:cs typeface="Noto Sans SC" panose="020B0200000000000000" pitchFamily="34" charset="-122"/>
            </a:endParaRPr>
          </a:p>
        </p:txBody>
      </p:sp>
      <p:sp>
        <p:nvSpPr>
          <p:cNvPr id="45" name="Text 31"/>
          <p:cNvSpPr txBox="1"/>
          <p:nvPr/>
        </p:nvSpPr>
        <p:spPr>
          <a:xfrm>
            <a:off x="3420770" y="3057754"/>
            <a:ext cx="468173" cy="181051"/>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10/10</a:t>
            </a:r>
            <a:endParaRPr lang="en-US" sz="1000" dirty="0">
              <a:ea typeface="Noto Sans SC" panose="020B0200000000000000" pitchFamily="34" charset="-122"/>
              <a:cs typeface="Noto Sans SC" panose="020B0200000000000000" pitchFamily="34" charset="-122"/>
            </a:endParaRPr>
          </a:p>
        </p:txBody>
      </p:sp>
      <p:sp>
        <p:nvSpPr>
          <p:cNvPr id="46" name="Text 32"/>
          <p:cNvSpPr txBox="1"/>
          <p:nvPr/>
        </p:nvSpPr>
        <p:spPr>
          <a:xfrm>
            <a:off x="2467051" y="3276295"/>
            <a:ext cx="1314907" cy="143561"/>
          </a:xfrm>
          <a:prstGeom prst="rect">
            <a:avLst/>
          </a:prstGeom>
          <a:noFill/>
        </p:spPr>
        <p:txBody>
          <a:bodyPr wrap="square" lIns="0" tIns="0" rIns="0" bIns="0" rtlCol="0" anchor="ctr"/>
          <a:lstStyle/>
          <a:p>
            <a:pPr marL="0" indent="0" algn="l">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All reqs traceable</a:t>
            </a:r>
            <a:endParaRPr lang="en-US" sz="800" dirty="0">
              <a:ea typeface="Noto Sans SC" panose="020B0200000000000000" pitchFamily="34" charset="-122"/>
              <a:cs typeface="Noto Sans SC" panose="020B0200000000000000" pitchFamily="34" charset="-122"/>
            </a:endParaRPr>
          </a:p>
        </p:txBody>
      </p:sp>
      <p:pic>
        <p:nvPicPr>
          <p:cNvPr id="47" name="Image 12" descr="preencoded.png"/>
          <p:cNvPicPr>
            <a:picLocks noChangeAspect="1"/>
          </p:cNvPicPr>
          <p:nvPr/>
        </p:nvPicPr>
        <p:blipFill>
          <a:blip r:embed="rId10"/>
          <a:srcRect t="-382" b="-382"/>
          <a:stretch>
            <a:fillRect/>
          </a:stretch>
        </p:blipFill>
        <p:spPr>
          <a:xfrm>
            <a:off x="2467051" y="3495751"/>
            <a:ext cx="1314907" cy="57607"/>
          </a:xfrm>
          <a:prstGeom prst="rect">
            <a:avLst/>
          </a:prstGeom>
        </p:spPr>
      </p:pic>
      <p:pic>
        <p:nvPicPr>
          <p:cNvPr id="48" name="Image 13" descr="preencoded.png"/>
          <p:cNvPicPr>
            <a:picLocks noChangeAspect="1"/>
          </p:cNvPicPr>
          <p:nvPr/>
        </p:nvPicPr>
        <p:blipFill>
          <a:blip r:embed="rId11"/>
          <a:srcRect t="-382" b="-382"/>
          <a:stretch>
            <a:fillRect/>
          </a:stretch>
        </p:blipFill>
        <p:spPr>
          <a:xfrm>
            <a:off x="2467051" y="3495751"/>
            <a:ext cx="1314907" cy="57607"/>
          </a:xfrm>
          <a:prstGeom prst="rect">
            <a:avLst/>
          </a:prstGeom>
        </p:spPr>
      </p:pic>
      <p:sp>
        <p:nvSpPr>
          <p:cNvPr id="49" name="Shape 33"/>
          <p:cNvSpPr/>
          <p:nvPr/>
        </p:nvSpPr>
        <p:spPr>
          <a:xfrm>
            <a:off x="666598" y="3791102"/>
            <a:ext cx="1561795" cy="743407"/>
          </a:xfrm>
          <a:prstGeom prst="roundRect">
            <a:avLst>
              <a:gd name="adj" fmla="val 18923"/>
            </a:avLst>
          </a:prstGeom>
          <a:solidFill>
            <a:srgbClr val="F8FAFC"/>
          </a:solidFill>
          <a:ln w="12700">
            <a:solidFill>
              <a:srgbClr val="E2E8F0"/>
            </a:solidFill>
            <a:prstDash val="solid"/>
          </a:ln>
        </p:spPr>
      </p:sp>
      <p:sp>
        <p:nvSpPr>
          <p:cNvPr id="50" name="Text 34"/>
          <p:cNvSpPr txBox="1"/>
          <p:nvPr/>
        </p:nvSpPr>
        <p:spPr>
          <a:xfrm>
            <a:off x="790956" y="3924605"/>
            <a:ext cx="762610"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Completion</a:t>
            </a:r>
            <a:endParaRPr lang="en-US" sz="900" dirty="0">
              <a:ea typeface="Noto Sans SC" panose="020B0200000000000000" pitchFamily="34" charset="-122"/>
              <a:cs typeface="Noto Sans SC" panose="020B0200000000000000" pitchFamily="34" charset="-122"/>
            </a:endParaRPr>
          </a:p>
        </p:txBody>
      </p:sp>
      <p:sp>
        <p:nvSpPr>
          <p:cNvPr id="51" name="Text 35"/>
          <p:cNvSpPr txBox="1"/>
          <p:nvPr/>
        </p:nvSpPr>
        <p:spPr>
          <a:xfrm>
            <a:off x="1755648" y="3914546"/>
            <a:ext cx="352958" cy="181051"/>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100%</a:t>
            </a:r>
            <a:endParaRPr lang="en-US" sz="1000" dirty="0">
              <a:ea typeface="Noto Sans SC" panose="020B0200000000000000" pitchFamily="34" charset="-122"/>
              <a:cs typeface="Noto Sans SC" panose="020B0200000000000000" pitchFamily="34" charset="-122"/>
            </a:endParaRPr>
          </a:p>
        </p:txBody>
      </p:sp>
      <p:sp>
        <p:nvSpPr>
          <p:cNvPr id="52" name="Text 36"/>
          <p:cNvSpPr txBox="1"/>
          <p:nvPr/>
        </p:nvSpPr>
        <p:spPr>
          <a:xfrm>
            <a:off x="790956" y="4134002"/>
            <a:ext cx="1314907" cy="143561"/>
          </a:xfrm>
          <a:prstGeom prst="rect">
            <a:avLst/>
          </a:prstGeom>
          <a:noFill/>
        </p:spPr>
        <p:txBody>
          <a:bodyPr wrap="square" lIns="0" tIns="0" rIns="0" bIns="0" rtlCol="0" anchor="ctr"/>
          <a:lstStyle/>
          <a:p>
            <a:pPr marL="0" indent="0" algn="l">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All funcs complete</a:t>
            </a:r>
            <a:endParaRPr lang="en-US" sz="800" dirty="0">
              <a:ea typeface="Noto Sans SC" panose="020B0200000000000000" pitchFamily="34" charset="-122"/>
              <a:cs typeface="Noto Sans SC" panose="020B0200000000000000" pitchFamily="34" charset="-122"/>
            </a:endParaRPr>
          </a:p>
        </p:txBody>
      </p:sp>
      <p:pic>
        <p:nvPicPr>
          <p:cNvPr id="53" name="Image 14" descr="preencoded.png"/>
          <p:cNvPicPr>
            <a:picLocks noChangeAspect="1"/>
          </p:cNvPicPr>
          <p:nvPr/>
        </p:nvPicPr>
        <p:blipFill>
          <a:blip r:embed="rId10"/>
          <a:srcRect t="-382" b="-382"/>
          <a:stretch>
            <a:fillRect/>
          </a:stretch>
        </p:blipFill>
        <p:spPr>
          <a:xfrm>
            <a:off x="790956" y="4352544"/>
            <a:ext cx="1314907" cy="57607"/>
          </a:xfrm>
          <a:prstGeom prst="rect">
            <a:avLst/>
          </a:prstGeom>
        </p:spPr>
      </p:pic>
      <p:pic>
        <p:nvPicPr>
          <p:cNvPr id="54" name="Image 15" descr="preencoded.png"/>
          <p:cNvPicPr>
            <a:picLocks noChangeAspect="1"/>
          </p:cNvPicPr>
          <p:nvPr/>
        </p:nvPicPr>
        <p:blipFill>
          <a:blip r:embed="rId11"/>
          <a:srcRect t="-382" b="-382"/>
          <a:stretch>
            <a:fillRect/>
          </a:stretch>
        </p:blipFill>
        <p:spPr>
          <a:xfrm>
            <a:off x="790956" y="4352544"/>
            <a:ext cx="1314907" cy="57607"/>
          </a:xfrm>
          <a:prstGeom prst="rect">
            <a:avLst/>
          </a:prstGeom>
        </p:spPr>
      </p:pic>
      <p:sp>
        <p:nvSpPr>
          <p:cNvPr id="55" name="Shape 37"/>
          <p:cNvSpPr/>
          <p:nvPr/>
        </p:nvSpPr>
        <p:spPr>
          <a:xfrm>
            <a:off x="2343607" y="3791102"/>
            <a:ext cx="1561795" cy="743407"/>
          </a:xfrm>
          <a:prstGeom prst="roundRect">
            <a:avLst>
              <a:gd name="adj" fmla="val 18923"/>
            </a:avLst>
          </a:prstGeom>
          <a:solidFill>
            <a:srgbClr val="F8FAFC"/>
          </a:solidFill>
          <a:ln w="12700">
            <a:solidFill>
              <a:srgbClr val="E2E8F0"/>
            </a:solidFill>
            <a:prstDash val="solid"/>
          </a:ln>
        </p:spPr>
      </p:sp>
      <p:sp>
        <p:nvSpPr>
          <p:cNvPr id="56" name="Text 38"/>
          <p:cNvSpPr txBox="1"/>
          <p:nvPr/>
        </p:nvSpPr>
        <p:spPr>
          <a:xfrm>
            <a:off x="2467051" y="3924605"/>
            <a:ext cx="752551"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Acceptance</a:t>
            </a:r>
            <a:endParaRPr lang="en-US" sz="900" dirty="0">
              <a:ea typeface="Noto Sans SC" panose="020B0200000000000000" pitchFamily="34" charset="-122"/>
              <a:cs typeface="Noto Sans SC" panose="020B0200000000000000" pitchFamily="34" charset="-122"/>
            </a:endParaRPr>
          </a:p>
        </p:txBody>
      </p:sp>
      <p:sp>
        <p:nvSpPr>
          <p:cNvPr id="57" name="Text 39"/>
          <p:cNvSpPr txBox="1"/>
          <p:nvPr/>
        </p:nvSpPr>
        <p:spPr>
          <a:xfrm>
            <a:off x="3508553" y="3914546"/>
            <a:ext cx="277063" cy="181051"/>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95%</a:t>
            </a:r>
            <a:endParaRPr lang="en-US" sz="1000" dirty="0">
              <a:ea typeface="Noto Sans SC" panose="020B0200000000000000" pitchFamily="34" charset="-122"/>
              <a:cs typeface="Noto Sans SC" panose="020B0200000000000000" pitchFamily="34" charset="-122"/>
            </a:endParaRPr>
          </a:p>
        </p:txBody>
      </p:sp>
      <p:sp>
        <p:nvSpPr>
          <p:cNvPr id="58" name="Text 40"/>
          <p:cNvSpPr txBox="1"/>
          <p:nvPr/>
        </p:nvSpPr>
        <p:spPr>
          <a:xfrm>
            <a:off x="2467051" y="4134002"/>
            <a:ext cx="1314907" cy="143561"/>
          </a:xfrm>
          <a:prstGeom prst="rect">
            <a:avLst/>
          </a:prstGeom>
          <a:noFill/>
        </p:spPr>
        <p:txBody>
          <a:bodyPr wrap="square" lIns="0" tIns="0" rIns="0" bIns="0" rtlCol="0" anchor="ctr"/>
          <a:lstStyle/>
          <a:p>
            <a:pPr marL="0" indent="0" algn="l">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19/20 items passed</a:t>
            </a:r>
            <a:endParaRPr lang="en-US" sz="800" dirty="0">
              <a:ea typeface="Noto Sans SC" panose="020B0200000000000000" pitchFamily="34" charset="-122"/>
              <a:cs typeface="Noto Sans SC" panose="020B0200000000000000" pitchFamily="34" charset="-122"/>
            </a:endParaRPr>
          </a:p>
        </p:txBody>
      </p:sp>
      <p:pic>
        <p:nvPicPr>
          <p:cNvPr id="59" name="Image 16" descr="preencoded.png"/>
          <p:cNvPicPr>
            <a:picLocks noChangeAspect="1"/>
          </p:cNvPicPr>
          <p:nvPr/>
        </p:nvPicPr>
        <p:blipFill>
          <a:blip r:embed="rId10"/>
          <a:srcRect t="-382" b="-382"/>
          <a:stretch>
            <a:fillRect/>
          </a:stretch>
        </p:blipFill>
        <p:spPr>
          <a:xfrm>
            <a:off x="2467051" y="4352544"/>
            <a:ext cx="1314907" cy="57607"/>
          </a:xfrm>
          <a:prstGeom prst="rect">
            <a:avLst/>
          </a:prstGeom>
        </p:spPr>
      </p:pic>
      <p:pic>
        <p:nvPicPr>
          <p:cNvPr id="60" name="Image 17" descr="preencoded.png"/>
          <p:cNvPicPr>
            <a:picLocks noChangeAspect="1"/>
          </p:cNvPicPr>
          <p:nvPr/>
        </p:nvPicPr>
        <p:blipFill>
          <a:blip r:embed="rId12"/>
          <a:srcRect t="-384" b="-384"/>
          <a:stretch>
            <a:fillRect/>
          </a:stretch>
        </p:blipFill>
        <p:spPr>
          <a:xfrm>
            <a:off x="2467051" y="4352544"/>
            <a:ext cx="1249070" cy="57607"/>
          </a:xfrm>
          <a:prstGeom prst="rect">
            <a:avLst/>
          </a:prstGeom>
        </p:spPr>
      </p:pic>
      <p:sp>
        <p:nvSpPr>
          <p:cNvPr id="61" name="Shape 41"/>
          <p:cNvSpPr/>
          <p:nvPr/>
        </p:nvSpPr>
        <p:spPr>
          <a:xfrm>
            <a:off x="4476902" y="2772461"/>
            <a:ext cx="3238805" cy="9144"/>
          </a:xfrm>
          <a:prstGeom prst="rect">
            <a:avLst/>
          </a:prstGeom>
          <a:solidFill>
            <a:srgbClr val="E2E8F0"/>
          </a:solidFill>
          <a:ln w="12700">
            <a:solidFill>
              <a:srgbClr val="E2E8F0">
                <a:alpha val="0"/>
              </a:srgbClr>
            </a:solidFill>
            <a:prstDash val="solid"/>
          </a:ln>
        </p:spPr>
      </p:sp>
      <p:sp>
        <p:nvSpPr>
          <p:cNvPr id="62" name="Shape 42"/>
          <p:cNvSpPr/>
          <p:nvPr/>
        </p:nvSpPr>
        <p:spPr>
          <a:xfrm>
            <a:off x="4476902" y="2238451"/>
            <a:ext cx="418795" cy="418795"/>
          </a:xfrm>
          <a:prstGeom prst="roundRect">
            <a:avLst>
              <a:gd name="adj" fmla="val 79397"/>
            </a:avLst>
          </a:prstGeom>
          <a:solidFill>
            <a:srgbClr val="3B82F6">
              <a:alpha val="10000"/>
            </a:srgbClr>
          </a:solidFill>
          <a:ln w="12700">
            <a:solidFill>
              <a:srgbClr val="FFFFFF">
                <a:alpha val="0"/>
              </a:srgbClr>
            </a:solidFill>
            <a:prstDash val="solid"/>
          </a:ln>
        </p:spPr>
      </p:sp>
      <p:pic>
        <p:nvPicPr>
          <p:cNvPr id="63" name="Image 18" descr="preencoded.png"/>
          <p:cNvPicPr>
            <a:picLocks noChangeAspect="1"/>
          </p:cNvPicPr>
          <p:nvPr/>
        </p:nvPicPr>
        <p:blipFill>
          <a:blip r:embed="rId13"/>
          <a:srcRect/>
          <a:stretch>
            <a:fillRect/>
          </a:stretch>
        </p:blipFill>
        <p:spPr>
          <a:xfrm>
            <a:off x="4567428" y="2352751"/>
            <a:ext cx="237744" cy="190195"/>
          </a:xfrm>
          <a:prstGeom prst="rect">
            <a:avLst/>
          </a:prstGeom>
        </p:spPr>
      </p:pic>
      <p:sp>
        <p:nvSpPr>
          <p:cNvPr id="64" name="Text 43"/>
          <p:cNvSpPr txBox="1"/>
          <p:nvPr/>
        </p:nvSpPr>
        <p:spPr>
          <a:xfrm>
            <a:off x="5009998" y="2238451"/>
            <a:ext cx="1876349" cy="228600"/>
          </a:xfrm>
          <a:prstGeom prst="rect">
            <a:avLst/>
          </a:prstGeom>
          <a:noFill/>
        </p:spPr>
        <p:txBody>
          <a:bodyPr wrap="square" lIns="0" tIns="0" rIns="0" bIns="0" rtlCol="0" anchor="ctr"/>
          <a:lstStyle/>
          <a:p>
            <a:pPr marL="0" indent="0" algn="l">
              <a:buNone/>
            </a:pPr>
            <a:r>
              <a:rPr lang="en-US" sz="13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Clarify (Clarity)</a:t>
            </a:r>
            <a:endParaRPr lang="en-US" sz="1300" dirty="0">
              <a:ea typeface="Noto Sans SC" panose="020B0200000000000000" pitchFamily="34" charset="-122"/>
              <a:cs typeface="Noto Sans SC" panose="020B0200000000000000" pitchFamily="34" charset="-122"/>
            </a:endParaRPr>
          </a:p>
        </p:txBody>
      </p:sp>
      <p:sp>
        <p:nvSpPr>
          <p:cNvPr id="65" name="Text 44"/>
          <p:cNvSpPr txBox="1"/>
          <p:nvPr/>
        </p:nvSpPr>
        <p:spPr>
          <a:xfrm>
            <a:off x="5009998" y="2486254"/>
            <a:ext cx="2040941" cy="171907"/>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FTR ensures document clarity</a:t>
            </a:r>
            <a:endParaRPr lang="en-US" sz="900" dirty="0">
              <a:ea typeface="Noto Sans SC" panose="020B0200000000000000" pitchFamily="34" charset="-122"/>
              <a:cs typeface="Noto Sans SC" panose="020B0200000000000000" pitchFamily="34" charset="-122"/>
            </a:endParaRPr>
          </a:p>
        </p:txBody>
      </p:sp>
      <p:sp>
        <p:nvSpPr>
          <p:cNvPr id="66" name="Shape 45"/>
          <p:cNvSpPr/>
          <p:nvPr/>
        </p:nvSpPr>
        <p:spPr>
          <a:xfrm>
            <a:off x="4476902" y="2933395"/>
            <a:ext cx="1561795" cy="743407"/>
          </a:xfrm>
          <a:prstGeom prst="roundRect">
            <a:avLst>
              <a:gd name="adj" fmla="val 18923"/>
            </a:avLst>
          </a:prstGeom>
          <a:solidFill>
            <a:srgbClr val="F8FAFC"/>
          </a:solidFill>
          <a:ln w="12700">
            <a:solidFill>
              <a:srgbClr val="E2E8F0"/>
            </a:solidFill>
            <a:prstDash val="solid"/>
          </a:ln>
        </p:spPr>
      </p:sp>
      <p:sp>
        <p:nvSpPr>
          <p:cNvPr id="67" name="Text 46"/>
          <p:cNvSpPr txBox="1"/>
          <p:nvPr/>
        </p:nvSpPr>
        <p:spPr>
          <a:xfrm>
            <a:off x="4600346" y="3066898"/>
            <a:ext cx="1023214"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FTR Pass Rate</a:t>
            </a:r>
            <a:endParaRPr lang="en-US" sz="900" dirty="0">
              <a:ea typeface="Noto Sans SC" panose="020B0200000000000000" pitchFamily="34" charset="-122"/>
              <a:cs typeface="Noto Sans SC" panose="020B0200000000000000" pitchFamily="34" charset="-122"/>
            </a:endParaRPr>
          </a:p>
        </p:txBody>
      </p:sp>
      <p:sp>
        <p:nvSpPr>
          <p:cNvPr id="68" name="Text 47"/>
          <p:cNvSpPr txBox="1"/>
          <p:nvPr/>
        </p:nvSpPr>
        <p:spPr>
          <a:xfrm>
            <a:off x="5568696" y="3057754"/>
            <a:ext cx="352958" cy="181051"/>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≥95%</a:t>
            </a:r>
            <a:endParaRPr lang="en-US" sz="1000" dirty="0">
              <a:ea typeface="Noto Sans SC" panose="020B0200000000000000" pitchFamily="34" charset="-122"/>
              <a:cs typeface="Noto Sans SC" panose="020B0200000000000000" pitchFamily="34" charset="-122"/>
            </a:endParaRPr>
          </a:p>
        </p:txBody>
      </p:sp>
      <p:sp>
        <p:nvSpPr>
          <p:cNvPr id="69" name="Text 48"/>
          <p:cNvSpPr txBox="1"/>
          <p:nvPr/>
        </p:nvSpPr>
        <p:spPr>
          <a:xfrm>
            <a:off x="4600346" y="3276295"/>
            <a:ext cx="1373429" cy="143561"/>
          </a:xfrm>
          <a:prstGeom prst="rect">
            <a:avLst/>
          </a:prstGeom>
          <a:noFill/>
        </p:spPr>
        <p:txBody>
          <a:bodyPr wrap="square" lIns="0" tIns="0" rIns="0" bIns="0" rtlCol="0" anchor="ctr"/>
          <a:lstStyle/>
          <a:p>
            <a:pPr marL="0" indent="0" algn="l">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Actual: 96.4% (27/28)</a:t>
            </a:r>
            <a:endParaRPr lang="en-US" sz="800" dirty="0">
              <a:ea typeface="Noto Sans SC" panose="020B0200000000000000" pitchFamily="34" charset="-122"/>
              <a:cs typeface="Noto Sans SC" panose="020B0200000000000000" pitchFamily="34" charset="-122"/>
            </a:endParaRPr>
          </a:p>
        </p:txBody>
      </p:sp>
      <p:pic>
        <p:nvPicPr>
          <p:cNvPr id="70" name="Image 19" descr="preencoded.png"/>
          <p:cNvPicPr>
            <a:picLocks noChangeAspect="1"/>
          </p:cNvPicPr>
          <p:nvPr/>
        </p:nvPicPr>
        <p:blipFill>
          <a:blip r:embed="rId10"/>
          <a:srcRect t="-382" b="-382"/>
          <a:stretch>
            <a:fillRect/>
          </a:stretch>
        </p:blipFill>
        <p:spPr>
          <a:xfrm>
            <a:off x="4600346" y="3495751"/>
            <a:ext cx="1314907" cy="57607"/>
          </a:xfrm>
          <a:prstGeom prst="rect">
            <a:avLst/>
          </a:prstGeom>
        </p:spPr>
      </p:pic>
      <p:pic>
        <p:nvPicPr>
          <p:cNvPr id="71" name="Image 20" descr="preencoded.png"/>
          <p:cNvPicPr>
            <a:picLocks noChangeAspect="1"/>
          </p:cNvPicPr>
          <p:nvPr/>
        </p:nvPicPr>
        <p:blipFill>
          <a:blip r:embed="rId14"/>
          <a:srcRect t="-391" b="-391"/>
          <a:stretch>
            <a:fillRect/>
          </a:stretch>
        </p:blipFill>
        <p:spPr>
          <a:xfrm>
            <a:off x="4600346" y="3495751"/>
            <a:ext cx="1267358" cy="57607"/>
          </a:xfrm>
          <a:prstGeom prst="rect">
            <a:avLst/>
          </a:prstGeom>
        </p:spPr>
      </p:pic>
      <p:sp>
        <p:nvSpPr>
          <p:cNvPr id="72" name="Shape 49"/>
          <p:cNvSpPr/>
          <p:nvPr/>
        </p:nvSpPr>
        <p:spPr>
          <a:xfrm>
            <a:off x="6152998" y="2933395"/>
            <a:ext cx="1561795" cy="743407"/>
          </a:xfrm>
          <a:prstGeom prst="roundRect">
            <a:avLst>
              <a:gd name="adj" fmla="val 18923"/>
            </a:avLst>
          </a:prstGeom>
          <a:solidFill>
            <a:srgbClr val="F8FAFC"/>
          </a:solidFill>
          <a:ln w="12700">
            <a:solidFill>
              <a:srgbClr val="E2E8F0"/>
            </a:solidFill>
            <a:prstDash val="solid"/>
          </a:ln>
        </p:spPr>
      </p:sp>
      <p:sp>
        <p:nvSpPr>
          <p:cNvPr id="73" name="Text 50"/>
          <p:cNvSpPr txBox="1"/>
          <p:nvPr/>
        </p:nvSpPr>
        <p:spPr>
          <a:xfrm>
            <a:off x="6277356" y="3066898"/>
            <a:ext cx="848563"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Review Items</a:t>
            </a:r>
            <a:endParaRPr lang="en-US" sz="900" dirty="0">
              <a:ea typeface="Noto Sans SC" panose="020B0200000000000000" pitchFamily="34" charset="-122"/>
              <a:cs typeface="Noto Sans SC" panose="020B0200000000000000" pitchFamily="34" charset="-122"/>
            </a:endParaRPr>
          </a:p>
        </p:txBody>
      </p:sp>
      <p:sp>
        <p:nvSpPr>
          <p:cNvPr id="74" name="Text 51"/>
          <p:cNvSpPr txBox="1"/>
          <p:nvPr/>
        </p:nvSpPr>
        <p:spPr>
          <a:xfrm>
            <a:off x="7438644" y="3057754"/>
            <a:ext cx="190195" cy="181051"/>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28</a:t>
            </a:r>
            <a:endParaRPr lang="en-US" sz="1000" dirty="0">
              <a:ea typeface="Noto Sans SC" panose="020B0200000000000000" pitchFamily="34" charset="-122"/>
              <a:cs typeface="Noto Sans SC" panose="020B0200000000000000" pitchFamily="34" charset="-122"/>
            </a:endParaRPr>
          </a:p>
        </p:txBody>
      </p:sp>
      <p:sp>
        <p:nvSpPr>
          <p:cNvPr id="75" name="Text 52"/>
          <p:cNvSpPr txBox="1"/>
          <p:nvPr/>
        </p:nvSpPr>
        <p:spPr>
          <a:xfrm>
            <a:off x="6277356" y="3276295"/>
            <a:ext cx="1314907" cy="143561"/>
          </a:xfrm>
          <a:prstGeom prst="rect">
            <a:avLst/>
          </a:prstGeom>
          <a:noFill/>
        </p:spPr>
        <p:txBody>
          <a:bodyPr wrap="square" lIns="0" tIns="0" rIns="0" bIns="0" rtlCol="0" anchor="ctr"/>
          <a:lstStyle/>
          <a:p>
            <a:pPr marL="0" indent="0" algn="l">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27 passed, 1 pending</a:t>
            </a:r>
            <a:endParaRPr lang="en-US" sz="800" dirty="0">
              <a:ea typeface="Noto Sans SC" panose="020B0200000000000000" pitchFamily="34" charset="-122"/>
              <a:cs typeface="Noto Sans SC" panose="020B0200000000000000" pitchFamily="34" charset="-122"/>
            </a:endParaRPr>
          </a:p>
        </p:txBody>
      </p:sp>
      <p:pic>
        <p:nvPicPr>
          <p:cNvPr id="76" name="Image 21" descr="preencoded.png"/>
          <p:cNvPicPr>
            <a:picLocks noChangeAspect="1"/>
          </p:cNvPicPr>
          <p:nvPr/>
        </p:nvPicPr>
        <p:blipFill>
          <a:blip r:embed="rId10"/>
          <a:srcRect t="-382" b="-382"/>
          <a:stretch>
            <a:fillRect/>
          </a:stretch>
        </p:blipFill>
        <p:spPr>
          <a:xfrm>
            <a:off x="6277356" y="3495751"/>
            <a:ext cx="1314907" cy="57607"/>
          </a:xfrm>
          <a:prstGeom prst="rect">
            <a:avLst/>
          </a:prstGeom>
        </p:spPr>
      </p:pic>
      <p:pic>
        <p:nvPicPr>
          <p:cNvPr id="77" name="Image 22" descr="preencoded.png"/>
          <p:cNvPicPr>
            <a:picLocks noChangeAspect="1"/>
          </p:cNvPicPr>
          <p:nvPr/>
        </p:nvPicPr>
        <p:blipFill>
          <a:blip r:embed="rId15"/>
          <a:srcRect t="-396" b="-396"/>
          <a:stretch>
            <a:fillRect/>
          </a:stretch>
        </p:blipFill>
        <p:spPr>
          <a:xfrm>
            <a:off x="6277356" y="3495751"/>
            <a:ext cx="1261872" cy="57607"/>
          </a:xfrm>
          <a:prstGeom prst="rect">
            <a:avLst/>
          </a:prstGeom>
        </p:spPr>
      </p:pic>
      <p:sp>
        <p:nvSpPr>
          <p:cNvPr id="78" name="Shape 53"/>
          <p:cNvSpPr/>
          <p:nvPr/>
        </p:nvSpPr>
        <p:spPr>
          <a:xfrm>
            <a:off x="4476902" y="3791102"/>
            <a:ext cx="1561795" cy="743407"/>
          </a:xfrm>
          <a:prstGeom prst="roundRect">
            <a:avLst>
              <a:gd name="adj" fmla="val 18923"/>
            </a:avLst>
          </a:prstGeom>
          <a:solidFill>
            <a:srgbClr val="F8FAFC"/>
          </a:solidFill>
          <a:ln w="12700">
            <a:solidFill>
              <a:srgbClr val="E2E8F0"/>
            </a:solidFill>
            <a:prstDash val="solid"/>
          </a:ln>
        </p:spPr>
      </p:sp>
      <p:sp>
        <p:nvSpPr>
          <p:cNvPr id="79" name="Text 54"/>
          <p:cNvSpPr txBox="1"/>
          <p:nvPr/>
        </p:nvSpPr>
        <p:spPr>
          <a:xfrm>
            <a:off x="4600346" y="3924605"/>
            <a:ext cx="1023214"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Pending Fixes</a:t>
            </a:r>
            <a:endParaRPr lang="en-US" sz="900" dirty="0">
              <a:ea typeface="Noto Sans SC" panose="020B0200000000000000" pitchFamily="34" charset="-122"/>
              <a:cs typeface="Noto Sans SC" panose="020B0200000000000000" pitchFamily="34" charset="-122"/>
            </a:endParaRPr>
          </a:p>
        </p:txBody>
      </p:sp>
      <p:sp>
        <p:nvSpPr>
          <p:cNvPr id="80" name="Text 55"/>
          <p:cNvSpPr txBox="1"/>
          <p:nvPr/>
        </p:nvSpPr>
        <p:spPr>
          <a:xfrm>
            <a:off x="5838444" y="3914546"/>
            <a:ext cx="85954" cy="181051"/>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2</a:t>
            </a:r>
            <a:endParaRPr lang="en-US" sz="1000" dirty="0">
              <a:ea typeface="Noto Sans SC" panose="020B0200000000000000" pitchFamily="34" charset="-122"/>
              <a:cs typeface="Noto Sans SC" panose="020B0200000000000000" pitchFamily="34" charset="-122"/>
            </a:endParaRPr>
          </a:p>
        </p:txBody>
      </p:sp>
      <p:sp>
        <p:nvSpPr>
          <p:cNvPr id="81" name="Text 56"/>
          <p:cNvSpPr txBox="1"/>
          <p:nvPr/>
        </p:nvSpPr>
        <p:spPr>
          <a:xfrm>
            <a:off x="4600346" y="4134002"/>
            <a:ext cx="1314907" cy="143561"/>
          </a:xfrm>
          <a:prstGeom prst="rect">
            <a:avLst/>
          </a:prstGeom>
          <a:noFill/>
        </p:spPr>
        <p:txBody>
          <a:bodyPr wrap="square" lIns="0" tIns="0" rIns="0" bIns="0" rtlCol="0" anchor="ctr"/>
          <a:lstStyle/>
          <a:p>
            <a:pPr marL="0" indent="0" algn="l">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Doc format standard</a:t>
            </a:r>
            <a:endParaRPr lang="en-US" sz="800" dirty="0">
              <a:ea typeface="Noto Sans SC" panose="020B0200000000000000" pitchFamily="34" charset="-122"/>
              <a:cs typeface="Noto Sans SC" panose="020B0200000000000000" pitchFamily="34" charset="-122"/>
            </a:endParaRPr>
          </a:p>
        </p:txBody>
      </p:sp>
      <p:pic>
        <p:nvPicPr>
          <p:cNvPr id="82" name="Image 23" descr="preencoded.png"/>
          <p:cNvPicPr>
            <a:picLocks noChangeAspect="1"/>
          </p:cNvPicPr>
          <p:nvPr/>
        </p:nvPicPr>
        <p:blipFill>
          <a:blip r:embed="rId10"/>
          <a:srcRect t="-382" b="-382"/>
          <a:stretch>
            <a:fillRect/>
          </a:stretch>
        </p:blipFill>
        <p:spPr>
          <a:xfrm>
            <a:off x="4600346" y="4352544"/>
            <a:ext cx="1314907" cy="57607"/>
          </a:xfrm>
          <a:prstGeom prst="rect">
            <a:avLst/>
          </a:prstGeom>
        </p:spPr>
      </p:pic>
      <p:sp>
        <p:nvSpPr>
          <p:cNvPr id="83" name="Shape 57"/>
          <p:cNvSpPr/>
          <p:nvPr/>
        </p:nvSpPr>
        <p:spPr>
          <a:xfrm>
            <a:off x="4600346" y="4352544"/>
            <a:ext cx="200254" cy="57607"/>
          </a:xfrm>
          <a:prstGeom prst="roundRect">
            <a:avLst>
              <a:gd name="adj" fmla="val 1587307"/>
            </a:avLst>
          </a:prstGeom>
          <a:solidFill>
            <a:srgbClr val="F59E0B"/>
          </a:solidFill>
          <a:ln w="12700">
            <a:solidFill>
              <a:srgbClr val="FFFFFF">
                <a:alpha val="0"/>
              </a:srgbClr>
            </a:solidFill>
            <a:prstDash val="solid"/>
          </a:ln>
        </p:spPr>
      </p:sp>
      <p:sp>
        <p:nvSpPr>
          <p:cNvPr id="84" name="Shape 58"/>
          <p:cNvSpPr/>
          <p:nvPr/>
        </p:nvSpPr>
        <p:spPr>
          <a:xfrm>
            <a:off x="6152998" y="3791102"/>
            <a:ext cx="1561795" cy="743407"/>
          </a:xfrm>
          <a:prstGeom prst="roundRect">
            <a:avLst>
              <a:gd name="adj" fmla="val 18923"/>
            </a:avLst>
          </a:prstGeom>
          <a:solidFill>
            <a:srgbClr val="F8FAFC"/>
          </a:solidFill>
          <a:ln w="12700">
            <a:solidFill>
              <a:srgbClr val="E2E8F0"/>
            </a:solidFill>
            <a:prstDash val="solid"/>
          </a:ln>
        </p:spPr>
      </p:sp>
      <p:sp>
        <p:nvSpPr>
          <p:cNvPr id="85" name="Text 59"/>
          <p:cNvSpPr txBox="1"/>
          <p:nvPr/>
        </p:nvSpPr>
        <p:spPr>
          <a:xfrm>
            <a:off x="6277356" y="3924605"/>
            <a:ext cx="905256"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Completeness</a:t>
            </a:r>
            <a:endParaRPr lang="en-US" sz="900" dirty="0">
              <a:ea typeface="Noto Sans SC" panose="020B0200000000000000" pitchFamily="34" charset="-122"/>
              <a:cs typeface="Noto Sans SC" panose="020B0200000000000000" pitchFamily="34" charset="-122"/>
            </a:endParaRPr>
          </a:p>
        </p:txBody>
      </p:sp>
      <p:sp>
        <p:nvSpPr>
          <p:cNvPr id="86" name="Text 60"/>
          <p:cNvSpPr txBox="1"/>
          <p:nvPr/>
        </p:nvSpPr>
        <p:spPr>
          <a:xfrm>
            <a:off x="7318858" y="3914546"/>
            <a:ext cx="277063" cy="181051"/>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98%</a:t>
            </a:r>
            <a:endParaRPr lang="en-US" sz="1000" dirty="0">
              <a:ea typeface="Noto Sans SC" panose="020B0200000000000000" pitchFamily="34" charset="-122"/>
              <a:cs typeface="Noto Sans SC" panose="020B0200000000000000" pitchFamily="34" charset="-122"/>
            </a:endParaRPr>
          </a:p>
        </p:txBody>
      </p:sp>
      <p:sp>
        <p:nvSpPr>
          <p:cNvPr id="87" name="Text 61"/>
          <p:cNvSpPr txBox="1"/>
          <p:nvPr/>
        </p:nvSpPr>
        <p:spPr>
          <a:xfrm>
            <a:off x="6277356" y="4134002"/>
            <a:ext cx="1373429" cy="143561"/>
          </a:xfrm>
          <a:prstGeom prst="rect">
            <a:avLst/>
          </a:prstGeom>
          <a:noFill/>
        </p:spPr>
        <p:txBody>
          <a:bodyPr wrap="square" lIns="0" tIns="0" rIns="0" bIns="0" rtlCol="0" anchor="ctr"/>
          <a:lstStyle/>
          <a:p>
            <a:pPr marL="0" indent="0" algn="l">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Structurally complete</a:t>
            </a:r>
            <a:endParaRPr lang="en-US" sz="800" dirty="0">
              <a:ea typeface="Noto Sans SC" panose="020B0200000000000000" pitchFamily="34" charset="-122"/>
              <a:cs typeface="Noto Sans SC" panose="020B0200000000000000" pitchFamily="34" charset="-122"/>
            </a:endParaRPr>
          </a:p>
        </p:txBody>
      </p:sp>
      <p:pic>
        <p:nvPicPr>
          <p:cNvPr id="88" name="Image 24" descr="preencoded.png"/>
          <p:cNvPicPr>
            <a:picLocks noChangeAspect="1"/>
          </p:cNvPicPr>
          <p:nvPr/>
        </p:nvPicPr>
        <p:blipFill>
          <a:blip r:embed="rId10"/>
          <a:srcRect t="-382" b="-382"/>
          <a:stretch>
            <a:fillRect/>
          </a:stretch>
        </p:blipFill>
        <p:spPr>
          <a:xfrm>
            <a:off x="6277356" y="4352544"/>
            <a:ext cx="1314907" cy="57607"/>
          </a:xfrm>
          <a:prstGeom prst="rect">
            <a:avLst/>
          </a:prstGeom>
        </p:spPr>
      </p:pic>
      <p:pic>
        <p:nvPicPr>
          <p:cNvPr id="89" name="Image 25" descr="preencoded.png"/>
          <p:cNvPicPr>
            <a:picLocks noChangeAspect="1"/>
          </p:cNvPicPr>
          <p:nvPr/>
        </p:nvPicPr>
        <p:blipFill>
          <a:blip r:embed="rId16"/>
          <a:srcRect t="-389" b="-389"/>
          <a:stretch>
            <a:fillRect/>
          </a:stretch>
        </p:blipFill>
        <p:spPr>
          <a:xfrm>
            <a:off x="6277356" y="4352544"/>
            <a:ext cx="1288390" cy="57607"/>
          </a:xfrm>
          <a:prstGeom prst="rect">
            <a:avLst/>
          </a:prstGeom>
        </p:spPr>
      </p:pic>
      <p:sp>
        <p:nvSpPr>
          <p:cNvPr id="90" name="Shape 62"/>
          <p:cNvSpPr/>
          <p:nvPr/>
        </p:nvSpPr>
        <p:spPr>
          <a:xfrm>
            <a:off x="8287207" y="2772461"/>
            <a:ext cx="3238805" cy="9144"/>
          </a:xfrm>
          <a:prstGeom prst="rect">
            <a:avLst/>
          </a:prstGeom>
          <a:solidFill>
            <a:srgbClr val="E2E8F0"/>
          </a:solidFill>
          <a:ln w="12700">
            <a:solidFill>
              <a:srgbClr val="E2E8F0">
                <a:alpha val="0"/>
              </a:srgbClr>
            </a:solidFill>
            <a:prstDash val="solid"/>
          </a:ln>
        </p:spPr>
      </p:sp>
      <p:sp>
        <p:nvSpPr>
          <p:cNvPr id="91" name="Shape 63"/>
          <p:cNvSpPr/>
          <p:nvPr/>
        </p:nvSpPr>
        <p:spPr>
          <a:xfrm>
            <a:off x="8287207" y="2238451"/>
            <a:ext cx="418795" cy="418795"/>
          </a:xfrm>
          <a:prstGeom prst="roundRect">
            <a:avLst>
              <a:gd name="adj" fmla="val 79397"/>
            </a:avLst>
          </a:prstGeom>
          <a:solidFill>
            <a:srgbClr val="3B82F6">
              <a:alpha val="10000"/>
            </a:srgbClr>
          </a:solidFill>
          <a:ln w="12700">
            <a:solidFill>
              <a:srgbClr val="FFFFFF">
                <a:alpha val="0"/>
              </a:srgbClr>
            </a:solidFill>
            <a:prstDash val="solid"/>
          </a:ln>
        </p:spPr>
      </p:sp>
      <p:pic>
        <p:nvPicPr>
          <p:cNvPr id="92" name="Image 26" descr="preencoded.png"/>
          <p:cNvPicPr>
            <a:picLocks noChangeAspect="1"/>
          </p:cNvPicPr>
          <p:nvPr/>
        </p:nvPicPr>
        <p:blipFill>
          <a:blip r:embed="rId4"/>
          <a:srcRect/>
          <a:stretch>
            <a:fillRect/>
          </a:stretch>
        </p:blipFill>
        <p:spPr>
          <a:xfrm>
            <a:off x="8401507" y="2352751"/>
            <a:ext cx="190195" cy="190195"/>
          </a:xfrm>
          <a:prstGeom prst="rect">
            <a:avLst/>
          </a:prstGeom>
        </p:spPr>
      </p:pic>
      <p:sp>
        <p:nvSpPr>
          <p:cNvPr id="93" name="Text 64"/>
          <p:cNvSpPr txBox="1"/>
          <p:nvPr/>
        </p:nvSpPr>
        <p:spPr>
          <a:xfrm>
            <a:off x="8820302" y="2238451"/>
            <a:ext cx="1938528" cy="228600"/>
          </a:xfrm>
          <a:prstGeom prst="rect">
            <a:avLst/>
          </a:prstGeom>
          <a:noFill/>
        </p:spPr>
        <p:txBody>
          <a:bodyPr wrap="square" lIns="0" tIns="0" rIns="0" bIns="0" rtlCol="0" anchor="ctr"/>
          <a:lstStyle/>
          <a:p>
            <a:pPr marL="0" indent="0" algn="l">
              <a:buNone/>
            </a:pPr>
            <a:r>
              <a:rPr lang="en-US" sz="13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Stabilize (Stability)</a:t>
            </a:r>
            <a:endParaRPr lang="en-US" sz="1300" dirty="0">
              <a:ea typeface="Noto Sans SC" panose="020B0200000000000000" pitchFamily="34" charset="-122"/>
              <a:cs typeface="Noto Sans SC" panose="020B0200000000000000" pitchFamily="34" charset="-122"/>
            </a:endParaRPr>
          </a:p>
        </p:txBody>
      </p:sp>
      <p:sp>
        <p:nvSpPr>
          <p:cNvPr id="94" name="Text 65"/>
          <p:cNvSpPr txBox="1"/>
          <p:nvPr/>
        </p:nvSpPr>
        <p:spPr>
          <a:xfrm>
            <a:off x="8820302" y="2486254"/>
            <a:ext cx="1938528" cy="171907"/>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DRE ensures defect removal</a:t>
            </a:r>
            <a:endParaRPr lang="en-US" sz="900" dirty="0">
              <a:ea typeface="Noto Sans SC" panose="020B0200000000000000" pitchFamily="34" charset="-122"/>
              <a:cs typeface="Noto Sans SC" panose="020B0200000000000000" pitchFamily="34" charset="-122"/>
            </a:endParaRPr>
          </a:p>
        </p:txBody>
      </p:sp>
      <p:sp>
        <p:nvSpPr>
          <p:cNvPr id="95" name="Shape 66"/>
          <p:cNvSpPr/>
          <p:nvPr/>
        </p:nvSpPr>
        <p:spPr>
          <a:xfrm>
            <a:off x="8287207" y="2933395"/>
            <a:ext cx="1561795" cy="1028700"/>
          </a:xfrm>
          <a:prstGeom prst="roundRect">
            <a:avLst>
              <a:gd name="adj" fmla="val 9877"/>
            </a:avLst>
          </a:prstGeom>
          <a:solidFill>
            <a:srgbClr val="F8FAFC"/>
          </a:solidFill>
          <a:ln w="12700">
            <a:solidFill>
              <a:srgbClr val="E2E8F0"/>
            </a:solidFill>
            <a:prstDash val="solid"/>
          </a:ln>
        </p:spPr>
      </p:sp>
      <p:sp>
        <p:nvSpPr>
          <p:cNvPr id="96" name="Text 67"/>
          <p:cNvSpPr txBox="1"/>
          <p:nvPr/>
        </p:nvSpPr>
        <p:spPr>
          <a:xfrm>
            <a:off x="8410651" y="3066898"/>
            <a:ext cx="724205"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DRE Target</a:t>
            </a:r>
            <a:endParaRPr lang="en-US" sz="900" dirty="0">
              <a:ea typeface="Noto Sans SC" panose="020B0200000000000000" pitchFamily="34" charset="-122"/>
              <a:cs typeface="Noto Sans SC" panose="020B0200000000000000" pitchFamily="34" charset="-122"/>
            </a:endParaRPr>
          </a:p>
        </p:txBody>
      </p:sp>
      <p:sp>
        <p:nvSpPr>
          <p:cNvPr id="97" name="Text 68"/>
          <p:cNvSpPr txBox="1"/>
          <p:nvPr/>
        </p:nvSpPr>
        <p:spPr>
          <a:xfrm>
            <a:off x="9379001" y="3057754"/>
            <a:ext cx="352958" cy="181051"/>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≥85%</a:t>
            </a:r>
            <a:endParaRPr lang="en-US" sz="1000" dirty="0">
              <a:ea typeface="Noto Sans SC" panose="020B0200000000000000" pitchFamily="34" charset="-122"/>
              <a:cs typeface="Noto Sans SC" panose="020B0200000000000000" pitchFamily="34" charset="-122"/>
            </a:endParaRPr>
          </a:p>
        </p:txBody>
      </p:sp>
      <p:sp>
        <p:nvSpPr>
          <p:cNvPr id="98" name="Text 69"/>
          <p:cNvSpPr txBox="1"/>
          <p:nvPr/>
        </p:nvSpPr>
        <p:spPr>
          <a:xfrm>
            <a:off x="8410651" y="3276295"/>
            <a:ext cx="1314907" cy="143561"/>
          </a:xfrm>
          <a:prstGeom prst="rect">
            <a:avLst/>
          </a:prstGeom>
          <a:noFill/>
        </p:spPr>
        <p:txBody>
          <a:bodyPr wrap="square" lIns="0" tIns="0" rIns="0" bIns="0" rtlCol="0" anchor="ctr"/>
          <a:lstStyle/>
          <a:p>
            <a:pPr marL="0" indent="0" algn="l">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Actual: 92.3%</a:t>
            </a:r>
            <a:endParaRPr lang="en-US" sz="800" dirty="0">
              <a:ea typeface="Noto Sans SC" panose="020B0200000000000000" pitchFamily="34" charset="-122"/>
              <a:cs typeface="Noto Sans SC" panose="020B0200000000000000" pitchFamily="34" charset="-122"/>
            </a:endParaRPr>
          </a:p>
        </p:txBody>
      </p:sp>
      <p:sp>
        <p:nvSpPr>
          <p:cNvPr id="99" name="Shape 70"/>
          <p:cNvSpPr/>
          <p:nvPr/>
        </p:nvSpPr>
        <p:spPr>
          <a:xfrm>
            <a:off x="8410651" y="3476549"/>
            <a:ext cx="1314907" cy="362102"/>
          </a:xfrm>
          <a:prstGeom prst="roundRect">
            <a:avLst>
              <a:gd name="adj" fmla="val 53163"/>
            </a:avLst>
          </a:prstGeom>
          <a:solidFill>
            <a:srgbClr val="F1F5F9"/>
          </a:solidFill>
          <a:ln w="12700">
            <a:solidFill>
              <a:srgbClr val="FFFFFF">
                <a:alpha val="0"/>
              </a:srgbClr>
            </a:solidFill>
            <a:prstDash val="solid"/>
          </a:ln>
        </p:spPr>
      </p:sp>
      <p:sp>
        <p:nvSpPr>
          <p:cNvPr id="100" name="Text 71"/>
          <p:cNvSpPr txBox="1"/>
          <p:nvPr/>
        </p:nvSpPr>
        <p:spPr>
          <a:xfrm>
            <a:off x="8467344" y="3534156"/>
            <a:ext cx="1200607" cy="247802"/>
          </a:xfrm>
          <a:prstGeom prst="rect">
            <a:avLst/>
          </a:prstGeom>
          <a:noFill/>
        </p:spPr>
        <p:txBody>
          <a:bodyPr wrap="square" lIns="0" tIns="0" rIns="0" bIns="0" rtlCol="0" anchor="ctr"/>
          <a:lstStyle/>
          <a:p>
            <a:pPr marL="0" indent="0" algn="l">
              <a:buNone/>
            </a:pPr>
            <a:r>
              <a:rPr lang="en-US" sz="800"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DRE = E/(E+D)</a:t>
            </a:r>
            <a:endParaRPr lang="en-US" sz="800" dirty="0">
              <a:ea typeface="Noto Sans SC" panose="020B0200000000000000" pitchFamily="34" charset="-122"/>
              <a:cs typeface="Noto Sans SC" panose="020B0200000000000000" pitchFamily="34" charset="-122"/>
            </a:endParaRPr>
          </a:p>
          <a:p>
            <a:pPr marL="0" indent="0" algn="l">
              <a:buNone/>
            </a:pPr>
            <a:r>
              <a:rPr lang="en-US" sz="800"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60/(60+5)</a:t>
            </a:r>
            <a:endParaRPr lang="en-US" sz="800" dirty="0">
              <a:ea typeface="Noto Sans SC" panose="020B0200000000000000" pitchFamily="34" charset="-122"/>
              <a:cs typeface="Noto Sans SC" panose="020B0200000000000000" pitchFamily="34" charset="-122"/>
            </a:endParaRPr>
          </a:p>
        </p:txBody>
      </p:sp>
      <p:sp>
        <p:nvSpPr>
          <p:cNvPr id="101" name="Shape 72"/>
          <p:cNvSpPr/>
          <p:nvPr/>
        </p:nvSpPr>
        <p:spPr>
          <a:xfrm>
            <a:off x="9963302" y="2933395"/>
            <a:ext cx="1561795" cy="1028700"/>
          </a:xfrm>
          <a:prstGeom prst="roundRect">
            <a:avLst>
              <a:gd name="adj" fmla="val 9877"/>
            </a:avLst>
          </a:prstGeom>
          <a:solidFill>
            <a:srgbClr val="F8FAFC"/>
          </a:solidFill>
          <a:ln w="12700">
            <a:solidFill>
              <a:srgbClr val="E2E8F0"/>
            </a:solidFill>
            <a:prstDash val="solid"/>
          </a:ln>
        </p:spPr>
      </p:sp>
      <p:sp>
        <p:nvSpPr>
          <p:cNvPr id="102" name="Text 73"/>
          <p:cNvSpPr txBox="1"/>
          <p:nvPr/>
        </p:nvSpPr>
        <p:spPr>
          <a:xfrm>
            <a:off x="10086746" y="3057754"/>
            <a:ext cx="762610" cy="32461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Defect Density</a:t>
            </a:r>
            <a:endParaRPr lang="en-US" sz="900" dirty="0">
              <a:ea typeface="Noto Sans SC" panose="020B0200000000000000" pitchFamily="34" charset="-122"/>
              <a:cs typeface="Noto Sans SC" panose="020B0200000000000000" pitchFamily="34" charset="-122"/>
            </a:endParaRPr>
          </a:p>
        </p:txBody>
      </p:sp>
      <p:sp>
        <p:nvSpPr>
          <p:cNvPr id="103" name="Text 74"/>
          <p:cNvSpPr txBox="1"/>
          <p:nvPr/>
        </p:nvSpPr>
        <p:spPr>
          <a:xfrm>
            <a:off x="10844784" y="3129077"/>
            <a:ext cx="663854" cy="181051"/>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≤5/KLOC</a:t>
            </a:r>
            <a:endParaRPr lang="en-US" sz="1000" dirty="0">
              <a:ea typeface="Noto Sans SC" panose="020B0200000000000000" pitchFamily="34" charset="-122"/>
              <a:cs typeface="Noto Sans SC" panose="020B0200000000000000" pitchFamily="34" charset="-122"/>
            </a:endParaRPr>
          </a:p>
        </p:txBody>
      </p:sp>
      <p:sp>
        <p:nvSpPr>
          <p:cNvPr id="104" name="Text 75"/>
          <p:cNvSpPr txBox="1"/>
          <p:nvPr/>
        </p:nvSpPr>
        <p:spPr>
          <a:xfrm>
            <a:off x="10086746" y="3419856"/>
            <a:ext cx="1314907" cy="143561"/>
          </a:xfrm>
          <a:prstGeom prst="rect">
            <a:avLst/>
          </a:prstGeom>
          <a:noFill/>
        </p:spPr>
        <p:txBody>
          <a:bodyPr wrap="square" lIns="0" tIns="0" rIns="0" bIns="0" rtlCol="0" anchor="ctr"/>
          <a:lstStyle/>
          <a:p>
            <a:pPr marL="0" indent="0" algn="l">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Actual: 4.4/KLOC</a:t>
            </a:r>
            <a:endParaRPr lang="en-US" sz="800" dirty="0">
              <a:ea typeface="Noto Sans SC" panose="020B0200000000000000" pitchFamily="34" charset="-122"/>
              <a:cs typeface="Noto Sans SC" panose="020B0200000000000000" pitchFamily="34" charset="-122"/>
            </a:endParaRPr>
          </a:p>
        </p:txBody>
      </p:sp>
      <p:sp>
        <p:nvSpPr>
          <p:cNvPr id="105" name="Text 76"/>
          <p:cNvSpPr txBox="1"/>
          <p:nvPr/>
        </p:nvSpPr>
        <p:spPr>
          <a:xfrm>
            <a:off x="10086746" y="3581705"/>
            <a:ext cx="1314907" cy="143561"/>
          </a:xfrm>
          <a:prstGeom prst="rect">
            <a:avLst/>
          </a:prstGeom>
          <a:noFill/>
        </p:spPr>
        <p:txBody>
          <a:bodyPr wrap="square" lIns="0" tIns="0" rIns="0" bIns="0" rtlCol="0" anchor="ctr"/>
          <a:lstStyle/>
          <a:p>
            <a:pPr marL="0" indent="0" algn="l">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38 defects/8.7 KLOC</a:t>
            </a:r>
            <a:endParaRPr lang="en-US" sz="800" dirty="0">
              <a:ea typeface="Noto Sans SC" panose="020B0200000000000000" pitchFamily="34" charset="-122"/>
              <a:cs typeface="Noto Sans SC" panose="020B0200000000000000" pitchFamily="34" charset="-122"/>
            </a:endParaRPr>
          </a:p>
        </p:txBody>
      </p:sp>
      <p:sp>
        <p:nvSpPr>
          <p:cNvPr id="106" name="Shape 77"/>
          <p:cNvSpPr/>
          <p:nvPr/>
        </p:nvSpPr>
        <p:spPr>
          <a:xfrm>
            <a:off x="8287207" y="4076395"/>
            <a:ext cx="1561795" cy="743407"/>
          </a:xfrm>
          <a:prstGeom prst="roundRect">
            <a:avLst>
              <a:gd name="adj" fmla="val 18923"/>
            </a:avLst>
          </a:prstGeom>
          <a:solidFill>
            <a:srgbClr val="F8FAFC"/>
          </a:solidFill>
          <a:ln w="12700">
            <a:solidFill>
              <a:srgbClr val="E2E8F0"/>
            </a:solidFill>
            <a:prstDash val="solid"/>
          </a:ln>
        </p:spPr>
      </p:sp>
      <p:sp>
        <p:nvSpPr>
          <p:cNvPr id="107" name="Text 78"/>
          <p:cNvSpPr txBox="1"/>
          <p:nvPr/>
        </p:nvSpPr>
        <p:spPr>
          <a:xfrm>
            <a:off x="8410651" y="4209898"/>
            <a:ext cx="1099109"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Severe Defects</a:t>
            </a:r>
            <a:endParaRPr lang="en-US" sz="900" dirty="0">
              <a:ea typeface="Noto Sans SC" panose="020B0200000000000000" pitchFamily="34" charset="-122"/>
              <a:cs typeface="Noto Sans SC" panose="020B0200000000000000" pitchFamily="34" charset="-122"/>
            </a:endParaRPr>
          </a:p>
        </p:txBody>
      </p:sp>
      <p:sp>
        <p:nvSpPr>
          <p:cNvPr id="108" name="Text 79"/>
          <p:cNvSpPr txBox="1"/>
          <p:nvPr/>
        </p:nvSpPr>
        <p:spPr>
          <a:xfrm>
            <a:off x="9648749" y="4200754"/>
            <a:ext cx="85954" cy="181051"/>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0</a:t>
            </a:r>
            <a:endParaRPr lang="en-US" sz="1000" dirty="0">
              <a:ea typeface="Noto Sans SC" panose="020B0200000000000000" pitchFamily="34" charset="-122"/>
              <a:cs typeface="Noto Sans SC" panose="020B0200000000000000" pitchFamily="34" charset="-122"/>
            </a:endParaRPr>
          </a:p>
        </p:txBody>
      </p:sp>
      <p:sp>
        <p:nvSpPr>
          <p:cNvPr id="109" name="Text 80"/>
          <p:cNvSpPr txBox="1"/>
          <p:nvPr/>
        </p:nvSpPr>
        <p:spPr>
          <a:xfrm>
            <a:off x="8410651" y="4419295"/>
            <a:ext cx="1314907" cy="143561"/>
          </a:xfrm>
          <a:prstGeom prst="rect">
            <a:avLst/>
          </a:prstGeom>
          <a:noFill/>
        </p:spPr>
        <p:txBody>
          <a:bodyPr wrap="square" lIns="0" tIns="0" rIns="0" bIns="0" rtlCol="0" anchor="ctr"/>
          <a:lstStyle/>
          <a:p>
            <a:pPr marL="0" indent="0" algn="l">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No high-risk vulns</a:t>
            </a:r>
            <a:endParaRPr lang="en-US" sz="800" dirty="0">
              <a:ea typeface="Noto Sans SC" panose="020B0200000000000000" pitchFamily="34" charset="-122"/>
              <a:cs typeface="Noto Sans SC" panose="020B0200000000000000" pitchFamily="34" charset="-122"/>
            </a:endParaRPr>
          </a:p>
        </p:txBody>
      </p:sp>
      <p:pic>
        <p:nvPicPr>
          <p:cNvPr id="110" name="Image 27" descr="preencoded.png"/>
          <p:cNvPicPr>
            <a:picLocks noChangeAspect="1"/>
          </p:cNvPicPr>
          <p:nvPr/>
        </p:nvPicPr>
        <p:blipFill>
          <a:blip r:embed="rId10"/>
          <a:srcRect t="-382" b="-382"/>
          <a:stretch>
            <a:fillRect/>
          </a:stretch>
        </p:blipFill>
        <p:spPr>
          <a:xfrm>
            <a:off x="8410651" y="4638751"/>
            <a:ext cx="1314907" cy="57607"/>
          </a:xfrm>
          <a:prstGeom prst="rect">
            <a:avLst/>
          </a:prstGeom>
        </p:spPr>
      </p:pic>
      <p:pic>
        <p:nvPicPr>
          <p:cNvPr id="111" name="Image 28" descr="preencoded.png"/>
          <p:cNvPicPr>
            <a:picLocks noChangeAspect="1"/>
          </p:cNvPicPr>
          <p:nvPr/>
        </p:nvPicPr>
        <p:blipFill>
          <a:blip r:embed="rId11"/>
          <a:srcRect t="-382" b="-382"/>
          <a:stretch>
            <a:fillRect/>
          </a:stretch>
        </p:blipFill>
        <p:spPr>
          <a:xfrm>
            <a:off x="8410651" y="4638751"/>
            <a:ext cx="1314907" cy="57607"/>
          </a:xfrm>
          <a:prstGeom prst="rect">
            <a:avLst/>
          </a:prstGeom>
        </p:spPr>
      </p:pic>
      <p:sp>
        <p:nvSpPr>
          <p:cNvPr id="112" name="Shape 81"/>
          <p:cNvSpPr/>
          <p:nvPr/>
        </p:nvSpPr>
        <p:spPr>
          <a:xfrm>
            <a:off x="9963302" y="4076395"/>
            <a:ext cx="1561795" cy="743407"/>
          </a:xfrm>
          <a:prstGeom prst="roundRect">
            <a:avLst>
              <a:gd name="adj" fmla="val 18923"/>
            </a:avLst>
          </a:prstGeom>
          <a:solidFill>
            <a:srgbClr val="F8FAFC"/>
          </a:solidFill>
          <a:ln w="12700">
            <a:solidFill>
              <a:srgbClr val="E2E8F0"/>
            </a:solidFill>
            <a:prstDash val="solid"/>
          </a:ln>
        </p:spPr>
      </p:sp>
      <p:sp>
        <p:nvSpPr>
          <p:cNvPr id="113" name="Text 82"/>
          <p:cNvSpPr txBox="1"/>
          <p:nvPr/>
        </p:nvSpPr>
        <p:spPr>
          <a:xfrm>
            <a:off x="10086746" y="4209898"/>
            <a:ext cx="1244498" cy="162763"/>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System Stability</a:t>
            </a:r>
            <a:endParaRPr lang="en-US" sz="900" dirty="0">
              <a:ea typeface="Noto Sans SC" panose="020B0200000000000000" pitchFamily="34" charset="-122"/>
              <a:cs typeface="Noto Sans SC" panose="020B0200000000000000" pitchFamily="34" charset="-122"/>
            </a:endParaRPr>
          </a:p>
        </p:txBody>
      </p:sp>
      <p:sp>
        <p:nvSpPr>
          <p:cNvPr id="114" name="Text 83"/>
          <p:cNvSpPr txBox="1"/>
          <p:nvPr/>
        </p:nvSpPr>
        <p:spPr>
          <a:xfrm>
            <a:off x="11128248" y="4200754"/>
            <a:ext cx="277063" cy="181051"/>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99%</a:t>
            </a:r>
            <a:endParaRPr lang="en-US" sz="1000" dirty="0">
              <a:ea typeface="Noto Sans SC" panose="020B0200000000000000" pitchFamily="34" charset="-122"/>
              <a:cs typeface="Noto Sans SC" panose="020B0200000000000000" pitchFamily="34" charset="-122"/>
            </a:endParaRPr>
          </a:p>
        </p:txBody>
      </p:sp>
      <p:sp>
        <p:nvSpPr>
          <p:cNvPr id="115" name="Text 84"/>
          <p:cNvSpPr txBox="1"/>
          <p:nvPr/>
        </p:nvSpPr>
        <p:spPr>
          <a:xfrm>
            <a:off x="10086746" y="4419295"/>
            <a:ext cx="1373429" cy="143561"/>
          </a:xfrm>
          <a:prstGeom prst="rect">
            <a:avLst/>
          </a:prstGeom>
          <a:noFill/>
        </p:spPr>
        <p:txBody>
          <a:bodyPr wrap="square" lIns="0" tIns="0" rIns="0" bIns="0" rtlCol="0" anchor="ctr"/>
          <a:lstStyle/>
          <a:p>
            <a:pPr marL="0" indent="0" algn="l">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Runs stably, no crash</a:t>
            </a:r>
            <a:endParaRPr lang="en-US" sz="800" dirty="0">
              <a:ea typeface="Noto Sans SC" panose="020B0200000000000000" pitchFamily="34" charset="-122"/>
              <a:cs typeface="Noto Sans SC" panose="020B0200000000000000" pitchFamily="34" charset="-122"/>
            </a:endParaRPr>
          </a:p>
        </p:txBody>
      </p:sp>
      <p:pic>
        <p:nvPicPr>
          <p:cNvPr id="116" name="Image 29" descr="preencoded.png"/>
          <p:cNvPicPr>
            <a:picLocks noChangeAspect="1"/>
          </p:cNvPicPr>
          <p:nvPr/>
        </p:nvPicPr>
        <p:blipFill>
          <a:blip r:embed="rId10"/>
          <a:srcRect t="-382" b="-382"/>
          <a:stretch>
            <a:fillRect/>
          </a:stretch>
        </p:blipFill>
        <p:spPr>
          <a:xfrm>
            <a:off x="10086746" y="4638751"/>
            <a:ext cx="1314907" cy="57607"/>
          </a:xfrm>
          <a:prstGeom prst="rect">
            <a:avLst/>
          </a:prstGeom>
        </p:spPr>
      </p:pic>
      <p:pic>
        <p:nvPicPr>
          <p:cNvPr id="117" name="Image 30" descr="preencoded.png"/>
          <p:cNvPicPr>
            <a:picLocks noChangeAspect="1"/>
          </p:cNvPicPr>
          <p:nvPr/>
        </p:nvPicPr>
        <p:blipFill>
          <a:blip r:embed="rId17"/>
          <a:srcRect t="-401" b="-401"/>
          <a:stretch>
            <a:fillRect/>
          </a:stretch>
        </p:blipFill>
        <p:spPr>
          <a:xfrm>
            <a:off x="10086746" y="4638751"/>
            <a:ext cx="1301191" cy="57607"/>
          </a:xfrm>
          <a:prstGeom prst="rect">
            <a:avLst/>
          </a:prstGeom>
        </p:spPr>
      </p:pic>
      <p:sp>
        <p:nvSpPr>
          <p:cNvPr id="118" name="Shape 85"/>
          <p:cNvSpPr/>
          <p:nvPr/>
        </p:nvSpPr>
        <p:spPr>
          <a:xfrm>
            <a:off x="666598" y="6157570"/>
            <a:ext cx="304495" cy="304495"/>
          </a:xfrm>
          <a:prstGeom prst="roundRect">
            <a:avLst>
              <a:gd name="adj" fmla="val 112613"/>
            </a:avLst>
          </a:prstGeom>
          <a:solidFill>
            <a:srgbClr val="3B82F6">
              <a:alpha val="10000"/>
            </a:srgbClr>
          </a:solidFill>
          <a:ln w="12700">
            <a:solidFill>
              <a:srgbClr val="FFFFFF">
                <a:alpha val="0"/>
              </a:srgbClr>
            </a:solidFill>
            <a:prstDash val="solid"/>
          </a:ln>
        </p:spPr>
      </p:sp>
      <p:pic>
        <p:nvPicPr>
          <p:cNvPr id="119" name="Image 31" descr="preencoded.png"/>
          <p:cNvPicPr>
            <a:picLocks noChangeAspect="1"/>
          </p:cNvPicPr>
          <p:nvPr/>
        </p:nvPicPr>
        <p:blipFill>
          <a:blip r:embed="rId18"/>
          <a:srcRect/>
          <a:stretch>
            <a:fillRect/>
          </a:stretch>
        </p:blipFill>
        <p:spPr>
          <a:xfrm>
            <a:off x="752551" y="6243523"/>
            <a:ext cx="133502" cy="133502"/>
          </a:xfrm>
          <a:prstGeom prst="rect">
            <a:avLst/>
          </a:prstGeom>
        </p:spPr>
      </p:pic>
      <p:sp>
        <p:nvSpPr>
          <p:cNvPr id="120" name="Text 86"/>
          <p:cNvSpPr txBox="1"/>
          <p:nvPr/>
        </p:nvSpPr>
        <p:spPr>
          <a:xfrm>
            <a:off x="1086307" y="6210605"/>
            <a:ext cx="3576218" cy="200254"/>
          </a:xfrm>
          <a:prstGeom prst="rect">
            <a:avLst/>
          </a:prstGeom>
          <a:noFill/>
        </p:spPr>
        <p:txBody>
          <a:bodyPr wrap="square" lIns="0" tIns="0" rIns="0" bIns="0" rtlCol="0" anchor="ctr"/>
          <a:lstStyle/>
          <a:p>
            <a:pPr marL="0" indent="0" algn="l">
              <a:buNone/>
            </a:pPr>
            <a:r>
              <a:rPr lang="en-US" sz="11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10/10</a:t>
            </a:r>
            <a:r>
              <a:rPr lang="en-US" sz="11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reqs traced, 100% function completion</a:t>
            </a:r>
            <a:endParaRPr lang="en-US" sz="1100" dirty="0">
              <a:ea typeface="Noto Sans SC" panose="020B0200000000000000" pitchFamily="34" charset="-122"/>
              <a:cs typeface="Noto Sans SC" panose="020B0200000000000000" pitchFamily="34" charset="-122"/>
            </a:endParaRPr>
          </a:p>
        </p:txBody>
      </p:sp>
      <p:sp>
        <p:nvSpPr>
          <p:cNvPr id="121" name="Shape 87"/>
          <p:cNvSpPr/>
          <p:nvPr/>
        </p:nvSpPr>
        <p:spPr>
          <a:xfrm>
            <a:off x="4349801" y="6157570"/>
            <a:ext cx="304495" cy="304495"/>
          </a:xfrm>
          <a:prstGeom prst="roundRect">
            <a:avLst>
              <a:gd name="adj" fmla="val 112613"/>
            </a:avLst>
          </a:prstGeom>
          <a:solidFill>
            <a:srgbClr val="3B82F6">
              <a:alpha val="10000"/>
            </a:srgbClr>
          </a:solidFill>
          <a:ln w="12700">
            <a:solidFill>
              <a:srgbClr val="FFFFFF">
                <a:alpha val="0"/>
              </a:srgbClr>
            </a:solidFill>
            <a:prstDash val="solid"/>
          </a:ln>
        </p:spPr>
      </p:sp>
      <p:pic>
        <p:nvPicPr>
          <p:cNvPr id="122" name="Image 32" descr="preencoded.png"/>
          <p:cNvPicPr>
            <a:picLocks noChangeAspect="1"/>
          </p:cNvPicPr>
          <p:nvPr/>
        </p:nvPicPr>
        <p:blipFill>
          <a:blip r:embed="rId19"/>
          <a:srcRect l="-837" r="-837"/>
          <a:stretch>
            <a:fillRect/>
          </a:stretch>
        </p:blipFill>
        <p:spPr>
          <a:xfrm>
            <a:off x="4425696" y="6243523"/>
            <a:ext cx="152705" cy="133502"/>
          </a:xfrm>
          <a:prstGeom prst="rect">
            <a:avLst/>
          </a:prstGeom>
        </p:spPr>
      </p:pic>
      <p:sp>
        <p:nvSpPr>
          <p:cNvPr id="123" name="Text 88"/>
          <p:cNvSpPr txBox="1"/>
          <p:nvPr/>
        </p:nvSpPr>
        <p:spPr>
          <a:xfrm>
            <a:off x="4768596" y="6210605"/>
            <a:ext cx="3332988" cy="200254"/>
          </a:xfrm>
          <a:prstGeom prst="rect">
            <a:avLst/>
          </a:prstGeom>
          <a:noFill/>
        </p:spPr>
        <p:txBody>
          <a:bodyPr wrap="square" lIns="0" tIns="0" rIns="0" bIns="0" rtlCol="0" anchor="ctr"/>
          <a:lstStyle/>
          <a:p>
            <a:pPr marL="0" indent="0" algn="l">
              <a:buNone/>
            </a:pPr>
            <a:r>
              <a:rPr lang="en-US" sz="11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27/28</a:t>
            </a:r>
            <a:r>
              <a:rPr lang="en-US" sz="11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review items passed, standard docs</a:t>
            </a:r>
            <a:endParaRPr lang="en-US" sz="1100" dirty="0">
              <a:ea typeface="Noto Sans SC" panose="020B0200000000000000" pitchFamily="34" charset="-122"/>
              <a:cs typeface="Noto Sans SC" panose="020B0200000000000000" pitchFamily="34" charset="-122"/>
            </a:endParaRPr>
          </a:p>
        </p:txBody>
      </p:sp>
      <p:sp>
        <p:nvSpPr>
          <p:cNvPr id="124" name="Shape 89"/>
          <p:cNvSpPr/>
          <p:nvPr/>
        </p:nvSpPr>
        <p:spPr>
          <a:xfrm>
            <a:off x="8033004" y="6157570"/>
            <a:ext cx="304495" cy="304495"/>
          </a:xfrm>
          <a:prstGeom prst="roundRect">
            <a:avLst>
              <a:gd name="adj" fmla="val 112613"/>
            </a:avLst>
          </a:prstGeom>
          <a:solidFill>
            <a:srgbClr val="3B82F6">
              <a:alpha val="10000"/>
            </a:srgbClr>
          </a:solidFill>
          <a:ln w="12700">
            <a:solidFill>
              <a:srgbClr val="FFFFFF">
                <a:alpha val="0"/>
              </a:srgbClr>
            </a:solidFill>
            <a:prstDash val="solid"/>
          </a:ln>
        </p:spPr>
      </p:sp>
      <p:pic>
        <p:nvPicPr>
          <p:cNvPr id="125" name="Image 33" descr="preencoded.png"/>
          <p:cNvPicPr>
            <a:picLocks noChangeAspect="1"/>
          </p:cNvPicPr>
          <p:nvPr/>
        </p:nvPicPr>
        <p:blipFill>
          <a:blip r:embed="rId20"/>
          <a:srcRect/>
          <a:stretch>
            <a:fillRect/>
          </a:stretch>
        </p:blipFill>
        <p:spPr>
          <a:xfrm>
            <a:off x="8118043" y="6243523"/>
            <a:ext cx="133502" cy="133502"/>
          </a:xfrm>
          <a:prstGeom prst="rect">
            <a:avLst/>
          </a:prstGeom>
        </p:spPr>
      </p:pic>
      <p:sp>
        <p:nvSpPr>
          <p:cNvPr id="126" name="Text 90"/>
          <p:cNvSpPr txBox="1"/>
          <p:nvPr/>
        </p:nvSpPr>
        <p:spPr>
          <a:xfrm>
            <a:off x="8451799" y="6210605"/>
            <a:ext cx="3576218" cy="200254"/>
          </a:xfrm>
          <a:prstGeom prst="rect">
            <a:avLst/>
          </a:prstGeom>
          <a:noFill/>
        </p:spPr>
        <p:txBody>
          <a:bodyPr wrap="square" lIns="0" tIns="0" rIns="0" bIns="0" rtlCol="0" anchor="ctr"/>
          <a:lstStyle/>
          <a:p>
            <a:pPr marL="0" indent="0" algn="l">
              <a:buNone/>
            </a:pPr>
            <a:r>
              <a:rPr lang="en-US" sz="11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Defect density </a:t>
            </a:r>
            <a:r>
              <a:rPr lang="en-US" sz="11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4.4/KLOC</a:t>
            </a:r>
            <a:r>
              <a:rPr lang="en-US" sz="11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DRE exceeds target</a:t>
            </a:r>
            <a:endParaRPr lang="en-US" sz="1100" dirty="0">
              <a:ea typeface="Noto Sans SC" panose="020B0200000000000000" pitchFamily="34" charset="-122"/>
              <a:cs typeface="Noto Sans SC" panose="020B0200000000000000"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0" r="-10"/>
          <a:stretch>
            <a:fillRect/>
          </a:stretch>
        </p:blipFill>
        <p:spPr>
          <a:xfrm>
            <a:off x="0" y="0"/>
            <a:ext cx="12191695" cy="666598"/>
          </a:xfrm>
          <a:prstGeom prst="rect">
            <a:avLst/>
          </a:prstGeom>
        </p:spPr>
      </p:pic>
      <p:sp>
        <p:nvSpPr>
          <p:cNvPr id="13" name="Shape 9"/>
          <p:cNvSpPr/>
          <p:nvPr/>
        </p:nvSpPr>
        <p:spPr>
          <a:xfrm>
            <a:off x="476402" y="133502"/>
            <a:ext cx="400507" cy="400507"/>
          </a:xfrm>
          <a:prstGeom prst="ellipse">
            <a:avLst/>
          </a:prstGeom>
          <a:solidFill>
            <a:srgbClr val="FFFFFF">
              <a:alpha val="15000"/>
            </a:srgbClr>
          </a:solidFill>
          <a:ln w="12700">
            <a:solidFill>
              <a:srgbClr val="FFFFFF">
                <a:alpha val="0"/>
              </a:srgbClr>
            </a:solidFill>
            <a:prstDash val="solid"/>
          </a:ln>
        </p:spPr>
      </p:sp>
      <p:pic>
        <p:nvPicPr>
          <p:cNvPr id="14" name="Image 2" descr="preencoded.png"/>
          <p:cNvPicPr>
            <a:picLocks noChangeAspect="1"/>
          </p:cNvPicPr>
          <p:nvPr/>
        </p:nvPicPr>
        <p:blipFill>
          <a:blip r:embed="rId2"/>
          <a:srcRect l="-760" r="-760"/>
          <a:stretch>
            <a:fillRect/>
          </a:stretch>
        </p:blipFill>
        <p:spPr>
          <a:xfrm>
            <a:off x="599846" y="247802"/>
            <a:ext cx="152705" cy="171907"/>
          </a:xfrm>
          <a:prstGeom prst="rect">
            <a:avLst/>
          </a:prstGeom>
        </p:spPr>
      </p:pic>
      <p:sp>
        <p:nvSpPr>
          <p:cNvPr id="15" name="Text 10"/>
          <p:cNvSpPr txBox="1"/>
          <p:nvPr/>
        </p:nvSpPr>
        <p:spPr>
          <a:xfrm>
            <a:off x="1028700" y="152400"/>
            <a:ext cx="7258685" cy="361950"/>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FTR Execution Plan: Review Nodes</a:t>
            </a: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 Objects &amp; Roles</a:t>
            </a:r>
            <a:endParaRPr lang="en-US" altLang="zh-CN" sz="2100" dirty="0">
              <a:ea typeface="Noto Sans SC" panose="020B0200000000000000" pitchFamily="34" charset="-122"/>
              <a:cs typeface="Noto Sans SC" panose="020B0200000000000000" pitchFamily="34" charset="-122"/>
            </a:endParaRPr>
          </a:p>
        </p:txBody>
      </p:sp>
      <p:sp>
        <p:nvSpPr>
          <p:cNvPr id="128" name="文本框 127"/>
          <p:cNvSpPr txBox="1"/>
          <p:nvPr/>
        </p:nvSpPr>
        <p:spPr>
          <a:xfrm>
            <a:off x="326390" y="1061720"/>
            <a:ext cx="5542915" cy="3138170"/>
          </a:xfrm>
          <a:prstGeom prst="rect">
            <a:avLst/>
          </a:prstGeom>
          <a:noFill/>
        </p:spPr>
        <p:txBody>
          <a:bodyPr wrap="square" rtlCol="0">
            <a:noAutofit/>
          </a:bodyPr>
          <a:p>
            <a:endParaRPr lang="en-US" altLang="zh-CN"/>
          </a:p>
        </p:txBody>
      </p:sp>
      <p:graphicFrame>
        <p:nvGraphicFramePr>
          <p:cNvPr id="5" name="表格 4"/>
          <p:cNvGraphicFramePr/>
          <p:nvPr>
            <p:custDataLst>
              <p:tags r:id="rId3"/>
            </p:custDataLst>
          </p:nvPr>
        </p:nvGraphicFramePr>
        <p:xfrm>
          <a:off x="0" y="1061720"/>
          <a:ext cx="12183110" cy="4145915"/>
        </p:xfrm>
        <a:graphic>
          <a:graphicData uri="http://schemas.openxmlformats.org/drawingml/2006/table">
            <a:tbl>
              <a:tblPr firstRow="1" bandRow="1">
                <a:tableStyleId>{5C22544A-7EE6-4342-B048-85BDC9FD1C3A}</a:tableStyleId>
              </a:tblPr>
              <a:tblGrid>
                <a:gridCol w="3329940"/>
                <a:gridCol w="5139690"/>
                <a:gridCol w="3713480"/>
              </a:tblGrid>
              <a:tr h="450215">
                <a:tc>
                  <a:txBody>
                    <a:bodyPr/>
                    <a:p>
                      <a:pPr algn="ctr">
                        <a:buNone/>
                      </a:pPr>
                      <a:r>
                        <a:rPr lang="en-US" altLang="zh-CN">
                          <a:solidFill>
                            <a:schemeClr val="bg1"/>
                          </a:solidFill>
                        </a:rPr>
                        <a:t>Review</a:t>
                      </a:r>
                      <a:endParaRPr lang="en-US" altLang="zh-CN">
                        <a:solidFill>
                          <a:schemeClr val="bg1"/>
                        </a:solidFill>
                      </a:endParaRPr>
                    </a:p>
                  </a:txBody>
                  <a:tcPr>
                    <a:solidFill>
                      <a:schemeClr val="accent5">
                        <a:lumMod val="75000"/>
                      </a:schemeClr>
                    </a:solidFill>
                  </a:tcPr>
                </a:tc>
                <a:tc>
                  <a:txBody>
                    <a:bodyPr/>
                    <a:p>
                      <a:pPr algn="ctr">
                        <a:buNone/>
                      </a:pPr>
                      <a:r>
                        <a:rPr lang="en-US" altLang="zh-CN">
                          <a:solidFill>
                            <a:schemeClr val="bg1"/>
                          </a:solidFill>
                        </a:rPr>
                        <a:t>Review Object</a:t>
                      </a:r>
                      <a:endParaRPr lang="en-US" altLang="zh-CN">
                        <a:solidFill>
                          <a:schemeClr val="bg1"/>
                        </a:solidFill>
                      </a:endParaRPr>
                    </a:p>
                  </a:txBody>
                  <a:tcPr>
                    <a:solidFill>
                      <a:schemeClr val="accent5">
                        <a:lumMod val="75000"/>
                      </a:schemeClr>
                    </a:solidFill>
                  </a:tcPr>
                </a:tc>
                <a:tc>
                  <a:txBody>
                    <a:bodyPr/>
                    <a:p>
                      <a:pPr algn="ctr">
                        <a:buNone/>
                      </a:pPr>
                      <a:r>
                        <a:rPr lang="en-US" altLang="zh-CN">
                          <a:solidFill>
                            <a:schemeClr val="bg1"/>
                          </a:solidFill>
                        </a:rPr>
                        <a:t>Participants</a:t>
                      </a:r>
                      <a:endParaRPr lang="en-US" altLang="zh-CN">
                        <a:solidFill>
                          <a:schemeClr val="bg1"/>
                        </a:solidFill>
                      </a:endParaRPr>
                    </a:p>
                  </a:txBody>
                  <a:tcPr>
                    <a:solidFill>
                      <a:schemeClr val="accent5">
                        <a:lumMod val="75000"/>
                      </a:schemeClr>
                    </a:solidFill>
                  </a:tcPr>
                </a:tc>
              </a:tr>
              <a:tr h="1231900">
                <a:tc>
                  <a:txBody>
                    <a:bodyPr/>
                    <a:p>
                      <a:pPr algn="ctr">
                        <a:buNone/>
                      </a:pPr>
                      <a:r>
                        <a:rPr lang="en-US" altLang="zh-CN">
                          <a:solidFill>
                            <a:schemeClr val="bg1"/>
                          </a:solidFill>
                        </a:rPr>
                        <a:t>FTR-1</a:t>
                      </a:r>
                      <a:endParaRPr lang="en-US" altLang="zh-CN">
                        <a:solidFill>
                          <a:schemeClr val="bg1"/>
                        </a:solidFill>
                      </a:endParaRPr>
                    </a:p>
                  </a:txBody>
                  <a:tcPr>
                    <a:solidFill>
                      <a:schemeClr val="accent1">
                        <a:lumMod val="60000"/>
                        <a:lumOff val="40000"/>
                      </a:schemeClr>
                    </a:solidFill>
                  </a:tcPr>
                </a:tc>
                <a:tc>
                  <a:txBody>
                    <a:bodyPr/>
                    <a:p>
                      <a:pPr algn="ctr">
                        <a:buNone/>
                      </a:pPr>
                      <a:r>
                        <a:rPr lang="en-US" altLang="zh-CN">
                          <a:solidFill>
                            <a:schemeClr val="bg1"/>
                          </a:solidFill>
                        </a:rPr>
                        <a:t>Core API interfaces</a:t>
                      </a:r>
                      <a:endParaRPr lang="en-US" altLang="zh-CN">
                        <a:solidFill>
                          <a:schemeClr val="bg1"/>
                        </a:solidFill>
                      </a:endParaRPr>
                    </a:p>
                    <a:p>
                      <a:pPr algn="ctr">
                        <a:buNone/>
                      </a:pPr>
                      <a:r>
                        <a:rPr lang="en-US" altLang="zh-CN">
                          <a:solidFill>
                            <a:schemeClr val="bg1"/>
                          </a:solidFill>
                        </a:rPr>
                        <a:t>Database Schema</a:t>
                      </a:r>
                      <a:endParaRPr lang="en-US" altLang="zh-CN">
                        <a:solidFill>
                          <a:schemeClr val="bg1"/>
                        </a:solidFill>
                      </a:endParaRPr>
                    </a:p>
                    <a:p>
                      <a:pPr algn="ctr">
                        <a:buNone/>
                      </a:pPr>
                      <a:r>
                        <a:rPr lang="en-US" altLang="zh-CN">
                          <a:solidFill>
                            <a:schemeClr val="bg1"/>
                          </a:solidFill>
                        </a:rPr>
                        <a:t>RBAC logic</a:t>
                      </a:r>
                      <a:endParaRPr lang="en-US" altLang="zh-CN">
                        <a:solidFill>
                          <a:schemeClr val="bg1"/>
                        </a:solidFill>
                      </a:endParaRPr>
                    </a:p>
                  </a:txBody>
                  <a:tcPr>
                    <a:solidFill>
                      <a:schemeClr val="accent1">
                        <a:lumMod val="60000"/>
                        <a:lumOff val="40000"/>
                      </a:schemeClr>
                    </a:solidFill>
                  </a:tcPr>
                </a:tc>
                <a:tc>
                  <a:txBody>
                    <a:bodyPr/>
                    <a:p>
                      <a:pPr algn="ctr">
                        <a:buNone/>
                      </a:pPr>
                      <a:r>
                        <a:rPr lang="en-US" altLang="zh-CN">
                          <a:solidFill>
                            <a:schemeClr val="bg1"/>
                          </a:solidFill>
                        </a:rPr>
                        <a:t>Review Lead(</a:t>
                      </a:r>
                      <a:r>
                        <a:rPr lang="zh-CN" altLang="en-US">
                          <a:solidFill>
                            <a:schemeClr val="bg1"/>
                          </a:solidFill>
                        </a:rPr>
                        <a:t>李逸群</a:t>
                      </a:r>
                      <a:r>
                        <a:rPr lang="en-US" altLang="zh-CN">
                          <a:solidFill>
                            <a:schemeClr val="bg1"/>
                          </a:solidFill>
                        </a:rPr>
                        <a:t>)</a:t>
                      </a:r>
                      <a:endParaRPr lang="en-US" altLang="zh-CN">
                        <a:solidFill>
                          <a:schemeClr val="bg1"/>
                        </a:solidFill>
                      </a:endParaRPr>
                    </a:p>
                    <a:p>
                      <a:pPr algn="ctr">
                        <a:buNone/>
                      </a:pPr>
                      <a:r>
                        <a:rPr lang="en-US" altLang="zh-CN">
                          <a:solidFill>
                            <a:schemeClr val="bg1"/>
                          </a:solidFill>
                        </a:rPr>
                        <a:t>Backend Dev A(</a:t>
                      </a:r>
                      <a:r>
                        <a:rPr lang="zh-CN" altLang="en-US">
                          <a:solidFill>
                            <a:schemeClr val="bg1"/>
                          </a:solidFill>
                        </a:rPr>
                        <a:t>刘沁若</a:t>
                      </a:r>
                      <a:r>
                        <a:rPr lang="en-US" altLang="zh-CN">
                          <a:solidFill>
                            <a:schemeClr val="bg1"/>
                          </a:solidFill>
                        </a:rPr>
                        <a:t>)</a:t>
                      </a:r>
                      <a:endParaRPr lang="en-US" altLang="zh-CN">
                        <a:solidFill>
                          <a:schemeClr val="bg1"/>
                        </a:solidFill>
                      </a:endParaRPr>
                    </a:p>
                    <a:p>
                      <a:pPr algn="ctr">
                        <a:buNone/>
                      </a:pPr>
                      <a:r>
                        <a:rPr lang="en-US" altLang="zh-CN">
                          <a:solidFill>
                            <a:schemeClr val="bg1"/>
                          </a:solidFill>
                        </a:rPr>
                        <a:t>Backend Dev B(</a:t>
                      </a:r>
                      <a:r>
                        <a:rPr lang="zh-CN" altLang="en-US">
                          <a:solidFill>
                            <a:schemeClr val="bg1"/>
                          </a:solidFill>
                        </a:rPr>
                        <a:t>叶一诺</a:t>
                      </a:r>
                      <a:r>
                        <a:rPr lang="en-US" altLang="zh-CN">
                          <a:solidFill>
                            <a:schemeClr val="bg1"/>
                          </a:solidFill>
                        </a:rPr>
                        <a:t>)</a:t>
                      </a:r>
                      <a:endParaRPr lang="zh-CN" altLang="en-US">
                        <a:solidFill>
                          <a:schemeClr val="bg1"/>
                        </a:solidFill>
                      </a:endParaRPr>
                    </a:p>
                    <a:p>
                      <a:pPr algn="ctr">
                        <a:buNone/>
                      </a:pPr>
                      <a:r>
                        <a:rPr lang="en-US" altLang="zh-CN">
                          <a:solidFill>
                            <a:schemeClr val="bg1"/>
                          </a:solidFill>
                        </a:rPr>
                        <a:t>DBA</a:t>
                      </a:r>
                      <a:r>
                        <a:rPr lang="en-US" altLang="zh-CN" sz="1800">
                          <a:solidFill>
                            <a:schemeClr val="bg1"/>
                          </a:solidFill>
                          <a:sym typeface="+mn-ea"/>
                        </a:rPr>
                        <a:t>(</a:t>
                      </a:r>
                      <a:r>
                        <a:rPr lang="zh-CN" altLang="en-US" sz="1800">
                          <a:solidFill>
                            <a:schemeClr val="bg1"/>
                          </a:solidFill>
                          <a:sym typeface="+mn-ea"/>
                        </a:rPr>
                        <a:t>屈紫晨</a:t>
                      </a:r>
                      <a:r>
                        <a:rPr lang="en-US" altLang="zh-CN" sz="1800">
                          <a:solidFill>
                            <a:schemeClr val="bg1"/>
                          </a:solidFill>
                          <a:sym typeface="+mn-ea"/>
                        </a:rPr>
                        <a:t>)</a:t>
                      </a:r>
                      <a:endParaRPr lang="en-US" altLang="zh-CN">
                        <a:solidFill>
                          <a:schemeClr val="bg1"/>
                        </a:solidFill>
                      </a:endParaRPr>
                    </a:p>
                  </a:txBody>
                  <a:tcPr>
                    <a:solidFill>
                      <a:schemeClr val="accent1">
                        <a:lumMod val="60000"/>
                        <a:lumOff val="40000"/>
                      </a:schemeClr>
                    </a:solidFill>
                  </a:tcPr>
                </a:tc>
              </a:tr>
              <a:tr h="1231900">
                <a:tc>
                  <a:txBody>
                    <a:bodyPr/>
                    <a:p>
                      <a:pPr algn="ctr">
                        <a:buNone/>
                      </a:pPr>
                      <a:r>
                        <a:rPr lang="en-US" altLang="zh-CN">
                          <a:solidFill>
                            <a:schemeClr val="bg1"/>
                          </a:solidFill>
                        </a:rPr>
                        <a:t>FTR-2</a:t>
                      </a:r>
                      <a:endParaRPr lang="en-US" altLang="zh-CN">
                        <a:solidFill>
                          <a:schemeClr val="bg1"/>
                        </a:solidFill>
                      </a:endParaRPr>
                    </a:p>
                  </a:txBody>
                  <a:tcPr>
                    <a:solidFill>
                      <a:schemeClr val="accent1">
                        <a:lumMod val="60000"/>
                        <a:lumOff val="40000"/>
                      </a:schemeClr>
                    </a:solidFill>
                  </a:tcPr>
                </a:tc>
                <a:tc>
                  <a:txBody>
                    <a:bodyPr/>
                    <a:p>
                      <a:pPr algn="ctr">
                        <a:buNone/>
                      </a:pPr>
                      <a:r>
                        <a:rPr lang="en-US" altLang="zh-CN">
                          <a:solidFill>
                            <a:schemeClr val="bg1"/>
                          </a:solidFill>
                        </a:rPr>
                        <a:t>Dashboard UI</a:t>
                      </a:r>
                      <a:endParaRPr lang="en-US" altLang="zh-CN">
                        <a:solidFill>
                          <a:schemeClr val="bg1"/>
                        </a:solidFill>
                      </a:endParaRPr>
                    </a:p>
                    <a:p>
                      <a:pPr algn="ctr">
                        <a:buNone/>
                      </a:pPr>
                      <a:r>
                        <a:rPr lang="en-US" altLang="zh-CN">
                          <a:solidFill>
                            <a:schemeClr val="bg1"/>
                          </a:solidFill>
                        </a:rPr>
                        <a:t>ECharts charts</a:t>
                      </a:r>
                      <a:endParaRPr lang="en-US" altLang="zh-CN">
                        <a:solidFill>
                          <a:schemeClr val="bg1"/>
                        </a:solidFill>
                      </a:endParaRPr>
                    </a:p>
                    <a:p>
                      <a:pPr algn="ctr">
                        <a:buNone/>
                      </a:pPr>
                      <a:r>
                        <a:rPr lang="en-US" altLang="zh-CN">
                          <a:solidFill>
                            <a:schemeClr val="bg1"/>
                          </a:solidFill>
                        </a:rPr>
                        <a:t>Statistics API</a:t>
                      </a:r>
                      <a:endParaRPr lang="en-US" altLang="zh-CN">
                        <a:solidFill>
                          <a:schemeClr val="bg1"/>
                        </a:solidFill>
                      </a:endParaRPr>
                    </a:p>
                  </a:txBody>
                  <a:tcPr>
                    <a:solidFill>
                      <a:schemeClr val="accent1">
                        <a:lumMod val="60000"/>
                        <a:lumOff val="40000"/>
                      </a:schemeClr>
                    </a:solidFill>
                  </a:tcPr>
                </a:tc>
                <a:tc>
                  <a:txBody>
                    <a:bodyPr/>
                    <a:p>
                      <a:pPr algn="ctr">
                        <a:buNone/>
                      </a:pPr>
                      <a:r>
                        <a:rPr lang="en-US" altLang="zh-CN" sz="1800">
                          <a:solidFill>
                            <a:schemeClr val="bg1"/>
                          </a:solidFill>
                          <a:sym typeface="+mn-ea"/>
                        </a:rPr>
                        <a:t>Review Lead</a:t>
                      </a:r>
                      <a:r>
                        <a:rPr lang="en-US" altLang="zh-CN" sz="1800">
                          <a:solidFill>
                            <a:schemeClr val="bg1"/>
                          </a:solidFill>
                          <a:sym typeface="+mn-ea"/>
                        </a:rPr>
                        <a:t>(</a:t>
                      </a:r>
                      <a:r>
                        <a:rPr lang="zh-CN" altLang="en-US" sz="1800">
                          <a:solidFill>
                            <a:schemeClr val="bg1"/>
                          </a:solidFill>
                          <a:sym typeface="+mn-ea"/>
                        </a:rPr>
                        <a:t>李逸群</a:t>
                      </a:r>
                      <a:r>
                        <a:rPr lang="en-US" altLang="zh-CN" sz="1800">
                          <a:solidFill>
                            <a:schemeClr val="bg1"/>
                          </a:solidFill>
                          <a:sym typeface="+mn-ea"/>
                        </a:rPr>
                        <a:t>)</a:t>
                      </a:r>
                      <a:endParaRPr lang="en-US" altLang="zh-CN" sz="1800">
                        <a:solidFill>
                          <a:schemeClr val="bg1"/>
                        </a:solidFill>
                      </a:endParaRPr>
                    </a:p>
                    <a:p>
                      <a:pPr algn="ctr">
                        <a:buNone/>
                      </a:pPr>
                      <a:r>
                        <a:rPr lang="en-US" altLang="zh-CN">
                          <a:solidFill>
                            <a:schemeClr val="bg1"/>
                          </a:solidFill>
                        </a:rPr>
                        <a:t>Frontend Dev A(</a:t>
                      </a:r>
                      <a:r>
                        <a:rPr lang="zh-CN" altLang="en-US">
                          <a:solidFill>
                            <a:schemeClr val="bg1"/>
                          </a:solidFill>
                        </a:rPr>
                        <a:t>仇泽程</a:t>
                      </a:r>
                      <a:r>
                        <a:rPr lang="en-US" altLang="zh-CN">
                          <a:solidFill>
                            <a:schemeClr val="bg1"/>
                          </a:solidFill>
                        </a:rPr>
                        <a:t>)</a:t>
                      </a:r>
                      <a:endParaRPr lang="zh-CN" altLang="en-US">
                        <a:solidFill>
                          <a:schemeClr val="bg1"/>
                        </a:solidFill>
                      </a:endParaRPr>
                    </a:p>
                    <a:p>
                      <a:pPr algn="ctr">
                        <a:buNone/>
                      </a:pPr>
                      <a:r>
                        <a:rPr lang="en-US" altLang="zh-CN">
                          <a:solidFill>
                            <a:schemeClr val="bg1"/>
                          </a:solidFill>
                        </a:rPr>
                        <a:t>Frontend Dev B(</a:t>
                      </a:r>
                      <a:r>
                        <a:rPr lang="zh-CN" altLang="en-US">
                          <a:solidFill>
                            <a:schemeClr val="bg1"/>
                          </a:solidFill>
                        </a:rPr>
                        <a:t>屈紫晨</a:t>
                      </a:r>
                      <a:r>
                        <a:rPr lang="en-US" altLang="zh-CN">
                          <a:solidFill>
                            <a:schemeClr val="bg1"/>
                          </a:solidFill>
                        </a:rPr>
                        <a:t>)</a:t>
                      </a:r>
                      <a:endParaRPr lang="zh-CN" altLang="en-US">
                        <a:solidFill>
                          <a:schemeClr val="bg1"/>
                        </a:solidFill>
                      </a:endParaRPr>
                    </a:p>
                    <a:p>
                      <a:pPr algn="ctr">
                        <a:buNone/>
                      </a:pPr>
                      <a:r>
                        <a:rPr lang="en-US" altLang="zh-CN" sz="1800">
                          <a:solidFill>
                            <a:schemeClr val="bg1"/>
                          </a:solidFill>
                          <a:sym typeface="+mn-ea"/>
                        </a:rPr>
                        <a:t>Backend Dev B</a:t>
                      </a:r>
                      <a:r>
                        <a:rPr lang="en-US" altLang="zh-CN" sz="1800">
                          <a:solidFill>
                            <a:schemeClr val="bg1"/>
                          </a:solidFill>
                          <a:sym typeface="+mn-ea"/>
                        </a:rPr>
                        <a:t>(</a:t>
                      </a:r>
                      <a:r>
                        <a:rPr lang="zh-CN" altLang="en-US" sz="1800">
                          <a:solidFill>
                            <a:schemeClr val="bg1"/>
                          </a:solidFill>
                          <a:sym typeface="+mn-ea"/>
                        </a:rPr>
                        <a:t>叶一诺</a:t>
                      </a:r>
                      <a:r>
                        <a:rPr lang="en-US" altLang="zh-CN" sz="1800">
                          <a:solidFill>
                            <a:schemeClr val="bg1"/>
                          </a:solidFill>
                          <a:sym typeface="+mn-ea"/>
                        </a:rPr>
                        <a:t>)</a:t>
                      </a:r>
                      <a:endParaRPr lang="en-US" altLang="zh-CN">
                        <a:solidFill>
                          <a:schemeClr val="bg1"/>
                        </a:solidFill>
                      </a:endParaRPr>
                    </a:p>
                  </a:txBody>
                  <a:tcPr>
                    <a:solidFill>
                      <a:schemeClr val="accent1">
                        <a:lumMod val="60000"/>
                        <a:lumOff val="40000"/>
                      </a:schemeClr>
                    </a:solidFill>
                  </a:tcPr>
                </a:tc>
              </a:tr>
              <a:tr h="1231900">
                <a:tc>
                  <a:txBody>
                    <a:bodyPr/>
                    <a:p>
                      <a:pPr algn="ctr">
                        <a:buNone/>
                      </a:pPr>
                      <a:r>
                        <a:rPr lang="en-US" altLang="zh-CN">
                          <a:solidFill>
                            <a:schemeClr val="bg1"/>
                          </a:solidFill>
                        </a:rPr>
                        <a:t>FTR-3</a:t>
                      </a:r>
                      <a:endParaRPr lang="en-US" altLang="zh-CN">
                        <a:solidFill>
                          <a:schemeClr val="bg1"/>
                        </a:solidFill>
                      </a:endParaRPr>
                    </a:p>
                  </a:txBody>
                  <a:tcPr>
                    <a:solidFill>
                      <a:schemeClr val="accent1">
                        <a:lumMod val="60000"/>
                        <a:lumOff val="40000"/>
                      </a:schemeClr>
                    </a:solidFill>
                  </a:tcPr>
                </a:tc>
                <a:tc>
                  <a:txBody>
                    <a:bodyPr/>
                    <a:p>
                      <a:pPr algn="ctr">
                        <a:buNone/>
                      </a:pPr>
                      <a:r>
                        <a:rPr lang="en-US" altLang="zh-CN">
                          <a:solidFill>
                            <a:schemeClr val="bg1"/>
                          </a:solidFill>
                        </a:rPr>
                        <a:t>Questionnaire module</a:t>
                      </a:r>
                      <a:endParaRPr lang="en-US" altLang="zh-CN">
                        <a:solidFill>
                          <a:schemeClr val="bg1"/>
                        </a:solidFill>
                      </a:endParaRPr>
                    </a:p>
                    <a:p>
                      <a:pPr algn="ctr">
                        <a:buNone/>
                      </a:pPr>
                      <a:r>
                        <a:rPr lang="en-US" altLang="zh-CN">
                          <a:solidFill>
                            <a:schemeClr val="bg1"/>
                          </a:solidFill>
                        </a:rPr>
                        <a:t>Roommate matching algorithm</a:t>
                      </a:r>
                      <a:endParaRPr lang="en-US" altLang="zh-CN">
                        <a:solidFill>
                          <a:schemeClr val="bg1"/>
                        </a:solidFill>
                      </a:endParaRPr>
                    </a:p>
                    <a:p>
                      <a:pPr algn="ctr">
                        <a:buNone/>
                      </a:pPr>
                      <a:r>
                        <a:rPr lang="en-US" altLang="zh-CN">
                          <a:solidFill>
                            <a:schemeClr val="bg1"/>
                          </a:solidFill>
                        </a:rPr>
                        <a:t>Full integration flow</a:t>
                      </a:r>
                      <a:endParaRPr lang="en-US" altLang="zh-CN">
                        <a:solidFill>
                          <a:schemeClr val="bg1"/>
                        </a:solidFill>
                      </a:endParaRPr>
                    </a:p>
                  </a:txBody>
                  <a:tcPr>
                    <a:solidFill>
                      <a:schemeClr val="accent1">
                        <a:lumMod val="60000"/>
                        <a:lumOff val="40000"/>
                      </a:schemeClr>
                    </a:solidFill>
                  </a:tcPr>
                </a:tc>
                <a:tc>
                  <a:txBody>
                    <a:bodyPr/>
                    <a:p>
                      <a:pPr algn="ctr">
                        <a:buNone/>
                      </a:pPr>
                      <a:r>
                        <a:rPr lang="en-US" altLang="zh-CN" sz="1800">
                          <a:solidFill>
                            <a:schemeClr val="bg1"/>
                          </a:solidFill>
                          <a:sym typeface="+mn-ea"/>
                        </a:rPr>
                        <a:t>Review Lead</a:t>
                      </a:r>
                      <a:r>
                        <a:rPr lang="en-US" altLang="zh-CN" sz="1800">
                          <a:solidFill>
                            <a:schemeClr val="bg1"/>
                          </a:solidFill>
                          <a:sym typeface="+mn-ea"/>
                        </a:rPr>
                        <a:t>(</a:t>
                      </a:r>
                      <a:r>
                        <a:rPr lang="zh-CN" altLang="en-US" sz="1800">
                          <a:solidFill>
                            <a:schemeClr val="bg1"/>
                          </a:solidFill>
                          <a:sym typeface="+mn-ea"/>
                        </a:rPr>
                        <a:t>李逸群</a:t>
                      </a:r>
                      <a:r>
                        <a:rPr lang="en-US" altLang="zh-CN" sz="1800">
                          <a:solidFill>
                            <a:schemeClr val="bg1"/>
                          </a:solidFill>
                          <a:sym typeface="+mn-ea"/>
                        </a:rPr>
                        <a:t>)</a:t>
                      </a:r>
                      <a:endParaRPr lang="en-US" altLang="zh-CN" sz="1800">
                        <a:solidFill>
                          <a:schemeClr val="bg1"/>
                        </a:solidFill>
                      </a:endParaRPr>
                    </a:p>
                    <a:p>
                      <a:pPr algn="ctr">
                        <a:buNone/>
                      </a:pPr>
                      <a:r>
                        <a:rPr lang="en-US" altLang="zh-CN" sz="1800">
                          <a:solidFill>
                            <a:schemeClr val="bg1"/>
                          </a:solidFill>
                          <a:sym typeface="+mn-ea"/>
                        </a:rPr>
                        <a:t>Frontend Dev A</a:t>
                      </a:r>
                      <a:r>
                        <a:rPr lang="en-US" altLang="zh-CN" sz="1800">
                          <a:solidFill>
                            <a:schemeClr val="bg1"/>
                          </a:solidFill>
                          <a:sym typeface="+mn-ea"/>
                        </a:rPr>
                        <a:t>(</a:t>
                      </a:r>
                      <a:r>
                        <a:rPr lang="zh-CN" altLang="en-US" sz="1800">
                          <a:solidFill>
                            <a:schemeClr val="bg1"/>
                          </a:solidFill>
                          <a:sym typeface="+mn-ea"/>
                        </a:rPr>
                        <a:t>仇泽程</a:t>
                      </a:r>
                      <a:r>
                        <a:rPr lang="en-US" altLang="zh-CN" sz="1800">
                          <a:solidFill>
                            <a:schemeClr val="bg1"/>
                          </a:solidFill>
                          <a:sym typeface="+mn-ea"/>
                        </a:rPr>
                        <a:t>)</a:t>
                      </a:r>
                      <a:endParaRPr lang="en-US" altLang="zh-CN" sz="1800">
                        <a:solidFill>
                          <a:schemeClr val="bg1"/>
                        </a:solidFill>
                        <a:sym typeface="+mn-ea"/>
                      </a:endParaRPr>
                    </a:p>
                    <a:p>
                      <a:pPr algn="ctr">
                        <a:buNone/>
                      </a:pPr>
                      <a:r>
                        <a:rPr lang="en-US" altLang="zh-CN" sz="1800">
                          <a:solidFill>
                            <a:schemeClr val="bg1"/>
                          </a:solidFill>
                          <a:sym typeface="+mn-ea"/>
                        </a:rPr>
                        <a:t>Backend Dev A</a:t>
                      </a:r>
                      <a:r>
                        <a:rPr lang="en-US" altLang="zh-CN" sz="1800">
                          <a:solidFill>
                            <a:schemeClr val="bg1"/>
                          </a:solidFill>
                          <a:sym typeface="+mn-ea"/>
                        </a:rPr>
                        <a:t>(</a:t>
                      </a:r>
                      <a:r>
                        <a:rPr lang="zh-CN" altLang="en-US" sz="1800">
                          <a:solidFill>
                            <a:schemeClr val="bg1"/>
                          </a:solidFill>
                          <a:sym typeface="+mn-ea"/>
                        </a:rPr>
                        <a:t>刘沁若</a:t>
                      </a:r>
                      <a:r>
                        <a:rPr lang="en-US" altLang="zh-CN" sz="1800">
                          <a:solidFill>
                            <a:schemeClr val="bg1"/>
                          </a:solidFill>
                          <a:sym typeface="+mn-ea"/>
                        </a:rPr>
                        <a:t>)</a:t>
                      </a:r>
                      <a:endParaRPr lang="en-US" altLang="zh-CN" sz="1800">
                        <a:solidFill>
                          <a:schemeClr val="bg1"/>
                        </a:solidFill>
                      </a:endParaRPr>
                    </a:p>
                    <a:p>
                      <a:pPr algn="ctr">
                        <a:buNone/>
                      </a:pPr>
                      <a:r>
                        <a:rPr lang="en-US" altLang="zh-CN">
                          <a:solidFill>
                            <a:schemeClr val="bg1"/>
                          </a:solidFill>
                        </a:rPr>
                        <a:t>AI Engineer(</a:t>
                      </a:r>
                      <a:r>
                        <a:rPr lang="zh-CN" altLang="en-US">
                          <a:solidFill>
                            <a:schemeClr val="bg1"/>
                          </a:solidFill>
                        </a:rPr>
                        <a:t>周凡皓</a:t>
                      </a:r>
                      <a:r>
                        <a:rPr lang="en-US" altLang="zh-CN">
                          <a:solidFill>
                            <a:schemeClr val="bg1"/>
                          </a:solidFill>
                        </a:rPr>
                        <a:t>)</a:t>
                      </a:r>
                      <a:endParaRPr lang="en-US" altLang="zh-CN">
                        <a:solidFill>
                          <a:schemeClr val="bg1"/>
                        </a:solidFill>
                      </a:endParaRPr>
                    </a:p>
                  </a:txBody>
                  <a:tcPr>
                    <a:solidFill>
                      <a:schemeClr val="accent1">
                        <a:lumMod val="60000"/>
                        <a:lumOff val="40000"/>
                      </a:schemeClr>
                    </a:solidFill>
                  </a:tcPr>
                </a:tc>
              </a:tr>
            </a:tbl>
          </a:graphicData>
        </a:graphic>
      </p:graphicFrame>
      <p:sp>
        <p:nvSpPr>
          <p:cNvPr id="6" name="文本框 5"/>
          <p:cNvSpPr txBox="1"/>
          <p:nvPr/>
        </p:nvSpPr>
        <p:spPr>
          <a:xfrm>
            <a:off x="13970" y="5119370"/>
            <a:ext cx="8304530" cy="1476375"/>
          </a:xfrm>
          <a:prstGeom prst="rect">
            <a:avLst/>
          </a:prstGeom>
          <a:noFill/>
        </p:spPr>
        <p:txBody>
          <a:bodyPr wrap="square" rtlCol="0">
            <a:spAutoFit/>
          </a:bodyPr>
          <a:p>
            <a:r>
              <a:rPr lang="en-US" altLang="zh-CN"/>
              <a:t>Review Principle</a:t>
            </a:r>
            <a:endParaRPr lang="en-US" altLang="zh-CN"/>
          </a:p>
          <a:p>
            <a:r>
              <a:rPr lang="en-US" altLang="zh-CN"/>
              <a:t>"Review the product, not the producer."</a:t>
            </a:r>
            <a:endParaRPr lang="en-US" altLang="zh-CN"/>
          </a:p>
          <a:p>
            <a:r>
              <a:rPr lang="en-US" altLang="zh-CN"/>
              <a:t>All defects are recorded and tracked to closure.</a:t>
            </a:r>
            <a:endParaRPr lang="en-US" altLang="zh-CN"/>
          </a:p>
          <a:p>
            <a:r>
              <a:rPr lang="en-US" altLang="zh-CN"/>
              <a:t>Meeting duration: ≤ 2 hours per session.</a:t>
            </a:r>
            <a:endParaRPr lang="en-US" altLang="zh-CN"/>
          </a:p>
          <a:p>
            <a:r>
              <a:rPr lang="en-US" altLang="zh-CN"/>
              <a:t>Materials distributed 1–2 days in advance for independent preparation.</a:t>
            </a:r>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4" name="Shape 2"/>
          <p:cNvSpPr/>
          <p:nvPr/>
        </p:nvSpPr>
        <p:spPr>
          <a:xfrm>
            <a:off x="0" y="0"/>
            <a:ext cx="12191695" cy="761695"/>
          </a:xfrm>
          <a:prstGeom prst="rect">
            <a:avLst/>
          </a:prstGeom>
          <a:solidFill>
            <a:srgbClr val="2C5282"/>
          </a:solidFill>
          <a:ln w="12700">
            <a:solidFill>
              <a:srgbClr val="FFFFFF">
                <a:alpha val="0"/>
              </a:srgbClr>
            </a:solidFill>
            <a:prstDash val="solid"/>
          </a:ln>
        </p:spPr>
      </p:sp>
      <p:sp>
        <p:nvSpPr>
          <p:cNvPr id="14" name="Shape 12"/>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5" name="Image 0" descr="preencoded.png"/>
          <p:cNvPicPr>
            <a:picLocks noChangeAspect="1"/>
          </p:cNvPicPr>
          <p:nvPr/>
        </p:nvPicPr>
        <p:blipFill>
          <a:blip r:embed="rId1"/>
          <a:srcRect t="-20060" b="-20060"/>
          <a:stretch>
            <a:fillRect/>
          </a:stretch>
        </p:blipFill>
        <p:spPr>
          <a:xfrm>
            <a:off x="724205" y="286207"/>
            <a:ext cx="152705" cy="190195"/>
          </a:xfrm>
          <a:prstGeom prst="rect">
            <a:avLst/>
          </a:prstGeom>
        </p:spPr>
      </p:pic>
      <p:sp>
        <p:nvSpPr>
          <p:cNvPr id="16" name="Text 13"/>
          <p:cNvSpPr txBox="1"/>
          <p:nvPr/>
        </p:nvSpPr>
        <p:spPr>
          <a:xfrm>
            <a:off x="1218895" y="209398"/>
            <a:ext cx="6400800" cy="438912"/>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Decision Tree</a:t>
            </a:r>
            <a:endParaRPr lang="en-US" sz="2400" dirty="0">
              <a:ea typeface="Noto Sans SC" panose="020B0200000000000000" pitchFamily="34" charset="-122"/>
              <a:cs typeface="Noto Sans SC" panose="020B0200000000000000" pitchFamily="34" charset="-122"/>
            </a:endParaRPr>
          </a:p>
        </p:txBody>
      </p:sp>
      <p:pic>
        <p:nvPicPr>
          <p:cNvPr id="62" name="图片 61"/>
          <p:cNvPicPr>
            <a:picLocks noChangeAspect="1"/>
          </p:cNvPicPr>
          <p:nvPr/>
        </p:nvPicPr>
        <p:blipFill>
          <a:blip r:embed="rId2"/>
          <a:stretch>
            <a:fillRect/>
          </a:stretch>
        </p:blipFill>
        <p:spPr>
          <a:xfrm>
            <a:off x="347980" y="795655"/>
            <a:ext cx="11598275" cy="605409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3A5F"/>
          </a:solidFill>
          <a:ln w="12700">
            <a:solidFill>
              <a:srgbClr val="FFFFFF">
                <a:alpha val="0"/>
              </a:srgbClr>
            </a:solidFill>
            <a:prstDash val="solid"/>
          </a:ln>
        </p:spPr>
      </p:sp>
      <p:pic>
        <p:nvPicPr>
          <p:cNvPr id="3" name="Image 0" descr="preencoded.png"/>
          <p:cNvPicPr>
            <a:picLocks noChangeAspect="1"/>
          </p:cNvPicPr>
          <p:nvPr/>
        </p:nvPicPr>
        <p:blipFill>
          <a:blip r:embed="rId1"/>
          <a:srcRect t="-1" b="-1"/>
          <a:stretch>
            <a:fillRect/>
          </a:stretch>
        </p:blipFill>
        <p:spPr>
          <a:xfrm>
            <a:off x="0" y="0"/>
            <a:ext cx="12191695" cy="6858000"/>
          </a:xfrm>
          <a:prstGeom prst="rect">
            <a:avLst/>
          </a:prstGeom>
        </p:spPr>
      </p:pic>
      <p:sp>
        <p:nvSpPr>
          <p:cNvPr id="4" name="Shape 1"/>
          <p:cNvSpPr/>
          <p:nvPr/>
        </p:nvSpPr>
        <p:spPr>
          <a:xfrm>
            <a:off x="5715000" y="381305"/>
            <a:ext cx="761695" cy="761695"/>
          </a:xfrm>
          <a:prstGeom prst="roundRect">
            <a:avLst>
              <a:gd name="adj" fmla="val 60024"/>
            </a:avLst>
          </a:prstGeom>
          <a:solidFill>
            <a:srgbClr val="FFFFFF">
              <a:alpha val="15000"/>
            </a:srgbClr>
          </a:solidFill>
          <a:ln w="25400">
            <a:solidFill>
              <a:srgbClr val="FFFFFF">
                <a:alpha val="30000"/>
              </a:srgbClr>
            </a:solidFill>
            <a:prstDash val="solid"/>
          </a:ln>
        </p:spPr>
      </p:sp>
      <p:pic>
        <p:nvPicPr>
          <p:cNvPr id="5" name="Image 1" descr="preencoded.png"/>
          <p:cNvPicPr>
            <a:picLocks noChangeAspect="1"/>
          </p:cNvPicPr>
          <p:nvPr/>
        </p:nvPicPr>
        <p:blipFill>
          <a:blip r:embed="rId2"/>
          <a:srcRect t="-14551" b="-14551"/>
          <a:stretch>
            <a:fillRect/>
          </a:stretch>
        </p:blipFill>
        <p:spPr>
          <a:xfrm>
            <a:off x="5948172" y="571500"/>
            <a:ext cx="295351" cy="381305"/>
          </a:xfrm>
          <a:prstGeom prst="rect">
            <a:avLst/>
          </a:prstGeom>
        </p:spPr>
      </p:pic>
      <p:sp>
        <p:nvSpPr>
          <p:cNvPr id="6" name="Text 2"/>
          <p:cNvSpPr txBox="1"/>
          <p:nvPr/>
        </p:nvSpPr>
        <p:spPr>
          <a:xfrm>
            <a:off x="190195" y="1333195"/>
            <a:ext cx="11811305" cy="571500"/>
          </a:xfrm>
          <a:prstGeom prst="rect">
            <a:avLst/>
          </a:prstGeom>
          <a:noFill/>
        </p:spPr>
        <p:txBody>
          <a:bodyPr wrap="square" lIns="0" tIns="0" rIns="0" bIns="0" rtlCol="0" anchor="ctr"/>
          <a:lstStyle/>
          <a:p>
            <a:pPr marL="0" indent="0" algn="ctr">
              <a:buNone/>
            </a:pPr>
            <a:r>
              <a:rPr lang="en-US" sz="28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Transition: From Prototype to Questionnaire &amp; Matching Expansion</a:t>
            </a:r>
            <a:endParaRPr lang="en-US" sz="2800" dirty="0">
              <a:ea typeface="Noto Sans SC" panose="020B0200000000000000" pitchFamily="34" charset="-122"/>
              <a:cs typeface="Noto Sans SC" panose="020B0200000000000000" pitchFamily="34" charset="-122"/>
            </a:endParaRPr>
          </a:p>
        </p:txBody>
      </p:sp>
      <p:sp>
        <p:nvSpPr>
          <p:cNvPr id="7" name="Text 3"/>
          <p:cNvSpPr txBox="1"/>
          <p:nvPr/>
        </p:nvSpPr>
        <p:spPr>
          <a:xfrm>
            <a:off x="1809598" y="2048256"/>
            <a:ext cx="8572500" cy="762610"/>
          </a:xfrm>
          <a:prstGeom prst="rect">
            <a:avLst/>
          </a:prstGeom>
          <a:noFill/>
        </p:spPr>
        <p:txBody>
          <a:bodyPr wrap="square" lIns="0" tIns="0" rIns="0" bIns="0" rtlCol="0" anchor="ctr"/>
          <a:lstStyle/>
          <a:p>
            <a:pPr marL="0" indent="0" algn="ctr">
              <a:buNone/>
            </a:pPr>
            <a:r>
              <a:rPr lang="en-US" sz="1500" dirty="0">
                <a:solidFill>
                  <a:srgbClr val="FFFFFF">
                    <a:alpha val="90000"/>
                  </a:srgbClr>
                </a:solidFill>
                <a:latin typeface="Noto Sans SC" panose="020B0200000000000000" pitchFamily="34" charset="-122"/>
                <a:ea typeface="Noto Sans SC" panose="020B0200000000000000" pitchFamily="34" charset="-122"/>
                <a:cs typeface="Noto Sans SC" panose="020B0200000000000000" pitchFamily="34" charset="-122"/>
              </a:rPr>
              <a:t> Goal: Ensure usability and explainability first, then iterate intelligence</a:t>
            </a:r>
            <a:endParaRPr lang="en-US" sz="1500" dirty="0">
              <a:ea typeface="Noto Sans SC" panose="020B0200000000000000" pitchFamily="34" charset="-122"/>
              <a:cs typeface="Noto Sans SC" panose="020B0200000000000000" pitchFamily="34" charset="-122"/>
            </a:endParaRPr>
          </a:p>
          <a:p>
            <a:pPr marL="0" indent="0" algn="ctr">
              <a:buNone/>
            </a:pPr>
            <a:r>
              <a:rPr lang="en-US" sz="1500" dirty="0">
                <a:solidFill>
                  <a:srgbClr val="FFFFFF">
                    <a:alpha val="90000"/>
                  </a:srgbClr>
                </a:solidFill>
                <a:latin typeface="Noto Sans SC" panose="020B0200000000000000" pitchFamily="34" charset="-122"/>
                <a:ea typeface="Noto Sans SC" panose="020B0200000000000000" pitchFamily="34" charset="-122"/>
                <a:cs typeface="Noto Sans SC" panose="020B0200000000000000" pitchFamily="34" charset="-122"/>
              </a:rPr>
              <a:t> Principles: Configurable weights, auditable logs, reproducible results </a:t>
            </a:r>
            <a:endParaRPr lang="en-US" sz="1500" dirty="0">
              <a:ea typeface="Noto Sans SC" panose="020B0200000000000000" pitchFamily="34" charset="-122"/>
              <a:cs typeface="Noto Sans SC" panose="020B0200000000000000" pitchFamily="34" charset="-122"/>
            </a:endParaRPr>
          </a:p>
        </p:txBody>
      </p:sp>
      <p:sp>
        <p:nvSpPr>
          <p:cNvPr id="8" name="Shape 4"/>
          <p:cNvSpPr/>
          <p:nvPr/>
        </p:nvSpPr>
        <p:spPr>
          <a:xfrm>
            <a:off x="961949" y="3047695"/>
            <a:ext cx="3047695" cy="3429000"/>
          </a:xfrm>
          <a:prstGeom prst="roundRect">
            <a:avLst>
              <a:gd name="adj" fmla="val 3000"/>
            </a:avLst>
          </a:prstGeom>
          <a:solidFill>
            <a:srgbClr val="FFFFFF">
              <a:alpha val="10000"/>
            </a:srgbClr>
          </a:solidFill>
          <a:ln w="12700">
            <a:solidFill>
              <a:srgbClr val="FFFFFF">
                <a:alpha val="20000"/>
              </a:srgbClr>
            </a:solidFill>
            <a:prstDash val="solid"/>
          </a:ln>
        </p:spPr>
      </p:sp>
      <p:sp>
        <p:nvSpPr>
          <p:cNvPr id="9" name="Shape 5"/>
          <p:cNvSpPr/>
          <p:nvPr/>
        </p:nvSpPr>
        <p:spPr>
          <a:xfrm>
            <a:off x="1200607" y="3286354"/>
            <a:ext cx="381305" cy="381305"/>
          </a:xfrm>
          <a:prstGeom prst="roundRect">
            <a:avLst>
              <a:gd name="adj" fmla="val 119904"/>
            </a:avLst>
          </a:prstGeom>
          <a:solidFill>
            <a:srgbClr val="FFFFFF">
              <a:alpha val="15000"/>
            </a:srgbClr>
          </a:solidFill>
          <a:ln w="12700">
            <a:solidFill>
              <a:srgbClr val="FFFFFF">
                <a:alpha val="0"/>
              </a:srgbClr>
            </a:solidFill>
            <a:prstDash val="solid"/>
          </a:ln>
        </p:spPr>
      </p:sp>
      <p:pic>
        <p:nvPicPr>
          <p:cNvPr id="10" name="Image 2" descr="preencoded.png"/>
          <p:cNvPicPr>
            <a:picLocks noChangeAspect="1"/>
          </p:cNvPicPr>
          <p:nvPr/>
        </p:nvPicPr>
        <p:blipFill>
          <a:blip r:embed="rId3"/>
          <a:srcRect t="-14384" b="-14384"/>
          <a:stretch>
            <a:fillRect/>
          </a:stretch>
        </p:blipFill>
        <p:spPr>
          <a:xfrm>
            <a:off x="1324051" y="3390595"/>
            <a:ext cx="133502" cy="171907"/>
          </a:xfrm>
          <a:prstGeom prst="rect">
            <a:avLst/>
          </a:prstGeom>
        </p:spPr>
      </p:pic>
      <p:sp>
        <p:nvSpPr>
          <p:cNvPr id="11" name="Text 6"/>
          <p:cNvSpPr txBox="1"/>
          <p:nvPr/>
        </p:nvSpPr>
        <p:spPr>
          <a:xfrm>
            <a:off x="1695298" y="3286354"/>
            <a:ext cx="2076602" cy="476402"/>
          </a:xfrm>
          <a:prstGeom prst="rect">
            <a:avLst/>
          </a:prstGeom>
          <a:noFill/>
        </p:spPr>
        <p:txBody>
          <a:bodyPr wrap="square" lIns="0" tIns="0" rIns="0" bIns="0" rtlCol="0" anchor="ctr"/>
          <a:lstStyle/>
          <a:p>
            <a:pPr marL="0" indent="0" algn="l">
              <a:buNone/>
            </a:pPr>
            <a:r>
              <a:rPr lang="en-US" sz="1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Mid-term: Foundation Building</a:t>
            </a:r>
            <a:endParaRPr lang="en-US" sz="1400" dirty="0">
              <a:ea typeface="Noto Sans SC" panose="020B0200000000000000" pitchFamily="34" charset="-122"/>
              <a:cs typeface="Noto Sans SC" panose="020B0200000000000000" pitchFamily="34" charset="-122"/>
            </a:endParaRPr>
          </a:p>
        </p:txBody>
      </p:sp>
      <p:sp>
        <p:nvSpPr>
          <p:cNvPr id="12" name="Text 7"/>
          <p:cNvSpPr txBox="1"/>
          <p:nvPr/>
        </p:nvSpPr>
        <p:spPr>
          <a:xfrm>
            <a:off x="1200607" y="3947465"/>
            <a:ext cx="2572207" cy="734263"/>
          </a:xfrm>
          <a:prstGeom prst="rect">
            <a:avLst/>
          </a:prstGeom>
          <a:noFill/>
        </p:spPr>
        <p:txBody>
          <a:bodyPr wrap="square" lIns="0" tIns="0" rIns="0" bIns="0" rtlCol="0" anchor="ctr"/>
          <a:lstStyle/>
          <a:p>
            <a:pPr marL="0" indent="0" algn="l">
              <a:buNone/>
            </a:pPr>
            <a:r>
              <a:rPr lang="en-US" sz="1200" dirty="0">
                <a:solidFill>
                  <a:srgbClr val="FFFFFF">
                    <a:alpha val="85000"/>
                  </a:srgbClr>
                </a:solidFill>
                <a:latin typeface="Noto Sans SC" panose="020B0200000000000000" pitchFamily="34" charset="-122"/>
                <a:ea typeface="Noto Sans SC" panose="020B0200000000000000" pitchFamily="34" charset="-122"/>
                <a:cs typeface="Noto Sans SC" panose="020B0200000000000000" pitchFamily="34" charset="-122"/>
              </a:rPr>
              <a:t>Core dorm management functions completed including login/management/records/stats/evaluation</a:t>
            </a:r>
            <a:endParaRPr lang="en-US" sz="1200" dirty="0">
              <a:ea typeface="Noto Sans SC" panose="020B0200000000000000" pitchFamily="34" charset="-122"/>
              <a:cs typeface="Noto Sans SC" panose="020B0200000000000000" pitchFamily="34" charset="-122"/>
            </a:endParaRPr>
          </a:p>
        </p:txBody>
      </p:sp>
      <p:pic>
        <p:nvPicPr>
          <p:cNvPr id="13" name="Image 3" descr="preencoded.png"/>
          <p:cNvPicPr>
            <a:picLocks noChangeAspect="1"/>
          </p:cNvPicPr>
          <p:nvPr/>
        </p:nvPicPr>
        <p:blipFill>
          <a:blip r:embed="rId4"/>
          <a:srcRect t="-35" b="-35"/>
          <a:stretch>
            <a:fillRect/>
          </a:stretch>
        </p:blipFill>
        <p:spPr>
          <a:xfrm>
            <a:off x="1200607" y="5926226"/>
            <a:ext cx="1095451" cy="314554"/>
          </a:xfrm>
          <a:prstGeom prst="rect">
            <a:avLst/>
          </a:prstGeom>
        </p:spPr>
      </p:pic>
      <p:sp>
        <p:nvSpPr>
          <p:cNvPr id="14" name="Text 8"/>
          <p:cNvSpPr/>
          <p:nvPr/>
        </p:nvSpPr>
        <p:spPr>
          <a:xfrm>
            <a:off x="1505102" y="5926226"/>
            <a:ext cx="790956" cy="314554"/>
          </a:xfrm>
          <a:prstGeom prst="rect">
            <a:avLst/>
          </a:prstGeom>
          <a:noFill/>
        </p:spPr>
        <p:txBody>
          <a:bodyPr wrap="square" lIns="0" tIns="0" rIns="0" bIns="0" rtlCol="0" anchor="ctr"/>
          <a:lstStyle/>
          <a:p>
            <a:pPr marL="0" indent="0" algn="l">
              <a:buNone/>
            </a:pPr>
            <a:r>
              <a:rPr lang="en-US" sz="900" dirty="0">
                <a:solidFill>
                  <a:srgbClr val="86EFAC"/>
                </a:solidFill>
                <a:latin typeface="Noto Sans SC" panose="020B0200000000000000" pitchFamily="34" charset="-122"/>
                <a:ea typeface="Noto Sans SC" panose="020B0200000000000000" pitchFamily="34" charset="-122"/>
                <a:cs typeface="Noto Sans SC" panose="020B0200000000000000" pitchFamily="34" charset="-122"/>
              </a:rPr>
              <a:t> Completed </a:t>
            </a:r>
            <a:endParaRPr lang="en-US" sz="900" dirty="0">
              <a:ea typeface="Noto Sans SC" panose="020B0200000000000000" pitchFamily="34" charset="-122"/>
              <a:cs typeface="Noto Sans SC" panose="020B0200000000000000" pitchFamily="34" charset="-122"/>
            </a:endParaRPr>
          </a:p>
        </p:txBody>
      </p:sp>
      <p:pic>
        <p:nvPicPr>
          <p:cNvPr id="15" name="Image 4" descr="preencoded.png"/>
          <p:cNvPicPr>
            <a:picLocks noChangeAspect="1"/>
          </p:cNvPicPr>
          <p:nvPr/>
        </p:nvPicPr>
        <p:blipFill>
          <a:blip r:embed="rId5"/>
          <a:srcRect t="-6791" b="-6791"/>
          <a:stretch>
            <a:fillRect/>
          </a:stretch>
        </p:blipFill>
        <p:spPr>
          <a:xfrm>
            <a:off x="1333195" y="6020410"/>
            <a:ext cx="95098" cy="123444"/>
          </a:xfrm>
          <a:prstGeom prst="rect">
            <a:avLst/>
          </a:prstGeom>
        </p:spPr>
      </p:pic>
      <p:pic>
        <p:nvPicPr>
          <p:cNvPr id="16" name="Image 5" descr="preencoded.png"/>
          <p:cNvPicPr>
            <a:picLocks noChangeAspect="1"/>
          </p:cNvPicPr>
          <p:nvPr/>
        </p:nvPicPr>
        <p:blipFill>
          <a:blip r:embed="rId6"/>
          <a:srcRect t="-5240" b="-5240"/>
          <a:stretch>
            <a:fillRect/>
          </a:stretch>
        </p:blipFill>
        <p:spPr>
          <a:xfrm>
            <a:off x="4200754" y="4552798"/>
            <a:ext cx="181051" cy="228600"/>
          </a:xfrm>
          <a:prstGeom prst="rect">
            <a:avLst/>
          </a:prstGeom>
        </p:spPr>
      </p:pic>
      <p:sp>
        <p:nvSpPr>
          <p:cNvPr id="17" name="Shape 9"/>
          <p:cNvSpPr/>
          <p:nvPr/>
        </p:nvSpPr>
        <p:spPr>
          <a:xfrm>
            <a:off x="4572000" y="3047695"/>
            <a:ext cx="3047695" cy="3429000"/>
          </a:xfrm>
          <a:prstGeom prst="roundRect">
            <a:avLst>
              <a:gd name="adj" fmla="val 3000"/>
            </a:avLst>
          </a:prstGeom>
          <a:solidFill>
            <a:srgbClr val="FFFFFF">
              <a:alpha val="10000"/>
            </a:srgbClr>
          </a:solidFill>
          <a:ln w="12700">
            <a:solidFill>
              <a:srgbClr val="FFFFFF">
                <a:alpha val="20000"/>
              </a:srgbClr>
            </a:solidFill>
            <a:prstDash val="solid"/>
          </a:ln>
        </p:spPr>
      </p:sp>
      <p:sp>
        <p:nvSpPr>
          <p:cNvPr id="18" name="Shape 10"/>
          <p:cNvSpPr/>
          <p:nvPr/>
        </p:nvSpPr>
        <p:spPr>
          <a:xfrm>
            <a:off x="4809744" y="3286354"/>
            <a:ext cx="381305" cy="381305"/>
          </a:xfrm>
          <a:prstGeom prst="roundRect">
            <a:avLst>
              <a:gd name="adj" fmla="val 119904"/>
            </a:avLst>
          </a:prstGeom>
          <a:solidFill>
            <a:srgbClr val="FFFFFF">
              <a:alpha val="15000"/>
            </a:srgbClr>
          </a:solidFill>
          <a:ln w="12700">
            <a:solidFill>
              <a:srgbClr val="FFFFFF">
                <a:alpha val="0"/>
              </a:srgbClr>
            </a:solidFill>
            <a:prstDash val="solid"/>
          </a:ln>
        </p:spPr>
      </p:sp>
      <p:pic>
        <p:nvPicPr>
          <p:cNvPr id="19" name="Image 6" descr="preencoded.png"/>
          <p:cNvPicPr>
            <a:picLocks noChangeAspect="1"/>
          </p:cNvPicPr>
          <p:nvPr/>
        </p:nvPicPr>
        <p:blipFill>
          <a:blip r:embed="rId7"/>
          <a:srcRect l="-1773" r="-1773"/>
          <a:stretch>
            <a:fillRect/>
          </a:stretch>
        </p:blipFill>
        <p:spPr>
          <a:xfrm>
            <a:off x="4934102" y="3390595"/>
            <a:ext cx="133502" cy="171907"/>
          </a:xfrm>
          <a:prstGeom prst="rect">
            <a:avLst/>
          </a:prstGeom>
        </p:spPr>
      </p:pic>
      <p:sp>
        <p:nvSpPr>
          <p:cNvPr id="20" name="Text 11"/>
          <p:cNvSpPr txBox="1"/>
          <p:nvPr/>
        </p:nvSpPr>
        <p:spPr>
          <a:xfrm>
            <a:off x="5305349" y="3286354"/>
            <a:ext cx="2076602" cy="715061"/>
          </a:xfrm>
          <a:prstGeom prst="rect">
            <a:avLst/>
          </a:prstGeom>
          <a:noFill/>
        </p:spPr>
        <p:txBody>
          <a:bodyPr wrap="square" lIns="0" tIns="0" rIns="0" bIns="0" rtlCol="0" anchor="ctr"/>
          <a:lstStyle/>
          <a:p>
            <a:pPr marL="0" indent="0" algn="l">
              <a:buNone/>
            </a:pPr>
            <a:r>
              <a:rPr lang="en-US" sz="1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Post Mid-term: Expansion &amp; Enhancement</a:t>
            </a:r>
            <a:endParaRPr lang="en-US" sz="1400" dirty="0">
              <a:ea typeface="Noto Sans SC" panose="020B0200000000000000" pitchFamily="34" charset="-122"/>
              <a:cs typeface="Noto Sans SC" panose="020B0200000000000000" pitchFamily="34" charset="-122"/>
            </a:endParaRPr>
          </a:p>
        </p:txBody>
      </p:sp>
      <p:sp>
        <p:nvSpPr>
          <p:cNvPr id="21" name="Text 12"/>
          <p:cNvSpPr txBox="1"/>
          <p:nvPr/>
        </p:nvSpPr>
        <p:spPr>
          <a:xfrm>
            <a:off x="4809744" y="4182466"/>
            <a:ext cx="2572207" cy="734263"/>
          </a:xfrm>
          <a:prstGeom prst="rect">
            <a:avLst/>
          </a:prstGeom>
          <a:noFill/>
        </p:spPr>
        <p:txBody>
          <a:bodyPr wrap="square" lIns="0" tIns="0" rIns="0" bIns="0" rtlCol="0" anchor="ctr"/>
          <a:lstStyle/>
          <a:p>
            <a:pPr marL="0" indent="0" algn="l">
              <a:buNone/>
            </a:pPr>
            <a:r>
              <a:rPr lang="en-US" sz="1200" dirty="0">
                <a:solidFill>
                  <a:srgbClr val="FFFFFF">
                    <a:alpha val="85000"/>
                  </a:srgbClr>
                </a:solidFill>
                <a:latin typeface="Noto Sans SC" panose="020B0200000000000000" pitchFamily="34" charset="-122"/>
                <a:ea typeface="Noto Sans SC" panose="020B0200000000000000" pitchFamily="34" charset="-122"/>
                <a:cs typeface="Noto Sans SC" panose="020B0200000000000000" pitchFamily="34" charset="-122"/>
              </a:rPr>
              <a:t>Add questionnaire system, matching algorithm, risk management, EVM analysis</a:t>
            </a:r>
            <a:endParaRPr lang="en-US" sz="1200" dirty="0">
              <a:ea typeface="Noto Sans SC" panose="020B0200000000000000" pitchFamily="34" charset="-122"/>
              <a:cs typeface="Noto Sans SC" panose="020B0200000000000000" pitchFamily="34" charset="-122"/>
            </a:endParaRPr>
          </a:p>
        </p:txBody>
      </p:sp>
      <p:pic>
        <p:nvPicPr>
          <p:cNvPr id="22" name="Image 7" descr="preencoded.png"/>
          <p:cNvPicPr>
            <a:picLocks noChangeAspect="1"/>
          </p:cNvPicPr>
          <p:nvPr/>
        </p:nvPicPr>
        <p:blipFill>
          <a:blip r:embed="rId8"/>
          <a:srcRect l="-47" r="-47"/>
          <a:stretch>
            <a:fillRect/>
          </a:stretch>
        </p:blipFill>
        <p:spPr>
          <a:xfrm>
            <a:off x="4809744" y="5926226"/>
            <a:ext cx="1104595" cy="314554"/>
          </a:xfrm>
          <a:prstGeom prst="rect">
            <a:avLst/>
          </a:prstGeom>
        </p:spPr>
      </p:pic>
      <p:sp>
        <p:nvSpPr>
          <p:cNvPr id="23" name="Text 13"/>
          <p:cNvSpPr/>
          <p:nvPr/>
        </p:nvSpPr>
        <p:spPr>
          <a:xfrm>
            <a:off x="5114239" y="5926226"/>
            <a:ext cx="801014" cy="314554"/>
          </a:xfrm>
          <a:prstGeom prst="rect">
            <a:avLst/>
          </a:prstGeom>
          <a:noFill/>
        </p:spPr>
        <p:txBody>
          <a:bodyPr wrap="square" lIns="0" tIns="0" rIns="0" bIns="0" rtlCol="0" anchor="ctr"/>
          <a:lstStyle/>
          <a:p>
            <a:pPr marL="0" indent="0" algn="l">
              <a:buNone/>
            </a:pPr>
            <a:r>
              <a:rPr lang="en-US" sz="900" dirty="0">
                <a:solidFill>
                  <a:srgbClr val="FCD34D"/>
                </a:solidFill>
                <a:latin typeface="Noto Sans SC" panose="020B0200000000000000" pitchFamily="34" charset="-122"/>
                <a:ea typeface="Noto Sans SC" panose="020B0200000000000000" pitchFamily="34" charset="-122"/>
                <a:cs typeface="Noto Sans SC" panose="020B0200000000000000" pitchFamily="34" charset="-122"/>
              </a:rPr>
              <a:t> In Progress </a:t>
            </a:r>
            <a:endParaRPr lang="en-US" sz="900" dirty="0">
              <a:ea typeface="Noto Sans SC" panose="020B0200000000000000" pitchFamily="34" charset="-122"/>
              <a:cs typeface="Noto Sans SC" panose="020B0200000000000000" pitchFamily="34" charset="-122"/>
            </a:endParaRPr>
          </a:p>
        </p:txBody>
      </p:sp>
      <p:pic>
        <p:nvPicPr>
          <p:cNvPr id="24" name="Image 8" descr="preencoded.png"/>
          <p:cNvPicPr>
            <a:picLocks noChangeAspect="1"/>
          </p:cNvPicPr>
          <p:nvPr/>
        </p:nvPicPr>
        <p:blipFill>
          <a:blip r:embed="rId9"/>
          <a:srcRect l="-2994" r="-2994"/>
          <a:stretch>
            <a:fillRect/>
          </a:stretch>
        </p:blipFill>
        <p:spPr>
          <a:xfrm>
            <a:off x="4913986" y="6010351"/>
            <a:ext cx="161849" cy="152705"/>
          </a:xfrm>
          <a:prstGeom prst="rect">
            <a:avLst/>
          </a:prstGeom>
        </p:spPr>
      </p:pic>
      <p:pic>
        <p:nvPicPr>
          <p:cNvPr id="25" name="Image 9" descr="preencoded.png"/>
          <p:cNvPicPr>
            <a:picLocks noChangeAspect="1"/>
          </p:cNvPicPr>
          <p:nvPr/>
        </p:nvPicPr>
        <p:blipFill>
          <a:blip r:embed="rId6"/>
          <a:srcRect t="-5240" b="-5240"/>
          <a:stretch>
            <a:fillRect/>
          </a:stretch>
        </p:blipFill>
        <p:spPr>
          <a:xfrm>
            <a:off x="7810805" y="4552798"/>
            <a:ext cx="181051" cy="228600"/>
          </a:xfrm>
          <a:prstGeom prst="rect">
            <a:avLst/>
          </a:prstGeom>
        </p:spPr>
      </p:pic>
      <p:sp>
        <p:nvSpPr>
          <p:cNvPr id="26" name="Shape 14"/>
          <p:cNvSpPr/>
          <p:nvPr/>
        </p:nvSpPr>
        <p:spPr>
          <a:xfrm>
            <a:off x="8182051" y="3047695"/>
            <a:ext cx="3047695" cy="3429000"/>
          </a:xfrm>
          <a:prstGeom prst="roundRect">
            <a:avLst>
              <a:gd name="adj" fmla="val 3000"/>
            </a:avLst>
          </a:prstGeom>
          <a:solidFill>
            <a:srgbClr val="FFFFFF">
              <a:alpha val="10000"/>
            </a:srgbClr>
          </a:solidFill>
          <a:ln w="12700">
            <a:solidFill>
              <a:srgbClr val="FFFFFF">
                <a:alpha val="20000"/>
              </a:srgbClr>
            </a:solidFill>
            <a:prstDash val="solid"/>
          </a:ln>
        </p:spPr>
      </p:sp>
      <p:sp>
        <p:nvSpPr>
          <p:cNvPr id="27" name="Shape 15"/>
          <p:cNvSpPr/>
          <p:nvPr/>
        </p:nvSpPr>
        <p:spPr>
          <a:xfrm>
            <a:off x="8419795" y="3286354"/>
            <a:ext cx="381305" cy="381305"/>
          </a:xfrm>
          <a:prstGeom prst="roundRect">
            <a:avLst>
              <a:gd name="adj" fmla="val 119904"/>
            </a:avLst>
          </a:prstGeom>
          <a:solidFill>
            <a:srgbClr val="FFFFFF">
              <a:alpha val="15000"/>
            </a:srgbClr>
          </a:solidFill>
          <a:ln w="12700">
            <a:solidFill>
              <a:srgbClr val="FFFFFF">
                <a:alpha val="0"/>
              </a:srgbClr>
            </a:solidFill>
            <a:prstDash val="solid"/>
          </a:ln>
        </p:spPr>
      </p:sp>
      <p:pic>
        <p:nvPicPr>
          <p:cNvPr id="28" name="Image 10" descr="preencoded.png"/>
          <p:cNvPicPr>
            <a:picLocks noChangeAspect="1"/>
          </p:cNvPicPr>
          <p:nvPr/>
        </p:nvPicPr>
        <p:blipFill>
          <a:blip r:embed="rId10"/>
          <a:srcRect t="-14384" b="-14384"/>
          <a:stretch>
            <a:fillRect/>
          </a:stretch>
        </p:blipFill>
        <p:spPr>
          <a:xfrm>
            <a:off x="8544154" y="3390595"/>
            <a:ext cx="133502" cy="171907"/>
          </a:xfrm>
          <a:prstGeom prst="rect">
            <a:avLst/>
          </a:prstGeom>
        </p:spPr>
      </p:pic>
      <p:sp>
        <p:nvSpPr>
          <p:cNvPr id="29" name="Text 16"/>
          <p:cNvSpPr txBox="1"/>
          <p:nvPr/>
        </p:nvSpPr>
        <p:spPr>
          <a:xfrm>
            <a:off x="8915400" y="3286354"/>
            <a:ext cx="1440180" cy="238658"/>
          </a:xfrm>
          <a:prstGeom prst="rect">
            <a:avLst/>
          </a:prstGeom>
          <a:noFill/>
        </p:spPr>
        <p:txBody>
          <a:bodyPr wrap="square" lIns="0" tIns="0" rIns="0" bIns="0" rtlCol="0" anchor="ctr"/>
          <a:lstStyle/>
          <a:p>
            <a:pPr marL="0" indent="0" algn="l">
              <a:buNone/>
            </a:pPr>
            <a:r>
              <a:rPr lang="en-US" sz="1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Ultimate Goal</a:t>
            </a:r>
            <a:endParaRPr lang="en-US" sz="1400" dirty="0">
              <a:ea typeface="Noto Sans SC" panose="020B0200000000000000" pitchFamily="34" charset="-122"/>
              <a:cs typeface="Noto Sans SC" panose="020B0200000000000000" pitchFamily="34" charset="-122"/>
            </a:endParaRPr>
          </a:p>
        </p:txBody>
      </p:sp>
      <p:sp>
        <p:nvSpPr>
          <p:cNvPr id="30" name="Text 17"/>
          <p:cNvSpPr txBox="1"/>
          <p:nvPr/>
        </p:nvSpPr>
        <p:spPr>
          <a:xfrm>
            <a:off x="8419795" y="3857854"/>
            <a:ext cx="2572207" cy="734263"/>
          </a:xfrm>
          <a:prstGeom prst="rect">
            <a:avLst/>
          </a:prstGeom>
          <a:noFill/>
        </p:spPr>
        <p:txBody>
          <a:bodyPr wrap="square" lIns="0" tIns="0" rIns="0" bIns="0" rtlCol="0" anchor="ctr"/>
          <a:lstStyle/>
          <a:p>
            <a:pPr marL="0" indent="0" algn="l">
              <a:buNone/>
            </a:pPr>
            <a:r>
              <a:rPr lang="en-US" sz="1200" dirty="0">
                <a:solidFill>
                  <a:srgbClr val="FFFFFF">
                    <a:alpha val="85000"/>
                  </a:srgbClr>
                </a:solidFill>
                <a:latin typeface="Noto Sans SC" panose="020B0200000000000000" pitchFamily="34" charset="-122"/>
                <a:ea typeface="Noto Sans SC" panose="020B0200000000000000" pitchFamily="34" charset="-122"/>
                <a:cs typeface="Noto Sans SC" panose="020B0200000000000000" pitchFamily="34" charset="-122"/>
              </a:rPr>
              <a:t>Achieve intelligent dormitory allocation, improve management efficiency and student satisfaction</a:t>
            </a:r>
            <a:endParaRPr lang="en-US" sz="1200" dirty="0">
              <a:ea typeface="Noto Sans SC" panose="020B0200000000000000" pitchFamily="34" charset="-122"/>
              <a:cs typeface="Noto Sans SC" panose="020B0200000000000000" pitchFamily="34" charset="-122"/>
            </a:endParaRPr>
          </a:p>
        </p:txBody>
      </p:sp>
      <p:pic>
        <p:nvPicPr>
          <p:cNvPr id="31" name="Image 11" descr="preencoded.png"/>
          <p:cNvPicPr>
            <a:picLocks noChangeAspect="1"/>
          </p:cNvPicPr>
          <p:nvPr/>
        </p:nvPicPr>
        <p:blipFill>
          <a:blip r:embed="rId11"/>
          <a:srcRect l="-240" r="-240"/>
          <a:stretch>
            <a:fillRect/>
          </a:stretch>
        </p:blipFill>
        <p:spPr>
          <a:xfrm>
            <a:off x="8419795" y="5926226"/>
            <a:ext cx="819302" cy="314554"/>
          </a:xfrm>
          <a:prstGeom prst="rect">
            <a:avLst/>
          </a:prstGeom>
        </p:spPr>
      </p:pic>
      <p:sp>
        <p:nvSpPr>
          <p:cNvPr id="32" name="Text 18"/>
          <p:cNvSpPr/>
          <p:nvPr/>
        </p:nvSpPr>
        <p:spPr>
          <a:xfrm>
            <a:off x="8724290" y="5926226"/>
            <a:ext cx="514807" cy="314554"/>
          </a:xfrm>
          <a:prstGeom prst="rect">
            <a:avLst/>
          </a:prstGeom>
          <a:noFill/>
        </p:spPr>
        <p:txBody>
          <a:bodyPr wrap="square" lIns="0" tIns="0" rIns="0" bIns="0" rtlCol="0" anchor="ctr"/>
          <a:lstStyle/>
          <a:p>
            <a:pPr marL="0" indent="0" algn="l">
              <a:buNone/>
            </a:pPr>
            <a:r>
              <a:rPr lang="en-US" sz="900" dirty="0">
                <a:solidFill>
                  <a:srgbClr val="FCD34D"/>
                </a:solidFill>
                <a:latin typeface="Noto Sans SC" panose="020B0200000000000000" pitchFamily="34" charset="-122"/>
                <a:ea typeface="Noto Sans SC" panose="020B0200000000000000" pitchFamily="34" charset="-122"/>
                <a:cs typeface="Noto Sans SC" panose="020B0200000000000000" pitchFamily="34" charset="-122"/>
              </a:rPr>
              <a:t> Target </a:t>
            </a:r>
            <a:endParaRPr lang="en-US" sz="900" dirty="0">
              <a:ea typeface="Noto Sans SC" panose="020B0200000000000000" pitchFamily="34" charset="-122"/>
              <a:cs typeface="Noto Sans SC" panose="020B0200000000000000" pitchFamily="34" charset="-122"/>
            </a:endParaRPr>
          </a:p>
        </p:txBody>
      </p:sp>
      <p:pic>
        <p:nvPicPr>
          <p:cNvPr id="33" name="Image 12" descr="preencoded.png"/>
          <p:cNvPicPr>
            <a:picLocks noChangeAspect="1"/>
          </p:cNvPicPr>
          <p:nvPr/>
        </p:nvPicPr>
        <p:blipFill>
          <a:blip r:embed="rId12"/>
          <a:srcRect t="-14904" b="-14904"/>
          <a:stretch>
            <a:fillRect/>
          </a:stretch>
        </p:blipFill>
        <p:spPr>
          <a:xfrm>
            <a:off x="8553298" y="6020410"/>
            <a:ext cx="95098" cy="12344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0" r="-10"/>
          <a:stretch>
            <a:fillRect/>
          </a:stretch>
        </p:blipFill>
        <p:spPr>
          <a:xfrm>
            <a:off x="0" y="0"/>
            <a:ext cx="12191695" cy="666598"/>
          </a:xfrm>
          <a:prstGeom prst="rect">
            <a:avLst/>
          </a:prstGeom>
        </p:spPr>
      </p:pic>
      <p:sp>
        <p:nvSpPr>
          <p:cNvPr id="5" name="Shape 2"/>
          <p:cNvSpPr/>
          <p:nvPr/>
        </p:nvSpPr>
        <p:spPr>
          <a:xfrm>
            <a:off x="476402" y="1333195"/>
            <a:ext cx="3619195" cy="5286146"/>
          </a:xfrm>
          <a:prstGeom prst="roundRect">
            <a:avLst>
              <a:gd name="adj" fmla="val 1330"/>
            </a:avLst>
          </a:prstGeom>
          <a:solidFill>
            <a:srgbClr val="FFFFFF"/>
          </a:solidFill>
          <a:effectLst>
            <a:outerShdw blurRad="139700" dist="38100" dir="16200000" algn="bl" rotWithShape="0">
              <a:srgbClr val="000000">
                <a:alpha val="5000"/>
              </a:srgbClr>
            </a:outerShdw>
          </a:effectLst>
        </p:spPr>
      </p:sp>
      <p:sp>
        <p:nvSpPr>
          <p:cNvPr id="6" name="Shape 3"/>
          <p:cNvSpPr/>
          <p:nvPr/>
        </p:nvSpPr>
        <p:spPr>
          <a:xfrm>
            <a:off x="476402" y="1333195"/>
            <a:ext cx="3619195" cy="47549"/>
          </a:xfrm>
          <a:prstGeom prst="roundRect">
            <a:avLst>
              <a:gd name="adj" fmla="val 101214"/>
            </a:avLst>
          </a:prstGeom>
          <a:solidFill>
            <a:srgbClr val="3B82F6"/>
          </a:solidFill>
          <a:ln w="12700">
            <a:solidFill>
              <a:srgbClr val="3B82F6">
                <a:alpha val="0"/>
              </a:srgbClr>
            </a:solidFill>
            <a:prstDash val="solid"/>
          </a:ln>
        </p:spPr>
      </p:sp>
      <p:sp>
        <p:nvSpPr>
          <p:cNvPr id="7" name="Shape 4"/>
          <p:cNvSpPr/>
          <p:nvPr/>
        </p:nvSpPr>
        <p:spPr>
          <a:xfrm>
            <a:off x="4286707" y="1333195"/>
            <a:ext cx="3619195" cy="5286146"/>
          </a:xfrm>
          <a:prstGeom prst="roundRect">
            <a:avLst>
              <a:gd name="adj" fmla="val 1330"/>
            </a:avLst>
          </a:prstGeom>
          <a:solidFill>
            <a:srgbClr val="FFFFFF"/>
          </a:solidFill>
          <a:effectLst>
            <a:outerShdw blurRad="139700" dist="38100" dir="16200000" algn="bl" rotWithShape="0">
              <a:srgbClr val="000000">
                <a:alpha val="5000"/>
              </a:srgbClr>
            </a:outerShdw>
          </a:effectLst>
        </p:spPr>
      </p:sp>
      <p:sp>
        <p:nvSpPr>
          <p:cNvPr id="8" name="Shape 5"/>
          <p:cNvSpPr/>
          <p:nvPr/>
        </p:nvSpPr>
        <p:spPr>
          <a:xfrm>
            <a:off x="4286707" y="1333195"/>
            <a:ext cx="3619195" cy="47549"/>
          </a:xfrm>
          <a:prstGeom prst="roundRect">
            <a:avLst>
              <a:gd name="adj" fmla="val 101214"/>
            </a:avLst>
          </a:prstGeom>
          <a:solidFill>
            <a:srgbClr val="10B981"/>
          </a:solidFill>
          <a:ln w="12700">
            <a:solidFill>
              <a:srgbClr val="10B981">
                <a:alpha val="0"/>
              </a:srgbClr>
            </a:solidFill>
            <a:prstDash val="solid"/>
          </a:ln>
        </p:spPr>
      </p:sp>
      <p:sp>
        <p:nvSpPr>
          <p:cNvPr id="9" name="Shape 6"/>
          <p:cNvSpPr/>
          <p:nvPr/>
        </p:nvSpPr>
        <p:spPr>
          <a:xfrm>
            <a:off x="8096098" y="1333195"/>
            <a:ext cx="3619195" cy="5286146"/>
          </a:xfrm>
          <a:prstGeom prst="roundRect">
            <a:avLst>
              <a:gd name="adj" fmla="val 1330"/>
            </a:avLst>
          </a:prstGeom>
          <a:solidFill>
            <a:srgbClr val="FFFFFF"/>
          </a:solidFill>
          <a:effectLst>
            <a:outerShdw blurRad="139700" dist="38100" dir="16200000" algn="bl" rotWithShape="0">
              <a:srgbClr val="000000">
                <a:alpha val="5000"/>
              </a:srgbClr>
            </a:outerShdw>
          </a:effectLst>
        </p:spPr>
      </p:sp>
      <p:sp>
        <p:nvSpPr>
          <p:cNvPr id="10" name="Shape 7"/>
          <p:cNvSpPr/>
          <p:nvPr/>
        </p:nvSpPr>
        <p:spPr>
          <a:xfrm>
            <a:off x="8096098" y="1333195"/>
            <a:ext cx="3619195" cy="47549"/>
          </a:xfrm>
          <a:prstGeom prst="roundRect">
            <a:avLst>
              <a:gd name="adj" fmla="val 101214"/>
            </a:avLst>
          </a:prstGeom>
          <a:solidFill>
            <a:srgbClr val="8B5CF6"/>
          </a:solidFill>
          <a:ln w="12700">
            <a:solidFill>
              <a:srgbClr val="8B5CF6">
                <a:alpha val="0"/>
              </a:srgbClr>
            </a:solidFill>
            <a:prstDash val="solid"/>
          </a:ln>
        </p:spPr>
      </p:sp>
      <p:sp>
        <p:nvSpPr>
          <p:cNvPr id="11" name="Shape 8"/>
          <p:cNvSpPr/>
          <p:nvPr/>
        </p:nvSpPr>
        <p:spPr>
          <a:xfrm>
            <a:off x="476402" y="133502"/>
            <a:ext cx="400507" cy="400507"/>
          </a:xfrm>
          <a:prstGeom prst="ellipse">
            <a:avLst/>
          </a:prstGeom>
          <a:solidFill>
            <a:srgbClr val="FFFFFF">
              <a:alpha val="15000"/>
            </a:srgbClr>
          </a:solidFill>
          <a:ln w="12700">
            <a:solidFill>
              <a:srgbClr val="FFFFFF">
                <a:alpha val="0"/>
              </a:srgbClr>
            </a:solidFill>
            <a:prstDash val="solid"/>
          </a:ln>
        </p:spPr>
      </p:sp>
      <p:pic>
        <p:nvPicPr>
          <p:cNvPr id="12" name="Image 1" descr="preencoded.png"/>
          <p:cNvPicPr>
            <a:picLocks noChangeAspect="1"/>
          </p:cNvPicPr>
          <p:nvPr/>
        </p:nvPicPr>
        <p:blipFill>
          <a:blip r:embed="rId2"/>
          <a:srcRect t="-842" b="-842"/>
          <a:stretch>
            <a:fillRect/>
          </a:stretch>
        </p:blipFill>
        <p:spPr>
          <a:xfrm>
            <a:off x="580644" y="247802"/>
            <a:ext cx="190195" cy="171907"/>
          </a:xfrm>
          <a:prstGeom prst="rect">
            <a:avLst/>
          </a:prstGeom>
        </p:spPr>
      </p:pic>
      <p:sp>
        <p:nvSpPr>
          <p:cNvPr id="13" name="Text 9"/>
          <p:cNvSpPr txBox="1"/>
          <p:nvPr/>
        </p:nvSpPr>
        <p:spPr>
          <a:xfrm>
            <a:off x="1028700" y="152705"/>
            <a:ext cx="5191963" cy="362102"/>
          </a:xfrm>
          <a:prstGeom prst="rect">
            <a:avLst/>
          </a:prstGeom>
          <a:noFill/>
        </p:spPr>
        <p:txBody>
          <a:bodyPr wrap="square" lIns="0" tIns="0" rIns="0" bIns="0" rtlCol="0" anchor="ctr"/>
          <a:lstStyle/>
          <a:p>
            <a:pPr marL="0" indent="0" algn="l">
              <a:buNone/>
            </a:pPr>
            <a:r>
              <a:rPr lang="en-US" sz="21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Post Mid-term New Feature Scope</a:t>
            </a:r>
            <a:endParaRPr lang="en-US" sz="2100" dirty="0">
              <a:ea typeface="Noto Sans SC" panose="020B0200000000000000" pitchFamily="34" charset="-122"/>
              <a:cs typeface="Noto Sans SC" panose="020B0200000000000000" pitchFamily="34" charset="-122"/>
            </a:endParaRPr>
          </a:p>
        </p:txBody>
      </p:sp>
      <p:sp>
        <p:nvSpPr>
          <p:cNvPr id="14" name="Text 10"/>
          <p:cNvSpPr txBox="1"/>
          <p:nvPr/>
        </p:nvSpPr>
        <p:spPr>
          <a:xfrm>
            <a:off x="743407" y="871423"/>
            <a:ext cx="8887054" cy="257861"/>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From Prototype to Questionnaire &amp; Matching Expansion: New Feature Module Definition</a:t>
            </a:r>
            <a:endParaRPr lang="en-US" sz="1500" dirty="0">
              <a:ea typeface="Noto Sans SC" panose="020B0200000000000000" pitchFamily="34" charset="-122"/>
              <a:cs typeface="Noto Sans SC" panose="020B0200000000000000" pitchFamily="34" charset="-122"/>
            </a:endParaRPr>
          </a:p>
        </p:txBody>
      </p:sp>
      <p:pic>
        <p:nvPicPr>
          <p:cNvPr id="15" name="Image 2" descr="preencoded.png"/>
          <p:cNvPicPr>
            <a:picLocks noChangeAspect="1"/>
          </p:cNvPicPr>
          <p:nvPr/>
        </p:nvPicPr>
        <p:blipFill>
          <a:blip r:embed="rId3"/>
          <a:srcRect/>
          <a:stretch>
            <a:fillRect/>
          </a:stretch>
        </p:blipFill>
        <p:spPr>
          <a:xfrm>
            <a:off x="476402" y="905256"/>
            <a:ext cx="190195" cy="190195"/>
          </a:xfrm>
          <a:prstGeom prst="rect">
            <a:avLst/>
          </a:prstGeom>
        </p:spPr>
      </p:pic>
      <p:sp>
        <p:nvSpPr>
          <p:cNvPr id="16" name="Shape 11"/>
          <p:cNvSpPr/>
          <p:nvPr/>
        </p:nvSpPr>
        <p:spPr>
          <a:xfrm>
            <a:off x="666598" y="2276856"/>
            <a:ext cx="3238805" cy="19202"/>
          </a:xfrm>
          <a:prstGeom prst="rect">
            <a:avLst/>
          </a:prstGeom>
          <a:solidFill>
            <a:srgbClr val="F1F5F9"/>
          </a:solidFill>
          <a:ln w="12700">
            <a:solidFill>
              <a:srgbClr val="F1F5F9">
                <a:alpha val="0"/>
              </a:srgbClr>
            </a:solidFill>
            <a:prstDash val="solid"/>
          </a:ln>
        </p:spPr>
      </p:sp>
      <p:sp>
        <p:nvSpPr>
          <p:cNvPr id="17" name="Shape 12"/>
          <p:cNvSpPr/>
          <p:nvPr/>
        </p:nvSpPr>
        <p:spPr>
          <a:xfrm>
            <a:off x="666598" y="1591056"/>
            <a:ext cx="476402" cy="476402"/>
          </a:xfrm>
          <a:prstGeom prst="roundRect">
            <a:avLst>
              <a:gd name="adj" fmla="val 76775"/>
            </a:avLst>
          </a:prstGeom>
          <a:solidFill>
            <a:srgbClr val="3B82F6">
              <a:alpha val="10000"/>
            </a:srgbClr>
          </a:solidFill>
          <a:ln w="12700">
            <a:solidFill>
              <a:srgbClr val="FFFFFF">
                <a:alpha val="0"/>
              </a:srgbClr>
            </a:solidFill>
            <a:prstDash val="solid"/>
          </a:ln>
        </p:spPr>
      </p:sp>
      <p:pic>
        <p:nvPicPr>
          <p:cNvPr id="18" name="Image 3" descr="preencoded.png"/>
          <p:cNvPicPr>
            <a:picLocks noChangeAspect="1"/>
          </p:cNvPicPr>
          <p:nvPr/>
        </p:nvPicPr>
        <p:blipFill>
          <a:blip r:embed="rId4"/>
          <a:srcRect l="-57" r="-57"/>
          <a:stretch>
            <a:fillRect/>
          </a:stretch>
        </p:blipFill>
        <p:spPr>
          <a:xfrm>
            <a:off x="804672" y="1714500"/>
            <a:ext cx="200254" cy="228600"/>
          </a:xfrm>
          <a:prstGeom prst="rect">
            <a:avLst/>
          </a:prstGeom>
        </p:spPr>
      </p:pic>
      <p:sp>
        <p:nvSpPr>
          <p:cNvPr id="19" name="Text 13"/>
          <p:cNvSpPr txBox="1"/>
          <p:nvPr/>
        </p:nvSpPr>
        <p:spPr>
          <a:xfrm>
            <a:off x="1285646" y="1524305"/>
            <a:ext cx="2619756" cy="571500"/>
          </a:xfrm>
          <a:prstGeom prst="rect">
            <a:avLst/>
          </a:prstGeom>
          <a:noFill/>
        </p:spPr>
        <p:txBody>
          <a:bodyPr wrap="square" lIns="0" tIns="0" rIns="0" bIns="0" rtlCol="0" anchor="ctr"/>
          <a:lstStyle/>
          <a:p>
            <a:pPr marL="0" indent="0" algn="l">
              <a:buNone/>
            </a:pPr>
            <a:r>
              <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Student-side New Features</a:t>
            </a:r>
            <a:endParaRPr lang="en-US" sz="1600" dirty="0">
              <a:ea typeface="Noto Sans SC" panose="020B0200000000000000" pitchFamily="34" charset="-122"/>
              <a:cs typeface="Noto Sans SC" panose="020B0200000000000000" pitchFamily="34" charset="-122"/>
            </a:endParaRPr>
          </a:p>
        </p:txBody>
      </p:sp>
      <p:sp>
        <p:nvSpPr>
          <p:cNvPr id="20" name="Shape 14"/>
          <p:cNvSpPr/>
          <p:nvPr/>
        </p:nvSpPr>
        <p:spPr>
          <a:xfrm>
            <a:off x="666598" y="2533802"/>
            <a:ext cx="3238805" cy="1057046"/>
          </a:xfrm>
          <a:prstGeom prst="roundRect">
            <a:avLst>
              <a:gd name="adj" fmla="val 12469"/>
            </a:avLst>
          </a:prstGeom>
          <a:solidFill>
            <a:srgbClr val="F8FAFC"/>
          </a:solidFill>
        </p:spPr>
      </p:sp>
      <p:sp>
        <p:nvSpPr>
          <p:cNvPr id="21" name="Shape 15"/>
          <p:cNvSpPr/>
          <p:nvPr/>
        </p:nvSpPr>
        <p:spPr>
          <a:xfrm>
            <a:off x="666598" y="2533802"/>
            <a:ext cx="38405" cy="1057046"/>
          </a:xfrm>
          <a:prstGeom prst="roundRect">
            <a:avLst>
              <a:gd name="adj" fmla="val 343199"/>
            </a:avLst>
          </a:prstGeom>
          <a:solidFill>
            <a:srgbClr val="3B82F6"/>
          </a:solidFill>
          <a:ln w="12700">
            <a:solidFill>
              <a:srgbClr val="3B82F6">
                <a:alpha val="0"/>
              </a:srgbClr>
            </a:solidFill>
            <a:prstDash val="solid"/>
          </a:ln>
        </p:spPr>
      </p:sp>
      <p:sp>
        <p:nvSpPr>
          <p:cNvPr id="22" name="Text 16"/>
          <p:cNvSpPr txBox="1"/>
          <p:nvPr/>
        </p:nvSpPr>
        <p:spPr>
          <a:xfrm>
            <a:off x="1066190" y="2704795"/>
            <a:ext cx="2667305" cy="210312"/>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Questionnaire filling </a:t>
            </a:r>
            <a:endParaRPr lang="en-US" sz="1200" dirty="0">
              <a:ea typeface="Noto Sans SC" panose="020B0200000000000000" pitchFamily="34" charset="-122"/>
              <a:cs typeface="Noto Sans SC" panose="020B0200000000000000" pitchFamily="34" charset="-122"/>
            </a:endParaRPr>
          </a:p>
        </p:txBody>
      </p:sp>
      <p:pic>
        <p:nvPicPr>
          <p:cNvPr id="23" name="Image 4" descr="preencoded.png"/>
          <p:cNvPicPr>
            <a:picLocks noChangeAspect="1"/>
          </p:cNvPicPr>
          <p:nvPr/>
        </p:nvPicPr>
        <p:blipFill>
          <a:blip r:embed="rId5"/>
          <a:srcRect t="-100" b="-100"/>
          <a:stretch>
            <a:fillRect/>
          </a:stretch>
        </p:blipFill>
        <p:spPr>
          <a:xfrm>
            <a:off x="875995" y="2734056"/>
            <a:ext cx="114300" cy="152705"/>
          </a:xfrm>
          <a:prstGeom prst="rect">
            <a:avLst/>
          </a:prstGeom>
        </p:spPr>
      </p:pic>
      <p:sp>
        <p:nvSpPr>
          <p:cNvPr id="24" name="Text 17"/>
          <p:cNvSpPr txBox="1"/>
          <p:nvPr/>
        </p:nvSpPr>
        <p:spPr>
          <a:xfrm>
            <a:off x="875995" y="2991002"/>
            <a:ext cx="2857500" cy="428854"/>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Students can fill dorm preference/schedule questionnaire.</a:t>
            </a:r>
            <a:endParaRPr lang="en-US" sz="1000" dirty="0">
              <a:ea typeface="Noto Sans SC" panose="020B0200000000000000" pitchFamily="34" charset="-122"/>
              <a:cs typeface="Noto Sans SC" panose="020B0200000000000000" pitchFamily="34" charset="-122"/>
            </a:endParaRPr>
          </a:p>
        </p:txBody>
      </p:sp>
      <p:sp>
        <p:nvSpPr>
          <p:cNvPr id="25" name="Shape 18"/>
          <p:cNvSpPr/>
          <p:nvPr/>
        </p:nvSpPr>
        <p:spPr>
          <a:xfrm>
            <a:off x="666598" y="3779215"/>
            <a:ext cx="3238805" cy="1057046"/>
          </a:xfrm>
          <a:prstGeom prst="roundRect">
            <a:avLst>
              <a:gd name="adj" fmla="val 12469"/>
            </a:avLst>
          </a:prstGeom>
          <a:solidFill>
            <a:srgbClr val="F8FAFC"/>
          </a:solidFill>
        </p:spPr>
      </p:sp>
      <p:sp>
        <p:nvSpPr>
          <p:cNvPr id="26" name="Shape 19"/>
          <p:cNvSpPr/>
          <p:nvPr/>
        </p:nvSpPr>
        <p:spPr>
          <a:xfrm>
            <a:off x="666598" y="3779215"/>
            <a:ext cx="38405" cy="1057046"/>
          </a:xfrm>
          <a:prstGeom prst="roundRect">
            <a:avLst>
              <a:gd name="adj" fmla="val 343199"/>
            </a:avLst>
          </a:prstGeom>
          <a:solidFill>
            <a:srgbClr val="3B82F6"/>
          </a:solidFill>
          <a:ln w="12700">
            <a:solidFill>
              <a:srgbClr val="3B82F6">
                <a:alpha val="0"/>
              </a:srgbClr>
            </a:solidFill>
            <a:prstDash val="solid"/>
          </a:ln>
        </p:spPr>
      </p:sp>
      <p:sp>
        <p:nvSpPr>
          <p:cNvPr id="27" name="Text 20"/>
          <p:cNvSpPr txBox="1"/>
          <p:nvPr/>
        </p:nvSpPr>
        <p:spPr>
          <a:xfrm>
            <a:off x="1104595" y="3951122"/>
            <a:ext cx="2628900" cy="210312"/>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Matching result view </a:t>
            </a:r>
            <a:endParaRPr lang="en-US" sz="1200" dirty="0">
              <a:ea typeface="Noto Sans SC" panose="020B0200000000000000" pitchFamily="34" charset="-122"/>
              <a:cs typeface="Noto Sans SC" panose="020B0200000000000000" pitchFamily="34" charset="-122"/>
            </a:endParaRPr>
          </a:p>
        </p:txBody>
      </p:sp>
      <p:pic>
        <p:nvPicPr>
          <p:cNvPr id="28" name="Image 5" descr="preencoded.png"/>
          <p:cNvPicPr>
            <a:picLocks noChangeAspect="1"/>
          </p:cNvPicPr>
          <p:nvPr/>
        </p:nvPicPr>
        <p:blipFill>
          <a:blip r:embed="rId6"/>
          <a:srcRect/>
          <a:stretch>
            <a:fillRect/>
          </a:stretch>
        </p:blipFill>
        <p:spPr>
          <a:xfrm>
            <a:off x="875995" y="3979469"/>
            <a:ext cx="152705" cy="152705"/>
          </a:xfrm>
          <a:prstGeom prst="rect">
            <a:avLst/>
          </a:prstGeom>
        </p:spPr>
      </p:pic>
      <p:sp>
        <p:nvSpPr>
          <p:cNvPr id="29" name="Text 21"/>
          <p:cNvSpPr txBox="1"/>
          <p:nvPr/>
        </p:nvSpPr>
        <p:spPr>
          <a:xfrm>
            <a:off x="875995" y="4236415"/>
            <a:ext cx="2857500" cy="428854"/>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View recommended dorm/roommates after allocation.</a:t>
            </a:r>
            <a:endParaRPr lang="en-US" sz="1000" dirty="0">
              <a:ea typeface="Noto Sans SC" panose="020B0200000000000000" pitchFamily="34" charset="-122"/>
              <a:cs typeface="Noto Sans SC" panose="020B0200000000000000" pitchFamily="34" charset="-122"/>
            </a:endParaRPr>
          </a:p>
        </p:txBody>
      </p:sp>
      <p:sp>
        <p:nvSpPr>
          <p:cNvPr id="30" name="Shape 22"/>
          <p:cNvSpPr/>
          <p:nvPr/>
        </p:nvSpPr>
        <p:spPr>
          <a:xfrm>
            <a:off x="4476902" y="2276856"/>
            <a:ext cx="3238805" cy="19202"/>
          </a:xfrm>
          <a:prstGeom prst="rect">
            <a:avLst/>
          </a:prstGeom>
          <a:solidFill>
            <a:srgbClr val="F1F5F9"/>
          </a:solidFill>
          <a:ln w="12700">
            <a:solidFill>
              <a:srgbClr val="F1F5F9">
                <a:alpha val="0"/>
              </a:srgbClr>
            </a:solidFill>
            <a:prstDash val="solid"/>
          </a:ln>
        </p:spPr>
      </p:sp>
      <p:sp>
        <p:nvSpPr>
          <p:cNvPr id="31" name="Shape 23"/>
          <p:cNvSpPr/>
          <p:nvPr/>
        </p:nvSpPr>
        <p:spPr>
          <a:xfrm>
            <a:off x="4476902" y="1591056"/>
            <a:ext cx="476402" cy="476402"/>
          </a:xfrm>
          <a:prstGeom prst="roundRect">
            <a:avLst>
              <a:gd name="adj" fmla="val 76775"/>
            </a:avLst>
          </a:prstGeom>
          <a:solidFill>
            <a:srgbClr val="10B981">
              <a:alpha val="10000"/>
            </a:srgbClr>
          </a:solidFill>
          <a:ln w="12700">
            <a:solidFill>
              <a:srgbClr val="FFFFFF">
                <a:alpha val="0"/>
              </a:srgbClr>
            </a:solidFill>
            <a:prstDash val="solid"/>
          </a:ln>
        </p:spPr>
      </p:sp>
      <p:pic>
        <p:nvPicPr>
          <p:cNvPr id="32" name="Image 6" descr="preencoded.png"/>
          <p:cNvPicPr>
            <a:picLocks noChangeAspect="1"/>
          </p:cNvPicPr>
          <p:nvPr/>
        </p:nvPicPr>
        <p:blipFill>
          <a:blip r:embed="rId7"/>
          <a:srcRect l="-80" r="-80"/>
          <a:stretch>
            <a:fillRect/>
          </a:stretch>
        </p:blipFill>
        <p:spPr>
          <a:xfrm>
            <a:off x="4572000" y="1714500"/>
            <a:ext cx="286207" cy="228600"/>
          </a:xfrm>
          <a:prstGeom prst="rect">
            <a:avLst/>
          </a:prstGeom>
        </p:spPr>
      </p:pic>
      <p:sp>
        <p:nvSpPr>
          <p:cNvPr id="33" name="Text 24"/>
          <p:cNvSpPr txBox="1"/>
          <p:nvPr/>
        </p:nvSpPr>
        <p:spPr>
          <a:xfrm>
            <a:off x="5095951" y="1524305"/>
            <a:ext cx="2619756" cy="571500"/>
          </a:xfrm>
          <a:prstGeom prst="rect">
            <a:avLst/>
          </a:prstGeom>
          <a:noFill/>
        </p:spPr>
        <p:txBody>
          <a:bodyPr wrap="square" lIns="0" tIns="0" rIns="0" bIns="0" rtlCol="0" anchor="ctr"/>
          <a:lstStyle/>
          <a:p>
            <a:pPr marL="0" indent="0" algn="l">
              <a:buNone/>
            </a:pPr>
            <a:r>
              <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Admin-side New Features</a:t>
            </a:r>
            <a:endParaRPr lang="en-US" sz="1600" dirty="0">
              <a:ea typeface="Noto Sans SC" panose="020B0200000000000000" pitchFamily="34" charset="-122"/>
              <a:cs typeface="Noto Sans SC" panose="020B0200000000000000" pitchFamily="34" charset="-122"/>
            </a:endParaRPr>
          </a:p>
        </p:txBody>
      </p:sp>
      <p:sp>
        <p:nvSpPr>
          <p:cNvPr id="34" name="Shape 25"/>
          <p:cNvSpPr/>
          <p:nvPr/>
        </p:nvSpPr>
        <p:spPr>
          <a:xfrm>
            <a:off x="4476902" y="2533802"/>
            <a:ext cx="3238805" cy="895198"/>
          </a:xfrm>
          <a:prstGeom prst="roundRect">
            <a:avLst>
              <a:gd name="adj" fmla="val 17386"/>
            </a:avLst>
          </a:prstGeom>
          <a:solidFill>
            <a:srgbClr val="F8FAFC"/>
          </a:solidFill>
        </p:spPr>
      </p:sp>
      <p:sp>
        <p:nvSpPr>
          <p:cNvPr id="35" name="Shape 26"/>
          <p:cNvSpPr/>
          <p:nvPr/>
        </p:nvSpPr>
        <p:spPr>
          <a:xfrm>
            <a:off x="4476902" y="2533802"/>
            <a:ext cx="38405" cy="895198"/>
          </a:xfrm>
          <a:prstGeom prst="roundRect">
            <a:avLst>
              <a:gd name="adj" fmla="val 405266"/>
            </a:avLst>
          </a:prstGeom>
          <a:solidFill>
            <a:srgbClr val="10B981"/>
          </a:solidFill>
          <a:ln w="12700">
            <a:solidFill>
              <a:srgbClr val="10B981">
                <a:alpha val="0"/>
              </a:srgbClr>
            </a:solidFill>
            <a:prstDash val="solid"/>
          </a:ln>
        </p:spPr>
      </p:sp>
      <p:sp>
        <p:nvSpPr>
          <p:cNvPr id="36" name="Text 27"/>
          <p:cNvSpPr txBox="1"/>
          <p:nvPr/>
        </p:nvSpPr>
        <p:spPr>
          <a:xfrm>
            <a:off x="4876495" y="2667305"/>
            <a:ext cx="2705710" cy="210312"/>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Matching configuration </a:t>
            </a:r>
            <a:endParaRPr lang="en-US" sz="1200" dirty="0">
              <a:ea typeface="Noto Sans SC" panose="020B0200000000000000" pitchFamily="34" charset="-122"/>
              <a:cs typeface="Noto Sans SC" panose="020B0200000000000000" pitchFamily="34" charset="-122"/>
            </a:endParaRPr>
          </a:p>
        </p:txBody>
      </p:sp>
      <p:pic>
        <p:nvPicPr>
          <p:cNvPr id="37" name="Image 7" descr="preencoded.png"/>
          <p:cNvPicPr>
            <a:picLocks noChangeAspect="1"/>
          </p:cNvPicPr>
          <p:nvPr/>
        </p:nvPicPr>
        <p:blipFill>
          <a:blip r:embed="rId8"/>
          <a:srcRect/>
          <a:stretch>
            <a:fillRect/>
          </a:stretch>
        </p:blipFill>
        <p:spPr>
          <a:xfrm>
            <a:off x="4647895" y="2695651"/>
            <a:ext cx="152705" cy="152705"/>
          </a:xfrm>
          <a:prstGeom prst="rect">
            <a:avLst/>
          </a:prstGeom>
        </p:spPr>
      </p:pic>
      <p:sp>
        <p:nvSpPr>
          <p:cNvPr id="38" name="Text 28"/>
          <p:cNvSpPr txBox="1"/>
          <p:nvPr/>
        </p:nvSpPr>
        <p:spPr>
          <a:xfrm>
            <a:off x="4647895" y="2915107"/>
            <a:ext cx="2934310" cy="381305"/>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Admin configures matching weights and parameters.</a:t>
            </a:r>
            <a:endParaRPr lang="en-US" sz="1000" dirty="0">
              <a:ea typeface="Noto Sans SC" panose="020B0200000000000000" pitchFamily="34" charset="-122"/>
              <a:cs typeface="Noto Sans SC" panose="020B0200000000000000" pitchFamily="34" charset="-122"/>
            </a:endParaRPr>
          </a:p>
        </p:txBody>
      </p:sp>
      <p:sp>
        <p:nvSpPr>
          <p:cNvPr id="39" name="Shape 29"/>
          <p:cNvSpPr/>
          <p:nvPr/>
        </p:nvSpPr>
        <p:spPr>
          <a:xfrm>
            <a:off x="4476902" y="3564331"/>
            <a:ext cx="3238805" cy="895198"/>
          </a:xfrm>
          <a:prstGeom prst="roundRect">
            <a:avLst>
              <a:gd name="adj" fmla="val 17386"/>
            </a:avLst>
          </a:prstGeom>
          <a:solidFill>
            <a:srgbClr val="F8FAFC"/>
          </a:solidFill>
        </p:spPr>
      </p:sp>
      <p:sp>
        <p:nvSpPr>
          <p:cNvPr id="40" name="Shape 30"/>
          <p:cNvSpPr/>
          <p:nvPr/>
        </p:nvSpPr>
        <p:spPr>
          <a:xfrm>
            <a:off x="4476902" y="3564331"/>
            <a:ext cx="38405" cy="895198"/>
          </a:xfrm>
          <a:prstGeom prst="roundRect">
            <a:avLst>
              <a:gd name="adj" fmla="val 405266"/>
            </a:avLst>
          </a:prstGeom>
          <a:solidFill>
            <a:srgbClr val="10B981"/>
          </a:solidFill>
          <a:ln w="12700">
            <a:solidFill>
              <a:srgbClr val="10B981">
                <a:alpha val="0"/>
              </a:srgbClr>
            </a:solidFill>
            <a:prstDash val="solid"/>
          </a:ln>
        </p:spPr>
      </p:sp>
      <p:sp>
        <p:nvSpPr>
          <p:cNvPr id="41" name="Text 31"/>
          <p:cNvSpPr txBox="1"/>
          <p:nvPr/>
        </p:nvSpPr>
        <p:spPr>
          <a:xfrm>
            <a:off x="4876495" y="3697834"/>
            <a:ext cx="2705710" cy="210312"/>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Result review </a:t>
            </a:r>
            <a:endParaRPr lang="en-US" sz="1200" dirty="0">
              <a:ea typeface="Noto Sans SC" panose="020B0200000000000000" pitchFamily="34" charset="-122"/>
              <a:cs typeface="Noto Sans SC" panose="020B0200000000000000" pitchFamily="34" charset="-122"/>
            </a:endParaRPr>
          </a:p>
        </p:txBody>
      </p:sp>
      <p:pic>
        <p:nvPicPr>
          <p:cNvPr id="42" name="Image 8" descr="preencoded.png"/>
          <p:cNvPicPr>
            <a:picLocks noChangeAspect="1"/>
          </p:cNvPicPr>
          <p:nvPr/>
        </p:nvPicPr>
        <p:blipFill>
          <a:blip r:embed="rId9"/>
          <a:srcRect/>
          <a:stretch>
            <a:fillRect/>
          </a:stretch>
        </p:blipFill>
        <p:spPr>
          <a:xfrm>
            <a:off x="4647895" y="3726180"/>
            <a:ext cx="152705" cy="152705"/>
          </a:xfrm>
          <a:prstGeom prst="rect">
            <a:avLst/>
          </a:prstGeom>
        </p:spPr>
      </p:pic>
      <p:sp>
        <p:nvSpPr>
          <p:cNvPr id="43" name="Text 32"/>
          <p:cNvSpPr txBox="1"/>
          <p:nvPr/>
        </p:nvSpPr>
        <p:spPr>
          <a:xfrm>
            <a:off x="4647895" y="3944722"/>
            <a:ext cx="2934310" cy="381305"/>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View, filter, and manually adjust pairing results.</a:t>
            </a:r>
            <a:endParaRPr lang="en-US" sz="1000" dirty="0">
              <a:ea typeface="Noto Sans SC" panose="020B0200000000000000" pitchFamily="34" charset="-122"/>
              <a:cs typeface="Noto Sans SC" panose="020B0200000000000000" pitchFamily="34" charset="-122"/>
            </a:endParaRPr>
          </a:p>
        </p:txBody>
      </p:sp>
      <p:sp>
        <p:nvSpPr>
          <p:cNvPr id="44" name="Shape 33"/>
          <p:cNvSpPr/>
          <p:nvPr/>
        </p:nvSpPr>
        <p:spPr>
          <a:xfrm>
            <a:off x="4476902" y="4594860"/>
            <a:ext cx="3238805" cy="895198"/>
          </a:xfrm>
          <a:prstGeom prst="roundRect">
            <a:avLst>
              <a:gd name="adj" fmla="val 17386"/>
            </a:avLst>
          </a:prstGeom>
          <a:solidFill>
            <a:srgbClr val="F8FAFC"/>
          </a:solidFill>
        </p:spPr>
      </p:sp>
      <p:sp>
        <p:nvSpPr>
          <p:cNvPr id="45" name="Shape 34"/>
          <p:cNvSpPr/>
          <p:nvPr/>
        </p:nvSpPr>
        <p:spPr>
          <a:xfrm>
            <a:off x="4476902" y="4594860"/>
            <a:ext cx="38405" cy="895198"/>
          </a:xfrm>
          <a:prstGeom prst="roundRect">
            <a:avLst>
              <a:gd name="adj" fmla="val 405266"/>
            </a:avLst>
          </a:prstGeom>
          <a:solidFill>
            <a:srgbClr val="10B981"/>
          </a:solidFill>
          <a:ln w="12700">
            <a:solidFill>
              <a:srgbClr val="10B981">
                <a:alpha val="0"/>
              </a:srgbClr>
            </a:solidFill>
            <a:prstDash val="solid"/>
          </a:ln>
        </p:spPr>
      </p:sp>
      <p:sp>
        <p:nvSpPr>
          <p:cNvPr id="46" name="Text 35"/>
          <p:cNvSpPr txBox="1"/>
          <p:nvPr/>
        </p:nvSpPr>
        <p:spPr>
          <a:xfrm>
            <a:off x="4876495" y="4728362"/>
            <a:ext cx="2705710" cy="210312"/>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Run/Re-run </a:t>
            </a:r>
            <a:endParaRPr lang="en-US" sz="1200" dirty="0">
              <a:ea typeface="Noto Sans SC" panose="020B0200000000000000" pitchFamily="34" charset="-122"/>
              <a:cs typeface="Noto Sans SC" panose="020B0200000000000000" pitchFamily="34" charset="-122"/>
            </a:endParaRPr>
          </a:p>
        </p:txBody>
      </p:sp>
      <p:pic>
        <p:nvPicPr>
          <p:cNvPr id="47" name="Image 9" descr="preencoded.png"/>
          <p:cNvPicPr>
            <a:picLocks noChangeAspect="1"/>
          </p:cNvPicPr>
          <p:nvPr/>
        </p:nvPicPr>
        <p:blipFill>
          <a:blip r:embed="rId10"/>
          <a:srcRect/>
          <a:stretch>
            <a:fillRect/>
          </a:stretch>
        </p:blipFill>
        <p:spPr>
          <a:xfrm>
            <a:off x="4647895" y="4756709"/>
            <a:ext cx="152705" cy="152705"/>
          </a:xfrm>
          <a:prstGeom prst="rect">
            <a:avLst/>
          </a:prstGeom>
        </p:spPr>
      </p:pic>
      <p:sp>
        <p:nvSpPr>
          <p:cNvPr id="48" name="Text 36"/>
          <p:cNvSpPr txBox="1"/>
          <p:nvPr/>
        </p:nvSpPr>
        <p:spPr>
          <a:xfrm>
            <a:off x="4647895" y="4975250"/>
            <a:ext cx="2934310" cy="381305"/>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Execute matching algorithm and re-run capability.</a:t>
            </a:r>
            <a:endParaRPr lang="en-US" sz="1000" dirty="0">
              <a:ea typeface="Noto Sans SC" panose="020B0200000000000000" pitchFamily="34" charset="-122"/>
              <a:cs typeface="Noto Sans SC" panose="020B0200000000000000" pitchFamily="34" charset="-122"/>
            </a:endParaRPr>
          </a:p>
        </p:txBody>
      </p:sp>
      <p:sp>
        <p:nvSpPr>
          <p:cNvPr id="49" name="Shape 37"/>
          <p:cNvSpPr/>
          <p:nvPr/>
        </p:nvSpPr>
        <p:spPr>
          <a:xfrm>
            <a:off x="8287207" y="2143354"/>
            <a:ext cx="3238805" cy="19202"/>
          </a:xfrm>
          <a:prstGeom prst="rect">
            <a:avLst/>
          </a:prstGeom>
          <a:solidFill>
            <a:srgbClr val="F1F5F9"/>
          </a:solidFill>
          <a:ln w="12700">
            <a:solidFill>
              <a:srgbClr val="F1F5F9">
                <a:alpha val="0"/>
              </a:srgbClr>
            </a:solidFill>
            <a:prstDash val="solid"/>
          </a:ln>
        </p:spPr>
      </p:sp>
      <p:sp>
        <p:nvSpPr>
          <p:cNvPr id="50" name="Shape 38"/>
          <p:cNvSpPr/>
          <p:nvPr/>
        </p:nvSpPr>
        <p:spPr>
          <a:xfrm>
            <a:off x="8287207" y="1524305"/>
            <a:ext cx="476402" cy="476402"/>
          </a:xfrm>
          <a:prstGeom prst="roundRect">
            <a:avLst>
              <a:gd name="adj" fmla="val 76775"/>
            </a:avLst>
          </a:prstGeom>
          <a:solidFill>
            <a:srgbClr val="8B5CF6">
              <a:alpha val="10000"/>
            </a:srgbClr>
          </a:solidFill>
          <a:ln w="12700">
            <a:solidFill>
              <a:srgbClr val="FFFFFF">
                <a:alpha val="0"/>
              </a:srgbClr>
            </a:solidFill>
            <a:prstDash val="solid"/>
          </a:ln>
        </p:spPr>
      </p:sp>
      <p:pic>
        <p:nvPicPr>
          <p:cNvPr id="51" name="Image 10" descr="preencoded.png"/>
          <p:cNvPicPr>
            <a:picLocks noChangeAspect="1"/>
          </p:cNvPicPr>
          <p:nvPr/>
        </p:nvPicPr>
        <p:blipFill>
          <a:blip r:embed="rId11"/>
          <a:srcRect l="-57" r="-57"/>
          <a:stretch>
            <a:fillRect/>
          </a:stretch>
        </p:blipFill>
        <p:spPr>
          <a:xfrm>
            <a:off x="8425282" y="1647749"/>
            <a:ext cx="200254" cy="228600"/>
          </a:xfrm>
          <a:prstGeom prst="rect">
            <a:avLst/>
          </a:prstGeom>
        </p:spPr>
      </p:pic>
      <p:sp>
        <p:nvSpPr>
          <p:cNvPr id="52" name="Text 39"/>
          <p:cNvSpPr txBox="1"/>
          <p:nvPr/>
        </p:nvSpPr>
        <p:spPr>
          <a:xfrm>
            <a:off x="8906256" y="1600200"/>
            <a:ext cx="1598371" cy="286207"/>
          </a:xfrm>
          <a:prstGeom prst="rect">
            <a:avLst/>
          </a:prstGeom>
          <a:noFill/>
        </p:spPr>
        <p:txBody>
          <a:bodyPr wrap="square" lIns="0" tIns="0" rIns="0" bIns="0" rtlCol="0" anchor="ctr"/>
          <a:lstStyle/>
          <a:p>
            <a:pPr marL="0" indent="0" algn="l">
              <a:buNone/>
            </a:pPr>
            <a:r>
              <a:rPr lang="en-US" sz="16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Data Objects</a:t>
            </a:r>
            <a:endParaRPr lang="en-US" sz="1600" dirty="0">
              <a:ea typeface="Noto Sans SC" panose="020B0200000000000000" pitchFamily="34" charset="-122"/>
              <a:cs typeface="Noto Sans SC" panose="020B0200000000000000" pitchFamily="34" charset="-122"/>
            </a:endParaRPr>
          </a:p>
        </p:txBody>
      </p:sp>
      <p:sp>
        <p:nvSpPr>
          <p:cNvPr id="53" name="Text 40"/>
          <p:cNvSpPr txBox="1"/>
          <p:nvPr/>
        </p:nvSpPr>
        <p:spPr>
          <a:xfrm>
            <a:off x="8287207" y="2400300"/>
            <a:ext cx="3238805" cy="191110"/>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5 New Tables Required:</a:t>
            </a:r>
            <a:endParaRPr lang="en-US" sz="1100" dirty="0">
              <a:ea typeface="Noto Sans SC" panose="020B0200000000000000" pitchFamily="34" charset="-122"/>
              <a:cs typeface="Noto Sans SC" panose="020B0200000000000000" pitchFamily="34" charset="-122"/>
            </a:endParaRPr>
          </a:p>
        </p:txBody>
      </p:sp>
      <p:sp>
        <p:nvSpPr>
          <p:cNvPr id="54" name="Shape 41"/>
          <p:cNvSpPr/>
          <p:nvPr/>
        </p:nvSpPr>
        <p:spPr>
          <a:xfrm>
            <a:off x="8287207" y="2781605"/>
            <a:ext cx="3238805" cy="437998"/>
          </a:xfrm>
          <a:prstGeom prst="roundRect">
            <a:avLst>
              <a:gd name="adj" fmla="val 54461"/>
            </a:avLst>
          </a:prstGeom>
          <a:solidFill>
            <a:srgbClr val="F8FAFC"/>
          </a:solidFill>
          <a:ln w="12700">
            <a:solidFill>
              <a:srgbClr val="E2E8F0"/>
            </a:solidFill>
            <a:prstDash val="solid"/>
          </a:ln>
        </p:spPr>
      </p:sp>
      <p:pic>
        <p:nvPicPr>
          <p:cNvPr id="55" name="Image 11" descr="preencoded.png"/>
          <p:cNvPicPr>
            <a:picLocks noChangeAspect="1"/>
          </p:cNvPicPr>
          <p:nvPr/>
        </p:nvPicPr>
        <p:blipFill>
          <a:blip r:embed="rId12"/>
          <a:srcRect t="-100" b="-100"/>
          <a:stretch>
            <a:fillRect/>
          </a:stretch>
        </p:blipFill>
        <p:spPr>
          <a:xfrm>
            <a:off x="8429854" y="2924251"/>
            <a:ext cx="114300" cy="152705"/>
          </a:xfrm>
          <a:prstGeom prst="rect">
            <a:avLst/>
          </a:prstGeom>
        </p:spPr>
      </p:pic>
      <p:sp>
        <p:nvSpPr>
          <p:cNvPr id="56" name="Text 42"/>
          <p:cNvSpPr txBox="1"/>
          <p:nvPr/>
        </p:nvSpPr>
        <p:spPr>
          <a:xfrm>
            <a:off x="8639251" y="2781605"/>
            <a:ext cx="1762963" cy="438912"/>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questionnaire_template</a:t>
            </a:r>
            <a:endParaRPr lang="en-US" sz="1000" dirty="0">
              <a:ea typeface="Noto Sans SC" panose="020B0200000000000000" pitchFamily="34" charset="-122"/>
              <a:cs typeface="Noto Sans SC" panose="020B0200000000000000" pitchFamily="34" charset="-122"/>
            </a:endParaRPr>
          </a:p>
        </p:txBody>
      </p:sp>
      <p:sp>
        <p:nvSpPr>
          <p:cNvPr id="57" name="Shape 43"/>
          <p:cNvSpPr/>
          <p:nvPr/>
        </p:nvSpPr>
        <p:spPr>
          <a:xfrm>
            <a:off x="8287207" y="3362249"/>
            <a:ext cx="3238805" cy="437998"/>
          </a:xfrm>
          <a:prstGeom prst="roundRect">
            <a:avLst>
              <a:gd name="adj" fmla="val 54461"/>
            </a:avLst>
          </a:prstGeom>
          <a:solidFill>
            <a:srgbClr val="F8FAFC"/>
          </a:solidFill>
          <a:ln w="12700">
            <a:solidFill>
              <a:srgbClr val="E2E8F0"/>
            </a:solidFill>
            <a:prstDash val="solid"/>
          </a:ln>
        </p:spPr>
      </p:sp>
      <p:pic>
        <p:nvPicPr>
          <p:cNvPr id="58" name="Image 12" descr="preencoded.png"/>
          <p:cNvPicPr>
            <a:picLocks noChangeAspect="1"/>
          </p:cNvPicPr>
          <p:nvPr/>
        </p:nvPicPr>
        <p:blipFill>
          <a:blip r:embed="rId13"/>
          <a:srcRect l="-33" r="-33"/>
          <a:stretch>
            <a:fillRect/>
          </a:stretch>
        </p:blipFill>
        <p:spPr>
          <a:xfrm>
            <a:off x="8429854" y="3504895"/>
            <a:ext cx="171907" cy="152705"/>
          </a:xfrm>
          <a:prstGeom prst="rect">
            <a:avLst/>
          </a:prstGeom>
        </p:spPr>
      </p:pic>
      <p:sp>
        <p:nvSpPr>
          <p:cNvPr id="59" name="Text 44"/>
          <p:cNvSpPr txBox="1"/>
          <p:nvPr/>
        </p:nvSpPr>
        <p:spPr>
          <a:xfrm>
            <a:off x="8695944" y="3362249"/>
            <a:ext cx="1610258" cy="438912"/>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questionnaire_answer</a:t>
            </a:r>
            <a:endParaRPr lang="en-US" sz="1000" dirty="0">
              <a:ea typeface="Noto Sans SC" panose="020B0200000000000000" pitchFamily="34" charset="-122"/>
              <a:cs typeface="Noto Sans SC" panose="020B0200000000000000" pitchFamily="34" charset="-122"/>
            </a:endParaRPr>
          </a:p>
        </p:txBody>
      </p:sp>
      <p:sp>
        <p:nvSpPr>
          <p:cNvPr id="60" name="Shape 45"/>
          <p:cNvSpPr/>
          <p:nvPr/>
        </p:nvSpPr>
        <p:spPr>
          <a:xfrm>
            <a:off x="8287207" y="3943807"/>
            <a:ext cx="3238805" cy="437998"/>
          </a:xfrm>
          <a:prstGeom prst="roundRect">
            <a:avLst>
              <a:gd name="adj" fmla="val 54461"/>
            </a:avLst>
          </a:prstGeom>
          <a:solidFill>
            <a:srgbClr val="F8FAFC"/>
          </a:solidFill>
          <a:ln w="12700">
            <a:solidFill>
              <a:srgbClr val="E2E8F0"/>
            </a:solidFill>
            <a:prstDash val="solid"/>
          </a:ln>
        </p:spPr>
      </p:sp>
      <p:pic>
        <p:nvPicPr>
          <p:cNvPr id="61" name="Image 13" descr="preencoded.png"/>
          <p:cNvPicPr>
            <a:picLocks noChangeAspect="1"/>
          </p:cNvPicPr>
          <p:nvPr/>
        </p:nvPicPr>
        <p:blipFill>
          <a:blip r:embed="rId14"/>
          <a:srcRect t="-180" b="-180"/>
          <a:stretch>
            <a:fillRect/>
          </a:stretch>
        </p:blipFill>
        <p:spPr>
          <a:xfrm>
            <a:off x="8429854" y="4086454"/>
            <a:ext cx="190195" cy="152705"/>
          </a:xfrm>
          <a:prstGeom prst="rect">
            <a:avLst/>
          </a:prstGeom>
        </p:spPr>
      </p:pic>
      <p:sp>
        <p:nvSpPr>
          <p:cNvPr id="62" name="Text 46"/>
          <p:cNvSpPr txBox="1"/>
          <p:nvPr/>
        </p:nvSpPr>
        <p:spPr>
          <a:xfrm>
            <a:off x="8715146" y="3943807"/>
            <a:ext cx="962863" cy="438912"/>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match_config</a:t>
            </a:r>
            <a:endParaRPr lang="en-US" sz="1000" dirty="0">
              <a:ea typeface="Noto Sans SC" panose="020B0200000000000000" pitchFamily="34" charset="-122"/>
              <a:cs typeface="Noto Sans SC" panose="020B0200000000000000" pitchFamily="34" charset="-122"/>
            </a:endParaRPr>
          </a:p>
        </p:txBody>
      </p:sp>
      <p:sp>
        <p:nvSpPr>
          <p:cNvPr id="63" name="Shape 47"/>
          <p:cNvSpPr/>
          <p:nvPr/>
        </p:nvSpPr>
        <p:spPr>
          <a:xfrm>
            <a:off x="8287207" y="4524451"/>
            <a:ext cx="3238805" cy="437998"/>
          </a:xfrm>
          <a:prstGeom prst="roundRect">
            <a:avLst>
              <a:gd name="adj" fmla="val 54461"/>
            </a:avLst>
          </a:prstGeom>
          <a:solidFill>
            <a:srgbClr val="F8FAFC"/>
          </a:solidFill>
          <a:ln w="12700">
            <a:solidFill>
              <a:srgbClr val="E2E8F0"/>
            </a:solidFill>
            <a:prstDash val="solid"/>
          </a:ln>
        </p:spPr>
      </p:sp>
      <p:pic>
        <p:nvPicPr>
          <p:cNvPr id="64" name="Image 14" descr="preencoded.png"/>
          <p:cNvPicPr>
            <a:picLocks noChangeAspect="1"/>
          </p:cNvPicPr>
          <p:nvPr/>
        </p:nvPicPr>
        <p:blipFill>
          <a:blip r:embed="rId15"/>
          <a:srcRect t="-43" b="-43"/>
          <a:stretch>
            <a:fillRect/>
          </a:stretch>
        </p:blipFill>
        <p:spPr>
          <a:xfrm>
            <a:off x="8429854" y="4667098"/>
            <a:ext cx="133502" cy="152705"/>
          </a:xfrm>
          <a:prstGeom prst="rect">
            <a:avLst/>
          </a:prstGeom>
        </p:spPr>
      </p:pic>
      <p:sp>
        <p:nvSpPr>
          <p:cNvPr id="65" name="Text 48"/>
          <p:cNvSpPr txBox="1"/>
          <p:nvPr/>
        </p:nvSpPr>
        <p:spPr>
          <a:xfrm>
            <a:off x="8658454" y="4524451"/>
            <a:ext cx="962863" cy="438912"/>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match_result</a:t>
            </a:r>
            <a:endParaRPr lang="en-US" sz="1000" dirty="0">
              <a:ea typeface="Noto Sans SC" panose="020B0200000000000000" pitchFamily="34" charset="-122"/>
              <a:cs typeface="Noto Sans SC" panose="020B0200000000000000" pitchFamily="34" charset="-122"/>
            </a:endParaRPr>
          </a:p>
        </p:txBody>
      </p:sp>
      <p:sp>
        <p:nvSpPr>
          <p:cNvPr id="66" name="Shape 49"/>
          <p:cNvSpPr/>
          <p:nvPr/>
        </p:nvSpPr>
        <p:spPr>
          <a:xfrm>
            <a:off x="8287207" y="5105095"/>
            <a:ext cx="3238805" cy="437998"/>
          </a:xfrm>
          <a:prstGeom prst="roundRect">
            <a:avLst>
              <a:gd name="adj" fmla="val 54461"/>
            </a:avLst>
          </a:prstGeom>
          <a:solidFill>
            <a:srgbClr val="F8FAFC"/>
          </a:solidFill>
          <a:ln w="12700">
            <a:solidFill>
              <a:srgbClr val="E2E8F0"/>
            </a:solidFill>
            <a:prstDash val="solid"/>
          </a:ln>
        </p:spPr>
      </p:sp>
      <p:pic>
        <p:nvPicPr>
          <p:cNvPr id="67" name="Image 15" descr="preencoded.png"/>
          <p:cNvPicPr>
            <a:picLocks noChangeAspect="1"/>
          </p:cNvPicPr>
          <p:nvPr/>
        </p:nvPicPr>
        <p:blipFill>
          <a:blip r:embed="rId16"/>
          <a:srcRect/>
          <a:stretch>
            <a:fillRect/>
          </a:stretch>
        </p:blipFill>
        <p:spPr>
          <a:xfrm>
            <a:off x="8429854" y="5248656"/>
            <a:ext cx="152705" cy="152705"/>
          </a:xfrm>
          <a:prstGeom prst="rect">
            <a:avLst/>
          </a:prstGeom>
        </p:spPr>
      </p:pic>
      <p:sp>
        <p:nvSpPr>
          <p:cNvPr id="68" name="Text 50"/>
          <p:cNvSpPr txBox="1"/>
          <p:nvPr/>
        </p:nvSpPr>
        <p:spPr>
          <a:xfrm>
            <a:off x="8677656" y="5105095"/>
            <a:ext cx="724205" cy="438912"/>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match_log</a:t>
            </a:r>
            <a:endParaRPr lang="en-US" sz="1000" dirty="0">
              <a:ea typeface="Noto Sans SC" panose="020B0200000000000000" pitchFamily="34" charset="-122"/>
              <a:cs typeface="Noto Sans SC" panose="020B0200000000000000"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0" r="-10"/>
          <a:stretch>
            <a:fillRect/>
          </a:stretch>
        </p:blipFill>
        <p:spPr>
          <a:xfrm>
            <a:off x="0" y="0"/>
            <a:ext cx="12191695" cy="666598"/>
          </a:xfrm>
          <a:prstGeom prst="rect">
            <a:avLst/>
          </a:prstGeom>
        </p:spPr>
      </p:pic>
      <p:sp>
        <p:nvSpPr>
          <p:cNvPr id="5" name="Shape 2"/>
          <p:cNvSpPr/>
          <p:nvPr/>
        </p:nvSpPr>
        <p:spPr>
          <a:xfrm>
            <a:off x="381305" y="1333195"/>
            <a:ext cx="11430000" cy="4381805"/>
          </a:xfrm>
          <a:prstGeom prst="roundRect">
            <a:avLst>
              <a:gd name="adj" fmla="val 1089"/>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pic>
        <p:nvPicPr>
          <p:cNvPr id="6" name="Image 1" descr="preencoded.png"/>
          <p:cNvPicPr>
            <a:picLocks noChangeAspect="1"/>
          </p:cNvPicPr>
          <p:nvPr/>
        </p:nvPicPr>
        <p:blipFill>
          <a:blip r:embed="rId2"/>
          <a:srcRect l="-20" r="-20"/>
          <a:stretch>
            <a:fillRect/>
          </a:stretch>
        </p:blipFill>
        <p:spPr>
          <a:xfrm>
            <a:off x="381305" y="5905195"/>
            <a:ext cx="11430000" cy="761695"/>
          </a:xfrm>
          <a:prstGeom prst="rect">
            <a:avLst/>
          </a:prstGeom>
        </p:spPr>
      </p:pic>
      <p:sp>
        <p:nvSpPr>
          <p:cNvPr id="7" name="Shape 3"/>
          <p:cNvSpPr/>
          <p:nvPr/>
        </p:nvSpPr>
        <p:spPr>
          <a:xfrm>
            <a:off x="381305" y="142646"/>
            <a:ext cx="381305" cy="381305"/>
          </a:xfrm>
          <a:prstGeom prst="ellipse">
            <a:avLst/>
          </a:prstGeom>
          <a:solidFill>
            <a:srgbClr val="FFFFFF">
              <a:alpha val="15000"/>
            </a:srgbClr>
          </a:solidFill>
          <a:ln w="12700">
            <a:solidFill>
              <a:srgbClr val="FFFFFF">
                <a:alpha val="0"/>
              </a:srgbClr>
            </a:solidFill>
            <a:prstDash val="solid"/>
          </a:ln>
        </p:spPr>
      </p:sp>
      <p:pic>
        <p:nvPicPr>
          <p:cNvPr id="8" name="Image 2" descr="preencoded.png"/>
          <p:cNvPicPr>
            <a:picLocks noChangeAspect="1"/>
          </p:cNvPicPr>
          <p:nvPr/>
        </p:nvPicPr>
        <p:blipFill>
          <a:blip r:embed="rId3"/>
          <a:srcRect/>
          <a:stretch>
            <a:fillRect/>
          </a:stretch>
        </p:blipFill>
        <p:spPr>
          <a:xfrm>
            <a:off x="485546" y="247802"/>
            <a:ext cx="171907" cy="171907"/>
          </a:xfrm>
          <a:prstGeom prst="rect">
            <a:avLst/>
          </a:prstGeom>
        </p:spPr>
      </p:pic>
      <p:sp>
        <p:nvSpPr>
          <p:cNvPr id="9" name="Text 4"/>
          <p:cNvSpPr txBox="1"/>
          <p:nvPr/>
        </p:nvSpPr>
        <p:spPr>
          <a:xfrm>
            <a:off x="952805" y="171907"/>
            <a:ext cx="9525305" cy="267005"/>
          </a:xfrm>
          <a:prstGeom prst="rect">
            <a:avLst/>
          </a:prstGeom>
          <a:noFill/>
        </p:spPr>
        <p:txBody>
          <a:bodyPr wrap="square" lIns="0" tIns="0" rIns="0" bIns="0" rtlCol="0" anchor="ctr"/>
          <a:lstStyle/>
          <a:p>
            <a:pPr marL="0" indent="0" algn="l">
              <a:buNone/>
            </a:pPr>
            <a:r>
              <a:rPr lang="en-US" sz="21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RTM Supplement (R11-R16)</a:t>
            </a:r>
            <a:endParaRPr lang="en-US" sz="2100" dirty="0">
              <a:ea typeface="Noto Sans SC" panose="020B0200000000000000" pitchFamily="34" charset="-122"/>
              <a:cs typeface="Noto Sans SC" panose="020B0200000000000000" pitchFamily="34" charset="-122"/>
            </a:endParaRPr>
          </a:p>
        </p:txBody>
      </p:sp>
      <p:pic>
        <p:nvPicPr>
          <p:cNvPr id="10" name="Image 3" descr="preencoded.png"/>
          <p:cNvPicPr>
            <a:picLocks noChangeAspect="1"/>
          </p:cNvPicPr>
          <p:nvPr/>
        </p:nvPicPr>
        <p:blipFill>
          <a:blip r:embed="rId4"/>
          <a:srcRect/>
          <a:stretch>
            <a:fillRect/>
          </a:stretch>
        </p:blipFill>
        <p:spPr>
          <a:xfrm>
            <a:off x="381305" y="909828"/>
            <a:ext cx="228600" cy="228600"/>
          </a:xfrm>
          <a:prstGeom prst="rect">
            <a:avLst/>
          </a:prstGeom>
        </p:spPr>
      </p:pic>
      <p:sp>
        <p:nvSpPr>
          <p:cNvPr id="11" name="Text 5"/>
          <p:cNvSpPr txBox="1"/>
          <p:nvPr/>
        </p:nvSpPr>
        <p:spPr>
          <a:xfrm>
            <a:off x="724205" y="857707"/>
            <a:ext cx="9725558" cy="333756"/>
          </a:xfrm>
          <a:prstGeom prst="rect">
            <a:avLst/>
          </a:prstGeom>
          <a:noFill/>
        </p:spPr>
        <p:txBody>
          <a:bodyPr wrap="square" lIns="0" tIns="0" rIns="0" bIns="0" rtlCol="0" anchor="ctr"/>
          <a:lstStyle/>
          <a:p>
            <a:pPr marL="0" indent="0" algn="l">
              <a:buNone/>
            </a:pPr>
            <a:r>
              <a:rPr lang="en-US" sz="1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Post Mid-term New Requirements Traceability: 6 Expansion Features Full Coverage</a:t>
            </a:r>
            <a:endParaRPr lang="en-US" sz="1800" dirty="0">
              <a:ea typeface="Noto Sans SC" panose="020B0200000000000000" pitchFamily="34" charset="-122"/>
              <a:cs typeface="Noto Sans SC" panose="020B0200000000000000" pitchFamily="34" charset="-122"/>
            </a:endParaRPr>
          </a:p>
        </p:txBody>
      </p:sp>
      <p:pic>
        <p:nvPicPr>
          <p:cNvPr id="12" name="Image 4" descr="preencoded.png"/>
          <p:cNvPicPr>
            <a:picLocks noChangeAspect="1"/>
          </p:cNvPicPr>
          <p:nvPr/>
        </p:nvPicPr>
        <p:blipFill>
          <a:blip r:embed="rId5"/>
          <a:srcRect t="-27" b="-27"/>
          <a:stretch>
            <a:fillRect/>
          </a:stretch>
        </p:blipFill>
        <p:spPr>
          <a:xfrm>
            <a:off x="381305" y="1333195"/>
            <a:ext cx="11430000" cy="428854"/>
          </a:xfrm>
          <a:prstGeom prst="rect">
            <a:avLst/>
          </a:prstGeom>
        </p:spPr>
      </p:pic>
      <p:sp>
        <p:nvSpPr>
          <p:cNvPr id="13" name="Text 6"/>
          <p:cNvSpPr txBox="1"/>
          <p:nvPr/>
        </p:nvSpPr>
        <p:spPr>
          <a:xfrm>
            <a:off x="523951" y="1447495"/>
            <a:ext cx="571500" cy="200254"/>
          </a:xfrm>
          <a:prstGeom prst="rect">
            <a:avLst/>
          </a:prstGeom>
          <a:noFill/>
        </p:spPr>
        <p:txBody>
          <a:bodyPr wrap="square" lIns="0" tIns="0" rIns="0" bIns="0" rtlCol="0" anchor="ctr"/>
          <a:lstStyle/>
          <a:p>
            <a:pPr marL="0" indent="0" algn="ctr">
              <a:buNone/>
            </a:pPr>
            <a:r>
              <a:rPr lang="en-US" sz="10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Req ID</a:t>
            </a:r>
            <a:endParaRPr lang="en-US" sz="1000" dirty="0">
              <a:ea typeface="Noto Sans SC" panose="020B0200000000000000" pitchFamily="34" charset="-122"/>
              <a:cs typeface="Noto Sans SC" panose="020B0200000000000000" pitchFamily="34" charset="-122"/>
            </a:endParaRPr>
          </a:p>
        </p:txBody>
      </p:sp>
      <p:sp>
        <p:nvSpPr>
          <p:cNvPr id="14" name="Text 7"/>
          <p:cNvSpPr txBox="1"/>
          <p:nvPr/>
        </p:nvSpPr>
        <p:spPr>
          <a:xfrm>
            <a:off x="1238098" y="1447495"/>
            <a:ext cx="2382012" cy="200254"/>
          </a:xfrm>
          <a:prstGeom prst="rect">
            <a:avLst/>
          </a:prstGeom>
          <a:noFill/>
        </p:spPr>
        <p:txBody>
          <a:bodyPr wrap="square" lIns="0" tIns="0" rIns="0" bIns="0" rtlCol="0" anchor="ctr"/>
          <a:lstStyle/>
          <a:p>
            <a:pPr marL="0" indent="0" algn="l">
              <a:buNone/>
            </a:pPr>
            <a:r>
              <a:rPr lang="en-US" sz="10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Description</a:t>
            </a:r>
            <a:endParaRPr lang="en-US" sz="1000" dirty="0">
              <a:ea typeface="Noto Sans SC" panose="020B0200000000000000" pitchFamily="34" charset="-122"/>
              <a:cs typeface="Noto Sans SC" panose="020B0200000000000000" pitchFamily="34" charset="-122"/>
            </a:endParaRPr>
          </a:p>
        </p:txBody>
      </p:sp>
      <p:sp>
        <p:nvSpPr>
          <p:cNvPr id="15" name="Text 8"/>
          <p:cNvSpPr txBox="1"/>
          <p:nvPr/>
        </p:nvSpPr>
        <p:spPr>
          <a:xfrm>
            <a:off x="3762756" y="1447495"/>
            <a:ext cx="1334110" cy="200254"/>
          </a:xfrm>
          <a:prstGeom prst="rect">
            <a:avLst/>
          </a:prstGeom>
          <a:noFill/>
        </p:spPr>
        <p:txBody>
          <a:bodyPr wrap="square" lIns="0" tIns="0" rIns="0" bIns="0" rtlCol="0" anchor="ctr"/>
          <a:lstStyle/>
          <a:p>
            <a:pPr marL="0" indent="0" algn="ctr">
              <a:buNone/>
            </a:pPr>
            <a:r>
              <a:rPr lang="en-US" sz="10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Source Role</a:t>
            </a:r>
            <a:endParaRPr lang="en-US" sz="1000" dirty="0">
              <a:ea typeface="Noto Sans SC" panose="020B0200000000000000" pitchFamily="34" charset="-122"/>
              <a:cs typeface="Noto Sans SC" panose="020B0200000000000000" pitchFamily="34" charset="-122"/>
            </a:endParaRPr>
          </a:p>
        </p:txBody>
      </p:sp>
      <p:sp>
        <p:nvSpPr>
          <p:cNvPr id="16" name="Text 9"/>
          <p:cNvSpPr txBox="1"/>
          <p:nvPr/>
        </p:nvSpPr>
        <p:spPr>
          <a:xfrm>
            <a:off x="5238598" y="1447495"/>
            <a:ext cx="2382012" cy="200254"/>
          </a:xfrm>
          <a:prstGeom prst="rect">
            <a:avLst/>
          </a:prstGeom>
          <a:noFill/>
        </p:spPr>
        <p:txBody>
          <a:bodyPr wrap="square" lIns="0" tIns="0" rIns="0" bIns="0" rtlCol="0" anchor="ctr"/>
          <a:lstStyle/>
          <a:p>
            <a:pPr marL="0" indent="0" algn="l">
              <a:buNone/>
            </a:pPr>
            <a:r>
              <a:rPr lang="en-US" sz="10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Implementation Module</a:t>
            </a:r>
            <a:endParaRPr lang="en-US" sz="1000" dirty="0">
              <a:ea typeface="Noto Sans SC" panose="020B0200000000000000" pitchFamily="34" charset="-122"/>
              <a:cs typeface="Noto Sans SC" panose="020B0200000000000000" pitchFamily="34" charset="-122"/>
            </a:endParaRPr>
          </a:p>
        </p:txBody>
      </p:sp>
      <p:sp>
        <p:nvSpPr>
          <p:cNvPr id="17" name="Text 10"/>
          <p:cNvSpPr txBox="1"/>
          <p:nvPr/>
        </p:nvSpPr>
        <p:spPr>
          <a:xfrm>
            <a:off x="7763256" y="1447495"/>
            <a:ext cx="2477110" cy="200254"/>
          </a:xfrm>
          <a:prstGeom prst="rect">
            <a:avLst/>
          </a:prstGeom>
          <a:noFill/>
        </p:spPr>
        <p:txBody>
          <a:bodyPr wrap="square" lIns="0" tIns="0" rIns="0" bIns="0" rtlCol="0" anchor="ctr"/>
          <a:lstStyle/>
          <a:p>
            <a:pPr marL="0" indent="0" algn="l">
              <a:buNone/>
            </a:pPr>
            <a:r>
              <a:rPr lang="en-US" sz="10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Acceptance Criteria</a:t>
            </a:r>
            <a:endParaRPr lang="en-US" sz="1000" dirty="0">
              <a:ea typeface="Noto Sans SC" panose="020B0200000000000000" pitchFamily="34" charset="-122"/>
              <a:cs typeface="Noto Sans SC" panose="020B0200000000000000" pitchFamily="34" charset="-122"/>
            </a:endParaRPr>
          </a:p>
        </p:txBody>
      </p:sp>
      <p:sp>
        <p:nvSpPr>
          <p:cNvPr id="18" name="Text 11"/>
          <p:cNvSpPr txBox="1"/>
          <p:nvPr/>
        </p:nvSpPr>
        <p:spPr>
          <a:xfrm>
            <a:off x="10382098" y="1447495"/>
            <a:ext cx="1047902" cy="200254"/>
          </a:xfrm>
          <a:prstGeom prst="rect">
            <a:avLst/>
          </a:prstGeom>
          <a:noFill/>
        </p:spPr>
        <p:txBody>
          <a:bodyPr wrap="square" lIns="0" tIns="0" rIns="0" bIns="0" rtlCol="0" anchor="ctr"/>
          <a:lstStyle/>
          <a:p>
            <a:pPr marL="0" indent="0" algn="ctr">
              <a:buNone/>
            </a:pPr>
            <a:r>
              <a:rPr lang="en-US" sz="10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Status</a:t>
            </a:r>
            <a:endParaRPr lang="en-US" sz="1000" dirty="0">
              <a:ea typeface="Noto Sans SC" panose="020B0200000000000000" pitchFamily="34" charset="-122"/>
              <a:cs typeface="Noto Sans SC" panose="020B0200000000000000" pitchFamily="34" charset="-122"/>
            </a:endParaRPr>
          </a:p>
        </p:txBody>
      </p:sp>
      <p:sp>
        <p:nvSpPr>
          <p:cNvPr id="19" name="Shape 12"/>
          <p:cNvSpPr/>
          <p:nvPr/>
        </p:nvSpPr>
        <p:spPr>
          <a:xfrm>
            <a:off x="381305" y="1762049"/>
            <a:ext cx="11430000" cy="523951"/>
          </a:xfrm>
          <a:prstGeom prst="rect">
            <a:avLst/>
          </a:prstGeom>
          <a:solidFill>
            <a:srgbClr val="FFFFFF"/>
          </a:solidFill>
        </p:spPr>
      </p:sp>
      <p:sp>
        <p:nvSpPr>
          <p:cNvPr id="20" name="Shape 13"/>
          <p:cNvSpPr/>
          <p:nvPr/>
        </p:nvSpPr>
        <p:spPr>
          <a:xfrm>
            <a:off x="381305" y="2276856"/>
            <a:ext cx="11430000" cy="9144"/>
          </a:xfrm>
          <a:prstGeom prst="rect">
            <a:avLst/>
          </a:prstGeom>
          <a:solidFill>
            <a:srgbClr val="E2E8F0"/>
          </a:solidFill>
          <a:ln w="12700">
            <a:solidFill>
              <a:srgbClr val="E2E8F0">
                <a:alpha val="0"/>
              </a:srgbClr>
            </a:solidFill>
            <a:prstDash val="solid"/>
          </a:ln>
        </p:spPr>
      </p:sp>
      <p:sp>
        <p:nvSpPr>
          <p:cNvPr id="21" name="Text 14"/>
          <p:cNvSpPr txBox="1"/>
          <p:nvPr/>
        </p:nvSpPr>
        <p:spPr>
          <a:xfrm>
            <a:off x="523951" y="1925726"/>
            <a:ext cx="57150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R11</a:t>
            </a:r>
            <a:endParaRPr lang="en-US" sz="900" dirty="0">
              <a:ea typeface="Noto Sans SC" panose="020B0200000000000000" pitchFamily="34" charset="-122"/>
              <a:cs typeface="Noto Sans SC" panose="020B0200000000000000" pitchFamily="34" charset="-122"/>
            </a:endParaRPr>
          </a:p>
        </p:txBody>
      </p:sp>
      <p:sp>
        <p:nvSpPr>
          <p:cNvPr id="22" name="Text 15"/>
          <p:cNvSpPr txBox="1"/>
          <p:nvPr/>
        </p:nvSpPr>
        <p:spPr>
          <a:xfrm>
            <a:off x="1238098" y="1857146"/>
            <a:ext cx="2382012" cy="324612"/>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Students fill dorm preference/schedule questionnaire</a:t>
            </a:r>
            <a:endParaRPr lang="en-US" sz="900" dirty="0">
              <a:ea typeface="Noto Sans SC" panose="020B0200000000000000" pitchFamily="34" charset="-122"/>
              <a:cs typeface="Noto Sans SC" panose="020B0200000000000000" pitchFamily="34" charset="-122"/>
            </a:endParaRPr>
          </a:p>
        </p:txBody>
      </p:sp>
      <p:sp>
        <p:nvSpPr>
          <p:cNvPr id="23" name="Text 16"/>
          <p:cNvSpPr txBox="1"/>
          <p:nvPr/>
        </p:nvSpPr>
        <p:spPr>
          <a:xfrm>
            <a:off x="5238598" y="1937614"/>
            <a:ext cx="2382012"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student/questionnaire</a:t>
            </a:r>
            <a:endParaRPr lang="en-US" sz="900" dirty="0">
              <a:ea typeface="Noto Sans SC" panose="020B0200000000000000" pitchFamily="34" charset="-122"/>
              <a:cs typeface="Noto Sans SC" panose="020B0200000000000000" pitchFamily="34" charset="-122"/>
            </a:endParaRPr>
          </a:p>
        </p:txBody>
      </p:sp>
      <p:sp>
        <p:nvSpPr>
          <p:cNvPr id="24" name="Text 17"/>
          <p:cNvSpPr txBox="1"/>
          <p:nvPr/>
        </p:nvSpPr>
        <p:spPr>
          <a:xfrm>
            <a:off x="7763256" y="1937614"/>
            <a:ext cx="2477110"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Save and edit</a:t>
            </a:r>
            <a:endParaRPr lang="en-US" sz="900" dirty="0">
              <a:ea typeface="Noto Sans SC" panose="020B0200000000000000" pitchFamily="34" charset="-122"/>
              <a:cs typeface="Noto Sans SC" panose="020B0200000000000000" pitchFamily="34" charset="-122"/>
            </a:endParaRPr>
          </a:p>
        </p:txBody>
      </p:sp>
      <p:sp>
        <p:nvSpPr>
          <p:cNvPr id="25" name="Shape 18"/>
          <p:cNvSpPr/>
          <p:nvPr/>
        </p:nvSpPr>
        <p:spPr>
          <a:xfrm>
            <a:off x="381305" y="2284171"/>
            <a:ext cx="11430000" cy="457200"/>
          </a:xfrm>
          <a:prstGeom prst="rect">
            <a:avLst/>
          </a:prstGeom>
          <a:solidFill>
            <a:srgbClr val="F8FAFC"/>
          </a:solidFill>
        </p:spPr>
      </p:sp>
      <p:sp>
        <p:nvSpPr>
          <p:cNvPr id="26" name="Shape 19"/>
          <p:cNvSpPr/>
          <p:nvPr/>
        </p:nvSpPr>
        <p:spPr>
          <a:xfrm>
            <a:off x="381305" y="2732227"/>
            <a:ext cx="11430000" cy="9144"/>
          </a:xfrm>
          <a:prstGeom prst="rect">
            <a:avLst/>
          </a:prstGeom>
          <a:solidFill>
            <a:srgbClr val="E2E8F0"/>
          </a:solidFill>
          <a:ln w="12700">
            <a:solidFill>
              <a:srgbClr val="E2E8F0">
                <a:alpha val="0"/>
              </a:srgbClr>
            </a:solidFill>
            <a:prstDash val="solid"/>
          </a:ln>
        </p:spPr>
      </p:sp>
      <p:sp>
        <p:nvSpPr>
          <p:cNvPr id="27" name="Text 20"/>
          <p:cNvSpPr txBox="1"/>
          <p:nvPr/>
        </p:nvSpPr>
        <p:spPr>
          <a:xfrm>
            <a:off x="523951" y="2414930"/>
            <a:ext cx="57150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R12</a:t>
            </a:r>
            <a:endParaRPr lang="en-US" sz="900" dirty="0">
              <a:ea typeface="Noto Sans SC" panose="020B0200000000000000" pitchFamily="34" charset="-122"/>
              <a:cs typeface="Noto Sans SC" panose="020B0200000000000000" pitchFamily="34" charset="-122"/>
            </a:endParaRPr>
          </a:p>
        </p:txBody>
      </p:sp>
      <p:sp>
        <p:nvSpPr>
          <p:cNvPr id="28" name="Text 21"/>
          <p:cNvSpPr txBox="1"/>
          <p:nvPr/>
        </p:nvSpPr>
        <p:spPr>
          <a:xfrm>
            <a:off x="1238098" y="2426818"/>
            <a:ext cx="2547518"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Admin configures matching weights</a:t>
            </a:r>
            <a:endParaRPr lang="en-US" sz="900" dirty="0">
              <a:ea typeface="Noto Sans SC" panose="020B0200000000000000" pitchFamily="34" charset="-122"/>
              <a:cs typeface="Noto Sans SC" panose="020B0200000000000000" pitchFamily="34" charset="-122"/>
            </a:endParaRPr>
          </a:p>
        </p:txBody>
      </p:sp>
      <p:sp>
        <p:nvSpPr>
          <p:cNvPr id="29" name="Text 22"/>
          <p:cNvSpPr txBox="1"/>
          <p:nvPr/>
        </p:nvSpPr>
        <p:spPr>
          <a:xfrm>
            <a:off x="5238598" y="2426818"/>
            <a:ext cx="2382012"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admin/match-config</a:t>
            </a:r>
            <a:endParaRPr lang="en-US" sz="900" dirty="0">
              <a:ea typeface="Noto Sans SC" panose="020B0200000000000000" pitchFamily="34" charset="-122"/>
              <a:cs typeface="Noto Sans SC" panose="020B0200000000000000" pitchFamily="34" charset="-122"/>
            </a:endParaRPr>
          </a:p>
        </p:txBody>
      </p:sp>
      <p:sp>
        <p:nvSpPr>
          <p:cNvPr id="30" name="Text 23"/>
          <p:cNvSpPr txBox="1"/>
          <p:nvPr/>
        </p:nvSpPr>
        <p:spPr>
          <a:xfrm>
            <a:off x="7763256" y="2426818"/>
            <a:ext cx="2477110"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Configurable and effective</a:t>
            </a:r>
            <a:endParaRPr lang="en-US" sz="900" dirty="0">
              <a:ea typeface="Noto Sans SC" panose="020B0200000000000000" pitchFamily="34" charset="-122"/>
              <a:cs typeface="Noto Sans SC" panose="020B0200000000000000" pitchFamily="34" charset="-122"/>
            </a:endParaRPr>
          </a:p>
        </p:txBody>
      </p:sp>
      <p:sp>
        <p:nvSpPr>
          <p:cNvPr id="31" name="Shape 24"/>
          <p:cNvSpPr/>
          <p:nvPr/>
        </p:nvSpPr>
        <p:spPr>
          <a:xfrm>
            <a:off x="381305" y="2741371"/>
            <a:ext cx="11430000" cy="590702"/>
          </a:xfrm>
          <a:prstGeom prst="rect">
            <a:avLst/>
          </a:prstGeom>
          <a:solidFill>
            <a:srgbClr val="FFFFFF"/>
          </a:solidFill>
        </p:spPr>
      </p:sp>
      <p:sp>
        <p:nvSpPr>
          <p:cNvPr id="32" name="Shape 25"/>
          <p:cNvSpPr/>
          <p:nvPr/>
        </p:nvSpPr>
        <p:spPr>
          <a:xfrm>
            <a:off x="381305" y="3322930"/>
            <a:ext cx="11430000" cy="9144"/>
          </a:xfrm>
          <a:prstGeom prst="rect">
            <a:avLst/>
          </a:prstGeom>
          <a:solidFill>
            <a:srgbClr val="E2E8F0"/>
          </a:solidFill>
          <a:ln w="12700">
            <a:solidFill>
              <a:srgbClr val="E2E8F0">
                <a:alpha val="0"/>
              </a:srgbClr>
            </a:solidFill>
            <a:prstDash val="solid"/>
          </a:ln>
        </p:spPr>
      </p:sp>
      <p:sp>
        <p:nvSpPr>
          <p:cNvPr id="33" name="Text 26"/>
          <p:cNvSpPr txBox="1"/>
          <p:nvPr/>
        </p:nvSpPr>
        <p:spPr>
          <a:xfrm>
            <a:off x="523951" y="2938882"/>
            <a:ext cx="57150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R13</a:t>
            </a:r>
            <a:endParaRPr lang="en-US" sz="900" dirty="0">
              <a:ea typeface="Noto Sans SC" panose="020B0200000000000000" pitchFamily="34" charset="-122"/>
              <a:cs typeface="Noto Sans SC" panose="020B0200000000000000" pitchFamily="34" charset="-122"/>
            </a:endParaRPr>
          </a:p>
        </p:txBody>
      </p:sp>
      <p:sp>
        <p:nvSpPr>
          <p:cNvPr id="34" name="Text 27"/>
          <p:cNvSpPr txBox="1"/>
          <p:nvPr/>
        </p:nvSpPr>
        <p:spPr>
          <a:xfrm>
            <a:off x="1238098" y="2950769"/>
            <a:ext cx="2547518"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System generates matching results</a:t>
            </a:r>
            <a:endParaRPr lang="en-US" sz="900" dirty="0">
              <a:ea typeface="Noto Sans SC" panose="020B0200000000000000" pitchFamily="34" charset="-122"/>
              <a:cs typeface="Noto Sans SC" panose="020B0200000000000000" pitchFamily="34" charset="-122"/>
            </a:endParaRPr>
          </a:p>
        </p:txBody>
      </p:sp>
      <p:sp>
        <p:nvSpPr>
          <p:cNvPr id="35" name="Text 28"/>
          <p:cNvSpPr txBox="1"/>
          <p:nvPr/>
        </p:nvSpPr>
        <p:spPr>
          <a:xfrm>
            <a:off x="5238598" y="2950769"/>
            <a:ext cx="2382012"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matching engine</a:t>
            </a:r>
            <a:endParaRPr lang="en-US" sz="900" dirty="0">
              <a:ea typeface="Noto Sans SC" panose="020B0200000000000000" pitchFamily="34" charset="-122"/>
              <a:cs typeface="Noto Sans SC" panose="020B0200000000000000" pitchFamily="34" charset="-122"/>
            </a:endParaRPr>
          </a:p>
        </p:txBody>
      </p:sp>
      <p:sp>
        <p:nvSpPr>
          <p:cNvPr id="36" name="Text 29"/>
          <p:cNvSpPr txBox="1"/>
          <p:nvPr/>
        </p:nvSpPr>
        <p:spPr>
          <a:xfrm>
            <a:off x="7763256" y="2950769"/>
            <a:ext cx="2477110"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Room allocation suggestions</a:t>
            </a:r>
            <a:endParaRPr lang="en-US" sz="900" dirty="0">
              <a:ea typeface="Noto Sans SC" panose="020B0200000000000000" pitchFamily="34" charset="-122"/>
              <a:cs typeface="Noto Sans SC" panose="020B0200000000000000" pitchFamily="34" charset="-122"/>
            </a:endParaRPr>
          </a:p>
        </p:txBody>
      </p:sp>
      <p:sp>
        <p:nvSpPr>
          <p:cNvPr id="37" name="Shape 30"/>
          <p:cNvSpPr/>
          <p:nvPr/>
        </p:nvSpPr>
        <p:spPr>
          <a:xfrm>
            <a:off x="381305" y="3332074"/>
            <a:ext cx="11430000" cy="457200"/>
          </a:xfrm>
          <a:prstGeom prst="rect">
            <a:avLst/>
          </a:prstGeom>
          <a:solidFill>
            <a:srgbClr val="F8FAFC"/>
          </a:solidFill>
        </p:spPr>
      </p:sp>
      <p:sp>
        <p:nvSpPr>
          <p:cNvPr id="38" name="Shape 31"/>
          <p:cNvSpPr/>
          <p:nvPr/>
        </p:nvSpPr>
        <p:spPr>
          <a:xfrm>
            <a:off x="381305" y="3780130"/>
            <a:ext cx="11430000" cy="9144"/>
          </a:xfrm>
          <a:prstGeom prst="rect">
            <a:avLst/>
          </a:prstGeom>
          <a:solidFill>
            <a:srgbClr val="E2E8F0"/>
          </a:solidFill>
          <a:ln w="12700">
            <a:solidFill>
              <a:srgbClr val="E2E8F0">
                <a:alpha val="0"/>
              </a:srgbClr>
            </a:solidFill>
            <a:prstDash val="solid"/>
          </a:ln>
        </p:spPr>
      </p:sp>
      <p:sp>
        <p:nvSpPr>
          <p:cNvPr id="39" name="Text 32"/>
          <p:cNvSpPr txBox="1"/>
          <p:nvPr/>
        </p:nvSpPr>
        <p:spPr>
          <a:xfrm>
            <a:off x="523951" y="3462833"/>
            <a:ext cx="57150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R14</a:t>
            </a:r>
            <a:endParaRPr lang="en-US" sz="900" dirty="0">
              <a:ea typeface="Noto Sans SC" panose="020B0200000000000000" pitchFamily="34" charset="-122"/>
              <a:cs typeface="Noto Sans SC" panose="020B0200000000000000" pitchFamily="34" charset="-122"/>
            </a:endParaRPr>
          </a:p>
        </p:txBody>
      </p:sp>
      <p:sp>
        <p:nvSpPr>
          <p:cNvPr id="40" name="Text 33"/>
          <p:cNvSpPr txBox="1"/>
          <p:nvPr/>
        </p:nvSpPr>
        <p:spPr>
          <a:xfrm>
            <a:off x="1238098" y="3474720"/>
            <a:ext cx="2382012"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Student views matching results</a:t>
            </a:r>
            <a:endParaRPr lang="en-US" sz="900" dirty="0">
              <a:ea typeface="Noto Sans SC" panose="020B0200000000000000" pitchFamily="34" charset="-122"/>
              <a:cs typeface="Noto Sans SC" panose="020B0200000000000000" pitchFamily="34" charset="-122"/>
            </a:endParaRPr>
          </a:p>
        </p:txBody>
      </p:sp>
      <p:sp>
        <p:nvSpPr>
          <p:cNvPr id="41" name="Text 34"/>
          <p:cNvSpPr txBox="1"/>
          <p:nvPr/>
        </p:nvSpPr>
        <p:spPr>
          <a:xfrm>
            <a:off x="5238598" y="3474720"/>
            <a:ext cx="2382012"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student/match-result</a:t>
            </a:r>
            <a:endParaRPr lang="en-US" sz="900" dirty="0">
              <a:ea typeface="Noto Sans SC" panose="020B0200000000000000" pitchFamily="34" charset="-122"/>
              <a:cs typeface="Noto Sans SC" panose="020B0200000000000000" pitchFamily="34" charset="-122"/>
            </a:endParaRPr>
          </a:p>
        </p:txBody>
      </p:sp>
      <p:sp>
        <p:nvSpPr>
          <p:cNvPr id="42" name="Text 35"/>
          <p:cNvSpPr txBox="1"/>
          <p:nvPr/>
        </p:nvSpPr>
        <p:spPr>
          <a:xfrm>
            <a:off x="7763256" y="3474720"/>
            <a:ext cx="2625242"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Display recommended dorm/roommates</a:t>
            </a:r>
            <a:endParaRPr lang="en-US" sz="900" dirty="0">
              <a:ea typeface="Noto Sans SC" panose="020B0200000000000000" pitchFamily="34" charset="-122"/>
              <a:cs typeface="Noto Sans SC" panose="020B0200000000000000" pitchFamily="34" charset="-122"/>
            </a:endParaRPr>
          </a:p>
        </p:txBody>
      </p:sp>
      <p:sp>
        <p:nvSpPr>
          <p:cNvPr id="43" name="Shape 36"/>
          <p:cNvSpPr/>
          <p:nvPr/>
        </p:nvSpPr>
        <p:spPr>
          <a:xfrm>
            <a:off x="381305" y="3789274"/>
            <a:ext cx="11430000" cy="457200"/>
          </a:xfrm>
          <a:prstGeom prst="rect">
            <a:avLst/>
          </a:prstGeom>
          <a:solidFill>
            <a:srgbClr val="FFFFFF"/>
          </a:solidFill>
        </p:spPr>
      </p:sp>
      <p:sp>
        <p:nvSpPr>
          <p:cNvPr id="44" name="Shape 37"/>
          <p:cNvSpPr/>
          <p:nvPr/>
        </p:nvSpPr>
        <p:spPr>
          <a:xfrm>
            <a:off x="381305" y="4237330"/>
            <a:ext cx="11430000" cy="9144"/>
          </a:xfrm>
          <a:prstGeom prst="rect">
            <a:avLst/>
          </a:prstGeom>
          <a:solidFill>
            <a:srgbClr val="E2E8F0"/>
          </a:solidFill>
          <a:ln w="12700">
            <a:solidFill>
              <a:srgbClr val="E2E8F0">
                <a:alpha val="0"/>
              </a:srgbClr>
            </a:solidFill>
            <a:prstDash val="solid"/>
          </a:ln>
        </p:spPr>
      </p:sp>
      <p:sp>
        <p:nvSpPr>
          <p:cNvPr id="45" name="Text 38"/>
          <p:cNvSpPr txBox="1"/>
          <p:nvPr/>
        </p:nvSpPr>
        <p:spPr>
          <a:xfrm>
            <a:off x="523951" y="3920033"/>
            <a:ext cx="57150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R15</a:t>
            </a:r>
            <a:endParaRPr lang="en-US" sz="900" dirty="0">
              <a:ea typeface="Noto Sans SC" panose="020B0200000000000000" pitchFamily="34" charset="-122"/>
              <a:cs typeface="Noto Sans SC" panose="020B0200000000000000" pitchFamily="34" charset="-122"/>
            </a:endParaRPr>
          </a:p>
        </p:txBody>
      </p:sp>
      <p:sp>
        <p:nvSpPr>
          <p:cNvPr id="46" name="Text 39"/>
          <p:cNvSpPr txBox="1"/>
          <p:nvPr/>
        </p:nvSpPr>
        <p:spPr>
          <a:xfrm>
            <a:off x="1238098" y="3931920"/>
            <a:ext cx="2547518"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Admin reviews and adjusts pairing</a:t>
            </a:r>
            <a:endParaRPr lang="en-US" sz="900" dirty="0">
              <a:ea typeface="Noto Sans SC" panose="020B0200000000000000" pitchFamily="34" charset="-122"/>
              <a:cs typeface="Noto Sans SC" panose="020B0200000000000000" pitchFamily="34" charset="-122"/>
            </a:endParaRPr>
          </a:p>
        </p:txBody>
      </p:sp>
      <p:sp>
        <p:nvSpPr>
          <p:cNvPr id="47" name="Text 40"/>
          <p:cNvSpPr txBox="1"/>
          <p:nvPr/>
        </p:nvSpPr>
        <p:spPr>
          <a:xfrm>
            <a:off x="5238598" y="3931920"/>
            <a:ext cx="2382012"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admin/match-result</a:t>
            </a:r>
            <a:endParaRPr lang="en-US" sz="900" dirty="0">
              <a:ea typeface="Noto Sans SC" panose="020B0200000000000000" pitchFamily="34" charset="-122"/>
              <a:cs typeface="Noto Sans SC" panose="020B0200000000000000" pitchFamily="34" charset="-122"/>
            </a:endParaRPr>
          </a:p>
        </p:txBody>
      </p:sp>
      <p:sp>
        <p:nvSpPr>
          <p:cNvPr id="48" name="Text 41"/>
          <p:cNvSpPr txBox="1"/>
          <p:nvPr/>
        </p:nvSpPr>
        <p:spPr>
          <a:xfrm>
            <a:off x="7763256" y="3931920"/>
            <a:ext cx="2477110"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View/filter/adjust</a:t>
            </a:r>
            <a:endParaRPr lang="en-US" sz="900" dirty="0">
              <a:ea typeface="Noto Sans SC" panose="020B0200000000000000" pitchFamily="34" charset="-122"/>
              <a:cs typeface="Noto Sans SC" panose="020B0200000000000000" pitchFamily="34" charset="-122"/>
            </a:endParaRPr>
          </a:p>
        </p:txBody>
      </p:sp>
      <p:sp>
        <p:nvSpPr>
          <p:cNvPr id="49" name="Shape 42"/>
          <p:cNvSpPr/>
          <p:nvPr/>
        </p:nvSpPr>
        <p:spPr>
          <a:xfrm>
            <a:off x="381305" y="4246474"/>
            <a:ext cx="11430000" cy="448056"/>
          </a:xfrm>
          <a:prstGeom prst="rect">
            <a:avLst/>
          </a:prstGeom>
          <a:solidFill>
            <a:srgbClr val="F8FAFC"/>
          </a:solidFill>
          <a:ln w="12700">
            <a:solidFill>
              <a:srgbClr val="FFFFFF">
                <a:alpha val="0"/>
              </a:srgbClr>
            </a:solidFill>
            <a:prstDash val="solid"/>
          </a:ln>
        </p:spPr>
      </p:sp>
      <p:sp>
        <p:nvSpPr>
          <p:cNvPr id="50" name="Text 43"/>
          <p:cNvSpPr txBox="1"/>
          <p:nvPr/>
        </p:nvSpPr>
        <p:spPr>
          <a:xfrm>
            <a:off x="523951" y="4377233"/>
            <a:ext cx="57150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R16</a:t>
            </a:r>
            <a:endParaRPr lang="en-US" sz="900" dirty="0">
              <a:ea typeface="Noto Sans SC" panose="020B0200000000000000" pitchFamily="34" charset="-122"/>
              <a:cs typeface="Noto Sans SC" panose="020B0200000000000000" pitchFamily="34" charset="-122"/>
            </a:endParaRPr>
          </a:p>
        </p:txBody>
      </p:sp>
      <p:sp>
        <p:nvSpPr>
          <p:cNvPr id="51" name="Text 44"/>
          <p:cNvSpPr txBox="1"/>
          <p:nvPr/>
        </p:nvSpPr>
        <p:spPr>
          <a:xfrm>
            <a:off x="1238098" y="4389120"/>
            <a:ext cx="2382012"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System logs matching runs</a:t>
            </a:r>
            <a:endParaRPr lang="en-US" sz="900" dirty="0">
              <a:ea typeface="Noto Sans SC" panose="020B0200000000000000" pitchFamily="34" charset="-122"/>
              <a:cs typeface="Noto Sans SC" panose="020B0200000000000000" pitchFamily="34" charset="-122"/>
            </a:endParaRPr>
          </a:p>
        </p:txBody>
      </p:sp>
      <p:sp>
        <p:nvSpPr>
          <p:cNvPr id="52" name="Text 45"/>
          <p:cNvSpPr txBox="1"/>
          <p:nvPr/>
        </p:nvSpPr>
        <p:spPr>
          <a:xfrm>
            <a:off x="5238598" y="4389120"/>
            <a:ext cx="2382012"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match_log</a:t>
            </a:r>
            <a:endParaRPr lang="en-US" sz="900" dirty="0">
              <a:ea typeface="Noto Sans SC" panose="020B0200000000000000" pitchFamily="34" charset="-122"/>
              <a:cs typeface="Noto Sans SC" panose="020B0200000000000000" pitchFamily="34" charset="-122"/>
            </a:endParaRPr>
          </a:p>
        </p:txBody>
      </p:sp>
      <p:sp>
        <p:nvSpPr>
          <p:cNvPr id="53" name="Text 46"/>
          <p:cNvSpPr txBox="1"/>
          <p:nvPr/>
        </p:nvSpPr>
        <p:spPr>
          <a:xfrm>
            <a:off x="7763256" y="4389120"/>
            <a:ext cx="2625242"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Parameters/time/outcomes traceable</a:t>
            </a:r>
            <a:endParaRPr lang="en-US" sz="900" dirty="0">
              <a:ea typeface="Noto Sans SC" panose="020B0200000000000000" pitchFamily="34" charset="-122"/>
              <a:cs typeface="Noto Sans SC" panose="020B0200000000000000" pitchFamily="34" charset="-122"/>
            </a:endParaRPr>
          </a:p>
        </p:txBody>
      </p:sp>
      <p:sp>
        <p:nvSpPr>
          <p:cNvPr id="54" name="Shape 47"/>
          <p:cNvSpPr/>
          <p:nvPr/>
        </p:nvSpPr>
        <p:spPr>
          <a:xfrm>
            <a:off x="4048049" y="1899209"/>
            <a:ext cx="761695" cy="247802"/>
          </a:xfrm>
          <a:prstGeom prst="roundRect">
            <a:avLst>
              <a:gd name="adj" fmla="val 113540"/>
            </a:avLst>
          </a:prstGeom>
          <a:solidFill>
            <a:srgbClr val="DBEAFE"/>
          </a:solidFill>
          <a:ln w="12700">
            <a:solidFill>
              <a:srgbClr val="FFFFFF">
                <a:alpha val="0"/>
              </a:srgbClr>
            </a:solidFill>
            <a:prstDash val="solid"/>
          </a:ln>
        </p:spPr>
      </p:sp>
      <p:sp>
        <p:nvSpPr>
          <p:cNvPr id="55" name="Text 48"/>
          <p:cNvSpPr txBox="1"/>
          <p:nvPr/>
        </p:nvSpPr>
        <p:spPr>
          <a:xfrm>
            <a:off x="4048049" y="1899209"/>
            <a:ext cx="762610" cy="247802"/>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Student</a:t>
            </a:r>
            <a:endParaRPr lang="en-US" sz="900" dirty="0">
              <a:ea typeface="Noto Sans SC" panose="020B0200000000000000" pitchFamily="34" charset="-122"/>
              <a:cs typeface="Noto Sans SC" panose="020B0200000000000000" pitchFamily="34" charset="-122"/>
            </a:endParaRPr>
          </a:p>
        </p:txBody>
      </p:sp>
      <p:sp>
        <p:nvSpPr>
          <p:cNvPr id="56" name="Shape 49"/>
          <p:cNvSpPr/>
          <p:nvPr/>
        </p:nvSpPr>
        <p:spPr>
          <a:xfrm>
            <a:off x="10477195" y="1899209"/>
            <a:ext cx="857707" cy="247802"/>
          </a:xfrm>
          <a:prstGeom prst="roundRect">
            <a:avLst>
              <a:gd name="adj" fmla="val 113540"/>
            </a:avLst>
          </a:prstGeom>
          <a:solidFill>
            <a:srgbClr val="DCFCE7"/>
          </a:solidFill>
          <a:ln w="12700">
            <a:solidFill>
              <a:srgbClr val="FFFFFF">
                <a:alpha val="0"/>
              </a:srgbClr>
            </a:solidFill>
            <a:prstDash val="solid"/>
          </a:ln>
        </p:spPr>
      </p:sp>
      <p:sp>
        <p:nvSpPr>
          <p:cNvPr id="57" name="Text 50"/>
          <p:cNvSpPr txBox="1"/>
          <p:nvPr/>
        </p:nvSpPr>
        <p:spPr>
          <a:xfrm>
            <a:off x="10477195" y="1899209"/>
            <a:ext cx="857707" cy="247802"/>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Completed</a:t>
            </a:r>
            <a:endParaRPr lang="en-US" sz="900" dirty="0">
              <a:ea typeface="Noto Sans SC" panose="020B0200000000000000" pitchFamily="34" charset="-122"/>
              <a:cs typeface="Noto Sans SC" panose="020B0200000000000000" pitchFamily="34" charset="-122"/>
            </a:endParaRPr>
          </a:p>
        </p:txBody>
      </p:sp>
      <p:sp>
        <p:nvSpPr>
          <p:cNvPr id="58" name="Shape 51"/>
          <p:cNvSpPr/>
          <p:nvPr/>
        </p:nvSpPr>
        <p:spPr>
          <a:xfrm>
            <a:off x="4048049" y="2388413"/>
            <a:ext cx="761695" cy="247802"/>
          </a:xfrm>
          <a:prstGeom prst="roundRect">
            <a:avLst>
              <a:gd name="adj" fmla="val 113540"/>
            </a:avLst>
          </a:prstGeom>
          <a:solidFill>
            <a:srgbClr val="DCFCE7"/>
          </a:solidFill>
          <a:ln w="12700">
            <a:solidFill>
              <a:srgbClr val="FFFFFF">
                <a:alpha val="0"/>
              </a:srgbClr>
            </a:solidFill>
            <a:prstDash val="solid"/>
          </a:ln>
        </p:spPr>
      </p:sp>
      <p:sp>
        <p:nvSpPr>
          <p:cNvPr id="59" name="Text 52"/>
          <p:cNvSpPr txBox="1"/>
          <p:nvPr/>
        </p:nvSpPr>
        <p:spPr>
          <a:xfrm>
            <a:off x="4048049" y="2388413"/>
            <a:ext cx="762610" cy="247802"/>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Admin</a:t>
            </a:r>
            <a:endParaRPr lang="en-US" sz="900" dirty="0">
              <a:ea typeface="Noto Sans SC" panose="020B0200000000000000" pitchFamily="34" charset="-122"/>
              <a:cs typeface="Noto Sans SC" panose="020B0200000000000000" pitchFamily="34" charset="-122"/>
            </a:endParaRPr>
          </a:p>
        </p:txBody>
      </p:sp>
      <p:sp>
        <p:nvSpPr>
          <p:cNvPr id="60" name="Shape 53"/>
          <p:cNvSpPr/>
          <p:nvPr/>
        </p:nvSpPr>
        <p:spPr>
          <a:xfrm>
            <a:off x="10477195" y="2388413"/>
            <a:ext cx="857707" cy="247802"/>
          </a:xfrm>
          <a:prstGeom prst="roundRect">
            <a:avLst>
              <a:gd name="adj" fmla="val 113540"/>
            </a:avLst>
          </a:prstGeom>
          <a:solidFill>
            <a:srgbClr val="DCFCE7"/>
          </a:solidFill>
          <a:ln w="12700">
            <a:solidFill>
              <a:srgbClr val="FFFFFF">
                <a:alpha val="0"/>
              </a:srgbClr>
            </a:solidFill>
            <a:prstDash val="solid"/>
          </a:ln>
        </p:spPr>
      </p:sp>
      <p:sp>
        <p:nvSpPr>
          <p:cNvPr id="61" name="Text 54"/>
          <p:cNvSpPr txBox="1"/>
          <p:nvPr/>
        </p:nvSpPr>
        <p:spPr>
          <a:xfrm>
            <a:off x="10477195" y="2388413"/>
            <a:ext cx="857707" cy="247802"/>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Completed</a:t>
            </a:r>
            <a:endParaRPr lang="en-US" sz="900" dirty="0">
              <a:ea typeface="Noto Sans SC" panose="020B0200000000000000" pitchFamily="34" charset="-122"/>
              <a:cs typeface="Noto Sans SC" panose="020B0200000000000000" pitchFamily="34" charset="-122"/>
            </a:endParaRPr>
          </a:p>
        </p:txBody>
      </p:sp>
      <p:sp>
        <p:nvSpPr>
          <p:cNvPr id="62" name="Shape 55"/>
          <p:cNvSpPr/>
          <p:nvPr/>
        </p:nvSpPr>
        <p:spPr>
          <a:xfrm>
            <a:off x="3905402" y="2836469"/>
            <a:ext cx="1047902" cy="390449"/>
          </a:xfrm>
          <a:prstGeom prst="roundRect">
            <a:avLst>
              <a:gd name="adj" fmla="val 45696"/>
            </a:avLst>
          </a:prstGeom>
          <a:solidFill>
            <a:srgbClr val="FEF3C7"/>
          </a:solidFill>
          <a:ln w="12700">
            <a:solidFill>
              <a:srgbClr val="FFFFFF">
                <a:alpha val="0"/>
              </a:srgbClr>
            </a:solidFill>
            <a:prstDash val="solid"/>
          </a:ln>
        </p:spPr>
      </p:sp>
      <p:sp>
        <p:nvSpPr>
          <p:cNvPr id="63" name="Text 56"/>
          <p:cNvSpPr txBox="1"/>
          <p:nvPr/>
        </p:nvSpPr>
        <p:spPr>
          <a:xfrm>
            <a:off x="3905402" y="2836469"/>
            <a:ext cx="1047902" cy="391363"/>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800" b="1" dirty="0">
                <a:solidFill>
                  <a:srgbClr val="92400E"/>
                </a:solidFill>
                <a:latin typeface="Noto Sans SC" panose="020B0200000000000000" pitchFamily="34" charset="-122"/>
                <a:ea typeface="Noto Sans SC" panose="020B0200000000000000" pitchFamily="34" charset="-122"/>
                <a:cs typeface="Noto Sans SC" panose="020B0200000000000000" pitchFamily="34" charset="-122"/>
              </a:rPr>
              <a:t>Management req.</a:t>
            </a:r>
            <a:endParaRPr lang="en-US" sz="800" dirty="0">
              <a:ea typeface="Noto Sans SC" panose="020B0200000000000000" pitchFamily="34" charset="-122"/>
              <a:cs typeface="Noto Sans SC" panose="020B0200000000000000" pitchFamily="34" charset="-122"/>
            </a:endParaRPr>
          </a:p>
        </p:txBody>
      </p:sp>
      <p:sp>
        <p:nvSpPr>
          <p:cNvPr id="64" name="Shape 57"/>
          <p:cNvSpPr/>
          <p:nvPr/>
        </p:nvSpPr>
        <p:spPr>
          <a:xfrm>
            <a:off x="10477195" y="2912364"/>
            <a:ext cx="857707" cy="247802"/>
          </a:xfrm>
          <a:prstGeom prst="roundRect">
            <a:avLst>
              <a:gd name="adj" fmla="val 113540"/>
            </a:avLst>
          </a:prstGeom>
          <a:solidFill>
            <a:srgbClr val="DCFCE7"/>
          </a:solidFill>
          <a:ln w="12700">
            <a:solidFill>
              <a:srgbClr val="FFFFFF">
                <a:alpha val="0"/>
              </a:srgbClr>
            </a:solidFill>
            <a:prstDash val="solid"/>
          </a:ln>
        </p:spPr>
      </p:sp>
      <p:sp>
        <p:nvSpPr>
          <p:cNvPr id="65" name="Text 58"/>
          <p:cNvSpPr txBox="1"/>
          <p:nvPr/>
        </p:nvSpPr>
        <p:spPr>
          <a:xfrm>
            <a:off x="10477195" y="2912364"/>
            <a:ext cx="857707" cy="247802"/>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Completed</a:t>
            </a:r>
            <a:endParaRPr lang="en-US" sz="900" dirty="0">
              <a:ea typeface="Noto Sans SC" panose="020B0200000000000000" pitchFamily="34" charset="-122"/>
              <a:cs typeface="Noto Sans SC" panose="020B0200000000000000" pitchFamily="34" charset="-122"/>
            </a:endParaRPr>
          </a:p>
        </p:txBody>
      </p:sp>
      <p:sp>
        <p:nvSpPr>
          <p:cNvPr id="66" name="Shape 59"/>
          <p:cNvSpPr/>
          <p:nvPr/>
        </p:nvSpPr>
        <p:spPr>
          <a:xfrm>
            <a:off x="4048049" y="3436315"/>
            <a:ext cx="761695" cy="247802"/>
          </a:xfrm>
          <a:prstGeom prst="roundRect">
            <a:avLst>
              <a:gd name="adj" fmla="val 113540"/>
            </a:avLst>
          </a:prstGeom>
          <a:solidFill>
            <a:srgbClr val="DBEAFE"/>
          </a:solidFill>
          <a:ln w="12700">
            <a:solidFill>
              <a:srgbClr val="FFFFFF">
                <a:alpha val="0"/>
              </a:srgbClr>
            </a:solidFill>
            <a:prstDash val="solid"/>
          </a:ln>
        </p:spPr>
      </p:sp>
      <p:sp>
        <p:nvSpPr>
          <p:cNvPr id="67" name="Text 60"/>
          <p:cNvSpPr txBox="1"/>
          <p:nvPr/>
        </p:nvSpPr>
        <p:spPr>
          <a:xfrm>
            <a:off x="4048049" y="3436315"/>
            <a:ext cx="762610" cy="247802"/>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Student</a:t>
            </a:r>
            <a:endParaRPr lang="en-US" sz="900" dirty="0">
              <a:ea typeface="Noto Sans SC" panose="020B0200000000000000" pitchFamily="34" charset="-122"/>
              <a:cs typeface="Noto Sans SC" panose="020B0200000000000000" pitchFamily="34" charset="-122"/>
            </a:endParaRPr>
          </a:p>
        </p:txBody>
      </p:sp>
      <p:sp>
        <p:nvSpPr>
          <p:cNvPr id="68" name="Shape 61"/>
          <p:cNvSpPr/>
          <p:nvPr/>
        </p:nvSpPr>
        <p:spPr>
          <a:xfrm>
            <a:off x="10477195" y="3436315"/>
            <a:ext cx="857707" cy="247802"/>
          </a:xfrm>
          <a:prstGeom prst="roundRect">
            <a:avLst>
              <a:gd name="adj" fmla="val 113540"/>
            </a:avLst>
          </a:prstGeom>
          <a:solidFill>
            <a:srgbClr val="DCFCE7"/>
          </a:solidFill>
          <a:ln w="12700">
            <a:solidFill>
              <a:srgbClr val="FFFFFF">
                <a:alpha val="0"/>
              </a:srgbClr>
            </a:solidFill>
            <a:prstDash val="solid"/>
          </a:ln>
        </p:spPr>
      </p:sp>
      <p:sp>
        <p:nvSpPr>
          <p:cNvPr id="69" name="Text 62"/>
          <p:cNvSpPr txBox="1"/>
          <p:nvPr/>
        </p:nvSpPr>
        <p:spPr>
          <a:xfrm>
            <a:off x="10477195" y="3436315"/>
            <a:ext cx="857707" cy="247802"/>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Completed</a:t>
            </a:r>
            <a:endParaRPr lang="en-US" sz="900" dirty="0">
              <a:ea typeface="Noto Sans SC" panose="020B0200000000000000" pitchFamily="34" charset="-122"/>
              <a:cs typeface="Noto Sans SC" panose="020B0200000000000000" pitchFamily="34" charset="-122"/>
            </a:endParaRPr>
          </a:p>
        </p:txBody>
      </p:sp>
      <p:sp>
        <p:nvSpPr>
          <p:cNvPr id="70" name="Shape 63"/>
          <p:cNvSpPr/>
          <p:nvPr/>
        </p:nvSpPr>
        <p:spPr>
          <a:xfrm>
            <a:off x="4048049" y="3893515"/>
            <a:ext cx="761695" cy="247802"/>
          </a:xfrm>
          <a:prstGeom prst="roundRect">
            <a:avLst>
              <a:gd name="adj" fmla="val 113540"/>
            </a:avLst>
          </a:prstGeom>
          <a:solidFill>
            <a:srgbClr val="DCFCE7"/>
          </a:solidFill>
          <a:ln w="12700">
            <a:solidFill>
              <a:srgbClr val="FFFFFF">
                <a:alpha val="0"/>
              </a:srgbClr>
            </a:solidFill>
            <a:prstDash val="solid"/>
          </a:ln>
        </p:spPr>
      </p:sp>
      <p:sp>
        <p:nvSpPr>
          <p:cNvPr id="71" name="Text 64"/>
          <p:cNvSpPr txBox="1"/>
          <p:nvPr/>
        </p:nvSpPr>
        <p:spPr>
          <a:xfrm>
            <a:off x="4048049" y="3893515"/>
            <a:ext cx="762610" cy="247802"/>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Admin</a:t>
            </a:r>
            <a:endParaRPr lang="en-US" sz="900" dirty="0">
              <a:ea typeface="Noto Sans SC" panose="020B0200000000000000" pitchFamily="34" charset="-122"/>
              <a:cs typeface="Noto Sans SC" panose="020B0200000000000000" pitchFamily="34" charset="-122"/>
            </a:endParaRPr>
          </a:p>
        </p:txBody>
      </p:sp>
      <p:sp>
        <p:nvSpPr>
          <p:cNvPr id="72" name="Shape 65"/>
          <p:cNvSpPr/>
          <p:nvPr/>
        </p:nvSpPr>
        <p:spPr>
          <a:xfrm>
            <a:off x="10477195" y="3893515"/>
            <a:ext cx="857707" cy="247802"/>
          </a:xfrm>
          <a:prstGeom prst="roundRect">
            <a:avLst>
              <a:gd name="adj" fmla="val 113540"/>
            </a:avLst>
          </a:prstGeom>
          <a:solidFill>
            <a:srgbClr val="DCFCE7"/>
          </a:solidFill>
          <a:ln w="12700">
            <a:solidFill>
              <a:srgbClr val="FFFFFF">
                <a:alpha val="0"/>
              </a:srgbClr>
            </a:solidFill>
            <a:prstDash val="solid"/>
          </a:ln>
        </p:spPr>
      </p:sp>
      <p:sp>
        <p:nvSpPr>
          <p:cNvPr id="73" name="Text 66"/>
          <p:cNvSpPr txBox="1"/>
          <p:nvPr/>
        </p:nvSpPr>
        <p:spPr>
          <a:xfrm>
            <a:off x="10477195" y="3893515"/>
            <a:ext cx="857707" cy="247802"/>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Completed</a:t>
            </a:r>
            <a:endParaRPr lang="en-US" sz="900" dirty="0">
              <a:ea typeface="Noto Sans SC" panose="020B0200000000000000" pitchFamily="34" charset="-122"/>
              <a:cs typeface="Noto Sans SC" panose="020B0200000000000000" pitchFamily="34" charset="-122"/>
            </a:endParaRPr>
          </a:p>
        </p:txBody>
      </p:sp>
      <p:sp>
        <p:nvSpPr>
          <p:cNvPr id="74" name="Shape 67"/>
          <p:cNvSpPr/>
          <p:nvPr/>
        </p:nvSpPr>
        <p:spPr>
          <a:xfrm>
            <a:off x="4048049" y="4350715"/>
            <a:ext cx="761695" cy="247802"/>
          </a:xfrm>
          <a:prstGeom prst="roundRect">
            <a:avLst>
              <a:gd name="adj" fmla="val 113540"/>
            </a:avLst>
          </a:prstGeom>
          <a:solidFill>
            <a:srgbClr val="FEF3C7"/>
          </a:solidFill>
          <a:ln w="12700">
            <a:solidFill>
              <a:srgbClr val="FFFFFF">
                <a:alpha val="0"/>
              </a:srgbClr>
            </a:solidFill>
            <a:prstDash val="solid"/>
          </a:ln>
        </p:spPr>
      </p:sp>
      <p:sp>
        <p:nvSpPr>
          <p:cNvPr id="75" name="Text 68"/>
          <p:cNvSpPr txBox="1"/>
          <p:nvPr/>
        </p:nvSpPr>
        <p:spPr>
          <a:xfrm>
            <a:off x="4048049" y="4350715"/>
            <a:ext cx="762610" cy="247802"/>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92400E"/>
                </a:solidFill>
                <a:latin typeface="Noto Sans SC" panose="020B0200000000000000" pitchFamily="34" charset="-122"/>
                <a:ea typeface="Noto Sans SC" panose="020B0200000000000000" pitchFamily="34" charset="-122"/>
                <a:cs typeface="Noto Sans SC" panose="020B0200000000000000" pitchFamily="34" charset="-122"/>
              </a:rPr>
              <a:t>Audit req.</a:t>
            </a:r>
            <a:endParaRPr lang="en-US" sz="900" dirty="0">
              <a:ea typeface="Noto Sans SC" panose="020B0200000000000000" pitchFamily="34" charset="-122"/>
              <a:cs typeface="Noto Sans SC" panose="020B0200000000000000" pitchFamily="34" charset="-122"/>
            </a:endParaRPr>
          </a:p>
        </p:txBody>
      </p:sp>
      <p:sp>
        <p:nvSpPr>
          <p:cNvPr id="76" name="Shape 69"/>
          <p:cNvSpPr/>
          <p:nvPr/>
        </p:nvSpPr>
        <p:spPr>
          <a:xfrm>
            <a:off x="10477195" y="4350715"/>
            <a:ext cx="857707" cy="247802"/>
          </a:xfrm>
          <a:prstGeom prst="roundRect">
            <a:avLst>
              <a:gd name="adj" fmla="val 113540"/>
            </a:avLst>
          </a:prstGeom>
          <a:solidFill>
            <a:srgbClr val="FEF3C7"/>
          </a:solidFill>
          <a:ln w="12700">
            <a:solidFill>
              <a:srgbClr val="FFFFFF">
                <a:alpha val="0"/>
              </a:srgbClr>
            </a:solidFill>
            <a:prstDash val="solid"/>
          </a:ln>
        </p:spPr>
      </p:sp>
      <p:sp>
        <p:nvSpPr>
          <p:cNvPr id="77" name="Text 70"/>
          <p:cNvSpPr txBox="1"/>
          <p:nvPr/>
        </p:nvSpPr>
        <p:spPr>
          <a:xfrm>
            <a:off x="10477195" y="4350715"/>
            <a:ext cx="857707" cy="247802"/>
          </a:xfrm>
          <a:prstGeom prst="rect">
            <a:avLst/>
          </a:prstGeom>
          <a:solidFill>
            <a:srgbClr val="FFFFFF">
              <a:alpha val="0"/>
            </a:srgbClr>
          </a:solidFill>
          <a:ln>
            <a:solidFill>
              <a:srgbClr val="FFFFFF">
                <a:alpha val="0"/>
              </a:srgbClr>
            </a:solidFill>
          </a:ln>
        </p:spPr>
        <p:txBody>
          <a:bodyPr wrap="square" lIns="101600" tIns="38100" rIns="101600" bIns="38100" rtlCol="0" anchor="ctr"/>
          <a:lstStyle/>
          <a:p>
            <a:pPr marL="0" indent="0" algn="ctr">
              <a:buNone/>
            </a:pPr>
            <a:r>
              <a:rPr lang="en-US" sz="900" b="1" dirty="0">
                <a:solidFill>
                  <a:srgbClr val="92400E"/>
                </a:solidFill>
                <a:latin typeface="Noto Sans SC" panose="020B0200000000000000" pitchFamily="34" charset="-122"/>
                <a:ea typeface="Noto Sans SC" panose="020B0200000000000000" pitchFamily="34" charset="-122"/>
                <a:cs typeface="Noto Sans SC" panose="020B0200000000000000" pitchFamily="34" charset="-122"/>
              </a:rPr>
              <a:t>In Progress</a:t>
            </a:r>
            <a:endParaRPr lang="en-US" sz="900" dirty="0">
              <a:ea typeface="Noto Sans SC" panose="020B0200000000000000" pitchFamily="34" charset="-122"/>
              <a:cs typeface="Noto Sans SC" panose="020B0200000000000000" pitchFamily="34" charset="-122"/>
            </a:endParaRPr>
          </a:p>
        </p:txBody>
      </p:sp>
      <p:sp>
        <p:nvSpPr>
          <p:cNvPr id="78" name="Shape 71"/>
          <p:cNvSpPr/>
          <p:nvPr/>
        </p:nvSpPr>
        <p:spPr>
          <a:xfrm>
            <a:off x="1143000" y="6096305"/>
            <a:ext cx="381305" cy="381305"/>
          </a:xfrm>
          <a:prstGeom prst="roundRect">
            <a:avLst>
              <a:gd name="adj" fmla="val 95923"/>
            </a:avLst>
          </a:prstGeom>
          <a:solidFill>
            <a:srgbClr val="3B82F6"/>
          </a:solidFill>
          <a:ln w="12700">
            <a:solidFill>
              <a:srgbClr val="FFFFFF">
                <a:alpha val="0"/>
              </a:srgbClr>
            </a:solidFill>
            <a:prstDash val="solid"/>
          </a:ln>
        </p:spPr>
      </p:sp>
      <p:pic>
        <p:nvPicPr>
          <p:cNvPr id="79" name="Image 5" descr="preencoded.png"/>
          <p:cNvPicPr>
            <a:picLocks noChangeAspect="1"/>
          </p:cNvPicPr>
          <p:nvPr/>
        </p:nvPicPr>
        <p:blipFill>
          <a:blip r:embed="rId6"/>
          <a:srcRect/>
          <a:stretch>
            <a:fillRect/>
          </a:stretch>
        </p:blipFill>
        <p:spPr>
          <a:xfrm>
            <a:off x="1248156" y="6200546"/>
            <a:ext cx="171907" cy="171907"/>
          </a:xfrm>
          <a:prstGeom prst="rect">
            <a:avLst/>
          </a:prstGeom>
        </p:spPr>
      </p:pic>
      <p:sp>
        <p:nvSpPr>
          <p:cNvPr id="80" name="Text 72"/>
          <p:cNvSpPr txBox="1"/>
          <p:nvPr/>
        </p:nvSpPr>
        <p:spPr>
          <a:xfrm>
            <a:off x="1666951" y="6060643"/>
            <a:ext cx="1799539" cy="200254"/>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Requirements Coverage</a:t>
            </a:r>
            <a:endParaRPr lang="en-US" sz="1000" dirty="0">
              <a:ea typeface="Noto Sans SC" panose="020B0200000000000000" pitchFamily="34" charset="-122"/>
              <a:cs typeface="Noto Sans SC" panose="020B0200000000000000" pitchFamily="34" charset="-122"/>
            </a:endParaRPr>
          </a:p>
        </p:txBody>
      </p:sp>
      <p:sp>
        <p:nvSpPr>
          <p:cNvPr id="81" name="Text 73"/>
          <p:cNvSpPr txBox="1"/>
          <p:nvPr/>
        </p:nvSpPr>
        <p:spPr>
          <a:xfrm>
            <a:off x="1666951" y="6260897"/>
            <a:ext cx="1562710" cy="257861"/>
          </a:xfrm>
          <a:prstGeom prst="rect">
            <a:avLst/>
          </a:prstGeom>
          <a:noFill/>
        </p:spPr>
        <p:txBody>
          <a:bodyPr wrap="square" lIns="0" tIns="0" rIns="0" bIns="0" rtlCol="0" anchor="ctr"/>
          <a:lstStyle/>
          <a:p>
            <a:pPr marL="0" indent="0" algn="l">
              <a:buNone/>
            </a:pPr>
            <a:r>
              <a:rPr lang="en-US" sz="1800" b="1" dirty="0">
                <a:solidFill>
                  <a:srgbClr val="1D4ED8"/>
                </a:solidFill>
                <a:latin typeface="Noto Sans SC" panose="020B0200000000000000" pitchFamily="34" charset="-122"/>
                <a:ea typeface="Noto Sans SC" panose="020B0200000000000000" pitchFamily="34" charset="-122"/>
                <a:cs typeface="Noto Sans SC" panose="020B0200000000000000" pitchFamily="34" charset="-122"/>
              </a:rPr>
              <a:t>100%</a:t>
            </a:r>
            <a:endParaRPr lang="en-US" sz="1800" dirty="0">
              <a:ea typeface="Noto Sans SC" panose="020B0200000000000000" pitchFamily="34" charset="-122"/>
              <a:cs typeface="Noto Sans SC" panose="020B0200000000000000" pitchFamily="34" charset="-122"/>
            </a:endParaRPr>
          </a:p>
        </p:txBody>
      </p:sp>
      <p:sp>
        <p:nvSpPr>
          <p:cNvPr id="82" name="Shape 74"/>
          <p:cNvSpPr/>
          <p:nvPr/>
        </p:nvSpPr>
        <p:spPr>
          <a:xfrm>
            <a:off x="5032858" y="6096305"/>
            <a:ext cx="381305" cy="381305"/>
          </a:xfrm>
          <a:prstGeom prst="roundRect">
            <a:avLst>
              <a:gd name="adj" fmla="val 95923"/>
            </a:avLst>
          </a:prstGeom>
          <a:solidFill>
            <a:srgbClr val="3B82F6"/>
          </a:solidFill>
          <a:ln w="12700">
            <a:solidFill>
              <a:srgbClr val="FFFFFF">
                <a:alpha val="0"/>
              </a:srgbClr>
            </a:solidFill>
            <a:prstDash val="solid"/>
          </a:ln>
        </p:spPr>
      </p:sp>
      <p:pic>
        <p:nvPicPr>
          <p:cNvPr id="83" name="Image 6" descr="preencoded.png"/>
          <p:cNvPicPr>
            <a:picLocks noChangeAspect="1"/>
          </p:cNvPicPr>
          <p:nvPr/>
        </p:nvPicPr>
        <p:blipFill>
          <a:blip r:embed="rId7"/>
          <a:srcRect l="-1064" r="-1064"/>
          <a:stretch>
            <a:fillRect/>
          </a:stretch>
        </p:blipFill>
        <p:spPr>
          <a:xfrm>
            <a:off x="5113325" y="6200546"/>
            <a:ext cx="219456" cy="171907"/>
          </a:xfrm>
          <a:prstGeom prst="rect">
            <a:avLst/>
          </a:prstGeom>
        </p:spPr>
      </p:pic>
      <p:sp>
        <p:nvSpPr>
          <p:cNvPr id="84" name="Text 75"/>
          <p:cNvSpPr txBox="1"/>
          <p:nvPr/>
        </p:nvSpPr>
        <p:spPr>
          <a:xfrm>
            <a:off x="5556809" y="6060643"/>
            <a:ext cx="1886407" cy="200254"/>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Completed Requirements</a:t>
            </a:r>
            <a:endParaRPr lang="en-US" sz="1000" dirty="0">
              <a:ea typeface="Noto Sans SC" panose="020B0200000000000000" pitchFamily="34" charset="-122"/>
              <a:cs typeface="Noto Sans SC" panose="020B0200000000000000" pitchFamily="34" charset="-122"/>
            </a:endParaRPr>
          </a:p>
        </p:txBody>
      </p:sp>
      <p:sp>
        <p:nvSpPr>
          <p:cNvPr id="85" name="Text 76"/>
          <p:cNvSpPr txBox="1"/>
          <p:nvPr/>
        </p:nvSpPr>
        <p:spPr>
          <a:xfrm>
            <a:off x="5556809" y="6260897"/>
            <a:ext cx="1677010" cy="257861"/>
          </a:xfrm>
          <a:prstGeom prst="rect">
            <a:avLst/>
          </a:prstGeom>
          <a:noFill/>
        </p:spPr>
        <p:txBody>
          <a:bodyPr wrap="square" lIns="0" tIns="0" rIns="0" bIns="0" rtlCol="0" anchor="ctr"/>
          <a:lstStyle/>
          <a:p>
            <a:pPr marL="0" indent="0" algn="l">
              <a:buNone/>
            </a:pPr>
            <a:r>
              <a:rPr lang="en-US" sz="1800" b="1" dirty="0">
                <a:solidFill>
                  <a:srgbClr val="1D4ED8"/>
                </a:solidFill>
                <a:latin typeface="Noto Sans SC" panose="020B0200000000000000" pitchFamily="34" charset="-122"/>
                <a:ea typeface="Noto Sans SC" panose="020B0200000000000000" pitchFamily="34" charset="-122"/>
                <a:cs typeface="Noto Sans SC" panose="020B0200000000000000" pitchFamily="34" charset="-122"/>
              </a:rPr>
              <a:t>5 / 6</a:t>
            </a:r>
            <a:endParaRPr lang="en-US" sz="1800" dirty="0">
              <a:ea typeface="Noto Sans SC" panose="020B0200000000000000" pitchFamily="34" charset="-122"/>
              <a:cs typeface="Noto Sans SC" panose="020B0200000000000000" pitchFamily="34" charset="-122"/>
            </a:endParaRPr>
          </a:p>
        </p:txBody>
      </p:sp>
      <p:sp>
        <p:nvSpPr>
          <p:cNvPr id="86" name="Shape 77"/>
          <p:cNvSpPr/>
          <p:nvPr/>
        </p:nvSpPr>
        <p:spPr>
          <a:xfrm>
            <a:off x="9033358" y="6096305"/>
            <a:ext cx="381305" cy="381305"/>
          </a:xfrm>
          <a:prstGeom prst="roundRect">
            <a:avLst>
              <a:gd name="adj" fmla="val 95923"/>
            </a:avLst>
          </a:prstGeom>
          <a:solidFill>
            <a:srgbClr val="3B82F6"/>
          </a:solidFill>
          <a:ln w="12700">
            <a:solidFill>
              <a:srgbClr val="FFFFFF">
                <a:alpha val="0"/>
              </a:srgbClr>
            </a:solidFill>
            <a:prstDash val="solid"/>
          </a:ln>
        </p:spPr>
      </p:sp>
      <p:pic>
        <p:nvPicPr>
          <p:cNvPr id="87" name="Image 7" descr="preencoded.png"/>
          <p:cNvPicPr>
            <a:picLocks noChangeAspect="1"/>
          </p:cNvPicPr>
          <p:nvPr/>
        </p:nvPicPr>
        <p:blipFill>
          <a:blip r:embed="rId8"/>
          <a:srcRect/>
          <a:stretch>
            <a:fillRect/>
          </a:stretch>
        </p:blipFill>
        <p:spPr>
          <a:xfrm>
            <a:off x="9137599" y="6200546"/>
            <a:ext cx="171907" cy="171907"/>
          </a:xfrm>
          <a:prstGeom prst="rect">
            <a:avLst/>
          </a:prstGeom>
        </p:spPr>
      </p:pic>
      <p:sp>
        <p:nvSpPr>
          <p:cNvPr id="88" name="Text 78"/>
          <p:cNvSpPr txBox="1"/>
          <p:nvPr/>
        </p:nvSpPr>
        <p:spPr>
          <a:xfrm>
            <a:off x="9557309" y="6060643"/>
            <a:ext cx="1844345" cy="200254"/>
          </a:xfrm>
          <a:prstGeom prst="rect">
            <a:avLst/>
          </a:prstGeom>
          <a:noFill/>
        </p:spPr>
        <p:txBody>
          <a:bodyPr wrap="square" lIns="0" tIns="0" rIns="0" bIns="0" rtlCol="0" anchor="ctr"/>
          <a:lstStyle/>
          <a:p>
            <a:pPr marL="0" indent="0" algn="l">
              <a:buNone/>
            </a:pPr>
            <a:r>
              <a:rPr lang="en-US" sz="10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Pending Requirements</a:t>
            </a:r>
            <a:endParaRPr lang="en-US" sz="1000" dirty="0">
              <a:ea typeface="Noto Sans SC" panose="020B0200000000000000" pitchFamily="34" charset="-122"/>
              <a:cs typeface="Noto Sans SC" panose="020B0200000000000000" pitchFamily="34" charset="-122"/>
            </a:endParaRPr>
          </a:p>
        </p:txBody>
      </p:sp>
      <p:sp>
        <p:nvSpPr>
          <p:cNvPr id="89" name="Text 79"/>
          <p:cNvSpPr txBox="1"/>
          <p:nvPr/>
        </p:nvSpPr>
        <p:spPr>
          <a:xfrm>
            <a:off x="9557309" y="6260897"/>
            <a:ext cx="1495958" cy="257861"/>
          </a:xfrm>
          <a:prstGeom prst="rect">
            <a:avLst/>
          </a:prstGeom>
          <a:noFill/>
        </p:spPr>
        <p:txBody>
          <a:bodyPr wrap="square" lIns="0" tIns="0" rIns="0" bIns="0" rtlCol="0" anchor="ctr"/>
          <a:lstStyle/>
          <a:p>
            <a:pPr marL="0" indent="0" algn="l">
              <a:buNone/>
            </a:pPr>
            <a:r>
              <a:rPr lang="en-US" sz="1800" b="1" dirty="0">
                <a:solidFill>
                  <a:srgbClr val="1D4ED8"/>
                </a:solidFill>
                <a:latin typeface="Noto Sans SC" panose="020B0200000000000000" pitchFamily="34" charset="-122"/>
                <a:ea typeface="Noto Sans SC" panose="020B0200000000000000" pitchFamily="34" charset="-122"/>
                <a:cs typeface="Noto Sans SC" panose="020B0200000000000000" pitchFamily="34" charset="-122"/>
              </a:rPr>
              <a:t>1</a:t>
            </a:r>
            <a:endParaRPr lang="en-US" sz="1800" dirty="0">
              <a:ea typeface="Noto Sans SC" panose="020B0200000000000000" pitchFamily="34" charset="-122"/>
              <a:cs typeface="Noto Sans SC" panose="020B0200000000000000"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t="-17" b="-17"/>
          <a:stretch>
            <a:fillRect/>
          </a:stretch>
        </p:blipFill>
        <p:spPr>
          <a:xfrm>
            <a:off x="0" y="0"/>
            <a:ext cx="12191695" cy="952805"/>
          </a:xfrm>
          <a:prstGeom prst="rect">
            <a:avLst/>
          </a:prstGeom>
        </p:spPr>
      </p:pic>
      <p:sp>
        <p:nvSpPr>
          <p:cNvPr id="5" name="Shape 2"/>
          <p:cNvSpPr/>
          <p:nvPr/>
        </p:nvSpPr>
        <p:spPr>
          <a:xfrm>
            <a:off x="571500" y="1952244"/>
            <a:ext cx="11096244" cy="1047902"/>
          </a:xfrm>
          <a:prstGeom prst="roundRect">
            <a:avLst>
              <a:gd name="adj" fmla="val 19039"/>
            </a:avLst>
          </a:prstGeom>
          <a:solidFill>
            <a:srgbClr val="FFFFFF"/>
          </a:solidFill>
          <a:effectLst>
            <a:outerShdw blurRad="76200" dist="25400" dir="16200000" algn="bl" rotWithShape="0">
              <a:srgbClr val="000000">
                <a:alpha val="5000"/>
              </a:srgbClr>
            </a:outerShdw>
          </a:effectLst>
        </p:spPr>
      </p:sp>
      <p:sp>
        <p:nvSpPr>
          <p:cNvPr id="6" name="Shape 3"/>
          <p:cNvSpPr/>
          <p:nvPr/>
        </p:nvSpPr>
        <p:spPr>
          <a:xfrm>
            <a:off x="571500" y="1952244"/>
            <a:ext cx="47549" cy="1047902"/>
          </a:xfrm>
          <a:prstGeom prst="roundRect">
            <a:avLst>
              <a:gd name="adj" fmla="val 419579"/>
            </a:avLst>
          </a:prstGeom>
          <a:solidFill>
            <a:srgbClr val="10B981"/>
          </a:solidFill>
          <a:ln w="12700">
            <a:solidFill>
              <a:srgbClr val="10B981">
                <a:alpha val="0"/>
              </a:srgbClr>
            </a:solidFill>
            <a:prstDash val="solid"/>
          </a:ln>
        </p:spPr>
      </p:sp>
      <p:sp>
        <p:nvSpPr>
          <p:cNvPr id="7" name="Shape 4"/>
          <p:cNvSpPr/>
          <p:nvPr/>
        </p:nvSpPr>
        <p:spPr>
          <a:xfrm>
            <a:off x="571500" y="3143707"/>
            <a:ext cx="11096244" cy="1047902"/>
          </a:xfrm>
          <a:prstGeom prst="roundRect">
            <a:avLst>
              <a:gd name="adj" fmla="val 19039"/>
            </a:avLst>
          </a:prstGeom>
          <a:solidFill>
            <a:srgbClr val="FFFFFF"/>
          </a:solidFill>
          <a:effectLst>
            <a:outerShdw blurRad="76200" dist="25400" dir="16200000" algn="bl" rotWithShape="0">
              <a:srgbClr val="000000">
                <a:alpha val="5000"/>
              </a:srgbClr>
            </a:outerShdw>
          </a:effectLst>
        </p:spPr>
      </p:sp>
      <p:sp>
        <p:nvSpPr>
          <p:cNvPr id="8" name="Shape 5"/>
          <p:cNvSpPr/>
          <p:nvPr/>
        </p:nvSpPr>
        <p:spPr>
          <a:xfrm>
            <a:off x="571500" y="3143707"/>
            <a:ext cx="47549" cy="1047902"/>
          </a:xfrm>
          <a:prstGeom prst="roundRect">
            <a:avLst>
              <a:gd name="adj" fmla="val 419579"/>
            </a:avLst>
          </a:prstGeom>
          <a:solidFill>
            <a:srgbClr val="3B82F6"/>
          </a:solidFill>
          <a:ln w="12700">
            <a:solidFill>
              <a:srgbClr val="3B82F6">
                <a:alpha val="0"/>
              </a:srgbClr>
            </a:solidFill>
            <a:prstDash val="solid"/>
          </a:ln>
        </p:spPr>
      </p:sp>
      <p:sp>
        <p:nvSpPr>
          <p:cNvPr id="9" name="Shape 6"/>
          <p:cNvSpPr/>
          <p:nvPr/>
        </p:nvSpPr>
        <p:spPr>
          <a:xfrm>
            <a:off x="571500" y="4334256"/>
            <a:ext cx="11096244" cy="1047902"/>
          </a:xfrm>
          <a:prstGeom prst="roundRect">
            <a:avLst>
              <a:gd name="adj" fmla="val 19039"/>
            </a:avLst>
          </a:prstGeom>
          <a:solidFill>
            <a:srgbClr val="FFFFFF"/>
          </a:solidFill>
          <a:effectLst>
            <a:outerShdw blurRad="76200" dist="25400" dir="16200000" algn="bl" rotWithShape="0">
              <a:srgbClr val="000000">
                <a:alpha val="5000"/>
              </a:srgbClr>
            </a:outerShdw>
          </a:effectLst>
        </p:spPr>
      </p:sp>
      <p:sp>
        <p:nvSpPr>
          <p:cNvPr id="10" name="Shape 7"/>
          <p:cNvSpPr/>
          <p:nvPr/>
        </p:nvSpPr>
        <p:spPr>
          <a:xfrm>
            <a:off x="571500" y="4334256"/>
            <a:ext cx="47549" cy="1047902"/>
          </a:xfrm>
          <a:prstGeom prst="roundRect">
            <a:avLst>
              <a:gd name="adj" fmla="val 419579"/>
            </a:avLst>
          </a:prstGeom>
          <a:solidFill>
            <a:srgbClr val="8B5CF6"/>
          </a:solidFill>
          <a:ln w="12700">
            <a:solidFill>
              <a:srgbClr val="8B5CF6">
                <a:alpha val="0"/>
              </a:srgbClr>
            </a:solidFill>
            <a:prstDash val="solid"/>
          </a:ln>
        </p:spPr>
      </p:sp>
      <p:sp>
        <p:nvSpPr>
          <p:cNvPr id="11" name="Shape 8"/>
          <p:cNvSpPr/>
          <p:nvPr/>
        </p:nvSpPr>
        <p:spPr>
          <a:xfrm>
            <a:off x="571500" y="5524805"/>
            <a:ext cx="11096244" cy="1047902"/>
          </a:xfrm>
          <a:prstGeom prst="roundRect">
            <a:avLst>
              <a:gd name="adj" fmla="val 19039"/>
            </a:avLst>
          </a:prstGeom>
          <a:solidFill>
            <a:srgbClr val="FFFFFF"/>
          </a:solidFill>
          <a:effectLst>
            <a:outerShdw blurRad="76200" dist="25400" dir="16200000" algn="bl" rotWithShape="0">
              <a:srgbClr val="000000">
                <a:alpha val="5000"/>
              </a:srgbClr>
            </a:outerShdw>
          </a:effectLst>
        </p:spPr>
      </p:sp>
      <p:sp>
        <p:nvSpPr>
          <p:cNvPr id="12" name="Shape 9"/>
          <p:cNvSpPr/>
          <p:nvPr/>
        </p:nvSpPr>
        <p:spPr>
          <a:xfrm>
            <a:off x="571500" y="5524805"/>
            <a:ext cx="47549" cy="1047902"/>
          </a:xfrm>
          <a:prstGeom prst="roundRect">
            <a:avLst>
              <a:gd name="adj" fmla="val 419579"/>
            </a:avLst>
          </a:prstGeom>
          <a:solidFill>
            <a:srgbClr val="F59E0B"/>
          </a:solidFill>
          <a:ln w="12700">
            <a:solidFill>
              <a:srgbClr val="F59E0B">
                <a:alpha val="0"/>
              </a:srgbClr>
            </a:solidFill>
            <a:prstDash val="solid"/>
          </a:ln>
        </p:spPr>
      </p:sp>
      <p:sp>
        <p:nvSpPr>
          <p:cNvPr id="13" name="Shape 10"/>
          <p:cNvSpPr/>
          <p:nvPr/>
        </p:nvSpPr>
        <p:spPr>
          <a:xfrm>
            <a:off x="571500" y="247802"/>
            <a:ext cx="457200" cy="457200"/>
          </a:xfrm>
          <a:prstGeom prst="ellipse">
            <a:avLst/>
          </a:prstGeom>
          <a:solidFill>
            <a:srgbClr val="FFFFFF">
              <a:alpha val="15000"/>
            </a:srgbClr>
          </a:solidFill>
          <a:ln w="12700">
            <a:solidFill>
              <a:srgbClr val="FFFFFF">
                <a:alpha val="0"/>
              </a:srgbClr>
            </a:solidFill>
            <a:prstDash val="solid"/>
          </a:ln>
        </p:spPr>
      </p:sp>
      <p:pic>
        <p:nvPicPr>
          <p:cNvPr id="14" name="Image 1" descr="preencoded.png"/>
          <p:cNvPicPr>
            <a:picLocks noChangeAspect="1"/>
          </p:cNvPicPr>
          <p:nvPr/>
        </p:nvPicPr>
        <p:blipFill>
          <a:blip r:embed="rId2"/>
          <a:srcRect l="-1282" r="-1282"/>
          <a:stretch>
            <a:fillRect/>
          </a:stretch>
        </p:blipFill>
        <p:spPr>
          <a:xfrm>
            <a:off x="690372" y="381305"/>
            <a:ext cx="219456" cy="190195"/>
          </a:xfrm>
          <a:prstGeom prst="rect">
            <a:avLst/>
          </a:prstGeom>
        </p:spPr>
      </p:pic>
      <p:sp>
        <p:nvSpPr>
          <p:cNvPr id="15" name="Text 11"/>
          <p:cNvSpPr txBox="1"/>
          <p:nvPr/>
        </p:nvSpPr>
        <p:spPr>
          <a:xfrm>
            <a:off x="1218895" y="171907"/>
            <a:ext cx="9525305" cy="372161"/>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Evaluation Document: Prototype Status Evaluation</a:t>
            </a:r>
            <a:endParaRPr lang="en-US" sz="2400" dirty="0">
              <a:ea typeface="Noto Sans SC" panose="020B0200000000000000" pitchFamily="34" charset="-122"/>
              <a:cs typeface="Noto Sans SC" panose="020B0200000000000000" pitchFamily="34" charset="-122"/>
            </a:endParaRPr>
          </a:p>
        </p:txBody>
      </p:sp>
      <p:sp>
        <p:nvSpPr>
          <p:cNvPr id="16" name="Text 12"/>
          <p:cNvSpPr txBox="1"/>
          <p:nvPr/>
        </p:nvSpPr>
        <p:spPr>
          <a:xfrm>
            <a:off x="875995" y="1095451"/>
            <a:ext cx="10745114" cy="648310"/>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Comprehensive Prototype Evaluation: Completeness, Consistency, Demonstrability &amp; Gaps </a:t>
            </a:r>
            <a:endParaRPr lang="en-US" sz="1900" dirty="0">
              <a:ea typeface="Noto Sans SC" panose="020B0200000000000000" pitchFamily="34" charset="-122"/>
              <a:cs typeface="Noto Sans SC" panose="020B0200000000000000" pitchFamily="34" charset="-122"/>
            </a:endParaRPr>
          </a:p>
        </p:txBody>
      </p:sp>
      <p:pic>
        <p:nvPicPr>
          <p:cNvPr id="17" name="Image 2" descr="preencoded.png"/>
          <p:cNvPicPr>
            <a:picLocks noChangeAspect="1"/>
          </p:cNvPicPr>
          <p:nvPr/>
        </p:nvPicPr>
        <p:blipFill>
          <a:blip r:embed="rId3"/>
          <a:srcRect l="-1169" r="-1169"/>
          <a:stretch>
            <a:fillRect/>
          </a:stretch>
        </p:blipFill>
        <p:spPr>
          <a:xfrm>
            <a:off x="571500" y="1152144"/>
            <a:ext cx="190195" cy="247802"/>
          </a:xfrm>
          <a:prstGeom prst="rect">
            <a:avLst/>
          </a:prstGeom>
        </p:spPr>
      </p:pic>
      <p:sp>
        <p:nvSpPr>
          <p:cNvPr id="18" name="Shape 13"/>
          <p:cNvSpPr/>
          <p:nvPr/>
        </p:nvSpPr>
        <p:spPr>
          <a:xfrm>
            <a:off x="875995" y="2171700"/>
            <a:ext cx="609905" cy="609905"/>
          </a:xfrm>
          <a:prstGeom prst="roundRect">
            <a:avLst>
              <a:gd name="adj" fmla="val 56222"/>
            </a:avLst>
          </a:prstGeom>
          <a:solidFill>
            <a:srgbClr val="10B981">
              <a:alpha val="10000"/>
            </a:srgbClr>
          </a:solidFill>
          <a:ln w="12700">
            <a:solidFill>
              <a:srgbClr val="FFFFFF">
                <a:alpha val="0"/>
              </a:srgbClr>
            </a:solidFill>
            <a:prstDash val="solid"/>
          </a:ln>
        </p:spPr>
      </p:sp>
      <p:pic>
        <p:nvPicPr>
          <p:cNvPr id="19" name="Image 3" descr="preencoded.png"/>
          <p:cNvPicPr>
            <a:picLocks noChangeAspect="1"/>
          </p:cNvPicPr>
          <p:nvPr/>
        </p:nvPicPr>
        <p:blipFill>
          <a:blip r:embed="rId4"/>
          <a:srcRect/>
          <a:stretch>
            <a:fillRect/>
          </a:stretch>
        </p:blipFill>
        <p:spPr>
          <a:xfrm>
            <a:off x="1047902" y="2343607"/>
            <a:ext cx="267005" cy="267005"/>
          </a:xfrm>
          <a:prstGeom prst="rect">
            <a:avLst/>
          </a:prstGeom>
        </p:spPr>
      </p:pic>
      <p:sp>
        <p:nvSpPr>
          <p:cNvPr id="20" name="Text 14"/>
          <p:cNvSpPr txBox="1"/>
          <p:nvPr/>
        </p:nvSpPr>
        <p:spPr>
          <a:xfrm>
            <a:off x="1714500" y="2076602"/>
            <a:ext cx="9715500" cy="257861"/>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1) Completeness Assessment </a:t>
            </a:r>
            <a:r>
              <a:rPr lang="en-US" sz="1200" b="1" dirty="0">
                <a:solidFill>
                  <a:srgbClr val="10B981"/>
                </a:solidFill>
                <a:latin typeface="Noto Sans SC" panose="020B0200000000000000" pitchFamily="34" charset="-122"/>
                <a:ea typeface="Noto Sans SC" panose="020B0200000000000000" pitchFamily="34" charset="-122"/>
                <a:cs typeface="Noto Sans SC" panose="020B0200000000000000" pitchFamily="34" charset="-122"/>
              </a:rPr>
              <a:t>Complete</a:t>
            </a:r>
            <a:endParaRPr lang="en-US" sz="1500" dirty="0">
              <a:ea typeface="Noto Sans SC" panose="020B0200000000000000" pitchFamily="34" charset="-122"/>
              <a:cs typeface="Noto Sans SC" panose="020B0200000000000000" pitchFamily="34" charset="-122"/>
            </a:endParaRPr>
          </a:p>
        </p:txBody>
      </p:sp>
      <p:sp>
        <p:nvSpPr>
          <p:cNvPr id="21" name="Text 15"/>
          <p:cNvSpPr txBox="1"/>
          <p:nvPr/>
        </p:nvSpPr>
        <p:spPr>
          <a:xfrm>
            <a:off x="1714500" y="2391156"/>
            <a:ext cx="10401300" cy="219456"/>
          </a:xfrm>
          <a:prstGeom prst="rect">
            <a:avLst/>
          </a:prstGeom>
          <a:noFill/>
        </p:spPr>
        <p:txBody>
          <a:bodyPr wrap="square" lIns="0" tIns="0" rIns="0" bIns="0" rtlCol="0" anchor="ctr"/>
          <a:lstStyle/>
          <a:p>
            <a:pPr marL="0" indent="0" algn="l">
              <a:buNone/>
            </a:pPr>
            <a:r>
              <a:rPr lang="en-US" sz="12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Core modules: login/roles/admin/buildings/students/records/stats/evaluation/visitors all core functions completed</a:t>
            </a:r>
            <a:endParaRPr lang="en-US" sz="1200" dirty="0">
              <a:ea typeface="Noto Sans SC" panose="020B0200000000000000" pitchFamily="34" charset="-122"/>
              <a:cs typeface="Noto Sans SC" panose="020B0200000000000000" pitchFamily="34" charset="-122"/>
            </a:endParaRPr>
          </a:p>
        </p:txBody>
      </p:sp>
      <p:pic>
        <p:nvPicPr>
          <p:cNvPr id="22" name="Image 4" descr="preencoded.png"/>
          <p:cNvPicPr>
            <a:picLocks noChangeAspect="1"/>
          </p:cNvPicPr>
          <p:nvPr/>
        </p:nvPicPr>
        <p:blipFill>
          <a:blip r:embed="rId5"/>
          <a:srcRect t="-100" b="-100"/>
          <a:stretch>
            <a:fillRect/>
          </a:stretch>
        </p:blipFill>
        <p:spPr>
          <a:xfrm>
            <a:off x="5041316" y="2134438"/>
            <a:ext cx="114300" cy="152705"/>
          </a:xfrm>
          <a:prstGeom prst="rect">
            <a:avLst/>
          </a:prstGeom>
        </p:spPr>
      </p:pic>
      <p:sp>
        <p:nvSpPr>
          <p:cNvPr id="23" name="Shape 16"/>
          <p:cNvSpPr/>
          <p:nvPr/>
        </p:nvSpPr>
        <p:spPr>
          <a:xfrm>
            <a:off x="875995" y="3362249"/>
            <a:ext cx="609905" cy="609905"/>
          </a:xfrm>
          <a:prstGeom prst="roundRect">
            <a:avLst>
              <a:gd name="adj" fmla="val 56222"/>
            </a:avLst>
          </a:prstGeom>
          <a:solidFill>
            <a:srgbClr val="3B82F6">
              <a:alpha val="10000"/>
            </a:srgbClr>
          </a:solidFill>
          <a:ln w="12700">
            <a:solidFill>
              <a:srgbClr val="FFFFFF">
                <a:alpha val="0"/>
              </a:srgbClr>
            </a:solidFill>
            <a:prstDash val="solid"/>
          </a:ln>
        </p:spPr>
      </p:sp>
      <p:pic>
        <p:nvPicPr>
          <p:cNvPr id="24" name="Image 5" descr="preencoded.png"/>
          <p:cNvPicPr>
            <a:picLocks noChangeAspect="1"/>
          </p:cNvPicPr>
          <p:nvPr/>
        </p:nvPicPr>
        <p:blipFill>
          <a:blip r:embed="rId6"/>
          <a:srcRect/>
          <a:stretch>
            <a:fillRect/>
          </a:stretch>
        </p:blipFill>
        <p:spPr>
          <a:xfrm>
            <a:off x="1014070" y="3534156"/>
            <a:ext cx="333756" cy="267005"/>
          </a:xfrm>
          <a:prstGeom prst="rect">
            <a:avLst/>
          </a:prstGeom>
        </p:spPr>
      </p:pic>
      <p:sp>
        <p:nvSpPr>
          <p:cNvPr id="25" name="Text 17"/>
          <p:cNvSpPr txBox="1"/>
          <p:nvPr/>
        </p:nvSpPr>
        <p:spPr>
          <a:xfrm>
            <a:off x="1714500" y="3267151"/>
            <a:ext cx="9715500" cy="257861"/>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2) Consistency Assessment </a:t>
            </a:r>
            <a:r>
              <a:rPr lang="en-US" sz="1200" b="1" dirty="0">
                <a:solidFill>
                  <a:srgbClr val="3B82F6"/>
                </a:solidFill>
                <a:latin typeface="Noto Sans SC" panose="020B0200000000000000" pitchFamily="34" charset="-122"/>
                <a:ea typeface="Noto Sans SC" panose="020B0200000000000000" pitchFamily="34" charset="-122"/>
                <a:cs typeface="Noto Sans SC" panose="020B0200000000000000" pitchFamily="34" charset="-122"/>
              </a:rPr>
              <a:t>Good</a:t>
            </a:r>
            <a:endParaRPr lang="en-US" sz="1500" dirty="0">
              <a:ea typeface="Noto Sans SC" panose="020B0200000000000000" pitchFamily="34" charset="-122"/>
              <a:cs typeface="Noto Sans SC" panose="020B0200000000000000" pitchFamily="34" charset="-122"/>
            </a:endParaRPr>
          </a:p>
        </p:txBody>
      </p:sp>
      <p:sp>
        <p:nvSpPr>
          <p:cNvPr id="26" name="Text 18"/>
          <p:cNvSpPr txBox="1"/>
          <p:nvPr/>
        </p:nvSpPr>
        <p:spPr>
          <a:xfrm>
            <a:off x="1714500" y="3581705"/>
            <a:ext cx="9715500" cy="219456"/>
          </a:xfrm>
          <a:prstGeom prst="rect">
            <a:avLst/>
          </a:prstGeom>
          <a:noFill/>
        </p:spPr>
        <p:txBody>
          <a:bodyPr wrap="square" lIns="0" tIns="0" rIns="0" bIns="0" rtlCol="0" anchor="ctr"/>
          <a:lstStyle/>
          <a:p>
            <a:pPr marL="0" indent="0" algn="l">
              <a:buNone/>
            </a:pPr>
            <a:r>
              <a:rPr lang="en-US" sz="12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Clear module boundaries around user/building/floor/room/record/evaluate/visitor entities</a:t>
            </a:r>
            <a:endParaRPr lang="en-US" sz="1200" dirty="0">
              <a:ea typeface="Noto Sans SC" panose="020B0200000000000000" pitchFamily="34" charset="-122"/>
              <a:cs typeface="Noto Sans SC" panose="020B0200000000000000" pitchFamily="34" charset="-122"/>
            </a:endParaRPr>
          </a:p>
        </p:txBody>
      </p:sp>
      <p:pic>
        <p:nvPicPr>
          <p:cNvPr id="27" name="Image 6" descr="preencoded.png"/>
          <p:cNvPicPr>
            <a:picLocks noChangeAspect="1"/>
          </p:cNvPicPr>
          <p:nvPr/>
        </p:nvPicPr>
        <p:blipFill>
          <a:blip r:embed="rId7"/>
          <a:srcRect t="-43" b="-43"/>
          <a:stretch>
            <a:fillRect/>
          </a:stretch>
        </p:blipFill>
        <p:spPr>
          <a:xfrm>
            <a:off x="4490618" y="3319272"/>
            <a:ext cx="133502" cy="152705"/>
          </a:xfrm>
          <a:prstGeom prst="rect">
            <a:avLst/>
          </a:prstGeom>
        </p:spPr>
      </p:pic>
      <p:sp>
        <p:nvSpPr>
          <p:cNvPr id="28" name="Shape 19"/>
          <p:cNvSpPr/>
          <p:nvPr/>
        </p:nvSpPr>
        <p:spPr>
          <a:xfrm>
            <a:off x="875995" y="4552798"/>
            <a:ext cx="609905" cy="609905"/>
          </a:xfrm>
          <a:prstGeom prst="roundRect">
            <a:avLst>
              <a:gd name="adj" fmla="val 56222"/>
            </a:avLst>
          </a:prstGeom>
          <a:solidFill>
            <a:srgbClr val="8B5CF6">
              <a:alpha val="10000"/>
            </a:srgbClr>
          </a:solidFill>
          <a:ln w="12700">
            <a:solidFill>
              <a:srgbClr val="FFFFFF">
                <a:alpha val="0"/>
              </a:srgbClr>
            </a:solidFill>
            <a:prstDash val="solid"/>
          </a:ln>
        </p:spPr>
      </p:sp>
      <p:pic>
        <p:nvPicPr>
          <p:cNvPr id="29" name="Image 7" descr="preencoded.png"/>
          <p:cNvPicPr>
            <a:picLocks noChangeAspect="1"/>
          </p:cNvPicPr>
          <p:nvPr/>
        </p:nvPicPr>
        <p:blipFill>
          <a:blip r:embed="rId8"/>
          <a:srcRect l="-685" r="-685"/>
          <a:stretch>
            <a:fillRect/>
          </a:stretch>
        </p:blipFill>
        <p:spPr>
          <a:xfrm>
            <a:off x="1028700" y="4724705"/>
            <a:ext cx="304495" cy="267005"/>
          </a:xfrm>
          <a:prstGeom prst="rect">
            <a:avLst/>
          </a:prstGeom>
        </p:spPr>
      </p:pic>
      <p:sp>
        <p:nvSpPr>
          <p:cNvPr id="30" name="Text 20"/>
          <p:cNvSpPr txBox="1"/>
          <p:nvPr/>
        </p:nvSpPr>
        <p:spPr>
          <a:xfrm>
            <a:off x="1714500" y="4457700"/>
            <a:ext cx="9715500" cy="257861"/>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3) Demonstrability </a:t>
            </a:r>
            <a:r>
              <a:rPr lang="en-US" sz="1200" b="1" dirty="0">
                <a:solidFill>
                  <a:srgbClr val="8B5CF6"/>
                </a:solidFill>
                <a:latin typeface="Noto Sans SC" panose="020B0200000000000000" pitchFamily="34" charset="-122"/>
                <a:ea typeface="Noto Sans SC" panose="020B0200000000000000" pitchFamily="34" charset="-122"/>
                <a:cs typeface="Noto Sans SC" panose="020B0200000000000000" pitchFamily="34" charset="-122"/>
              </a:rPr>
              <a:t>Strong</a:t>
            </a:r>
            <a:endParaRPr lang="en-US" sz="1500" dirty="0">
              <a:ea typeface="Noto Sans SC" panose="020B0200000000000000" pitchFamily="34" charset="-122"/>
              <a:cs typeface="Noto Sans SC" panose="020B0200000000000000" pitchFamily="34" charset="-122"/>
            </a:endParaRPr>
          </a:p>
        </p:txBody>
      </p:sp>
      <p:sp>
        <p:nvSpPr>
          <p:cNvPr id="31" name="Text 21"/>
          <p:cNvSpPr txBox="1"/>
          <p:nvPr/>
        </p:nvSpPr>
        <p:spPr>
          <a:xfrm>
            <a:off x="1714500" y="4772254"/>
            <a:ext cx="9715500" cy="219456"/>
          </a:xfrm>
          <a:prstGeom prst="rect">
            <a:avLst/>
          </a:prstGeom>
          <a:noFill/>
        </p:spPr>
        <p:txBody>
          <a:bodyPr wrap="square" lIns="0" tIns="0" rIns="0" bIns="0" rtlCol="0" anchor="ctr"/>
          <a:lstStyle/>
          <a:p>
            <a:pPr marL="0" indent="0" algn="l">
              <a:buNone/>
            </a:pPr>
            <a:r>
              <a:rPr lang="en-US" sz="12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UI screenshots/DB schema/backend start proof available</a:t>
            </a:r>
            <a:endParaRPr lang="en-US" sz="1200" dirty="0">
              <a:ea typeface="Noto Sans SC" panose="020B0200000000000000" pitchFamily="34" charset="-122"/>
              <a:cs typeface="Noto Sans SC" panose="020B0200000000000000" pitchFamily="34" charset="-122"/>
            </a:endParaRPr>
          </a:p>
        </p:txBody>
      </p:sp>
      <p:pic>
        <p:nvPicPr>
          <p:cNvPr id="32" name="Image 8" descr="preencoded.png"/>
          <p:cNvPicPr>
            <a:picLocks noChangeAspect="1"/>
          </p:cNvPicPr>
          <p:nvPr/>
        </p:nvPicPr>
        <p:blipFill>
          <a:blip r:embed="rId9"/>
          <a:srcRect l="-33" r="-33"/>
          <a:stretch>
            <a:fillRect/>
          </a:stretch>
        </p:blipFill>
        <p:spPr>
          <a:xfrm>
            <a:off x="3876040" y="4523740"/>
            <a:ext cx="172085" cy="182880"/>
          </a:xfrm>
          <a:prstGeom prst="rect">
            <a:avLst/>
          </a:prstGeom>
        </p:spPr>
      </p:pic>
      <p:sp>
        <p:nvSpPr>
          <p:cNvPr id="33" name="Shape 22"/>
          <p:cNvSpPr/>
          <p:nvPr/>
        </p:nvSpPr>
        <p:spPr>
          <a:xfrm>
            <a:off x="875995" y="5743346"/>
            <a:ext cx="609905" cy="609905"/>
          </a:xfrm>
          <a:prstGeom prst="roundRect">
            <a:avLst>
              <a:gd name="adj" fmla="val 56222"/>
            </a:avLst>
          </a:prstGeom>
          <a:solidFill>
            <a:srgbClr val="F59E0B">
              <a:alpha val="10000"/>
            </a:srgbClr>
          </a:solidFill>
          <a:ln w="12700">
            <a:solidFill>
              <a:srgbClr val="FFFFFF">
                <a:alpha val="0"/>
              </a:srgbClr>
            </a:solidFill>
            <a:prstDash val="solid"/>
          </a:ln>
        </p:spPr>
      </p:sp>
      <p:pic>
        <p:nvPicPr>
          <p:cNvPr id="34" name="Image 9" descr="preencoded.png"/>
          <p:cNvPicPr>
            <a:picLocks noChangeAspect="1"/>
          </p:cNvPicPr>
          <p:nvPr/>
        </p:nvPicPr>
        <p:blipFill>
          <a:blip r:embed="rId10"/>
          <a:srcRect/>
          <a:stretch>
            <a:fillRect/>
          </a:stretch>
        </p:blipFill>
        <p:spPr>
          <a:xfrm>
            <a:off x="1047902" y="5915254"/>
            <a:ext cx="267005" cy="267005"/>
          </a:xfrm>
          <a:prstGeom prst="rect">
            <a:avLst/>
          </a:prstGeom>
        </p:spPr>
      </p:pic>
      <p:sp>
        <p:nvSpPr>
          <p:cNvPr id="35" name="Text 23"/>
          <p:cNvSpPr txBox="1"/>
          <p:nvPr/>
        </p:nvSpPr>
        <p:spPr>
          <a:xfrm>
            <a:off x="1714500" y="5648249"/>
            <a:ext cx="9715500" cy="257861"/>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4) Gaps Identified </a:t>
            </a:r>
            <a:r>
              <a:rPr lang="en-US" sz="1200" b="1" dirty="0">
                <a:solidFill>
                  <a:srgbClr val="F59E0B"/>
                </a:solidFill>
                <a:latin typeface="Noto Sans SC" panose="020B0200000000000000" pitchFamily="34" charset="-122"/>
                <a:ea typeface="Noto Sans SC" panose="020B0200000000000000" pitchFamily="34" charset="-122"/>
                <a:cs typeface="Noto Sans SC" panose="020B0200000000000000" pitchFamily="34" charset="-122"/>
              </a:rPr>
              <a:t>Attention needed</a:t>
            </a:r>
            <a:endParaRPr lang="en-US" sz="1500" dirty="0">
              <a:ea typeface="Noto Sans SC" panose="020B0200000000000000" pitchFamily="34" charset="-122"/>
              <a:cs typeface="Noto Sans SC" panose="020B0200000000000000" pitchFamily="34" charset="-122"/>
            </a:endParaRPr>
          </a:p>
        </p:txBody>
      </p:sp>
      <p:sp>
        <p:nvSpPr>
          <p:cNvPr id="36" name="Text 24"/>
          <p:cNvSpPr txBox="1"/>
          <p:nvPr/>
        </p:nvSpPr>
        <p:spPr>
          <a:xfrm>
            <a:off x="1714500" y="5962802"/>
            <a:ext cx="9715500" cy="219456"/>
          </a:xfrm>
          <a:prstGeom prst="rect">
            <a:avLst/>
          </a:prstGeom>
          <a:noFill/>
        </p:spPr>
        <p:txBody>
          <a:bodyPr wrap="square" lIns="0" tIns="0" rIns="0" bIns="0" rtlCol="0" anchor="ctr"/>
          <a:lstStyle/>
          <a:p>
            <a:pPr marL="0" indent="0" algn="l">
              <a:buNone/>
            </a:pPr>
            <a:r>
              <a:rPr lang="en-US" sz="12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Automated test evidence insufficient, matching not yet implemented</a:t>
            </a:r>
            <a:endParaRPr lang="en-US" sz="1200" dirty="0">
              <a:ea typeface="Noto Sans SC" panose="020B0200000000000000" pitchFamily="34" charset="-122"/>
              <a:cs typeface="Noto Sans SC" panose="020B0200000000000000" pitchFamily="34" charset="-122"/>
            </a:endParaRPr>
          </a:p>
        </p:txBody>
      </p:sp>
      <p:pic>
        <p:nvPicPr>
          <p:cNvPr id="37" name="Image 10" descr="preencoded.png"/>
          <p:cNvPicPr>
            <a:picLocks noChangeAspect="1"/>
          </p:cNvPicPr>
          <p:nvPr/>
        </p:nvPicPr>
        <p:blipFill>
          <a:blip r:embed="rId11"/>
          <a:srcRect t="-43" b="-43"/>
          <a:stretch>
            <a:fillRect/>
          </a:stretch>
        </p:blipFill>
        <p:spPr>
          <a:xfrm>
            <a:off x="4490695" y="5701005"/>
            <a:ext cx="133502" cy="15270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5" name="Shape 2"/>
          <p:cNvSpPr/>
          <p:nvPr/>
        </p:nvSpPr>
        <p:spPr>
          <a:xfrm>
            <a:off x="571500" y="1619402"/>
            <a:ext cx="5458054" cy="4762195"/>
          </a:xfrm>
          <a:prstGeom prst="roundRect">
            <a:avLst>
              <a:gd name="adj" fmla="val 922"/>
            </a:avLst>
          </a:prstGeom>
          <a:solidFill>
            <a:srgbClr val="FFFFFF"/>
          </a:solidFill>
          <a:effectLst>
            <a:outerShdw blurRad="114300" dist="38100" dir="16200000" algn="bl" rotWithShape="0">
              <a:srgbClr val="000000">
                <a:alpha val="5000"/>
              </a:srgbClr>
            </a:outerShdw>
          </a:effectLst>
        </p:spPr>
      </p:sp>
      <p:sp>
        <p:nvSpPr>
          <p:cNvPr id="6" name="Shape 3"/>
          <p:cNvSpPr/>
          <p:nvPr/>
        </p:nvSpPr>
        <p:spPr>
          <a:xfrm>
            <a:off x="571500" y="1619402"/>
            <a:ext cx="47549" cy="4762195"/>
          </a:xfrm>
          <a:prstGeom prst="roundRect">
            <a:avLst>
              <a:gd name="adj" fmla="val 92307"/>
            </a:avLst>
          </a:prstGeom>
          <a:solidFill>
            <a:srgbClr val="3B82F6"/>
          </a:solidFill>
          <a:ln w="12700">
            <a:solidFill>
              <a:srgbClr val="3B82F6">
                <a:alpha val="0"/>
              </a:srgbClr>
            </a:solidFill>
            <a:prstDash val="solid"/>
          </a:ln>
        </p:spPr>
      </p:sp>
      <p:pic>
        <p:nvPicPr>
          <p:cNvPr id="7" name="Image 1" descr="preencoded.png"/>
          <p:cNvPicPr>
            <a:picLocks noChangeAspect="1"/>
          </p:cNvPicPr>
          <p:nvPr/>
        </p:nvPicPr>
        <p:blipFill>
          <a:blip r:embed="rId2"/>
          <a:srcRect l="-2089" r="-2089"/>
          <a:stretch>
            <a:fillRect/>
          </a:stretch>
        </p:blipFill>
        <p:spPr>
          <a:xfrm>
            <a:off x="800100" y="2428646"/>
            <a:ext cx="4953305" cy="9144"/>
          </a:xfrm>
          <a:prstGeom prst="rect">
            <a:avLst/>
          </a:prstGeom>
        </p:spPr>
      </p:pic>
      <p:sp>
        <p:nvSpPr>
          <p:cNvPr id="8" name="Shape 4"/>
          <p:cNvSpPr/>
          <p:nvPr/>
        </p:nvSpPr>
        <p:spPr>
          <a:xfrm>
            <a:off x="6210605" y="1619402"/>
            <a:ext cx="5458054" cy="4762195"/>
          </a:xfrm>
          <a:prstGeom prst="roundRect">
            <a:avLst>
              <a:gd name="adj" fmla="val 922"/>
            </a:avLst>
          </a:prstGeom>
          <a:solidFill>
            <a:srgbClr val="FFFFFF"/>
          </a:solidFill>
          <a:effectLst>
            <a:outerShdw blurRad="114300" dist="38100" dir="16200000" algn="bl" rotWithShape="0">
              <a:srgbClr val="000000">
                <a:alpha val="5000"/>
              </a:srgbClr>
            </a:outerShdw>
          </a:effectLst>
        </p:spPr>
      </p:sp>
      <p:sp>
        <p:nvSpPr>
          <p:cNvPr id="9" name="Shape 5"/>
          <p:cNvSpPr/>
          <p:nvPr/>
        </p:nvSpPr>
        <p:spPr>
          <a:xfrm>
            <a:off x="6210605" y="1619402"/>
            <a:ext cx="47549" cy="4762195"/>
          </a:xfrm>
          <a:prstGeom prst="roundRect">
            <a:avLst>
              <a:gd name="adj" fmla="val 92307"/>
            </a:avLst>
          </a:prstGeom>
          <a:solidFill>
            <a:srgbClr val="10B981"/>
          </a:solidFill>
          <a:ln w="12700">
            <a:solidFill>
              <a:srgbClr val="10B981">
                <a:alpha val="0"/>
              </a:srgbClr>
            </a:solidFill>
            <a:prstDash val="solid"/>
          </a:ln>
        </p:spPr>
      </p:sp>
      <p:pic>
        <p:nvPicPr>
          <p:cNvPr id="10" name="Image 2" descr="preencoded.png"/>
          <p:cNvPicPr>
            <a:picLocks noChangeAspect="1"/>
          </p:cNvPicPr>
          <p:nvPr/>
        </p:nvPicPr>
        <p:blipFill>
          <a:blip r:embed="rId2"/>
          <a:srcRect l="-2089" r="-2089"/>
          <a:stretch>
            <a:fillRect/>
          </a:stretch>
        </p:blipFill>
        <p:spPr>
          <a:xfrm>
            <a:off x="6439205" y="2428646"/>
            <a:ext cx="4953305" cy="9144"/>
          </a:xfrm>
          <a:prstGeom prst="rect">
            <a:avLst/>
          </a:prstGeom>
        </p:spPr>
      </p:pic>
      <p:sp>
        <p:nvSpPr>
          <p:cNvPr id="11" name="Shape 6"/>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2" name="Image 3" descr="preencoded.png"/>
          <p:cNvPicPr>
            <a:picLocks noChangeAspect="1"/>
          </p:cNvPicPr>
          <p:nvPr/>
        </p:nvPicPr>
        <p:blipFill>
          <a:blip r:embed="rId3"/>
          <a:srcRect t="-20060" b="-20060"/>
          <a:stretch>
            <a:fillRect/>
          </a:stretch>
        </p:blipFill>
        <p:spPr>
          <a:xfrm>
            <a:off x="724205" y="286207"/>
            <a:ext cx="152705" cy="190195"/>
          </a:xfrm>
          <a:prstGeom prst="rect">
            <a:avLst/>
          </a:prstGeom>
        </p:spPr>
      </p:pic>
      <p:sp>
        <p:nvSpPr>
          <p:cNvPr id="13" name="Text 7"/>
          <p:cNvSpPr txBox="1"/>
          <p:nvPr/>
        </p:nvSpPr>
        <p:spPr>
          <a:xfrm>
            <a:off x="1218895" y="190195"/>
            <a:ext cx="10211105" cy="409651"/>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Evaluation Document: Expansion Feature Design Evaluation</a:t>
            </a:r>
            <a:endParaRPr lang="en-US" sz="2400" dirty="0">
              <a:ea typeface="Noto Sans SC" panose="020B0200000000000000" pitchFamily="34" charset="-122"/>
              <a:cs typeface="Noto Sans SC" panose="020B0200000000000000" pitchFamily="34" charset="-122"/>
            </a:endParaRPr>
          </a:p>
        </p:txBody>
      </p:sp>
      <p:sp>
        <p:nvSpPr>
          <p:cNvPr id="14" name="Text 8"/>
          <p:cNvSpPr txBox="1"/>
          <p:nvPr/>
        </p:nvSpPr>
        <p:spPr>
          <a:xfrm>
            <a:off x="875995" y="1047902"/>
            <a:ext cx="10745114" cy="342900"/>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Multi-dimensional Analysis </a:t>
            </a:r>
            <a:endParaRPr lang="en-US" sz="1900" dirty="0">
              <a:ea typeface="Noto Sans SC" panose="020B0200000000000000" pitchFamily="34" charset="-122"/>
              <a:cs typeface="Noto Sans SC" panose="020B0200000000000000" pitchFamily="34" charset="-122"/>
            </a:endParaRPr>
          </a:p>
        </p:txBody>
      </p:sp>
      <p:pic>
        <p:nvPicPr>
          <p:cNvPr id="15" name="Image 4" descr="preencoded.png"/>
          <p:cNvPicPr>
            <a:picLocks noChangeAspect="1"/>
          </p:cNvPicPr>
          <p:nvPr/>
        </p:nvPicPr>
        <p:blipFill>
          <a:blip r:embed="rId4"/>
          <a:srcRect t="-23287" b="-23287"/>
          <a:stretch>
            <a:fillRect/>
          </a:stretch>
        </p:blipFill>
        <p:spPr>
          <a:xfrm>
            <a:off x="571500" y="1095451"/>
            <a:ext cx="190195" cy="247802"/>
          </a:xfrm>
          <a:prstGeom prst="rect">
            <a:avLst/>
          </a:prstGeom>
        </p:spPr>
      </p:pic>
      <p:sp>
        <p:nvSpPr>
          <p:cNvPr id="16" name="Shape 9"/>
          <p:cNvSpPr/>
          <p:nvPr/>
        </p:nvSpPr>
        <p:spPr>
          <a:xfrm>
            <a:off x="800100" y="1848002"/>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17" name="Image 5" descr="preencoded.png"/>
          <p:cNvPicPr>
            <a:picLocks noChangeAspect="1"/>
          </p:cNvPicPr>
          <p:nvPr/>
        </p:nvPicPr>
        <p:blipFill>
          <a:blip r:embed="rId5"/>
          <a:srcRect t="-14384" b="-14384"/>
          <a:stretch>
            <a:fillRect/>
          </a:stretch>
        </p:blipFill>
        <p:spPr>
          <a:xfrm>
            <a:off x="923544" y="1952244"/>
            <a:ext cx="133502" cy="171907"/>
          </a:xfrm>
          <a:prstGeom prst="rect">
            <a:avLst/>
          </a:prstGeom>
        </p:spPr>
      </p:pic>
      <p:sp>
        <p:nvSpPr>
          <p:cNvPr id="18" name="Text 10"/>
          <p:cNvSpPr txBox="1"/>
          <p:nvPr/>
        </p:nvSpPr>
        <p:spPr>
          <a:xfrm>
            <a:off x="1295705" y="1886407"/>
            <a:ext cx="4058107" cy="314554"/>
          </a:xfrm>
          <a:prstGeom prst="rect">
            <a:avLst/>
          </a:prstGeom>
          <a:noFill/>
        </p:spPr>
        <p:txBody>
          <a:bodyPr wrap="square" lIns="0" tIns="0" rIns="0" bIns="0" rtlCol="0" anchor="ctr"/>
          <a:lstStyle/>
          <a:p>
            <a:pPr marL="0" indent="0" algn="l">
              <a:buNone/>
            </a:pPr>
            <a:r>
              <a:rPr lang="en-US" sz="1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Feasibility &amp; Maintainability</a:t>
            </a:r>
            <a:endParaRPr lang="en-US" sz="1800" dirty="0">
              <a:ea typeface="Noto Sans SC" panose="020B0200000000000000" pitchFamily="34" charset="-122"/>
              <a:cs typeface="Noto Sans SC" panose="020B0200000000000000" pitchFamily="34" charset="-122"/>
            </a:endParaRPr>
          </a:p>
        </p:txBody>
      </p:sp>
      <p:sp>
        <p:nvSpPr>
          <p:cNvPr id="19" name="Shape 11"/>
          <p:cNvSpPr/>
          <p:nvPr/>
        </p:nvSpPr>
        <p:spPr>
          <a:xfrm>
            <a:off x="5282489" y="1923898"/>
            <a:ext cx="552298" cy="247802"/>
          </a:xfrm>
          <a:prstGeom prst="roundRect">
            <a:avLst>
              <a:gd name="adj" fmla="val 369004"/>
            </a:avLst>
          </a:prstGeom>
          <a:solidFill>
            <a:srgbClr val="DCFCE7"/>
          </a:solidFill>
          <a:ln w="12700">
            <a:solidFill>
              <a:srgbClr val="FFFFFF">
                <a:alpha val="0"/>
              </a:srgbClr>
            </a:solidFill>
            <a:prstDash val="solid"/>
          </a:ln>
        </p:spPr>
      </p:sp>
      <p:sp>
        <p:nvSpPr>
          <p:cNvPr id="20" name="Text 12"/>
          <p:cNvSpPr/>
          <p:nvPr/>
        </p:nvSpPr>
        <p:spPr>
          <a:xfrm>
            <a:off x="5282489" y="1923898"/>
            <a:ext cx="553212"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r">
              <a:buNone/>
            </a:pPr>
            <a:r>
              <a:rPr lang="en-US" sz="900"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Good</a:t>
            </a:r>
            <a:endParaRPr lang="en-US" sz="900" dirty="0">
              <a:ea typeface="Noto Sans SC" panose="020B0200000000000000" pitchFamily="34" charset="-122"/>
              <a:cs typeface="Noto Sans SC" panose="020B0200000000000000" pitchFamily="34" charset="-122"/>
            </a:endParaRPr>
          </a:p>
        </p:txBody>
      </p:sp>
      <p:sp>
        <p:nvSpPr>
          <p:cNvPr id="21" name="Shape 13"/>
          <p:cNvSpPr/>
          <p:nvPr/>
        </p:nvSpPr>
        <p:spPr>
          <a:xfrm>
            <a:off x="800100" y="3391510"/>
            <a:ext cx="4953305" cy="9144"/>
          </a:xfrm>
          <a:prstGeom prst="rect">
            <a:avLst/>
          </a:prstGeom>
          <a:solidFill>
            <a:srgbClr val="F1F5F9"/>
          </a:solidFill>
          <a:ln w="12700">
            <a:solidFill>
              <a:srgbClr val="F1F5F9">
                <a:alpha val="0"/>
              </a:srgbClr>
            </a:solidFill>
            <a:prstDash val="solid"/>
          </a:ln>
        </p:spPr>
      </p:sp>
      <p:sp>
        <p:nvSpPr>
          <p:cNvPr id="22" name="Text 14"/>
          <p:cNvSpPr txBox="1"/>
          <p:nvPr/>
        </p:nvSpPr>
        <p:spPr>
          <a:xfrm>
            <a:off x="800100" y="2924251"/>
            <a:ext cx="1054303" cy="257861"/>
          </a:xfrm>
          <a:prstGeom prst="rect">
            <a:avLst/>
          </a:prstGeom>
          <a:noFill/>
        </p:spPr>
        <p:txBody>
          <a:bodyPr wrap="square" lIns="0" tIns="0" rIns="0" bIns="0" rtlCol="0" anchor="ctr"/>
          <a:lstStyle/>
          <a:p>
            <a:pPr marL="0" indent="0" algn="l">
              <a:buNone/>
            </a:pPr>
            <a:r>
              <a:rPr lang="en-US" sz="15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Feasibility</a:t>
            </a:r>
            <a:endParaRPr lang="en-US" sz="1500" dirty="0">
              <a:ea typeface="Noto Sans SC" panose="020B0200000000000000" pitchFamily="34" charset="-122"/>
              <a:cs typeface="Noto Sans SC" panose="020B0200000000000000" pitchFamily="34" charset="-122"/>
            </a:endParaRPr>
          </a:p>
        </p:txBody>
      </p:sp>
      <p:sp>
        <p:nvSpPr>
          <p:cNvPr id="23" name="Shape 15"/>
          <p:cNvSpPr/>
          <p:nvPr/>
        </p:nvSpPr>
        <p:spPr>
          <a:xfrm>
            <a:off x="800100" y="4077310"/>
            <a:ext cx="4953305" cy="9144"/>
          </a:xfrm>
          <a:prstGeom prst="rect">
            <a:avLst/>
          </a:prstGeom>
          <a:solidFill>
            <a:srgbClr val="F1F5F9"/>
          </a:solidFill>
          <a:ln w="12700">
            <a:solidFill>
              <a:srgbClr val="F1F5F9">
                <a:alpha val="0"/>
              </a:srgbClr>
            </a:solidFill>
            <a:prstDash val="solid"/>
          </a:ln>
        </p:spPr>
      </p:sp>
      <p:sp>
        <p:nvSpPr>
          <p:cNvPr id="24" name="Text 16"/>
          <p:cNvSpPr txBox="1"/>
          <p:nvPr/>
        </p:nvSpPr>
        <p:spPr>
          <a:xfrm>
            <a:off x="800100" y="3610051"/>
            <a:ext cx="1587398" cy="257861"/>
          </a:xfrm>
          <a:prstGeom prst="rect">
            <a:avLst/>
          </a:prstGeom>
          <a:noFill/>
        </p:spPr>
        <p:txBody>
          <a:bodyPr wrap="square" lIns="0" tIns="0" rIns="0" bIns="0" rtlCol="0" anchor="ctr"/>
          <a:lstStyle/>
          <a:p>
            <a:pPr marL="0" indent="0" algn="l">
              <a:buNone/>
            </a:pPr>
            <a:r>
              <a:rPr lang="en-US" sz="15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Maintainability</a:t>
            </a:r>
            <a:endParaRPr lang="en-US" sz="1500" dirty="0">
              <a:ea typeface="Noto Sans SC" panose="020B0200000000000000" pitchFamily="34" charset="-122"/>
              <a:cs typeface="Noto Sans SC" panose="020B0200000000000000" pitchFamily="34" charset="-122"/>
            </a:endParaRPr>
          </a:p>
        </p:txBody>
      </p:sp>
      <p:sp>
        <p:nvSpPr>
          <p:cNvPr id="25" name="Shape 17"/>
          <p:cNvSpPr/>
          <p:nvPr/>
        </p:nvSpPr>
        <p:spPr>
          <a:xfrm>
            <a:off x="800100" y="4763110"/>
            <a:ext cx="4953305" cy="9144"/>
          </a:xfrm>
          <a:prstGeom prst="rect">
            <a:avLst/>
          </a:prstGeom>
          <a:solidFill>
            <a:srgbClr val="F1F5F9"/>
          </a:solidFill>
          <a:ln w="12700">
            <a:solidFill>
              <a:srgbClr val="F1F5F9">
                <a:alpha val="0"/>
              </a:srgbClr>
            </a:solidFill>
            <a:prstDash val="solid"/>
          </a:ln>
        </p:spPr>
      </p:sp>
      <p:sp>
        <p:nvSpPr>
          <p:cNvPr id="26" name="Text 18"/>
          <p:cNvSpPr txBox="1"/>
          <p:nvPr/>
        </p:nvSpPr>
        <p:spPr>
          <a:xfrm>
            <a:off x="800100" y="4295851"/>
            <a:ext cx="1775765" cy="257861"/>
          </a:xfrm>
          <a:prstGeom prst="rect">
            <a:avLst/>
          </a:prstGeom>
          <a:noFill/>
        </p:spPr>
        <p:txBody>
          <a:bodyPr wrap="square" lIns="0" tIns="0" rIns="0" bIns="0" rtlCol="0" anchor="ctr"/>
          <a:lstStyle/>
          <a:p>
            <a:pPr marL="0" indent="0" algn="l">
              <a:buNone/>
            </a:pPr>
            <a:r>
              <a:rPr lang="en-US" sz="15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Code Complexity</a:t>
            </a:r>
            <a:endParaRPr lang="en-US" sz="1500" dirty="0">
              <a:ea typeface="Noto Sans SC" panose="020B0200000000000000" pitchFamily="34" charset="-122"/>
              <a:cs typeface="Noto Sans SC" panose="020B0200000000000000" pitchFamily="34" charset="-122"/>
            </a:endParaRPr>
          </a:p>
        </p:txBody>
      </p:sp>
      <p:sp>
        <p:nvSpPr>
          <p:cNvPr id="27" name="Text 19"/>
          <p:cNvSpPr txBox="1"/>
          <p:nvPr/>
        </p:nvSpPr>
        <p:spPr>
          <a:xfrm>
            <a:off x="4987138" y="4295851"/>
            <a:ext cx="771754" cy="257861"/>
          </a:xfrm>
          <a:prstGeom prst="rect">
            <a:avLst/>
          </a:prstGeom>
          <a:noFill/>
        </p:spPr>
        <p:txBody>
          <a:bodyPr wrap="square" lIns="0" tIns="0" rIns="0" bIns="0" rtlCol="0" anchor="ctr"/>
          <a:lstStyle/>
          <a:p>
            <a:pPr marL="0" indent="0" algn="l">
              <a:buNone/>
            </a:pPr>
            <a:r>
              <a:rPr lang="en-US" sz="1500" b="1" dirty="0">
                <a:solidFill>
                  <a:srgbClr val="0284C7"/>
                </a:solidFill>
                <a:latin typeface="Noto Sans SC" panose="020B0200000000000000" pitchFamily="34" charset="-122"/>
                <a:ea typeface="Noto Sans SC" panose="020B0200000000000000" pitchFamily="34" charset="-122"/>
                <a:cs typeface="Noto Sans SC" panose="020B0200000000000000" pitchFamily="34" charset="-122"/>
              </a:rPr>
              <a:t>Medium</a:t>
            </a:r>
            <a:endParaRPr lang="en-US" sz="1500" dirty="0">
              <a:ea typeface="Noto Sans SC" panose="020B0200000000000000" pitchFamily="34" charset="-122"/>
              <a:cs typeface="Noto Sans SC" panose="020B0200000000000000" pitchFamily="34" charset="-122"/>
            </a:endParaRPr>
          </a:p>
        </p:txBody>
      </p:sp>
      <p:sp>
        <p:nvSpPr>
          <p:cNvPr id="28" name="Text 20"/>
          <p:cNvSpPr txBox="1"/>
          <p:nvPr/>
        </p:nvSpPr>
        <p:spPr>
          <a:xfrm>
            <a:off x="800100" y="4981651"/>
            <a:ext cx="1564538" cy="257861"/>
          </a:xfrm>
          <a:prstGeom prst="rect">
            <a:avLst/>
          </a:prstGeom>
          <a:noFill/>
        </p:spPr>
        <p:txBody>
          <a:bodyPr wrap="square" lIns="0" tIns="0" rIns="0" bIns="0" rtlCol="0" anchor="ctr"/>
          <a:lstStyle/>
          <a:p>
            <a:pPr marL="0" indent="0" algn="l">
              <a:buNone/>
            </a:pPr>
            <a:r>
              <a:rPr lang="en-US" sz="15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Technical Debt</a:t>
            </a:r>
            <a:endParaRPr lang="en-US" sz="1500" dirty="0">
              <a:ea typeface="Noto Sans SC" panose="020B0200000000000000" pitchFamily="34" charset="-122"/>
              <a:cs typeface="Noto Sans SC" panose="020B0200000000000000" pitchFamily="34" charset="-122"/>
            </a:endParaRPr>
          </a:p>
        </p:txBody>
      </p:sp>
      <p:sp>
        <p:nvSpPr>
          <p:cNvPr id="29" name="Text 21"/>
          <p:cNvSpPr txBox="1"/>
          <p:nvPr/>
        </p:nvSpPr>
        <p:spPr>
          <a:xfrm>
            <a:off x="5377586" y="4981651"/>
            <a:ext cx="381305" cy="257861"/>
          </a:xfrm>
          <a:prstGeom prst="rect">
            <a:avLst/>
          </a:prstGeom>
          <a:noFill/>
        </p:spPr>
        <p:txBody>
          <a:bodyPr wrap="square" lIns="0" tIns="0" rIns="0" bIns="0" rtlCol="0" anchor="ctr"/>
          <a:lstStyle/>
          <a:p>
            <a:pPr marL="0" indent="0" algn="l">
              <a:buNone/>
            </a:pPr>
            <a:r>
              <a:rPr lang="en-US" sz="1500" b="1" dirty="0">
                <a:solidFill>
                  <a:srgbClr val="059669"/>
                </a:solidFill>
                <a:latin typeface="Noto Sans SC" panose="020B0200000000000000" pitchFamily="34" charset="-122"/>
                <a:ea typeface="Noto Sans SC" panose="020B0200000000000000" pitchFamily="34" charset="-122"/>
                <a:cs typeface="Noto Sans SC" panose="020B0200000000000000" pitchFamily="34" charset="-122"/>
              </a:rPr>
              <a:t>Low</a:t>
            </a:r>
            <a:endParaRPr lang="en-US" sz="1500" dirty="0">
              <a:ea typeface="Noto Sans SC" panose="020B0200000000000000" pitchFamily="34" charset="-122"/>
              <a:cs typeface="Noto Sans SC" panose="020B0200000000000000" pitchFamily="34" charset="-122"/>
            </a:endParaRPr>
          </a:p>
        </p:txBody>
      </p:sp>
      <p:sp>
        <p:nvSpPr>
          <p:cNvPr id="30" name="Text 22"/>
          <p:cNvSpPr txBox="1"/>
          <p:nvPr/>
        </p:nvSpPr>
        <p:spPr>
          <a:xfrm>
            <a:off x="4364431" y="2943454"/>
            <a:ext cx="857707" cy="228600"/>
          </a:xfrm>
          <a:prstGeom prst="rect">
            <a:avLst/>
          </a:prstGeom>
          <a:noFill/>
        </p:spPr>
        <p:txBody>
          <a:bodyPr wrap="square" lIns="0" tIns="0" rIns="0" bIns="0" rtlCol="0" anchor="ctr"/>
          <a:lstStyle/>
          <a:p>
            <a:pPr marL="0" indent="0" algn="r">
              <a:buNone/>
            </a:pPr>
            <a:r>
              <a:rPr lang="en-US" sz="1300" dirty="0">
                <a:solidFill>
                  <a:srgbClr val="F59E0B"/>
                </a:solidFill>
                <a:latin typeface="Noto Sans SC" panose="020B0200000000000000" pitchFamily="34" charset="-122"/>
                <a:ea typeface="Noto Sans SC" panose="020B0200000000000000" pitchFamily="34" charset="-122"/>
                <a:cs typeface="Noto Sans SC" panose="020B0200000000000000" pitchFamily="34" charset="-122"/>
              </a:rPr>
              <a:t>★★★★☆</a:t>
            </a:r>
            <a:endParaRPr lang="en-US" sz="1300" dirty="0">
              <a:ea typeface="Noto Sans SC" panose="020B0200000000000000" pitchFamily="34" charset="-122"/>
              <a:cs typeface="Noto Sans SC" panose="020B0200000000000000" pitchFamily="34" charset="-122"/>
            </a:endParaRPr>
          </a:p>
        </p:txBody>
      </p:sp>
      <p:sp>
        <p:nvSpPr>
          <p:cNvPr id="31" name="Text 23"/>
          <p:cNvSpPr txBox="1"/>
          <p:nvPr/>
        </p:nvSpPr>
        <p:spPr>
          <a:xfrm>
            <a:off x="5210251" y="2924251"/>
            <a:ext cx="544068" cy="257861"/>
          </a:xfrm>
          <a:prstGeom prst="rect">
            <a:avLst/>
          </a:prstGeom>
          <a:noFill/>
        </p:spPr>
        <p:txBody>
          <a:bodyPr wrap="square" lIns="0" tIns="0" rIns="0" bIns="0" rtlCol="0" anchor="ctr"/>
          <a:lstStyle/>
          <a:p>
            <a:pPr marL="0" indent="0" algn="r">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4.2/5</a:t>
            </a:r>
            <a:endParaRPr lang="en-US" sz="1500" dirty="0">
              <a:ea typeface="Noto Sans SC" panose="020B0200000000000000" pitchFamily="34" charset="-122"/>
              <a:cs typeface="Noto Sans SC" panose="020B0200000000000000" pitchFamily="34" charset="-122"/>
            </a:endParaRPr>
          </a:p>
        </p:txBody>
      </p:sp>
      <p:sp>
        <p:nvSpPr>
          <p:cNvPr id="32" name="Text 24"/>
          <p:cNvSpPr txBox="1"/>
          <p:nvPr/>
        </p:nvSpPr>
        <p:spPr>
          <a:xfrm>
            <a:off x="4364431" y="3629254"/>
            <a:ext cx="857707" cy="228600"/>
          </a:xfrm>
          <a:prstGeom prst="rect">
            <a:avLst/>
          </a:prstGeom>
          <a:noFill/>
        </p:spPr>
        <p:txBody>
          <a:bodyPr wrap="square" lIns="0" tIns="0" rIns="0" bIns="0" rtlCol="0" anchor="ctr"/>
          <a:lstStyle/>
          <a:p>
            <a:pPr marL="0" indent="0" algn="r">
              <a:buNone/>
            </a:pPr>
            <a:r>
              <a:rPr lang="en-US" sz="1300" dirty="0">
                <a:solidFill>
                  <a:srgbClr val="F59E0B"/>
                </a:solidFill>
                <a:latin typeface="Noto Sans SC" panose="020B0200000000000000" pitchFamily="34" charset="-122"/>
                <a:ea typeface="Noto Sans SC" panose="020B0200000000000000" pitchFamily="34" charset="-122"/>
                <a:cs typeface="Noto Sans SC" panose="020B0200000000000000" pitchFamily="34" charset="-122"/>
              </a:rPr>
              <a:t>★★★★☆</a:t>
            </a:r>
            <a:endParaRPr lang="en-US" sz="1300" dirty="0">
              <a:ea typeface="Noto Sans SC" panose="020B0200000000000000" pitchFamily="34" charset="-122"/>
              <a:cs typeface="Noto Sans SC" panose="020B0200000000000000" pitchFamily="34" charset="-122"/>
            </a:endParaRPr>
          </a:p>
        </p:txBody>
      </p:sp>
      <p:sp>
        <p:nvSpPr>
          <p:cNvPr id="33" name="Text 25"/>
          <p:cNvSpPr txBox="1"/>
          <p:nvPr/>
        </p:nvSpPr>
        <p:spPr>
          <a:xfrm>
            <a:off x="5210251" y="3610051"/>
            <a:ext cx="544068" cy="257861"/>
          </a:xfrm>
          <a:prstGeom prst="rect">
            <a:avLst/>
          </a:prstGeom>
          <a:noFill/>
        </p:spPr>
        <p:txBody>
          <a:bodyPr wrap="square" lIns="0" tIns="0" rIns="0" bIns="0" rtlCol="0" anchor="ctr"/>
          <a:lstStyle/>
          <a:p>
            <a:pPr marL="0" indent="0" algn="r">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4.0/5</a:t>
            </a:r>
            <a:endParaRPr lang="en-US" sz="1500" dirty="0">
              <a:ea typeface="Noto Sans SC" panose="020B0200000000000000" pitchFamily="34" charset="-122"/>
              <a:cs typeface="Noto Sans SC" panose="020B0200000000000000" pitchFamily="34" charset="-122"/>
            </a:endParaRPr>
          </a:p>
        </p:txBody>
      </p:sp>
      <p:sp>
        <p:nvSpPr>
          <p:cNvPr id="34" name="Shape 26"/>
          <p:cNvSpPr/>
          <p:nvPr/>
        </p:nvSpPr>
        <p:spPr>
          <a:xfrm>
            <a:off x="6439205" y="1848002"/>
            <a:ext cx="381305" cy="381305"/>
          </a:xfrm>
          <a:prstGeom prst="roundRect">
            <a:avLst>
              <a:gd name="adj" fmla="val 95923"/>
            </a:avLst>
          </a:prstGeom>
          <a:solidFill>
            <a:srgbClr val="10B981">
              <a:alpha val="10000"/>
            </a:srgbClr>
          </a:solidFill>
          <a:ln w="12700">
            <a:solidFill>
              <a:srgbClr val="FFFFFF">
                <a:alpha val="0"/>
              </a:srgbClr>
            </a:solidFill>
            <a:prstDash val="solid"/>
          </a:ln>
        </p:spPr>
      </p:sp>
      <p:pic>
        <p:nvPicPr>
          <p:cNvPr id="35" name="Image 6" descr="preencoded.png"/>
          <p:cNvPicPr>
            <a:picLocks noChangeAspect="1"/>
          </p:cNvPicPr>
          <p:nvPr/>
        </p:nvPicPr>
        <p:blipFill>
          <a:blip r:embed="rId6"/>
          <a:srcRect t="-6336" b="-6336"/>
          <a:stretch>
            <a:fillRect/>
          </a:stretch>
        </p:blipFill>
        <p:spPr>
          <a:xfrm>
            <a:off x="6562649" y="1952244"/>
            <a:ext cx="133502" cy="171907"/>
          </a:xfrm>
          <a:prstGeom prst="rect">
            <a:avLst/>
          </a:prstGeom>
        </p:spPr>
      </p:pic>
      <p:sp>
        <p:nvSpPr>
          <p:cNvPr id="36" name="Text 27"/>
          <p:cNvSpPr txBox="1"/>
          <p:nvPr/>
        </p:nvSpPr>
        <p:spPr>
          <a:xfrm>
            <a:off x="6933895" y="1886407"/>
            <a:ext cx="4058107" cy="314554"/>
          </a:xfrm>
          <a:prstGeom prst="rect">
            <a:avLst/>
          </a:prstGeom>
          <a:noFill/>
        </p:spPr>
        <p:txBody>
          <a:bodyPr wrap="square" lIns="0" tIns="0" rIns="0" bIns="0" rtlCol="0" anchor="ctr"/>
          <a:lstStyle/>
          <a:p>
            <a:pPr marL="0" indent="0" algn="l">
              <a:buNone/>
            </a:pPr>
            <a:r>
              <a:rPr lang="en-US" sz="1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Testability &amp; Business Value</a:t>
            </a:r>
            <a:endParaRPr lang="en-US" sz="1800" dirty="0">
              <a:ea typeface="Noto Sans SC" panose="020B0200000000000000" pitchFamily="34" charset="-122"/>
              <a:cs typeface="Noto Sans SC" panose="020B0200000000000000" pitchFamily="34" charset="-122"/>
            </a:endParaRPr>
          </a:p>
        </p:txBody>
      </p:sp>
      <p:sp>
        <p:nvSpPr>
          <p:cNvPr id="37" name="Shape 28"/>
          <p:cNvSpPr/>
          <p:nvPr/>
        </p:nvSpPr>
        <p:spPr>
          <a:xfrm>
            <a:off x="10711282" y="1923898"/>
            <a:ext cx="761695" cy="247802"/>
          </a:xfrm>
          <a:prstGeom prst="roundRect">
            <a:avLst>
              <a:gd name="adj" fmla="val 369004"/>
            </a:avLst>
          </a:prstGeom>
          <a:solidFill>
            <a:srgbClr val="DCFCE7"/>
          </a:solidFill>
          <a:ln w="12700">
            <a:solidFill>
              <a:srgbClr val="FFFFFF">
                <a:alpha val="0"/>
              </a:srgbClr>
            </a:solidFill>
            <a:prstDash val="solid"/>
          </a:ln>
        </p:spPr>
      </p:sp>
      <p:sp>
        <p:nvSpPr>
          <p:cNvPr id="38" name="Text 29"/>
          <p:cNvSpPr/>
          <p:nvPr/>
        </p:nvSpPr>
        <p:spPr>
          <a:xfrm>
            <a:off x="10711282" y="1923898"/>
            <a:ext cx="762610" cy="24780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r">
              <a:buNone/>
            </a:pPr>
            <a:r>
              <a:rPr lang="en-US" sz="900" dirty="0">
                <a:solidFill>
                  <a:srgbClr val="166534"/>
                </a:solidFill>
                <a:latin typeface="Noto Sans SC" panose="020B0200000000000000" pitchFamily="34" charset="-122"/>
                <a:ea typeface="Noto Sans SC" panose="020B0200000000000000" pitchFamily="34" charset="-122"/>
                <a:cs typeface="Noto Sans SC" panose="020B0200000000000000" pitchFamily="34" charset="-122"/>
              </a:rPr>
              <a:t>Excellent</a:t>
            </a:r>
            <a:endParaRPr lang="en-US" sz="900" dirty="0">
              <a:ea typeface="Noto Sans SC" panose="020B0200000000000000" pitchFamily="34" charset="-122"/>
              <a:cs typeface="Noto Sans SC" panose="020B0200000000000000" pitchFamily="34" charset="-122"/>
            </a:endParaRPr>
          </a:p>
        </p:txBody>
      </p:sp>
      <p:sp>
        <p:nvSpPr>
          <p:cNvPr id="39" name="Shape 30"/>
          <p:cNvSpPr/>
          <p:nvPr/>
        </p:nvSpPr>
        <p:spPr>
          <a:xfrm>
            <a:off x="6439205" y="3391510"/>
            <a:ext cx="4953305" cy="9144"/>
          </a:xfrm>
          <a:prstGeom prst="rect">
            <a:avLst/>
          </a:prstGeom>
          <a:solidFill>
            <a:srgbClr val="F1F5F9"/>
          </a:solidFill>
          <a:ln w="12700">
            <a:solidFill>
              <a:srgbClr val="F1F5F9">
                <a:alpha val="0"/>
              </a:srgbClr>
            </a:solidFill>
            <a:prstDash val="solid"/>
          </a:ln>
        </p:spPr>
      </p:sp>
      <p:sp>
        <p:nvSpPr>
          <p:cNvPr id="40" name="Text 31"/>
          <p:cNvSpPr txBox="1"/>
          <p:nvPr/>
        </p:nvSpPr>
        <p:spPr>
          <a:xfrm>
            <a:off x="6439205" y="2924251"/>
            <a:ext cx="1077163" cy="257861"/>
          </a:xfrm>
          <a:prstGeom prst="rect">
            <a:avLst/>
          </a:prstGeom>
          <a:noFill/>
        </p:spPr>
        <p:txBody>
          <a:bodyPr wrap="square" lIns="0" tIns="0" rIns="0" bIns="0" rtlCol="0" anchor="ctr"/>
          <a:lstStyle/>
          <a:p>
            <a:pPr marL="0" indent="0" algn="l">
              <a:buNone/>
            </a:pPr>
            <a:r>
              <a:rPr lang="en-US" sz="15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Testability</a:t>
            </a:r>
            <a:endParaRPr lang="en-US" sz="1500" dirty="0">
              <a:ea typeface="Noto Sans SC" panose="020B0200000000000000" pitchFamily="34" charset="-122"/>
              <a:cs typeface="Noto Sans SC" panose="020B0200000000000000" pitchFamily="34" charset="-122"/>
            </a:endParaRPr>
          </a:p>
        </p:txBody>
      </p:sp>
      <p:sp>
        <p:nvSpPr>
          <p:cNvPr id="41" name="Shape 32"/>
          <p:cNvSpPr/>
          <p:nvPr/>
        </p:nvSpPr>
        <p:spPr>
          <a:xfrm>
            <a:off x="6439205" y="4077310"/>
            <a:ext cx="4953305" cy="9144"/>
          </a:xfrm>
          <a:prstGeom prst="rect">
            <a:avLst/>
          </a:prstGeom>
          <a:solidFill>
            <a:srgbClr val="F1F5F9"/>
          </a:solidFill>
          <a:ln w="12700">
            <a:solidFill>
              <a:srgbClr val="F1F5F9">
                <a:alpha val="0"/>
              </a:srgbClr>
            </a:solidFill>
            <a:prstDash val="solid"/>
          </a:ln>
        </p:spPr>
      </p:sp>
      <p:sp>
        <p:nvSpPr>
          <p:cNvPr id="42" name="Text 33"/>
          <p:cNvSpPr txBox="1"/>
          <p:nvPr/>
        </p:nvSpPr>
        <p:spPr>
          <a:xfrm>
            <a:off x="6439205" y="3610051"/>
            <a:ext cx="1417320" cy="257861"/>
          </a:xfrm>
          <a:prstGeom prst="rect">
            <a:avLst/>
          </a:prstGeom>
          <a:noFill/>
        </p:spPr>
        <p:txBody>
          <a:bodyPr wrap="square" lIns="0" tIns="0" rIns="0" bIns="0" rtlCol="0" anchor="ctr"/>
          <a:lstStyle/>
          <a:p>
            <a:pPr marL="0" indent="0" algn="l">
              <a:buNone/>
            </a:pPr>
            <a:r>
              <a:rPr lang="en-US" sz="15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Explainability</a:t>
            </a:r>
            <a:endParaRPr lang="en-US" sz="1500" dirty="0">
              <a:ea typeface="Noto Sans SC" panose="020B0200000000000000" pitchFamily="34" charset="-122"/>
              <a:cs typeface="Noto Sans SC" panose="020B0200000000000000" pitchFamily="34" charset="-122"/>
            </a:endParaRPr>
          </a:p>
        </p:txBody>
      </p:sp>
      <p:sp>
        <p:nvSpPr>
          <p:cNvPr id="43" name="Shape 34"/>
          <p:cNvSpPr/>
          <p:nvPr/>
        </p:nvSpPr>
        <p:spPr>
          <a:xfrm>
            <a:off x="6439205" y="4763110"/>
            <a:ext cx="4953305" cy="9144"/>
          </a:xfrm>
          <a:prstGeom prst="rect">
            <a:avLst/>
          </a:prstGeom>
          <a:solidFill>
            <a:srgbClr val="F1F5F9"/>
          </a:solidFill>
          <a:ln w="12700">
            <a:solidFill>
              <a:srgbClr val="F1F5F9">
                <a:alpha val="0"/>
              </a:srgbClr>
            </a:solidFill>
            <a:prstDash val="solid"/>
          </a:ln>
        </p:spPr>
      </p:sp>
      <p:sp>
        <p:nvSpPr>
          <p:cNvPr id="44" name="Text 35"/>
          <p:cNvSpPr txBox="1"/>
          <p:nvPr/>
        </p:nvSpPr>
        <p:spPr>
          <a:xfrm>
            <a:off x="6439205" y="4295851"/>
            <a:ext cx="1587398" cy="257861"/>
          </a:xfrm>
          <a:prstGeom prst="rect">
            <a:avLst/>
          </a:prstGeom>
          <a:noFill/>
        </p:spPr>
        <p:txBody>
          <a:bodyPr wrap="square" lIns="0" tIns="0" rIns="0" bIns="0" rtlCol="0" anchor="ctr"/>
          <a:lstStyle/>
          <a:p>
            <a:pPr marL="0" indent="0" algn="l">
              <a:buNone/>
            </a:pPr>
            <a:r>
              <a:rPr lang="en-US" sz="15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Business Value</a:t>
            </a:r>
            <a:endParaRPr lang="en-US" sz="1500" dirty="0">
              <a:ea typeface="Noto Sans SC" panose="020B0200000000000000" pitchFamily="34" charset="-122"/>
              <a:cs typeface="Noto Sans SC" panose="020B0200000000000000" pitchFamily="34" charset="-122"/>
            </a:endParaRPr>
          </a:p>
        </p:txBody>
      </p:sp>
      <p:sp>
        <p:nvSpPr>
          <p:cNvPr id="45" name="Text 36"/>
          <p:cNvSpPr txBox="1"/>
          <p:nvPr/>
        </p:nvSpPr>
        <p:spPr>
          <a:xfrm>
            <a:off x="10953598" y="4295851"/>
            <a:ext cx="491033" cy="257861"/>
          </a:xfrm>
          <a:prstGeom prst="rect">
            <a:avLst/>
          </a:prstGeom>
          <a:noFill/>
        </p:spPr>
        <p:txBody>
          <a:bodyPr wrap="square" lIns="0" tIns="0" rIns="0" bIns="0" rtlCol="0" anchor="ctr"/>
          <a:lstStyle/>
          <a:p>
            <a:pPr marL="0" indent="0" algn="l">
              <a:buNone/>
            </a:pPr>
            <a:r>
              <a:rPr lang="en-US" sz="1500" b="1" dirty="0">
                <a:solidFill>
                  <a:srgbClr val="059669"/>
                </a:solidFill>
                <a:latin typeface="Noto Sans SC" panose="020B0200000000000000" pitchFamily="34" charset="-122"/>
                <a:ea typeface="Noto Sans SC" panose="020B0200000000000000" pitchFamily="34" charset="-122"/>
                <a:cs typeface="Noto Sans SC" panose="020B0200000000000000" pitchFamily="34" charset="-122"/>
              </a:rPr>
              <a:t>High</a:t>
            </a:r>
            <a:endParaRPr lang="en-US" sz="1500" dirty="0">
              <a:ea typeface="Noto Sans SC" panose="020B0200000000000000" pitchFamily="34" charset="-122"/>
              <a:cs typeface="Noto Sans SC" panose="020B0200000000000000" pitchFamily="34" charset="-122"/>
            </a:endParaRPr>
          </a:p>
        </p:txBody>
      </p:sp>
      <p:sp>
        <p:nvSpPr>
          <p:cNvPr id="46" name="Text 37"/>
          <p:cNvSpPr txBox="1"/>
          <p:nvPr/>
        </p:nvSpPr>
        <p:spPr>
          <a:xfrm>
            <a:off x="6439205" y="4981651"/>
            <a:ext cx="1187806" cy="257861"/>
          </a:xfrm>
          <a:prstGeom prst="rect">
            <a:avLst/>
          </a:prstGeom>
          <a:noFill/>
        </p:spPr>
        <p:txBody>
          <a:bodyPr wrap="square" lIns="0" tIns="0" rIns="0" bIns="0" rtlCol="0" anchor="ctr"/>
          <a:lstStyle/>
          <a:p>
            <a:pPr marL="0" indent="0" algn="l">
              <a:buNone/>
            </a:pPr>
            <a:r>
              <a:rPr lang="en-US" sz="15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Demo-ready</a:t>
            </a:r>
            <a:endParaRPr lang="en-US" sz="1500" dirty="0">
              <a:ea typeface="Noto Sans SC" panose="020B0200000000000000" pitchFamily="34" charset="-122"/>
              <a:cs typeface="Noto Sans SC" panose="020B0200000000000000" pitchFamily="34" charset="-122"/>
            </a:endParaRPr>
          </a:p>
        </p:txBody>
      </p:sp>
      <p:sp>
        <p:nvSpPr>
          <p:cNvPr id="47" name="Text 38"/>
          <p:cNvSpPr txBox="1"/>
          <p:nvPr/>
        </p:nvSpPr>
        <p:spPr>
          <a:xfrm>
            <a:off x="11080699" y="4981651"/>
            <a:ext cx="367589" cy="257861"/>
          </a:xfrm>
          <a:prstGeom prst="rect">
            <a:avLst/>
          </a:prstGeom>
          <a:noFill/>
        </p:spPr>
        <p:txBody>
          <a:bodyPr wrap="square" lIns="0" tIns="0" rIns="0" bIns="0" rtlCol="0" anchor="ctr"/>
          <a:lstStyle/>
          <a:p>
            <a:pPr marL="0" indent="0" algn="l">
              <a:buNone/>
            </a:pPr>
            <a:r>
              <a:rPr lang="en-US" sz="1500" b="1" dirty="0">
                <a:solidFill>
                  <a:srgbClr val="059669"/>
                </a:solidFill>
                <a:latin typeface="Noto Sans SC" panose="020B0200000000000000" pitchFamily="34" charset="-122"/>
                <a:ea typeface="Noto Sans SC" panose="020B0200000000000000" pitchFamily="34" charset="-122"/>
                <a:cs typeface="Noto Sans SC" panose="020B0200000000000000" pitchFamily="34" charset="-122"/>
              </a:rPr>
              <a:t>Yes</a:t>
            </a:r>
            <a:endParaRPr lang="en-US" sz="1500" dirty="0">
              <a:ea typeface="Noto Sans SC" panose="020B0200000000000000" pitchFamily="34" charset="-122"/>
              <a:cs typeface="Noto Sans SC" panose="020B0200000000000000" pitchFamily="34" charset="-122"/>
            </a:endParaRPr>
          </a:p>
        </p:txBody>
      </p:sp>
      <p:sp>
        <p:nvSpPr>
          <p:cNvPr id="48" name="Text 39"/>
          <p:cNvSpPr txBox="1"/>
          <p:nvPr/>
        </p:nvSpPr>
        <p:spPr>
          <a:xfrm>
            <a:off x="10002622" y="2943454"/>
            <a:ext cx="857707" cy="228600"/>
          </a:xfrm>
          <a:prstGeom prst="rect">
            <a:avLst/>
          </a:prstGeom>
          <a:noFill/>
        </p:spPr>
        <p:txBody>
          <a:bodyPr wrap="square" lIns="0" tIns="0" rIns="0" bIns="0" rtlCol="0" anchor="ctr"/>
          <a:lstStyle/>
          <a:p>
            <a:pPr marL="0" indent="0" algn="r">
              <a:buNone/>
            </a:pPr>
            <a:r>
              <a:rPr lang="en-US" sz="1300" dirty="0">
                <a:solidFill>
                  <a:srgbClr val="F59E0B"/>
                </a:solidFill>
                <a:latin typeface="Noto Sans SC" panose="020B0200000000000000" pitchFamily="34" charset="-122"/>
                <a:ea typeface="Noto Sans SC" panose="020B0200000000000000" pitchFamily="34" charset="-122"/>
                <a:cs typeface="Noto Sans SC" panose="020B0200000000000000" pitchFamily="34" charset="-122"/>
              </a:rPr>
              <a:t>★★★★☆</a:t>
            </a:r>
            <a:endParaRPr lang="en-US" sz="1300" dirty="0">
              <a:ea typeface="Noto Sans SC" panose="020B0200000000000000" pitchFamily="34" charset="-122"/>
              <a:cs typeface="Noto Sans SC" panose="020B0200000000000000" pitchFamily="34" charset="-122"/>
            </a:endParaRPr>
          </a:p>
        </p:txBody>
      </p:sp>
      <p:sp>
        <p:nvSpPr>
          <p:cNvPr id="49" name="Text 40"/>
          <p:cNvSpPr txBox="1"/>
          <p:nvPr/>
        </p:nvSpPr>
        <p:spPr>
          <a:xfrm>
            <a:off x="10849356" y="2924251"/>
            <a:ext cx="544068" cy="257861"/>
          </a:xfrm>
          <a:prstGeom prst="rect">
            <a:avLst/>
          </a:prstGeom>
          <a:noFill/>
        </p:spPr>
        <p:txBody>
          <a:bodyPr wrap="square" lIns="0" tIns="0" rIns="0" bIns="0" rtlCol="0" anchor="ctr"/>
          <a:lstStyle/>
          <a:p>
            <a:pPr marL="0" indent="0" algn="r">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4.3/5</a:t>
            </a:r>
            <a:endParaRPr lang="en-US" sz="1500" dirty="0">
              <a:ea typeface="Noto Sans SC" panose="020B0200000000000000" pitchFamily="34" charset="-122"/>
              <a:cs typeface="Noto Sans SC" panose="020B0200000000000000" pitchFamily="34" charset="-122"/>
            </a:endParaRPr>
          </a:p>
        </p:txBody>
      </p:sp>
      <p:sp>
        <p:nvSpPr>
          <p:cNvPr id="50" name="Text 41"/>
          <p:cNvSpPr txBox="1"/>
          <p:nvPr/>
        </p:nvSpPr>
        <p:spPr>
          <a:xfrm>
            <a:off x="10002622" y="3629254"/>
            <a:ext cx="857707" cy="228600"/>
          </a:xfrm>
          <a:prstGeom prst="rect">
            <a:avLst/>
          </a:prstGeom>
          <a:noFill/>
        </p:spPr>
        <p:txBody>
          <a:bodyPr wrap="square" lIns="0" tIns="0" rIns="0" bIns="0" rtlCol="0" anchor="ctr"/>
          <a:lstStyle/>
          <a:p>
            <a:pPr marL="0" indent="0" algn="r">
              <a:buNone/>
            </a:pPr>
            <a:r>
              <a:rPr lang="en-US" sz="1300" dirty="0">
                <a:solidFill>
                  <a:srgbClr val="F59E0B"/>
                </a:solidFill>
                <a:latin typeface="Noto Sans SC" panose="020B0200000000000000" pitchFamily="34" charset="-122"/>
                <a:ea typeface="Noto Sans SC" panose="020B0200000000000000" pitchFamily="34" charset="-122"/>
                <a:cs typeface="Noto Sans SC" panose="020B0200000000000000" pitchFamily="34" charset="-122"/>
              </a:rPr>
              <a:t>★★★★★</a:t>
            </a:r>
            <a:endParaRPr lang="en-US" sz="1300" dirty="0">
              <a:ea typeface="Noto Sans SC" panose="020B0200000000000000" pitchFamily="34" charset="-122"/>
              <a:cs typeface="Noto Sans SC" panose="020B0200000000000000" pitchFamily="34" charset="-122"/>
            </a:endParaRPr>
          </a:p>
        </p:txBody>
      </p:sp>
      <p:sp>
        <p:nvSpPr>
          <p:cNvPr id="51" name="Text 42"/>
          <p:cNvSpPr txBox="1"/>
          <p:nvPr/>
        </p:nvSpPr>
        <p:spPr>
          <a:xfrm>
            <a:off x="10849356" y="3610051"/>
            <a:ext cx="544068" cy="257861"/>
          </a:xfrm>
          <a:prstGeom prst="rect">
            <a:avLst/>
          </a:prstGeom>
          <a:noFill/>
        </p:spPr>
        <p:txBody>
          <a:bodyPr wrap="square" lIns="0" tIns="0" rIns="0" bIns="0" rtlCol="0" anchor="ctr"/>
          <a:lstStyle/>
          <a:p>
            <a:pPr marL="0" indent="0" algn="r">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4.8/5</a:t>
            </a:r>
            <a:endParaRPr lang="en-US" sz="1500" dirty="0">
              <a:ea typeface="Noto Sans SC" panose="020B0200000000000000" pitchFamily="34" charset="-122"/>
              <a:cs typeface="Noto Sans SC" panose="020B0200000000000000"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5" name="Shape 2"/>
          <p:cNvSpPr/>
          <p:nvPr/>
        </p:nvSpPr>
        <p:spPr>
          <a:xfrm>
            <a:off x="571500" y="1524305"/>
            <a:ext cx="11048695" cy="4000500"/>
          </a:xfrm>
          <a:prstGeom prst="roundRect">
            <a:avLst>
              <a:gd name="adj" fmla="val 871"/>
            </a:avLst>
          </a:prstGeom>
          <a:solidFill>
            <a:srgbClr val="FFFFFF"/>
          </a:solidFill>
          <a:ln w="12700">
            <a:solidFill>
              <a:srgbClr val="FFFFFF">
                <a:alpha val="0"/>
              </a:srgbClr>
            </a:solidFill>
            <a:prstDash val="solid"/>
          </a:ln>
          <a:effectLst>
            <a:outerShdw blurRad="63500" dist="38100" dir="16200000" algn="bl" rotWithShape="0">
              <a:srgbClr val="000000">
                <a:alpha val="5000"/>
              </a:srgbClr>
            </a:outerShdw>
          </a:effectLst>
        </p:spPr>
      </p:sp>
      <p:graphicFrame>
        <p:nvGraphicFramePr>
          <p:cNvPr id="19" name="Table 0"/>
          <p:cNvGraphicFramePr>
            <a:graphicFrameLocks noGrp="1"/>
          </p:cNvGraphicFramePr>
          <p:nvPr/>
        </p:nvGraphicFramePr>
        <p:xfrm>
          <a:off x="571500" y="1524305"/>
          <a:ext cx="11049610" cy="4000500"/>
        </p:xfrm>
        <a:graphic>
          <a:graphicData uri="http://schemas.openxmlformats.org/drawingml/2006/table">
            <a:tbl>
              <a:tblPr/>
              <a:tblGrid>
                <a:gridCol w="662026"/>
                <a:gridCol w="2643530"/>
                <a:gridCol w="662026"/>
                <a:gridCol w="661111"/>
                <a:gridCol w="914400"/>
                <a:gridCol w="2752344"/>
                <a:gridCol w="2753258"/>
              </a:tblGrid>
              <a:tr h="571500">
                <a:tc>
                  <a:txBody>
                    <a:bodyPr/>
                    <a:lstStyle/>
                    <a:p>
                      <a:pPr marL="0" indent="0" algn="l">
                        <a:buNone/>
                      </a:pPr>
                      <a:r>
                        <a:rPr lang="en-US" sz="105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ID</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5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Risk Description</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5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P</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5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I</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5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Exposure</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5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Mitigation Strategy</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1F5F9"/>
                    </a:solidFill>
                  </a:tcPr>
                </a:tc>
                <a:tc>
                  <a:txBody>
                    <a:bodyPr/>
                    <a:lstStyle/>
                    <a:p>
                      <a:pPr marL="0" indent="0" algn="l">
                        <a:buNone/>
                      </a:pPr>
                      <a:r>
                        <a:rPr lang="en-US" sz="105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Monitoring Signal</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1F5F9"/>
                    </a:solidFill>
                  </a:tcPr>
                </a:tc>
              </a:tr>
              <a:tr h="571500">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RK1</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Poor questionnaire design distorts results</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0.6</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4</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b="1" dirty="0">
                          <a:solidFill>
                            <a:srgbClr val="F59E0B"/>
                          </a:solidFill>
                          <a:latin typeface="Noto Sans SC" panose="020B0200000000000000" pitchFamily="34" charset="-122"/>
                          <a:ea typeface="Noto Sans SC" panose="020B0200000000000000" pitchFamily="34" charset="-122"/>
                          <a:cs typeface="Noto Sans SC" panose="020B0200000000000000" pitchFamily="34" charset="-122"/>
                        </a:rPr>
                        <a:t>2.4</a:t>
                      </a:r>
                      <a:endParaRPr lang="en-US" sz="1200" dirty="0">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Small-sample review; fallback to rules</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Students don't understand questions</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71500">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RK2</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Algorithm complexity causes delay</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0.5</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5</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2.5</a:t>
                      </a:r>
                      <a:endParaRPr lang="en-US" sz="1200" dirty="0">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Rules-first approach; narrow scope</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Task delay / API not integrated</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r>
              <a:tr h="571500">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RK3</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Insufficient historical data for validation</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0.7</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3</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b="1" dirty="0">
                          <a:solidFill>
                            <a:srgbClr val="F59E0B"/>
                          </a:solidFill>
                          <a:latin typeface="Noto Sans SC" panose="020B0200000000000000" pitchFamily="34" charset="-122"/>
                          <a:ea typeface="Noto Sans SC" panose="020B0200000000000000" pitchFamily="34" charset="-122"/>
                          <a:cs typeface="Noto Sans SC" panose="020B0200000000000000" pitchFamily="34" charset="-122"/>
                        </a:rPr>
                        <a:t>2.1</a:t>
                      </a:r>
                      <a:endParaRPr lang="en-US" sz="1200" dirty="0">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Generate synthetic datasets</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Test data coverage insufficient</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71500">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RK4</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DB changes impact existing stability</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0.4</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4</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b="1" dirty="0">
                          <a:solidFill>
                            <a:srgbClr val="10B981"/>
                          </a:solidFill>
                          <a:latin typeface="Noto Sans SC" panose="020B0200000000000000" pitchFamily="34" charset="-122"/>
                          <a:ea typeface="Noto Sans SC" panose="020B0200000000000000" pitchFamily="34" charset="-122"/>
                          <a:cs typeface="Noto Sans SC" panose="020B0200000000000000" pitchFamily="34" charset="-122"/>
                        </a:rPr>
                        <a:t>1.6</a:t>
                      </a:r>
                      <a:endParaRPr lang="en-US" sz="1200" dirty="0">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Pre-migration backups &amp; integration tests</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Errors in existing pages</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r>
              <a:tr h="571500">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RK5</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Time compression desynchronizes docs &amp; code</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0.7</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4</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2.8</a:t>
                      </a:r>
                      <a:endParaRPr lang="en-US" sz="1200" dirty="0">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Sync RTM/WBS each iteration</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PPT and code inconsistent</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71500">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RK6</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Uneven workload creates bottlenecks</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0.5</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4</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b="1" dirty="0">
                          <a:solidFill>
                            <a:srgbClr val="F59E0B"/>
                          </a:solidFill>
                          <a:latin typeface="Noto Sans SC" panose="020B0200000000000000" pitchFamily="34" charset="-122"/>
                          <a:ea typeface="Noto Sans SC" panose="020B0200000000000000" pitchFamily="34" charset="-122"/>
                          <a:cs typeface="Noto Sans SC" panose="020B0200000000000000" pitchFamily="34" charset="-122"/>
                        </a:rPr>
                        <a:t>2.0</a:t>
                      </a:r>
                      <a:endParaRPr lang="en-US" sz="1200" dirty="0">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Dual-ownership on key modules</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Task pile-up for specific members</a:t>
                      </a:r>
                      <a:endParaRPr lang="en-US"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r>
            </a:tbl>
          </a:graphicData>
        </a:graphic>
      </p:graphicFrame>
      <p:pic>
        <p:nvPicPr>
          <p:cNvPr id="7" name="Image 1" descr="preencoded.png"/>
          <p:cNvPicPr>
            <a:picLocks noChangeAspect="1"/>
          </p:cNvPicPr>
          <p:nvPr/>
        </p:nvPicPr>
        <p:blipFill>
          <a:blip r:embed="rId2"/>
          <a:srcRect t="-22" b="-22"/>
          <a:stretch>
            <a:fillRect/>
          </a:stretch>
        </p:blipFill>
        <p:spPr>
          <a:xfrm>
            <a:off x="571500" y="5762549"/>
            <a:ext cx="11048695" cy="905256"/>
          </a:xfrm>
          <a:prstGeom prst="rect">
            <a:avLst/>
          </a:prstGeom>
        </p:spPr>
      </p:pic>
      <p:sp>
        <p:nvSpPr>
          <p:cNvPr id="8" name="Shape 3"/>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9" name="Image 2" descr="preencoded.png"/>
          <p:cNvPicPr>
            <a:picLocks noChangeAspect="1"/>
          </p:cNvPicPr>
          <p:nvPr/>
        </p:nvPicPr>
        <p:blipFill>
          <a:blip r:embed="rId3"/>
          <a:srcRect t="-12275" b="-12275"/>
          <a:stretch>
            <a:fillRect/>
          </a:stretch>
        </p:blipFill>
        <p:spPr>
          <a:xfrm>
            <a:off x="724205" y="286207"/>
            <a:ext cx="152705" cy="190195"/>
          </a:xfrm>
          <a:prstGeom prst="rect">
            <a:avLst/>
          </a:prstGeom>
        </p:spPr>
      </p:pic>
      <p:sp>
        <p:nvSpPr>
          <p:cNvPr id="10" name="Text 4"/>
          <p:cNvSpPr txBox="1"/>
          <p:nvPr/>
        </p:nvSpPr>
        <p:spPr>
          <a:xfrm>
            <a:off x="1218895" y="198425"/>
            <a:ext cx="9048902" cy="372161"/>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Risk Management RMMM (with Mitigation/Monitoring)</a:t>
            </a:r>
            <a:endParaRPr lang="en-US" sz="2400" dirty="0">
              <a:ea typeface="Noto Sans SC" panose="020B0200000000000000" pitchFamily="34" charset="-122"/>
              <a:cs typeface="Noto Sans SC" panose="020B0200000000000000" pitchFamily="34" charset="-122"/>
            </a:endParaRPr>
          </a:p>
        </p:txBody>
      </p:sp>
      <p:pic>
        <p:nvPicPr>
          <p:cNvPr id="11" name="Image 3" descr="preencoded.png"/>
          <p:cNvPicPr>
            <a:picLocks noChangeAspect="1"/>
          </p:cNvPicPr>
          <p:nvPr/>
        </p:nvPicPr>
        <p:blipFill>
          <a:blip r:embed="rId4"/>
          <a:srcRect t="-15144" b="-15144"/>
          <a:stretch>
            <a:fillRect/>
          </a:stretch>
        </p:blipFill>
        <p:spPr>
          <a:xfrm>
            <a:off x="571500" y="1014070"/>
            <a:ext cx="190195" cy="247802"/>
          </a:xfrm>
          <a:prstGeom prst="rect">
            <a:avLst/>
          </a:prstGeom>
        </p:spPr>
      </p:pic>
      <p:sp>
        <p:nvSpPr>
          <p:cNvPr id="12" name="Text 5"/>
          <p:cNvSpPr txBox="1"/>
          <p:nvPr/>
        </p:nvSpPr>
        <p:spPr>
          <a:xfrm>
            <a:off x="875995" y="952805"/>
            <a:ext cx="8477402" cy="372161"/>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6 Major Risks: Identification, Assessment &amp; Mitigation Strategies</a:t>
            </a:r>
            <a:endParaRPr lang="en-US" sz="1900" dirty="0">
              <a:ea typeface="Noto Sans SC" panose="020B0200000000000000" pitchFamily="34" charset="-122"/>
              <a:cs typeface="Noto Sans SC" panose="020B0200000000000000" pitchFamily="34" charset="-122"/>
            </a:endParaRPr>
          </a:p>
        </p:txBody>
      </p:sp>
      <p:sp>
        <p:nvSpPr>
          <p:cNvPr id="13" name="Text 6"/>
          <p:cNvSpPr txBox="1"/>
          <p:nvPr/>
        </p:nvSpPr>
        <p:spPr>
          <a:xfrm>
            <a:off x="914400" y="5958230"/>
            <a:ext cx="10363810" cy="514807"/>
          </a:xfrm>
          <a:prstGeom prst="rect">
            <a:avLst/>
          </a:prstGeom>
          <a:noFill/>
        </p:spPr>
        <p:txBody>
          <a:bodyPr wrap="square" lIns="0" tIns="0" rIns="0" bIns="0" rtlCol="0" anchor="ctr"/>
          <a:lstStyle/>
          <a:p>
            <a:pPr marL="0" indent="0" algn="l">
              <a:buNone/>
            </a:pPr>
            <a:r>
              <a:rPr lang="en-US" sz="13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Risk Priority Management:</a:t>
            </a:r>
            <a:r>
              <a:rPr lang="en-US" sz="13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Risks are prioritized by Exposure (Probability × Impact). Highest priority risks </a:t>
            </a:r>
            <a:r>
              <a:rPr lang="en-US" sz="13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RK5 (2.8)</a:t>
            </a:r>
            <a:r>
              <a:rPr lang="en-US" sz="13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and </a:t>
            </a:r>
            <a:r>
              <a:rPr lang="en-US" sz="13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RK2 (2.5)</a:t>
            </a:r>
            <a:r>
              <a:rPr lang="en-US" sz="13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require active mitigation and continuous monitoring throughout the project lifecycle. </a:t>
            </a:r>
            <a:endParaRPr lang="en-US" sz="1300" dirty="0">
              <a:ea typeface="Noto Sans SC" panose="020B0200000000000000" pitchFamily="34" charset="-122"/>
              <a:cs typeface="Noto Sans SC" panose="020B0200000000000000"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5" name="Shape 2"/>
          <p:cNvSpPr/>
          <p:nvPr/>
        </p:nvSpPr>
        <p:spPr>
          <a:xfrm>
            <a:off x="571500" y="1524305"/>
            <a:ext cx="11048695" cy="4000500"/>
          </a:xfrm>
          <a:prstGeom prst="roundRect">
            <a:avLst>
              <a:gd name="adj" fmla="val 871"/>
            </a:avLst>
          </a:prstGeom>
          <a:solidFill>
            <a:srgbClr val="FFFFFF"/>
          </a:solidFill>
          <a:ln w="12700">
            <a:solidFill>
              <a:srgbClr val="FFFFFF">
                <a:alpha val="0"/>
              </a:srgbClr>
            </a:solidFill>
            <a:prstDash val="solid"/>
          </a:ln>
          <a:effectLst>
            <a:outerShdw blurRad="63500" dist="38100" dir="16200000" algn="bl" rotWithShape="0">
              <a:srgbClr val="000000">
                <a:alpha val="5000"/>
              </a:srgbClr>
            </a:outerShdw>
          </a:effectLst>
        </p:spPr>
      </p:sp>
      <p:graphicFrame>
        <p:nvGraphicFramePr>
          <p:cNvPr id="19" name="Table 0"/>
          <p:cNvGraphicFramePr>
            <a:graphicFrameLocks noGrp="1"/>
          </p:cNvGraphicFramePr>
          <p:nvPr/>
        </p:nvGraphicFramePr>
        <p:xfrm>
          <a:off x="571500" y="1524305"/>
          <a:ext cx="11049000" cy="4831080"/>
        </p:xfrm>
        <a:graphic>
          <a:graphicData uri="http://schemas.openxmlformats.org/drawingml/2006/table">
            <a:tbl>
              <a:tblPr/>
              <a:tblGrid>
                <a:gridCol w="1073150"/>
                <a:gridCol w="4451198"/>
                <a:gridCol w="18746"/>
                <a:gridCol w="5505602"/>
              </a:tblGrid>
              <a:tr h="571500">
                <a:tc gridSpan="2">
                  <a:txBody>
                    <a:bodyPr/>
                    <a:lstStyle/>
                    <a:p>
                      <a:pPr marL="0" indent="0" algn="l">
                        <a:buNone/>
                      </a:pPr>
                      <a:r>
                        <a:rPr lang="en-US" altLang="zh-CN" sz="105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RK5</a:t>
                      </a:r>
                      <a:endParaRPr lang="en-US" altLang="zh-CN" sz="105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1F5F9"/>
                    </a:solidFill>
                  </a:tcPr>
                </a:tc>
                <a:tc hMerge="1">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1F5F9"/>
                    </a:solidFill>
                  </a:tcPr>
                </a:tc>
                <a:tc gridSpan="2">
                  <a:txBody>
                    <a:bodyPr/>
                    <a:p>
                      <a:pPr marL="0" indent="0" algn="l">
                        <a:buNone/>
                      </a:pPr>
                      <a:r>
                        <a:rPr lang="en-US" altLang="zh-CN" sz="105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RK2</a:t>
                      </a:r>
                      <a:endParaRPr lang="en-US" altLang="zh-CN" sz="105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1F5F9"/>
                    </a:solidFill>
                  </a:tcPr>
                </a:tc>
                <a:tc hMerge="1">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0" cap="flat" cmpd="sng" algn="ctr">
                      <a:solidFill>
                        <a:srgbClr val="E2E8F0"/>
                      </a:solidFill>
                      <a:prstDash val="solid"/>
                      <a:round/>
                      <a:headEnd type="none" w="med" len="med"/>
                      <a:tailEnd type="none" w="med" len="med"/>
                    </a:lnT>
                    <a:lnB w="19050" cap="flat" cmpd="sng" algn="ctr">
                      <a:solidFill>
                        <a:srgbClr val="E2E8F0"/>
                      </a:solidFill>
                      <a:prstDash val="solid"/>
                      <a:round/>
                      <a:headEnd type="none" w="med" len="med"/>
                      <a:tailEnd type="none" w="med" len="med"/>
                    </a:lnB>
                    <a:solidFill>
                      <a:srgbClr val="F1F5F9"/>
                    </a:solidFill>
                  </a:tcPr>
                </a:tc>
              </a:tr>
              <a:tr h="571500">
                <a:tc>
                  <a:txBody>
                    <a:bodyPr/>
                    <a:lstStyle/>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Risk Name</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gridSpan="2">
                  <a:txBody>
                    <a:bodyPr/>
                    <a:lstStyle/>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Schedule compression causing misalignment between documentation, code, and PPT</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hMerge="1">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altLang="zh-CN"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Roommate matching algorithm development delay</a:t>
                      </a:r>
                      <a:endParaRPr lang="en-US" altLang="zh-CN"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19050"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71500">
                <a:tc>
                  <a:txBody>
                    <a:bodyPr/>
                    <a:lstStyle/>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Probability</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gridSpan="2">
                  <a:txBody>
                    <a:bodyPr/>
                    <a:lstStyle/>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High (0.7) ｜ Impact Major (4) ｜ Exposure 2.8</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hMerge="1">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altLang="zh-CN"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Medium (0.5) ｜ Impact Very High (5) ｜ Exposure 2.5</a:t>
                      </a:r>
                      <a:endParaRPr lang="en-US" altLang="zh-CN"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r>
              <a:tr h="571500">
                <a:tc>
                  <a:txBody>
                    <a:bodyPr/>
                    <a:lstStyle/>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Owner</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gridSpan="2">
                  <a:txBody>
                    <a:bodyPr/>
                    <a:lstStyle/>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Project Manager (PM)</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hMerge="1">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altLang="zh-CN"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AI Engineer</a:t>
                      </a:r>
                      <a:endParaRPr lang="en-US" altLang="zh-CN"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71500">
                <a:tc>
                  <a:txBody>
                    <a:bodyPr/>
                    <a:lstStyle/>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Description</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gridSpan="2">
                  <a:txBody>
                    <a:bodyPr/>
                    <a:lstStyle/>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During AI-phase crunch, the team may skip updating RTM, WBS, and Leangoo to save time. At final defense (May 3), the presentation slides may show features or plans that do not match the live demo, suggesting poor project management.</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hMerge="1">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altLang="zh-CN"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The collaborative filtering algorithm involves sparse matrix handling and cold-start issues, which may cause development to stall. If the core matching API is not ready by the middle of Sprint 3, the frontend-backend integration will be blocked, and the AI matching feature may not be demonstrable on Apr 28</a:t>
                      </a:r>
                      <a:endParaRPr lang="en-US" altLang="zh-CN"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AFAFA"/>
                    </a:solidFill>
                  </a:tcPr>
                </a:tc>
              </a:tr>
              <a:tr h="571500">
                <a:tc>
                  <a:txBody>
                    <a:bodyPr/>
                    <a:lstStyle/>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Mitigation</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gridSpan="2">
                  <a:txBody>
                    <a:bodyPr/>
                    <a:lstStyle/>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 Enforce RTM &amp; Leangoo update at the end of every Sprint</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 Freeze code after Apr 28; only allow PPT revisions afterward</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hMerge="1">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171450" indent="-171450">
                        <a:buFont typeface="Arial" panose="020B0604020202020204" pitchFamily="34" charset="0"/>
                        <a:buChar char="•"/>
                      </a:pPr>
                      <a:r>
                        <a:rPr lang="en-US" altLang="zh-CN"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 Build a rule-based baseline first to ensure a working demo always exists</a:t>
                      </a:r>
                      <a:endParaRPr lang="en-US" altLang="zh-CN"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endParaRPr>
                    </a:p>
                    <a:p>
                      <a:pPr marL="171450" indent="-171450">
                        <a:buFont typeface="Arial" panose="020B0604020202020204" pitchFamily="34" charset="0"/>
                        <a:buChar char="•"/>
                      </a:pPr>
                      <a:r>
                        <a:rPr lang="en-US" altLang="zh-CN"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 Develop collaborative filtering on a separate branch so it never blocks the main   workflow</a:t>
                      </a:r>
                      <a:endParaRPr lang="en-US" altLang="zh-CN"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71500">
                <a:tc>
                  <a:txBody>
                    <a:bodyPr/>
                    <a:lstStyle/>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Monitoring Signal</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c gridSpan="2">
                  <a:txBody>
                    <a:bodyPr/>
                    <a:lstStyle/>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 ≥3 Leangoo cards remain in “In Progress” after Sprint Review</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 PPT screenshots differ from the actual running application</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c hMerge="1">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c>
                  <a:txBody>
                    <a:bodyPr/>
                    <a:lstStyle/>
                    <a:p>
                      <a:pPr marL="0" indent="0">
                        <a:buNone/>
                      </a:pPr>
                      <a:r>
                        <a:rPr lang="en-US" altLang="zh-CN"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By the end of Week 2 of Sprint 3, the core matching API still returns 500 errors or empty results in unit tests.</a:t>
                      </a:r>
                      <a:endParaRPr lang="en-US" altLang="zh-CN" sz="105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r>
              <a:tr h="571500">
                <a:tc>
                  <a:txBody>
                    <a:bodyPr/>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Contingency Plan</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c gridSpan="2">
                  <a:txBody>
                    <a:bodyPr/>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In the final wrap-up window (Apr 29–30), all members cross-check PPT against the live demo. Any feature gap that cannot be fixed in time is honestly marked as “Planned for V2” in the slides, with oral clarification during the defense</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c hMerge="1">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c>
                  <a:txBody>
                    <a:bodyPr/>
                    <a:p>
                      <a:pPr marL="0" indent="0">
                        <a:buNone/>
                      </a:pPr>
                      <a:r>
                        <a:rPr lang="en-US" altLang="zh-CN" sz="1050" dirty="0">
                          <a:latin typeface="Noto Sans SC" panose="020B0200000000000000" pitchFamily="34" charset="-122"/>
                          <a:ea typeface="Noto Sans SC" panose="020B0200000000000000" pitchFamily="34" charset="-122"/>
                          <a:cs typeface="Noto Sans SC" panose="020B0200000000000000" pitchFamily="34" charset="-122"/>
                        </a:rPr>
                        <a:t>Fallback to a “hard-rule scoring engine”: assign points for same major, compatible sleep schedule, same college, etc. The AI intelligence label is softened but the complete matching flow is preserved for the final demo.</a:t>
                      </a:r>
                      <a:endParaRPr lang="en-US" altLang="zh-CN" sz="1050" dirty="0">
                        <a:latin typeface="Noto Sans SC" panose="020B0200000000000000" pitchFamily="34" charset="-122"/>
                        <a:ea typeface="Noto Sans SC" panose="020B0200000000000000" pitchFamily="34" charset="-122"/>
                        <a:cs typeface="Noto Sans SC" panose="020B0200000000000000" pitchFamily="34" charset="-122"/>
                      </a:endParaRPr>
                    </a:p>
                  </a:txBody>
                  <a:tcPr marL="152705" marR="152705" marT="95098" marB="95098" anchor="ctr">
                    <a:lnL w="0" cap="flat" cmpd="sng" algn="ctr">
                      <a:solidFill>
                        <a:srgbClr val="E2E8F0"/>
                      </a:solidFill>
                      <a:prstDash val="solid"/>
                      <a:round/>
                      <a:headEnd type="none" w="med" len="med"/>
                      <a:tailEnd type="none" w="med" len="med"/>
                    </a:lnL>
                    <a:lnR w="0"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0" cap="flat" cmpd="sng" algn="ctr">
                      <a:solidFill>
                        <a:srgbClr val="E2E8F0"/>
                      </a:solidFill>
                      <a:prstDash val="solid"/>
                      <a:round/>
                      <a:headEnd type="none" w="med" len="med"/>
                      <a:tailEnd type="none" w="med" len="med"/>
                    </a:lnB>
                    <a:solidFill>
                      <a:srgbClr val="FAFAFA"/>
                    </a:solidFill>
                  </a:tcPr>
                </a:tc>
              </a:tr>
            </a:tbl>
          </a:graphicData>
        </a:graphic>
      </p:graphicFrame>
      <p:sp>
        <p:nvSpPr>
          <p:cNvPr id="8" name="Shape 3"/>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9" name="Image 2" descr="preencoded.png"/>
          <p:cNvPicPr>
            <a:picLocks noChangeAspect="1"/>
          </p:cNvPicPr>
          <p:nvPr/>
        </p:nvPicPr>
        <p:blipFill>
          <a:blip r:embed="rId2"/>
          <a:srcRect t="-12275" b="-12275"/>
          <a:stretch>
            <a:fillRect/>
          </a:stretch>
        </p:blipFill>
        <p:spPr>
          <a:xfrm>
            <a:off x="724205" y="286207"/>
            <a:ext cx="152705" cy="190195"/>
          </a:xfrm>
          <a:prstGeom prst="rect">
            <a:avLst/>
          </a:prstGeom>
        </p:spPr>
      </p:pic>
      <p:sp>
        <p:nvSpPr>
          <p:cNvPr id="10" name="Text 4"/>
          <p:cNvSpPr txBox="1"/>
          <p:nvPr/>
        </p:nvSpPr>
        <p:spPr>
          <a:xfrm>
            <a:off x="1218895" y="198425"/>
            <a:ext cx="9048902" cy="372161"/>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Risk Management RMMM (with Mitigation/Monitoring)</a:t>
            </a:r>
            <a:endParaRPr lang="en-US" sz="2400" dirty="0">
              <a:ea typeface="Noto Sans SC" panose="020B0200000000000000" pitchFamily="34" charset="-122"/>
              <a:cs typeface="Noto Sans SC" panose="020B0200000000000000" pitchFamily="34" charset="-122"/>
            </a:endParaRPr>
          </a:p>
        </p:txBody>
      </p:sp>
      <p:pic>
        <p:nvPicPr>
          <p:cNvPr id="11" name="Image 3" descr="preencoded.png"/>
          <p:cNvPicPr>
            <a:picLocks noChangeAspect="1"/>
          </p:cNvPicPr>
          <p:nvPr/>
        </p:nvPicPr>
        <p:blipFill>
          <a:blip r:embed="rId3"/>
          <a:srcRect t="-15144" b="-15144"/>
          <a:stretch>
            <a:fillRect/>
          </a:stretch>
        </p:blipFill>
        <p:spPr>
          <a:xfrm>
            <a:off x="571500" y="1014070"/>
            <a:ext cx="190195" cy="247802"/>
          </a:xfrm>
          <a:prstGeom prst="rect">
            <a:avLst/>
          </a:prstGeom>
        </p:spPr>
      </p:pic>
      <p:sp>
        <p:nvSpPr>
          <p:cNvPr id="12" name="Text 5"/>
          <p:cNvSpPr txBox="1"/>
          <p:nvPr/>
        </p:nvSpPr>
        <p:spPr>
          <a:xfrm>
            <a:off x="875995" y="952805"/>
            <a:ext cx="8477402" cy="372161"/>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Example of Risk Information Sheet </a:t>
            </a:r>
            <a:r>
              <a:rPr lang="en-US" altLang="zh-CN" sz="1900" dirty="0">
                <a:ea typeface="Noto Sans SC" panose="020B0200000000000000" pitchFamily="34" charset="-122"/>
                <a:cs typeface="Noto Sans SC" panose="020B0200000000000000" pitchFamily="34" charset="-122"/>
              </a:rPr>
              <a:t>– </a:t>
            </a: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Top Priority Risks</a:t>
            </a:r>
            <a:endParaRPr lang="en-US" altLang="zh-CN" sz="1900" dirty="0">
              <a:ea typeface="Noto Sans SC" panose="020B0200000000000000" pitchFamily="34" charset="-122"/>
              <a:cs typeface="Noto Sans SC" panose="020B0200000000000000"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0" r="-10"/>
          <a:stretch>
            <a:fillRect/>
          </a:stretch>
        </p:blipFill>
        <p:spPr>
          <a:xfrm>
            <a:off x="0" y="0"/>
            <a:ext cx="12191695" cy="666598"/>
          </a:xfrm>
          <a:prstGeom prst="rect">
            <a:avLst/>
          </a:prstGeom>
        </p:spPr>
      </p:pic>
      <p:sp>
        <p:nvSpPr>
          <p:cNvPr id="5" name="Shape 2"/>
          <p:cNvSpPr/>
          <p:nvPr/>
        </p:nvSpPr>
        <p:spPr>
          <a:xfrm>
            <a:off x="381305" y="1333195"/>
            <a:ext cx="11430000" cy="4524451"/>
          </a:xfrm>
          <a:prstGeom prst="roundRect">
            <a:avLst>
              <a:gd name="adj" fmla="val 1021"/>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pic>
        <p:nvPicPr>
          <p:cNvPr id="6" name="Image 1" descr="preencoded.png"/>
          <p:cNvPicPr>
            <a:picLocks noChangeAspect="1"/>
          </p:cNvPicPr>
          <p:nvPr/>
        </p:nvPicPr>
        <p:blipFill>
          <a:blip r:embed="rId2"/>
          <a:srcRect/>
          <a:stretch>
            <a:fillRect/>
          </a:stretch>
        </p:blipFill>
        <p:spPr>
          <a:xfrm>
            <a:off x="381305" y="6096305"/>
            <a:ext cx="11430000" cy="571500"/>
          </a:xfrm>
          <a:prstGeom prst="rect">
            <a:avLst/>
          </a:prstGeom>
        </p:spPr>
      </p:pic>
      <p:sp>
        <p:nvSpPr>
          <p:cNvPr id="7" name="Shape 3"/>
          <p:cNvSpPr/>
          <p:nvPr/>
        </p:nvSpPr>
        <p:spPr>
          <a:xfrm>
            <a:off x="571500" y="142646"/>
            <a:ext cx="381305" cy="381305"/>
          </a:xfrm>
          <a:prstGeom prst="ellipse">
            <a:avLst/>
          </a:prstGeom>
          <a:solidFill>
            <a:srgbClr val="FFFFFF">
              <a:alpha val="15000"/>
            </a:srgbClr>
          </a:solidFill>
          <a:ln w="12700">
            <a:solidFill>
              <a:srgbClr val="FFFFFF">
                <a:alpha val="0"/>
              </a:srgbClr>
            </a:solidFill>
            <a:prstDash val="solid"/>
          </a:ln>
        </p:spPr>
      </p:sp>
      <p:pic>
        <p:nvPicPr>
          <p:cNvPr id="8" name="Image 2" descr="preencoded.png"/>
          <p:cNvPicPr>
            <a:picLocks noChangeAspect="1"/>
          </p:cNvPicPr>
          <p:nvPr/>
        </p:nvPicPr>
        <p:blipFill>
          <a:blip r:embed="rId3"/>
          <a:srcRect/>
          <a:stretch>
            <a:fillRect/>
          </a:stretch>
        </p:blipFill>
        <p:spPr>
          <a:xfrm>
            <a:off x="676656" y="247802"/>
            <a:ext cx="171907" cy="171907"/>
          </a:xfrm>
          <a:prstGeom prst="rect">
            <a:avLst/>
          </a:prstGeom>
        </p:spPr>
      </p:pic>
      <p:sp>
        <p:nvSpPr>
          <p:cNvPr id="9" name="Text 4"/>
          <p:cNvSpPr txBox="1"/>
          <p:nvPr/>
        </p:nvSpPr>
        <p:spPr>
          <a:xfrm>
            <a:off x="1143000" y="171907"/>
            <a:ext cx="7620610" cy="324612"/>
          </a:xfrm>
          <a:prstGeom prst="rect">
            <a:avLst/>
          </a:prstGeom>
          <a:noFill/>
        </p:spPr>
        <p:txBody>
          <a:bodyPr wrap="square" lIns="0" tIns="0" rIns="0" bIns="0" rtlCol="0" anchor="ctr"/>
          <a:lstStyle/>
          <a:p>
            <a:pPr marL="0" indent="0" algn="l">
              <a:buNone/>
            </a:pPr>
            <a:r>
              <a:rPr lang="en-US" sz="21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Task Set T1-T9</a:t>
            </a:r>
            <a:endParaRPr lang="en-US" sz="2100" dirty="0">
              <a:ea typeface="Noto Sans SC" panose="020B0200000000000000" pitchFamily="34" charset="-122"/>
              <a:cs typeface="Noto Sans SC" panose="020B0200000000000000" pitchFamily="34" charset="-122"/>
            </a:endParaRPr>
          </a:p>
        </p:txBody>
      </p:sp>
      <p:pic>
        <p:nvPicPr>
          <p:cNvPr id="10" name="Image 3" descr="preencoded.png"/>
          <p:cNvPicPr>
            <a:picLocks noChangeAspect="1"/>
          </p:cNvPicPr>
          <p:nvPr/>
        </p:nvPicPr>
        <p:blipFill>
          <a:blip r:embed="rId4"/>
          <a:srcRect l="-133" r="-133"/>
          <a:stretch>
            <a:fillRect/>
          </a:stretch>
        </p:blipFill>
        <p:spPr>
          <a:xfrm>
            <a:off x="571500" y="909828"/>
            <a:ext cx="171907" cy="228600"/>
          </a:xfrm>
          <a:prstGeom prst="rect">
            <a:avLst/>
          </a:prstGeom>
        </p:spPr>
      </p:pic>
      <p:sp>
        <p:nvSpPr>
          <p:cNvPr id="11" name="Text 5"/>
          <p:cNvSpPr txBox="1"/>
          <p:nvPr/>
        </p:nvSpPr>
        <p:spPr>
          <a:xfrm>
            <a:off x="857707" y="857707"/>
            <a:ext cx="6505956" cy="333756"/>
          </a:xfrm>
          <a:prstGeom prst="rect">
            <a:avLst/>
          </a:prstGeom>
          <a:noFill/>
        </p:spPr>
        <p:txBody>
          <a:bodyPr wrap="square" lIns="0" tIns="0" rIns="0" bIns="0" rtlCol="0" anchor="ctr"/>
          <a:lstStyle/>
          <a:p>
            <a:pPr marL="0" indent="0" algn="l">
              <a:buNone/>
            </a:pPr>
            <a:r>
              <a:rPr lang="en-US" sz="18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Post Mid-term Core Tasks: 9 Key Tasks &amp; Descriptions</a:t>
            </a:r>
            <a:endParaRPr lang="en-US" sz="1800" dirty="0">
              <a:ea typeface="Noto Sans SC" panose="020B0200000000000000" pitchFamily="34" charset="-122"/>
              <a:cs typeface="Noto Sans SC" panose="020B0200000000000000" pitchFamily="34" charset="-122"/>
            </a:endParaRPr>
          </a:p>
        </p:txBody>
      </p:sp>
      <p:pic>
        <p:nvPicPr>
          <p:cNvPr id="12" name="Image 4" descr="preencoded.png"/>
          <p:cNvPicPr>
            <a:picLocks noChangeAspect="1"/>
          </p:cNvPicPr>
          <p:nvPr/>
        </p:nvPicPr>
        <p:blipFill>
          <a:blip r:embed="rId5"/>
          <a:srcRect t="-27" b="-27"/>
          <a:stretch>
            <a:fillRect/>
          </a:stretch>
        </p:blipFill>
        <p:spPr>
          <a:xfrm>
            <a:off x="381305" y="1333195"/>
            <a:ext cx="11430000" cy="428854"/>
          </a:xfrm>
          <a:prstGeom prst="rect">
            <a:avLst/>
          </a:prstGeom>
        </p:spPr>
      </p:pic>
      <p:sp>
        <p:nvSpPr>
          <p:cNvPr id="13" name="Text 6"/>
          <p:cNvSpPr txBox="1"/>
          <p:nvPr/>
        </p:nvSpPr>
        <p:spPr>
          <a:xfrm>
            <a:off x="571500" y="1447495"/>
            <a:ext cx="762610" cy="200254"/>
          </a:xfrm>
          <a:prstGeom prst="rect">
            <a:avLst/>
          </a:prstGeom>
          <a:noFill/>
        </p:spPr>
        <p:txBody>
          <a:bodyPr wrap="square" lIns="0" tIns="0" rIns="0" bIns="0" rtlCol="0" anchor="ctr"/>
          <a:lstStyle/>
          <a:p>
            <a:pPr marL="0" indent="0" algn="ctr">
              <a:buNone/>
            </a:pPr>
            <a:r>
              <a:rPr lang="en-US" sz="10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Task ID</a:t>
            </a:r>
            <a:endParaRPr lang="en-US" sz="1000" dirty="0">
              <a:ea typeface="Noto Sans SC" panose="020B0200000000000000" pitchFamily="34" charset="-122"/>
              <a:cs typeface="Noto Sans SC" panose="020B0200000000000000" pitchFamily="34" charset="-122"/>
            </a:endParaRPr>
          </a:p>
        </p:txBody>
      </p:sp>
      <p:sp>
        <p:nvSpPr>
          <p:cNvPr id="14" name="Text 7"/>
          <p:cNvSpPr txBox="1"/>
          <p:nvPr/>
        </p:nvSpPr>
        <p:spPr>
          <a:xfrm>
            <a:off x="1429207" y="1447495"/>
            <a:ext cx="2382012" cy="200254"/>
          </a:xfrm>
          <a:prstGeom prst="rect">
            <a:avLst/>
          </a:prstGeom>
          <a:noFill/>
        </p:spPr>
        <p:txBody>
          <a:bodyPr wrap="square" lIns="0" tIns="0" rIns="0" bIns="0" rtlCol="0" anchor="ctr"/>
          <a:lstStyle/>
          <a:p>
            <a:pPr marL="0" indent="0" algn="l">
              <a:buNone/>
            </a:pPr>
            <a:r>
              <a:rPr lang="en-US" sz="10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Task Name</a:t>
            </a:r>
            <a:endParaRPr lang="en-US" sz="1000" dirty="0">
              <a:ea typeface="Noto Sans SC" panose="020B0200000000000000" pitchFamily="34" charset="-122"/>
              <a:cs typeface="Noto Sans SC" panose="020B0200000000000000" pitchFamily="34" charset="-122"/>
            </a:endParaRPr>
          </a:p>
        </p:txBody>
      </p:sp>
      <p:sp>
        <p:nvSpPr>
          <p:cNvPr id="15" name="Text 8"/>
          <p:cNvSpPr txBox="1"/>
          <p:nvPr/>
        </p:nvSpPr>
        <p:spPr>
          <a:xfrm>
            <a:off x="3905402" y="1447495"/>
            <a:ext cx="1429207" cy="200254"/>
          </a:xfrm>
          <a:prstGeom prst="rect">
            <a:avLst/>
          </a:prstGeom>
          <a:noFill/>
        </p:spPr>
        <p:txBody>
          <a:bodyPr wrap="square" lIns="0" tIns="0" rIns="0" bIns="0" rtlCol="0" anchor="ctr"/>
          <a:lstStyle/>
          <a:p>
            <a:pPr marL="0" indent="0" algn="ctr">
              <a:buNone/>
            </a:pPr>
            <a:r>
              <a:rPr lang="en-US" sz="10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Priority</a:t>
            </a:r>
            <a:endParaRPr lang="en-US" sz="1000" dirty="0">
              <a:ea typeface="Noto Sans SC" panose="020B0200000000000000" pitchFamily="34" charset="-122"/>
              <a:cs typeface="Noto Sans SC" panose="020B0200000000000000" pitchFamily="34" charset="-122"/>
            </a:endParaRPr>
          </a:p>
        </p:txBody>
      </p:sp>
      <p:sp>
        <p:nvSpPr>
          <p:cNvPr id="16" name="Text 9"/>
          <p:cNvSpPr txBox="1"/>
          <p:nvPr/>
        </p:nvSpPr>
        <p:spPr>
          <a:xfrm>
            <a:off x="5429707" y="1447495"/>
            <a:ext cx="6477610" cy="200254"/>
          </a:xfrm>
          <a:prstGeom prst="rect">
            <a:avLst/>
          </a:prstGeom>
          <a:noFill/>
        </p:spPr>
        <p:txBody>
          <a:bodyPr wrap="square" lIns="0" tIns="0" rIns="0" bIns="0" rtlCol="0" anchor="ctr"/>
          <a:lstStyle/>
          <a:p>
            <a:pPr marL="0" indent="0" algn="l">
              <a:buNone/>
            </a:pPr>
            <a:r>
              <a:rPr lang="en-US" sz="10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Description</a:t>
            </a:r>
            <a:endParaRPr lang="en-US" sz="1000" dirty="0">
              <a:ea typeface="Noto Sans SC" panose="020B0200000000000000" pitchFamily="34" charset="-122"/>
              <a:cs typeface="Noto Sans SC" panose="020B0200000000000000" pitchFamily="34" charset="-122"/>
            </a:endParaRPr>
          </a:p>
        </p:txBody>
      </p:sp>
      <p:sp>
        <p:nvSpPr>
          <p:cNvPr id="17" name="Shape 10"/>
          <p:cNvSpPr/>
          <p:nvPr/>
        </p:nvSpPr>
        <p:spPr>
          <a:xfrm>
            <a:off x="381305" y="1762049"/>
            <a:ext cx="11430000" cy="571500"/>
          </a:xfrm>
          <a:prstGeom prst="rect">
            <a:avLst/>
          </a:prstGeom>
          <a:solidFill>
            <a:srgbClr val="FFFFFF"/>
          </a:solidFill>
        </p:spPr>
      </p:sp>
      <p:sp>
        <p:nvSpPr>
          <p:cNvPr id="18" name="Shape 11"/>
          <p:cNvSpPr/>
          <p:nvPr/>
        </p:nvSpPr>
        <p:spPr>
          <a:xfrm>
            <a:off x="381305" y="2324405"/>
            <a:ext cx="11430000" cy="9144"/>
          </a:xfrm>
          <a:prstGeom prst="rect">
            <a:avLst/>
          </a:prstGeom>
          <a:solidFill>
            <a:srgbClr val="E2E8F0"/>
          </a:solidFill>
          <a:ln w="12700">
            <a:solidFill>
              <a:srgbClr val="E2E8F0">
                <a:alpha val="0"/>
              </a:srgbClr>
            </a:solidFill>
            <a:prstDash val="solid"/>
          </a:ln>
        </p:spPr>
      </p:sp>
      <p:sp>
        <p:nvSpPr>
          <p:cNvPr id="19" name="Text 12"/>
          <p:cNvSpPr txBox="1"/>
          <p:nvPr/>
        </p:nvSpPr>
        <p:spPr>
          <a:xfrm>
            <a:off x="571500" y="1950415"/>
            <a:ext cx="76261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T1</a:t>
            </a:r>
            <a:endParaRPr lang="en-US" sz="900" dirty="0">
              <a:ea typeface="Noto Sans SC" panose="020B0200000000000000" pitchFamily="34" charset="-122"/>
              <a:cs typeface="Noto Sans SC" panose="020B0200000000000000" pitchFamily="34" charset="-122"/>
            </a:endParaRPr>
          </a:p>
        </p:txBody>
      </p:sp>
      <p:sp>
        <p:nvSpPr>
          <p:cNvPr id="20" name="Text 13"/>
          <p:cNvSpPr txBox="1"/>
          <p:nvPr/>
        </p:nvSpPr>
        <p:spPr>
          <a:xfrm>
            <a:off x="1429207" y="1857146"/>
            <a:ext cx="2382012" cy="372161"/>
          </a:xfrm>
          <a:prstGeom prst="rect">
            <a:avLst/>
          </a:prstGeom>
          <a:noFill/>
        </p:spPr>
        <p:txBody>
          <a:bodyPr wrap="square" lIns="0" tIns="0" rIns="0" bIns="0" rtlCol="0" anchor="ctr"/>
          <a:lstStyle/>
          <a:p>
            <a:pPr marL="0" indent="0" algn="l">
              <a:buNone/>
            </a:pPr>
            <a:r>
              <a:rPr lang="en-US" sz="900" b="1"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Requirements clarification &amp; dimensions</a:t>
            </a:r>
            <a:endParaRPr lang="en-US" sz="900" dirty="0">
              <a:ea typeface="Noto Sans SC" panose="020B0200000000000000" pitchFamily="34" charset="-122"/>
              <a:cs typeface="Noto Sans SC" panose="020B0200000000000000" pitchFamily="34" charset="-122"/>
            </a:endParaRPr>
          </a:p>
        </p:txBody>
      </p:sp>
      <p:sp>
        <p:nvSpPr>
          <p:cNvPr id="21" name="Text 14"/>
          <p:cNvSpPr txBox="1"/>
          <p:nvPr/>
        </p:nvSpPr>
        <p:spPr>
          <a:xfrm>
            <a:off x="5429707" y="1962302"/>
            <a:ext cx="6477610"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Define questionnaire dimensions/preference types/schedule habits key fields</a:t>
            </a:r>
            <a:endParaRPr lang="en-US" sz="900" dirty="0">
              <a:ea typeface="Noto Sans SC" panose="020B0200000000000000" pitchFamily="34" charset="-122"/>
              <a:cs typeface="Noto Sans SC" panose="020B0200000000000000" pitchFamily="34" charset="-122"/>
            </a:endParaRPr>
          </a:p>
        </p:txBody>
      </p:sp>
      <p:sp>
        <p:nvSpPr>
          <p:cNvPr id="22" name="Shape 15"/>
          <p:cNvSpPr/>
          <p:nvPr/>
        </p:nvSpPr>
        <p:spPr>
          <a:xfrm>
            <a:off x="381305" y="2333549"/>
            <a:ext cx="11430000" cy="448056"/>
          </a:xfrm>
          <a:prstGeom prst="rect">
            <a:avLst/>
          </a:prstGeom>
          <a:solidFill>
            <a:srgbClr val="F8FAFC"/>
          </a:solidFill>
        </p:spPr>
      </p:sp>
      <p:sp>
        <p:nvSpPr>
          <p:cNvPr id="23" name="Shape 16"/>
          <p:cNvSpPr/>
          <p:nvPr/>
        </p:nvSpPr>
        <p:spPr>
          <a:xfrm>
            <a:off x="381305" y="2772461"/>
            <a:ext cx="11430000" cy="9144"/>
          </a:xfrm>
          <a:prstGeom prst="rect">
            <a:avLst/>
          </a:prstGeom>
          <a:solidFill>
            <a:srgbClr val="E2E8F0"/>
          </a:solidFill>
          <a:ln w="12700">
            <a:solidFill>
              <a:srgbClr val="E2E8F0">
                <a:alpha val="0"/>
              </a:srgbClr>
            </a:solidFill>
            <a:prstDash val="solid"/>
          </a:ln>
        </p:spPr>
      </p:sp>
      <p:sp>
        <p:nvSpPr>
          <p:cNvPr id="24" name="Text 17"/>
          <p:cNvSpPr txBox="1"/>
          <p:nvPr/>
        </p:nvSpPr>
        <p:spPr>
          <a:xfrm>
            <a:off x="571500" y="2457907"/>
            <a:ext cx="76261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T2</a:t>
            </a:r>
            <a:endParaRPr lang="en-US" sz="900" dirty="0">
              <a:ea typeface="Noto Sans SC" panose="020B0200000000000000" pitchFamily="34" charset="-122"/>
              <a:cs typeface="Noto Sans SC" panose="020B0200000000000000" pitchFamily="34" charset="-122"/>
            </a:endParaRPr>
          </a:p>
        </p:txBody>
      </p:sp>
      <p:sp>
        <p:nvSpPr>
          <p:cNvPr id="25" name="Text 18"/>
          <p:cNvSpPr txBox="1"/>
          <p:nvPr/>
        </p:nvSpPr>
        <p:spPr>
          <a:xfrm>
            <a:off x="1429207" y="2457907"/>
            <a:ext cx="2382012" cy="191110"/>
          </a:xfrm>
          <a:prstGeom prst="rect">
            <a:avLst/>
          </a:prstGeom>
          <a:noFill/>
        </p:spPr>
        <p:txBody>
          <a:bodyPr wrap="square" lIns="0" tIns="0" rIns="0" bIns="0" rtlCol="0" anchor="ctr"/>
          <a:lstStyle/>
          <a:p>
            <a:pPr marL="0" indent="0" algn="l">
              <a:buNone/>
            </a:pPr>
            <a:r>
              <a:rPr lang="en-US" sz="900" b="1"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Database schema design</a:t>
            </a:r>
            <a:endParaRPr lang="en-US" sz="900" dirty="0">
              <a:ea typeface="Noto Sans SC" panose="020B0200000000000000" pitchFamily="34" charset="-122"/>
              <a:cs typeface="Noto Sans SC" panose="020B0200000000000000" pitchFamily="34" charset="-122"/>
            </a:endParaRPr>
          </a:p>
        </p:txBody>
      </p:sp>
      <p:sp>
        <p:nvSpPr>
          <p:cNvPr id="26" name="Text 19"/>
          <p:cNvSpPr txBox="1"/>
          <p:nvPr/>
        </p:nvSpPr>
        <p:spPr>
          <a:xfrm>
            <a:off x="5429707" y="2469794"/>
            <a:ext cx="6477610"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Design tables for questionnaire_template/answer/match_config/result/log</a:t>
            </a:r>
            <a:endParaRPr lang="en-US" sz="900" dirty="0">
              <a:ea typeface="Noto Sans SC" panose="020B0200000000000000" pitchFamily="34" charset="-122"/>
              <a:cs typeface="Noto Sans SC" panose="020B0200000000000000" pitchFamily="34" charset="-122"/>
            </a:endParaRPr>
          </a:p>
        </p:txBody>
      </p:sp>
      <p:sp>
        <p:nvSpPr>
          <p:cNvPr id="27" name="Shape 20"/>
          <p:cNvSpPr/>
          <p:nvPr/>
        </p:nvSpPr>
        <p:spPr>
          <a:xfrm>
            <a:off x="381305" y="2776118"/>
            <a:ext cx="11430000" cy="448056"/>
          </a:xfrm>
          <a:prstGeom prst="rect">
            <a:avLst/>
          </a:prstGeom>
          <a:solidFill>
            <a:srgbClr val="FFFFFF"/>
          </a:solidFill>
        </p:spPr>
      </p:sp>
      <p:sp>
        <p:nvSpPr>
          <p:cNvPr id="28" name="Shape 21"/>
          <p:cNvSpPr/>
          <p:nvPr/>
        </p:nvSpPr>
        <p:spPr>
          <a:xfrm>
            <a:off x="381305" y="3215030"/>
            <a:ext cx="11430000" cy="9144"/>
          </a:xfrm>
          <a:prstGeom prst="rect">
            <a:avLst/>
          </a:prstGeom>
          <a:solidFill>
            <a:srgbClr val="E2E8F0"/>
          </a:solidFill>
          <a:ln w="12700">
            <a:solidFill>
              <a:srgbClr val="E2E8F0">
                <a:alpha val="0"/>
              </a:srgbClr>
            </a:solidFill>
            <a:prstDash val="solid"/>
          </a:ln>
        </p:spPr>
      </p:sp>
      <p:sp>
        <p:nvSpPr>
          <p:cNvPr id="29" name="Text 22"/>
          <p:cNvSpPr txBox="1"/>
          <p:nvPr/>
        </p:nvSpPr>
        <p:spPr>
          <a:xfrm>
            <a:off x="571500" y="2900477"/>
            <a:ext cx="76261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T3</a:t>
            </a:r>
            <a:endParaRPr lang="en-US" sz="900" dirty="0">
              <a:ea typeface="Noto Sans SC" panose="020B0200000000000000" pitchFamily="34" charset="-122"/>
              <a:cs typeface="Noto Sans SC" panose="020B0200000000000000" pitchFamily="34" charset="-122"/>
            </a:endParaRPr>
          </a:p>
        </p:txBody>
      </p:sp>
      <p:sp>
        <p:nvSpPr>
          <p:cNvPr id="30" name="Text 23"/>
          <p:cNvSpPr txBox="1"/>
          <p:nvPr/>
        </p:nvSpPr>
        <p:spPr>
          <a:xfrm>
            <a:off x="1429207" y="2900477"/>
            <a:ext cx="2382012" cy="191110"/>
          </a:xfrm>
          <a:prstGeom prst="rect">
            <a:avLst/>
          </a:prstGeom>
          <a:noFill/>
        </p:spPr>
        <p:txBody>
          <a:bodyPr wrap="square" lIns="0" tIns="0" rIns="0" bIns="0" rtlCol="0" anchor="ctr"/>
          <a:lstStyle/>
          <a:p>
            <a:pPr marL="0" indent="0" algn="l">
              <a:buNone/>
            </a:pPr>
            <a:r>
              <a:rPr lang="en-US" sz="900" b="1"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Student questionnaire page</a:t>
            </a:r>
            <a:endParaRPr lang="en-US" sz="900" dirty="0">
              <a:ea typeface="Noto Sans SC" panose="020B0200000000000000" pitchFamily="34" charset="-122"/>
              <a:cs typeface="Noto Sans SC" panose="020B0200000000000000" pitchFamily="34" charset="-122"/>
            </a:endParaRPr>
          </a:p>
        </p:txBody>
      </p:sp>
      <p:sp>
        <p:nvSpPr>
          <p:cNvPr id="31" name="Text 24"/>
          <p:cNvSpPr txBox="1"/>
          <p:nvPr/>
        </p:nvSpPr>
        <p:spPr>
          <a:xfrm>
            <a:off x="5429707" y="2912364"/>
            <a:ext cx="6477610"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Frontend page for students to fill preferences</a:t>
            </a:r>
            <a:endParaRPr lang="en-US" sz="900" dirty="0">
              <a:ea typeface="Noto Sans SC" panose="020B0200000000000000" pitchFamily="34" charset="-122"/>
              <a:cs typeface="Noto Sans SC" panose="020B0200000000000000" pitchFamily="34" charset="-122"/>
            </a:endParaRPr>
          </a:p>
        </p:txBody>
      </p:sp>
      <p:sp>
        <p:nvSpPr>
          <p:cNvPr id="32" name="Shape 25"/>
          <p:cNvSpPr/>
          <p:nvPr/>
        </p:nvSpPr>
        <p:spPr>
          <a:xfrm>
            <a:off x="381305" y="3219602"/>
            <a:ext cx="11430000" cy="448056"/>
          </a:xfrm>
          <a:prstGeom prst="rect">
            <a:avLst/>
          </a:prstGeom>
          <a:solidFill>
            <a:srgbClr val="F8FAFC"/>
          </a:solidFill>
        </p:spPr>
      </p:sp>
      <p:sp>
        <p:nvSpPr>
          <p:cNvPr id="33" name="Shape 26"/>
          <p:cNvSpPr/>
          <p:nvPr/>
        </p:nvSpPr>
        <p:spPr>
          <a:xfrm>
            <a:off x="381305" y="3658514"/>
            <a:ext cx="11430000" cy="9144"/>
          </a:xfrm>
          <a:prstGeom prst="rect">
            <a:avLst/>
          </a:prstGeom>
          <a:solidFill>
            <a:srgbClr val="E2E8F0"/>
          </a:solidFill>
          <a:ln w="12700">
            <a:solidFill>
              <a:srgbClr val="E2E8F0">
                <a:alpha val="0"/>
              </a:srgbClr>
            </a:solidFill>
            <a:prstDash val="solid"/>
          </a:ln>
        </p:spPr>
      </p:sp>
      <p:sp>
        <p:nvSpPr>
          <p:cNvPr id="34" name="Text 27"/>
          <p:cNvSpPr txBox="1"/>
          <p:nvPr/>
        </p:nvSpPr>
        <p:spPr>
          <a:xfrm>
            <a:off x="571500" y="3343046"/>
            <a:ext cx="76261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T4</a:t>
            </a:r>
            <a:endParaRPr lang="en-US" sz="900" dirty="0">
              <a:ea typeface="Noto Sans SC" panose="020B0200000000000000" pitchFamily="34" charset="-122"/>
              <a:cs typeface="Noto Sans SC" panose="020B0200000000000000" pitchFamily="34" charset="-122"/>
            </a:endParaRPr>
          </a:p>
        </p:txBody>
      </p:sp>
      <p:sp>
        <p:nvSpPr>
          <p:cNvPr id="35" name="Text 28"/>
          <p:cNvSpPr txBox="1"/>
          <p:nvPr/>
        </p:nvSpPr>
        <p:spPr>
          <a:xfrm>
            <a:off x="1429207" y="3343046"/>
            <a:ext cx="2382012" cy="191110"/>
          </a:xfrm>
          <a:prstGeom prst="rect">
            <a:avLst/>
          </a:prstGeom>
          <a:noFill/>
        </p:spPr>
        <p:txBody>
          <a:bodyPr wrap="square" lIns="0" tIns="0" rIns="0" bIns="0" rtlCol="0" anchor="ctr"/>
          <a:lstStyle/>
          <a:p>
            <a:pPr marL="0" indent="0" algn="l">
              <a:buNone/>
            </a:pPr>
            <a:r>
              <a:rPr lang="en-US" sz="900" b="1"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Admin configuration page</a:t>
            </a:r>
            <a:endParaRPr lang="en-US" sz="900" dirty="0">
              <a:ea typeface="Noto Sans SC" panose="020B0200000000000000" pitchFamily="34" charset="-122"/>
              <a:cs typeface="Noto Sans SC" panose="020B0200000000000000" pitchFamily="34" charset="-122"/>
            </a:endParaRPr>
          </a:p>
        </p:txBody>
      </p:sp>
      <p:sp>
        <p:nvSpPr>
          <p:cNvPr id="36" name="Text 29"/>
          <p:cNvSpPr txBox="1"/>
          <p:nvPr/>
        </p:nvSpPr>
        <p:spPr>
          <a:xfrm>
            <a:off x="5429707" y="3355848"/>
            <a:ext cx="6477610"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Admin interface to configure matching weights</a:t>
            </a:r>
            <a:endParaRPr lang="en-US" sz="900" dirty="0">
              <a:ea typeface="Noto Sans SC" panose="020B0200000000000000" pitchFamily="34" charset="-122"/>
              <a:cs typeface="Noto Sans SC" panose="020B0200000000000000" pitchFamily="34" charset="-122"/>
            </a:endParaRPr>
          </a:p>
        </p:txBody>
      </p:sp>
      <p:sp>
        <p:nvSpPr>
          <p:cNvPr id="37" name="Shape 30"/>
          <p:cNvSpPr/>
          <p:nvPr/>
        </p:nvSpPr>
        <p:spPr>
          <a:xfrm>
            <a:off x="381305" y="3662172"/>
            <a:ext cx="11430000" cy="448056"/>
          </a:xfrm>
          <a:prstGeom prst="rect">
            <a:avLst/>
          </a:prstGeom>
          <a:solidFill>
            <a:srgbClr val="FFFFFF"/>
          </a:solidFill>
        </p:spPr>
      </p:sp>
      <p:sp>
        <p:nvSpPr>
          <p:cNvPr id="38" name="Shape 31"/>
          <p:cNvSpPr/>
          <p:nvPr/>
        </p:nvSpPr>
        <p:spPr>
          <a:xfrm>
            <a:off x="381305" y="4101084"/>
            <a:ext cx="11430000" cy="9144"/>
          </a:xfrm>
          <a:prstGeom prst="rect">
            <a:avLst/>
          </a:prstGeom>
          <a:solidFill>
            <a:srgbClr val="E2E8F0"/>
          </a:solidFill>
          <a:ln w="12700">
            <a:solidFill>
              <a:srgbClr val="E2E8F0">
                <a:alpha val="0"/>
              </a:srgbClr>
            </a:solidFill>
            <a:prstDash val="solid"/>
          </a:ln>
        </p:spPr>
      </p:sp>
      <p:sp>
        <p:nvSpPr>
          <p:cNvPr id="39" name="Text 32"/>
          <p:cNvSpPr txBox="1"/>
          <p:nvPr/>
        </p:nvSpPr>
        <p:spPr>
          <a:xfrm>
            <a:off x="571500" y="3786530"/>
            <a:ext cx="76261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T5</a:t>
            </a:r>
            <a:endParaRPr lang="en-US" sz="900" dirty="0">
              <a:ea typeface="Noto Sans SC" panose="020B0200000000000000" pitchFamily="34" charset="-122"/>
              <a:cs typeface="Noto Sans SC" panose="020B0200000000000000" pitchFamily="34" charset="-122"/>
            </a:endParaRPr>
          </a:p>
        </p:txBody>
      </p:sp>
      <p:sp>
        <p:nvSpPr>
          <p:cNvPr id="40" name="Text 33"/>
          <p:cNvSpPr txBox="1"/>
          <p:nvPr/>
        </p:nvSpPr>
        <p:spPr>
          <a:xfrm>
            <a:off x="1429207" y="3786530"/>
            <a:ext cx="2382012" cy="191110"/>
          </a:xfrm>
          <a:prstGeom prst="rect">
            <a:avLst/>
          </a:prstGeom>
          <a:noFill/>
        </p:spPr>
        <p:txBody>
          <a:bodyPr wrap="square" lIns="0" tIns="0" rIns="0" bIns="0" rtlCol="0" anchor="ctr"/>
          <a:lstStyle/>
          <a:p>
            <a:pPr marL="0" indent="0" algn="l">
              <a:buNone/>
            </a:pPr>
            <a:r>
              <a:rPr lang="en-US" sz="900" b="1"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Matching algorithm development</a:t>
            </a:r>
            <a:endParaRPr lang="en-US" sz="900" dirty="0">
              <a:ea typeface="Noto Sans SC" panose="020B0200000000000000" pitchFamily="34" charset="-122"/>
              <a:cs typeface="Noto Sans SC" panose="020B0200000000000000" pitchFamily="34" charset="-122"/>
            </a:endParaRPr>
          </a:p>
        </p:txBody>
      </p:sp>
      <p:sp>
        <p:nvSpPr>
          <p:cNvPr id="41" name="Text 34"/>
          <p:cNvSpPr txBox="1"/>
          <p:nvPr/>
        </p:nvSpPr>
        <p:spPr>
          <a:xfrm>
            <a:off x="5429707" y="3798418"/>
            <a:ext cx="6477610"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Implement rules-based matching algorithm core logic</a:t>
            </a:r>
            <a:endParaRPr lang="en-US" sz="900" dirty="0">
              <a:ea typeface="Noto Sans SC" panose="020B0200000000000000" pitchFamily="34" charset="-122"/>
              <a:cs typeface="Noto Sans SC" panose="020B0200000000000000" pitchFamily="34" charset="-122"/>
            </a:endParaRPr>
          </a:p>
        </p:txBody>
      </p:sp>
      <p:sp>
        <p:nvSpPr>
          <p:cNvPr id="42" name="Shape 35"/>
          <p:cNvSpPr/>
          <p:nvPr/>
        </p:nvSpPr>
        <p:spPr>
          <a:xfrm>
            <a:off x="381305" y="4105656"/>
            <a:ext cx="11430000" cy="448056"/>
          </a:xfrm>
          <a:prstGeom prst="rect">
            <a:avLst/>
          </a:prstGeom>
          <a:solidFill>
            <a:srgbClr val="F8FAFC"/>
          </a:solidFill>
        </p:spPr>
      </p:sp>
      <p:sp>
        <p:nvSpPr>
          <p:cNvPr id="43" name="Shape 36"/>
          <p:cNvSpPr/>
          <p:nvPr/>
        </p:nvSpPr>
        <p:spPr>
          <a:xfrm>
            <a:off x="381305" y="4544568"/>
            <a:ext cx="11430000" cy="9144"/>
          </a:xfrm>
          <a:prstGeom prst="rect">
            <a:avLst/>
          </a:prstGeom>
          <a:solidFill>
            <a:srgbClr val="E2E8F0"/>
          </a:solidFill>
          <a:ln w="12700">
            <a:solidFill>
              <a:srgbClr val="E2E8F0">
                <a:alpha val="0"/>
              </a:srgbClr>
            </a:solidFill>
            <a:prstDash val="solid"/>
          </a:ln>
        </p:spPr>
      </p:sp>
      <p:sp>
        <p:nvSpPr>
          <p:cNvPr id="44" name="Text 37"/>
          <p:cNvSpPr txBox="1"/>
          <p:nvPr/>
        </p:nvSpPr>
        <p:spPr>
          <a:xfrm>
            <a:off x="571500" y="4229100"/>
            <a:ext cx="76261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T6</a:t>
            </a:r>
            <a:endParaRPr lang="en-US" sz="900" dirty="0">
              <a:ea typeface="Noto Sans SC" panose="020B0200000000000000" pitchFamily="34" charset="-122"/>
              <a:cs typeface="Noto Sans SC" panose="020B0200000000000000" pitchFamily="34" charset="-122"/>
            </a:endParaRPr>
          </a:p>
        </p:txBody>
      </p:sp>
      <p:sp>
        <p:nvSpPr>
          <p:cNvPr id="45" name="Text 38"/>
          <p:cNvSpPr txBox="1"/>
          <p:nvPr/>
        </p:nvSpPr>
        <p:spPr>
          <a:xfrm>
            <a:off x="1429207" y="4229100"/>
            <a:ext cx="2382012" cy="191110"/>
          </a:xfrm>
          <a:prstGeom prst="rect">
            <a:avLst/>
          </a:prstGeom>
          <a:noFill/>
        </p:spPr>
        <p:txBody>
          <a:bodyPr wrap="square" lIns="0" tIns="0" rIns="0" bIns="0" rtlCol="0" anchor="ctr"/>
          <a:lstStyle/>
          <a:p>
            <a:pPr marL="0" indent="0" algn="l">
              <a:buNone/>
            </a:pPr>
            <a:r>
              <a:rPr lang="en-US" sz="900" b="1"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Result display page</a:t>
            </a:r>
            <a:endParaRPr lang="en-US" sz="900" dirty="0">
              <a:ea typeface="Noto Sans SC" panose="020B0200000000000000" pitchFamily="34" charset="-122"/>
              <a:cs typeface="Noto Sans SC" panose="020B0200000000000000" pitchFamily="34" charset="-122"/>
            </a:endParaRPr>
          </a:p>
        </p:txBody>
      </p:sp>
      <p:sp>
        <p:nvSpPr>
          <p:cNvPr id="46" name="Text 39"/>
          <p:cNvSpPr txBox="1"/>
          <p:nvPr/>
        </p:nvSpPr>
        <p:spPr>
          <a:xfrm>
            <a:off x="5429707" y="4241902"/>
            <a:ext cx="6477610"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Student and admin result viewing pages</a:t>
            </a:r>
            <a:endParaRPr lang="en-US" sz="900" dirty="0">
              <a:ea typeface="Noto Sans SC" panose="020B0200000000000000" pitchFamily="34" charset="-122"/>
              <a:cs typeface="Noto Sans SC" panose="020B0200000000000000" pitchFamily="34" charset="-122"/>
            </a:endParaRPr>
          </a:p>
        </p:txBody>
      </p:sp>
      <p:sp>
        <p:nvSpPr>
          <p:cNvPr id="47" name="Shape 40"/>
          <p:cNvSpPr/>
          <p:nvPr/>
        </p:nvSpPr>
        <p:spPr>
          <a:xfrm>
            <a:off x="381305" y="4548226"/>
            <a:ext cx="11430000" cy="448056"/>
          </a:xfrm>
          <a:prstGeom prst="rect">
            <a:avLst/>
          </a:prstGeom>
          <a:solidFill>
            <a:srgbClr val="FFFFFF"/>
          </a:solidFill>
        </p:spPr>
      </p:sp>
      <p:sp>
        <p:nvSpPr>
          <p:cNvPr id="48" name="Shape 41"/>
          <p:cNvSpPr/>
          <p:nvPr/>
        </p:nvSpPr>
        <p:spPr>
          <a:xfrm>
            <a:off x="381305" y="4987138"/>
            <a:ext cx="11430000" cy="9144"/>
          </a:xfrm>
          <a:prstGeom prst="rect">
            <a:avLst/>
          </a:prstGeom>
          <a:solidFill>
            <a:srgbClr val="E2E8F0"/>
          </a:solidFill>
          <a:ln w="12700">
            <a:solidFill>
              <a:srgbClr val="E2E8F0">
                <a:alpha val="0"/>
              </a:srgbClr>
            </a:solidFill>
            <a:prstDash val="solid"/>
          </a:ln>
        </p:spPr>
      </p:sp>
      <p:sp>
        <p:nvSpPr>
          <p:cNvPr id="49" name="Text 42"/>
          <p:cNvSpPr txBox="1"/>
          <p:nvPr/>
        </p:nvSpPr>
        <p:spPr>
          <a:xfrm>
            <a:off x="571500" y="4671670"/>
            <a:ext cx="76261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T7</a:t>
            </a:r>
            <a:endParaRPr lang="en-US" sz="900" dirty="0">
              <a:ea typeface="Noto Sans SC" panose="020B0200000000000000" pitchFamily="34" charset="-122"/>
              <a:cs typeface="Noto Sans SC" panose="020B0200000000000000" pitchFamily="34" charset="-122"/>
            </a:endParaRPr>
          </a:p>
        </p:txBody>
      </p:sp>
      <p:sp>
        <p:nvSpPr>
          <p:cNvPr id="50" name="Text 43"/>
          <p:cNvSpPr txBox="1"/>
          <p:nvPr/>
        </p:nvSpPr>
        <p:spPr>
          <a:xfrm>
            <a:off x="1429207" y="4671670"/>
            <a:ext cx="2382012" cy="191110"/>
          </a:xfrm>
          <a:prstGeom prst="rect">
            <a:avLst/>
          </a:prstGeom>
          <a:noFill/>
        </p:spPr>
        <p:txBody>
          <a:bodyPr wrap="square" lIns="0" tIns="0" rIns="0" bIns="0" rtlCol="0" anchor="ctr"/>
          <a:lstStyle/>
          <a:p>
            <a:pPr marL="0" indent="0" algn="l">
              <a:buNone/>
            </a:pPr>
            <a:r>
              <a:rPr lang="en-US" sz="900" b="1"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Integration testing</a:t>
            </a:r>
            <a:endParaRPr lang="en-US" sz="900" dirty="0">
              <a:ea typeface="Noto Sans SC" panose="020B0200000000000000" pitchFamily="34" charset="-122"/>
              <a:cs typeface="Noto Sans SC" panose="020B0200000000000000" pitchFamily="34" charset="-122"/>
            </a:endParaRPr>
          </a:p>
        </p:txBody>
      </p:sp>
      <p:sp>
        <p:nvSpPr>
          <p:cNvPr id="51" name="Text 44"/>
          <p:cNvSpPr txBox="1"/>
          <p:nvPr/>
        </p:nvSpPr>
        <p:spPr>
          <a:xfrm>
            <a:off x="5429707" y="4684471"/>
            <a:ext cx="6477610"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Frontend-backend integration and end-to-end testing</a:t>
            </a:r>
            <a:endParaRPr lang="en-US" sz="900" dirty="0">
              <a:ea typeface="Noto Sans SC" panose="020B0200000000000000" pitchFamily="34" charset="-122"/>
              <a:cs typeface="Noto Sans SC" panose="020B0200000000000000" pitchFamily="34" charset="-122"/>
            </a:endParaRPr>
          </a:p>
        </p:txBody>
      </p:sp>
      <p:sp>
        <p:nvSpPr>
          <p:cNvPr id="52" name="Shape 45"/>
          <p:cNvSpPr/>
          <p:nvPr/>
        </p:nvSpPr>
        <p:spPr>
          <a:xfrm>
            <a:off x="381305" y="4990795"/>
            <a:ext cx="11430000" cy="448056"/>
          </a:xfrm>
          <a:prstGeom prst="rect">
            <a:avLst/>
          </a:prstGeom>
          <a:solidFill>
            <a:srgbClr val="F8FAFC"/>
          </a:solidFill>
        </p:spPr>
      </p:sp>
      <p:sp>
        <p:nvSpPr>
          <p:cNvPr id="53" name="Shape 46"/>
          <p:cNvSpPr/>
          <p:nvPr/>
        </p:nvSpPr>
        <p:spPr>
          <a:xfrm>
            <a:off x="381305" y="5429707"/>
            <a:ext cx="11430000" cy="9144"/>
          </a:xfrm>
          <a:prstGeom prst="rect">
            <a:avLst/>
          </a:prstGeom>
          <a:solidFill>
            <a:srgbClr val="E2E8F0"/>
          </a:solidFill>
          <a:ln w="12700">
            <a:solidFill>
              <a:srgbClr val="E2E8F0">
                <a:alpha val="0"/>
              </a:srgbClr>
            </a:solidFill>
            <a:prstDash val="solid"/>
          </a:ln>
        </p:spPr>
      </p:sp>
      <p:sp>
        <p:nvSpPr>
          <p:cNvPr id="54" name="Text 47"/>
          <p:cNvSpPr txBox="1"/>
          <p:nvPr/>
        </p:nvSpPr>
        <p:spPr>
          <a:xfrm>
            <a:off x="571500" y="5115154"/>
            <a:ext cx="76261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T8</a:t>
            </a:r>
            <a:endParaRPr lang="en-US" sz="900" dirty="0">
              <a:ea typeface="Noto Sans SC" panose="020B0200000000000000" pitchFamily="34" charset="-122"/>
              <a:cs typeface="Noto Sans SC" panose="020B0200000000000000" pitchFamily="34" charset="-122"/>
            </a:endParaRPr>
          </a:p>
        </p:txBody>
      </p:sp>
      <p:sp>
        <p:nvSpPr>
          <p:cNvPr id="55" name="Text 48"/>
          <p:cNvSpPr txBox="1"/>
          <p:nvPr/>
        </p:nvSpPr>
        <p:spPr>
          <a:xfrm>
            <a:off x="1429207" y="5115154"/>
            <a:ext cx="2382012" cy="191110"/>
          </a:xfrm>
          <a:prstGeom prst="rect">
            <a:avLst/>
          </a:prstGeom>
          <a:noFill/>
        </p:spPr>
        <p:txBody>
          <a:bodyPr wrap="square" lIns="0" tIns="0" rIns="0" bIns="0" rtlCol="0" anchor="ctr"/>
          <a:lstStyle/>
          <a:p>
            <a:pPr marL="0" indent="0" algn="l">
              <a:buNone/>
            </a:pPr>
            <a:r>
              <a:rPr lang="en-US" sz="900" b="1"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Testing &amp; bug fixes</a:t>
            </a:r>
            <a:endParaRPr lang="en-US" sz="900" dirty="0">
              <a:ea typeface="Noto Sans SC" panose="020B0200000000000000" pitchFamily="34" charset="-122"/>
              <a:cs typeface="Noto Sans SC" panose="020B0200000000000000" pitchFamily="34" charset="-122"/>
            </a:endParaRPr>
          </a:p>
        </p:txBody>
      </p:sp>
      <p:sp>
        <p:nvSpPr>
          <p:cNvPr id="56" name="Text 49"/>
          <p:cNvSpPr txBox="1"/>
          <p:nvPr/>
        </p:nvSpPr>
        <p:spPr>
          <a:xfrm>
            <a:off x="5429707" y="5127041"/>
            <a:ext cx="6477610"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Functional testing and defect resolution</a:t>
            </a:r>
            <a:endParaRPr lang="en-US" sz="900" dirty="0">
              <a:ea typeface="Noto Sans SC" panose="020B0200000000000000" pitchFamily="34" charset="-122"/>
              <a:cs typeface="Noto Sans SC" panose="020B0200000000000000" pitchFamily="34" charset="-122"/>
            </a:endParaRPr>
          </a:p>
        </p:txBody>
      </p:sp>
      <p:sp>
        <p:nvSpPr>
          <p:cNvPr id="57" name="Shape 50"/>
          <p:cNvSpPr/>
          <p:nvPr/>
        </p:nvSpPr>
        <p:spPr>
          <a:xfrm>
            <a:off x="381305" y="5434279"/>
            <a:ext cx="11430000" cy="437998"/>
          </a:xfrm>
          <a:prstGeom prst="rect">
            <a:avLst/>
          </a:prstGeom>
          <a:solidFill>
            <a:srgbClr val="FFFFFF"/>
          </a:solidFill>
          <a:ln w="12700">
            <a:solidFill>
              <a:srgbClr val="FFFFFF">
                <a:alpha val="0"/>
              </a:srgbClr>
            </a:solidFill>
            <a:prstDash val="solid"/>
          </a:ln>
        </p:spPr>
      </p:sp>
      <p:sp>
        <p:nvSpPr>
          <p:cNvPr id="58" name="Text 51"/>
          <p:cNvSpPr txBox="1"/>
          <p:nvPr/>
        </p:nvSpPr>
        <p:spPr>
          <a:xfrm>
            <a:off x="571500" y="5557723"/>
            <a:ext cx="762610" cy="191110"/>
          </a:xfrm>
          <a:prstGeom prst="rect">
            <a:avLst/>
          </a:prstGeom>
          <a:noFill/>
        </p:spPr>
        <p:txBody>
          <a:bodyPr wrap="square" lIns="0" tIns="0" rIns="0" bIns="0" rtlCol="0" anchor="ctr"/>
          <a:lstStyle/>
          <a:p>
            <a:pPr marL="0" indent="0" algn="ctr">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T9</a:t>
            </a:r>
            <a:endParaRPr lang="en-US" sz="900" dirty="0">
              <a:ea typeface="Noto Sans SC" panose="020B0200000000000000" pitchFamily="34" charset="-122"/>
              <a:cs typeface="Noto Sans SC" panose="020B0200000000000000" pitchFamily="34" charset="-122"/>
            </a:endParaRPr>
          </a:p>
        </p:txBody>
      </p:sp>
      <p:sp>
        <p:nvSpPr>
          <p:cNvPr id="59" name="Text 52"/>
          <p:cNvSpPr txBox="1"/>
          <p:nvPr/>
        </p:nvSpPr>
        <p:spPr>
          <a:xfrm>
            <a:off x="1429207" y="5557723"/>
            <a:ext cx="2382012" cy="191110"/>
          </a:xfrm>
          <a:prstGeom prst="rect">
            <a:avLst/>
          </a:prstGeom>
          <a:noFill/>
        </p:spPr>
        <p:txBody>
          <a:bodyPr wrap="square" lIns="0" tIns="0" rIns="0" bIns="0" rtlCol="0" anchor="ctr"/>
          <a:lstStyle/>
          <a:p>
            <a:pPr marL="0" indent="0" algn="l">
              <a:buNone/>
            </a:pPr>
            <a:r>
              <a:rPr lang="en-US" sz="900" b="1"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Docs &amp; presentation updates</a:t>
            </a:r>
            <a:endParaRPr lang="en-US" sz="900" dirty="0">
              <a:ea typeface="Noto Sans SC" panose="020B0200000000000000" pitchFamily="34" charset="-122"/>
              <a:cs typeface="Noto Sans SC" panose="020B0200000000000000" pitchFamily="34" charset="-122"/>
            </a:endParaRPr>
          </a:p>
        </p:txBody>
      </p:sp>
      <p:sp>
        <p:nvSpPr>
          <p:cNvPr id="60" name="Text 53"/>
          <p:cNvSpPr txBox="1"/>
          <p:nvPr/>
        </p:nvSpPr>
        <p:spPr>
          <a:xfrm>
            <a:off x="5429707" y="5570525"/>
            <a:ext cx="6477610" cy="162763"/>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Update RTM/WBS/presentation materials</a:t>
            </a:r>
            <a:endParaRPr lang="en-US" sz="900" dirty="0">
              <a:ea typeface="Noto Sans SC" panose="020B0200000000000000" pitchFamily="34" charset="-122"/>
              <a:cs typeface="Noto Sans SC" panose="020B0200000000000000" pitchFamily="34" charset="-122"/>
            </a:endParaRPr>
          </a:p>
        </p:txBody>
      </p:sp>
      <p:sp>
        <p:nvSpPr>
          <p:cNvPr id="61" name="Shape 54"/>
          <p:cNvSpPr/>
          <p:nvPr/>
        </p:nvSpPr>
        <p:spPr>
          <a:xfrm>
            <a:off x="4200754" y="1950415"/>
            <a:ext cx="838505" cy="219456"/>
          </a:xfrm>
          <a:prstGeom prst="roundRect">
            <a:avLst>
              <a:gd name="adj" fmla="val 144928"/>
            </a:avLst>
          </a:prstGeom>
          <a:solidFill>
            <a:srgbClr val="FEE2E2"/>
          </a:solidFill>
          <a:ln w="12700">
            <a:solidFill>
              <a:srgbClr val="FFFFFF">
                <a:alpha val="0"/>
              </a:srgbClr>
            </a:solidFill>
            <a:prstDash val="solid"/>
          </a:ln>
        </p:spPr>
      </p:sp>
      <p:sp>
        <p:nvSpPr>
          <p:cNvPr id="62" name="Text 55"/>
          <p:cNvSpPr txBox="1"/>
          <p:nvPr/>
        </p:nvSpPr>
        <p:spPr>
          <a:xfrm>
            <a:off x="4200754" y="1950415"/>
            <a:ext cx="838505"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b="1" dirty="0">
                <a:solidFill>
                  <a:srgbClr val="991B1B"/>
                </a:solidFill>
                <a:latin typeface="Noto Sans SC" panose="020B0200000000000000" pitchFamily="34" charset="-122"/>
                <a:ea typeface="Noto Sans SC" panose="020B0200000000000000" pitchFamily="34" charset="-122"/>
                <a:cs typeface="Noto Sans SC" panose="020B0200000000000000" pitchFamily="34" charset="-122"/>
              </a:rPr>
              <a:t>High Priority</a:t>
            </a:r>
            <a:endParaRPr lang="en-US" sz="800" dirty="0">
              <a:ea typeface="Noto Sans SC" panose="020B0200000000000000" pitchFamily="34" charset="-122"/>
              <a:cs typeface="Noto Sans SC" panose="020B0200000000000000" pitchFamily="34" charset="-122"/>
            </a:endParaRPr>
          </a:p>
        </p:txBody>
      </p:sp>
      <p:sp>
        <p:nvSpPr>
          <p:cNvPr id="63" name="Shape 56"/>
          <p:cNvSpPr/>
          <p:nvPr/>
        </p:nvSpPr>
        <p:spPr>
          <a:xfrm>
            <a:off x="4200754" y="2457907"/>
            <a:ext cx="838505" cy="219456"/>
          </a:xfrm>
          <a:prstGeom prst="roundRect">
            <a:avLst>
              <a:gd name="adj" fmla="val 144928"/>
            </a:avLst>
          </a:prstGeom>
          <a:solidFill>
            <a:srgbClr val="FEE2E2"/>
          </a:solidFill>
          <a:ln w="12700">
            <a:solidFill>
              <a:srgbClr val="FFFFFF">
                <a:alpha val="0"/>
              </a:srgbClr>
            </a:solidFill>
            <a:prstDash val="solid"/>
          </a:ln>
        </p:spPr>
      </p:sp>
      <p:sp>
        <p:nvSpPr>
          <p:cNvPr id="64" name="Text 57"/>
          <p:cNvSpPr txBox="1"/>
          <p:nvPr/>
        </p:nvSpPr>
        <p:spPr>
          <a:xfrm>
            <a:off x="4200754" y="2457907"/>
            <a:ext cx="838505"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b="1" dirty="0">
                <a:solidFill>
                  <a:srgbClr val="991B1B"/>
                </a:solidFill>
                <a:latin typeface="Noto Sans SC" panose="020B0200000000000000" pitchFamily="34" charset="-122"/>
                <a:ea typeface="Noto Sans SC" panose="020B0200000000000000" pitchFamily="34" charset="-122"/>
                <a:cs typeface="Noto Sans SC" panose="020B0200000000000000" pitchFamily="34" charset="-122"/>
              </a:rPr>
              <a:t>High Priority</a:t>
            </a:r>
            <a:endParaRPr lang="en-US" sz="800" dirty="0">
              <a:ea typeface="Noto Sans SC" panose="020B0200000000000000" pitchFamily="34" charset="-122"/>
              <a:cs typeface="Noto Sans SC" panose="020B0200000000000000" pitchFamily="34" charset="-122"/>
            </a:endParaRPr>
          </a:p>
        </p:txBody>
      </p:sp>
      <p:sp>
        <p:nvSpPr>
          <p:cNvPr id="65" name="Shape 58"/>
          <p:cNvSpPr/>
          <p:nvPr/>
        </p:nvSpPr>
        <p:spPr>
          <a:xfrm>
            <a:off x="4200754" y="2900477"/>
            <a:ext cx="838505" cy="219456"/>
          </a:xfrm>
          <a:prstGeom prst="roundRect">
            <a:avLst>
              <a:gd name="adj" fmla="val 144928"/>
            </a:avLst>
          </a:prstGeom>
          <a:solidFill>
            <a:srgbClr val="FEE2E2"/>
          </a:solidFill>
          <a:ln w="12700">
            <a:solidFill>
              <a:srgbClr val="FFFFFF">
                <a:alpha val="0"/>
              </a:srgbClr>
            </a:solidFill>
            <a:prstDash val="solid"/>
          </a:ln>
        </p:spPr>
      </p:sp>
      <p:sp>
        <p:nvSpPr>
          <p:cNvPr id="66" name="Text 59"/>
          <p:cNvSpPr txBox="1"/>
          <p:nvPr/>
        </p:nvSpPr>
        <p:spPr>
          <a:xfrm>
            <a:off x="4200754" y="2900477"/>
            <a:ext cx="838505"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b="1" dirty="0">
                <a:solidFill>
                  <a:srgbClr val="991B1B"/>
                </a:solidFill>
                <a:latin typeface="Noto Sans SC" panose="020B0200000000000000" pitchFamily="34" charset="-122"/>
                <a:ea typeface="Noto Sans SC" panose="020B0200000000000000" pitchFamily="34" charset="-122"/>
                <a:cs typeface="Noto Sans SC" panose="020B0200000000000000" pitchFamily="34" charset="-122"/>
              </a:rPr>
              <a:t>High Priority</a:t>
            </a:r>
            <a:endParaRPr lang="en-US" sz="800" dirty="0">
              <a:ea typeface="Noto Sans SC" panose="020B0200000000000000" pitchFamily="34" charset="-122"/>
              <a:cs typeface="Noto Sans SC" panose="020B0200000000000000" pitchFamily="34" charset="-122"/>
            </a:endParaRPr>
          </a:p>
        </p:txBody>
      </p:sp>
      <p:sp>
        <p:nvSpPr>
          <p:cNvPr id="67" name="Shape 60"/>
          <p:cNvSpPr/>
          <p:nvPr/>
        </p:nvSpPr>
        <p:spPr>
          <a:xfrm>
            <a:off x="4113886" y="3343046"/>
            <a:ext cx="1019556" cy="219456"/>
          </a:xfrm>
          <a:prstGeom prst="roundRect">
            <a:avLst>
              <a:gd name="adj" fmla="val 144928"/>
            </a:avLst>
          </a:prstGeom>
          <a:solidFill>
            <a:srgbClr val="FEF3C7"/>
          </a:solidFill>
          <a:ln w="12700">
            <a:solidFill>
              <a:srgbClr val="FFFFFF">
                <a:alpha val="0"/>
              </a:srgbClr>
            </a:solidFill>
            <a:prstDash val="solid"/>
          </a:ln>
        </p:spPr>
      </p:sp>
      <p:sp>
        <p:nvSpPr>
          <p:cNvPr id="68" name="Text 61"/>
          <p:cNvSpPr txBox="1"/>
          <p:nvPr/>
        </p:nvSpPr>
        <p:spPr>
          <a:xfrm>
            <a:off x="4113886" y="3343046"/>
            <a:ext cx="1019556"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b="1" dirty="0">
                <a:solidFill>
                  <a:srgbClr val="92400E"/>
                </a:solidFill>
                <a:latin typeface="Noto Sans SC" panose="020B0200000000000000" pitchFamily="34" charset="-122"/>
                <a:ea typeface="Noto Sans SC" panose="020B0200000000000000" pitchFamily="34" charset="-122"/>
                <a:cs typeface="Noto Sans SC" panose="020B0200000000000000" pitchFamily="34" charset="-122"/>
              </a:rPr>
              <a:t>Medium Priority</a:t>
            </a:r>
            <a:endParaRPr lang="en-US" sz="800" dirty="0">
              <a:ea typeface="Noto Sans SC" panose="020B0200000000000000" pitchFamily="34" charset="-122"/>
              <a:cs typeface="Noto Sans SC" panose="020B0200000000000000" pitchFamily="34" charset="-122"/>
            </a:endParaRPr>
          </a:p>
        </p:txBody>
      </p:sp>
      <p:sp>
        <p:nvSpPr>
          <p:cNvPr id="69" name="Shape 62"/>
          <p:cNvSpPr/>
          <p:nvPr/>
        </p:nvSpPr>
        <p:spPr>
          <a:xfrm>
            <a:off x="4200754" y="3786530"/>
            <a:ext cx="838505" cy="219456"/>
          </a:xfrm>
          <a:prstGeom prst="roundRect">
            <a:avLst>
              <a:gd name="adj" fmla="val 144928"/>
            </a:avLst>
          </a:prstGeom>
          <a:solidFill>
            <a:srgbClr val="FEE2E2"/>
          </a:solidFill>
          <a:ln w="12700">
            <a:solidFill>
              <a:srgbClr val="FFFFFF">
                <a:alpha val="0"/>
              </a:srgbClr>
            </a:solidFill>
            <a:prstDash val="solid"/>
          </a:ln>
        </p:spPr>
      </p:sp>
      <p:sp>
        <p:nvSpPr>
          <p:cNvPr id="70" name="Text 63"/>
          <p:cNvSpPr txBox="1"/>
          <p:nvPr/>
        </p:nvSpPr>
        <p:spPr>
          <a:xfrm>
            <a:off x="4200754" y="3786530"/>
            <a:ext cx="838505"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b="1" dirty="0">
                <a:solidFill>
                  <a:srgbClr val="991B1B"/>
                </a:solidFill>
                <a:latin typeface="Noto Sans SC" panose="020B0200000000000000" pitchFamily="34" charset="-122"/>
                <a:ea typeface="Noto Sans SC" panose="020B0200000000000000" pitchFamily="34" charset="-122"/>
                <a:cs typeface="Noto Sans SC" panose="020B0200000000000000" pitchFamily="34" charset="-122"/>
              </a:rPr>
              <a:t>High Priority</a:t>
            </a:r>
            <a:endParaRPr lang="en-US" sz="800" dirty="0">
              <a:ea typeface="Noto Sans SC" panose="020B0200000000000000" pitchFamily="34" charset="-122"/>
              <a:cs typeface="Noto Sans SC" panose="020B0200000000000000" pitchFamily="34" charset="-122"/>
            </a:endParaRPr>
          </a:p>
        </p:txBody>
      </p:sp>
      <p:sp>
        <p:nvSpPr>
          <p:cNvPr id="71" name="Shape 64"/>
          <p:cNvSpPr/>
          <p:nvPr/>
        </p:nvSpPr>
        <p:spPr>
          <a:xfrm>
            <a:off x="4113886" y="4229100"/>
            <a:ext cx="1019556" cy="219456"/>
          </a:xfrm>
          <a:prstGeom prst="roundRect">
            <a:avLst>
              <a:gd name="adj" fmla="val 144928"/>
            </a:avLst>
          </a:prstGeom>
          <a:solidFill>
            <a:srgbClr val="FEF3C7"/>
          </a:solidFill>
          <a:ln w="12700">
            <a:solidFill>
              <a:srgbClr val="FFFFFF">
                <a:alpha val="0"/>
              </a:srgbClr>
            </a:solidFill>
            <a:prstDash val="solid"/>
          </a:ln>
        </p:spPr>
      </p:sp>
      <p:sp>
        <p:nvSpPr>
          <p:cNvPr id="72" name="Text 65"/>
          <p:cNvSpPr txBox="1"/>
          <p:nvPr/>
        </p:nvSpPr>
        <p:spPr>
          <a:xfrm>
            <a:off x="4113886" y="4229100"/>
            <a:ext cx="1019556"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b="1" dirty="0">
                <a:solidFill>
                  <a:srgbClr val="92400E"/>
                </a:solidFill>
                <a:latin typeface="Noto Sans SC" panose="020B0200000000000000" pitchFamily="34" charset="-122"/>
                <a:ea typeface="Noto Sans SC" panose="020B0200000000000000" pitchFamily="34" charset="-122"/>
                <a:cs typeface="Noto Sans SC" panose="020B0200000000000000" pitchFamily="34" charset="-122"/>
              </a:rPr>
              <a:t>Medium Priority</a:t>
            </a:r>
            <a:endParaRPr lang="en-US" sz="800" dirty="0">
              <a:ea typeface="Noto Sans SC" panose="020B0200000000000000" pitchFamily="34" charset="-122"/>
              <a:cs typeface="Noto Sans SC" panose="020B0200000000000000" pitchFamily="34" charset="-122"/>
            </a:endParaRPr>
          </a:p>
        </p:txBody>
      </p:sp>
      <p:sp>
        <p:nvSpPr>
          <p:cNvPr id="73" name="Shape 66"/>
          <p:cNvSpPr/>
          <p:nvPr/>
        </p:nvSpPr>
        <p:spPr>
          <a:xfrm>
            <a:off x="4200754" y="4671670"/>
            <a:ext cx="838505" cy="219456"/>
          </a:xfrm>
          <a:prstGeom prst="roundRect">
            <a:avLst>
              <a:gd name="adj" fmla="val 144928"/>
            </a:avLst>
          </a:prstGeom>
          <a:solidFill>
            <a:srgbClr val="FEE2E2"/>
          </a:solidFill>
          <a:ln w="12700">
            <a:solidFill>
              <a:srgbClr val="FFFFFF">
                <a:alpha val="0"/>
              </a:srgbClr>
            </a:solidFill>
            <a:prstDash val="solid"/>
          </a:ln>
        </p:spPr>
      </p:sp>
      <p:sp>
        <p:nvSpPr>
          <p:cNvPr id="74" name="Text 67"/>
          <p:cNvSpPr txBox="1"/>
          <p:nvPr/>
        </p:nvSpPr>
        <p:spPr>
          <a:xfrm>
            <a:off x="4200754" y="4671670"/>
            <a:ext cx="838505"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b="1" dirty="0">
                <a:solidFill>
                  <a:srgbClr val="991B1B"/>
                </a:solidFill>
                <a:latin typeface="Noto Sans SC" panose="020B0200000000000000" pitchFamily="34" charset="-122"/>
                <a:ea typeface="Noto Sans SC" panose="020B0200000000000000" pitchFamily="34" charset="-122"/>
                <a:cs typeface="Noto Sans SC" panose="020B0200000000000000" pitchFamily="34" charset="-122"/>
              </a:rPr>
              <a:t>High Priority</a:t>
            </a:r>
            <a:endParaRPr lang="en-US" sz="800" dirty="0">
              <a:ea typeface="Noto Sans SC" panose="020B0200000000000000" pitchFamily="34" charset="-122"/>
              <a:cs typeface="Noto Sans SC" panose="020B0200000000000000" pitchFamily="34" charset="-122"/>
            </a:endParaRPr>
          </a:p>
        </p:txBody>
      </p:sp>
      <p:sp>
        <p:nvSpPr>
          <p:cNvPr id="75" name="Shape 68"/>
          <p:cNvSpPr/>
          <p:nvPr/>
        </p:nvSpPr>
        <p:spPr>
          <a:xfrm>
            <a:off x="4200754" y="5115154"/>
            <a:ext cx="838505" cy="219456"/>
          </a:xfrm>
          <a:prstGeom prst="roundRect">
            <a:avLst>
              <a:gd name="adj" fmla="val 144928"/>
            </a:avLst>
          </a:prstGeom>
          <a:solidFill>
            <a:srgbClr val="FEE2E2"/>
          </a:solidFill>
          <a:ln w="12700">
            <a:solidFill>
              <a:srgbClr val="FFFFFF">
                <a:alpha val="0"/>
              </a:srgbClr>
            </a:solidFill>
            <a:prstDash val="solid"/>
          </a:ln>
        </p:spPr>
      </p:sp>
      <p:sp>
        <p:nvSpPr>
          <p:cNvPr id="76" name="Text 69"/>
          <p:cNvSpPr txBox="1"/>
          <p:nvPr/>
        </p:nvSpPr>
        <p:spPr>
          <a:xfrm>
            <a:off x="4200754" y="5115154"/>
            <a:ext cx="838505"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b="1" dirty="0">
                <a:solidFill>
                  <a:srgbClr val="991B1B"/>
                </a:solidFill>
                <a:latin typeface="Noto Sans SC" panose="020B0200000000000000" pitchFamily="34" charset="-122"/>
                <a:ea typeface="Noto Sans SC" panose="020B0200000000000000" pitchFamily="34" charset="-122"/>
                <a:cs typeface="Noto Sans SC" panose="020B0200000000000000" pitchFamily="34" charset="-122"/>
              </a:rPr>
              <a:t>High Priority</a:t>
            </a:r>
            <a:endParaRPr lang="en-US" sz="800" dirty="0">
              <a:ea typeface="Noto Sans SC" panose="020B0200000000000000" pitchFamily="34" charset="-122"/>
              <a:cs typeface="Noto Sans SC" panose="020B0200000000000000" pitchFamily="34" charset="-122"/>
            </a:endParaRPr>
          </a:p>
        </p:txBody>
      </p:sp>
      <p:sp>
        <p:nvSpPr>
          <p:cNvPr id="77" name="Shape 70"/>
          <p:cNvSpPr/>
          <p:nvPr/>
        </p:nvSpPr>
        <p:spPr>
          <a:xfrm>
            <a:off x="4113886" y="5557723"/>
            <a:ext cx="1019556" cy="219456"/>
          </a:xfrm>
          <a:prstGeom prst="roundRect">
            <a:avLst>
              <a:gd name="adj" fmla="val 144928"/>
            </a:avLst>
          </a:prstGeom>
          <a:solidFill>
            <a:srgbClr val="FEF3C7"/>
          </a:solidFill>
          <a:ln w="12700">
            <a:solidFill>
              <a:srgbClr val="FFFFFF">
                <a:alpha val="0"/>
              </a:srgbClr>
            </a:solidFill>
            <a:prstDash val="solid"/>
          </a:ln>
        </p:spPr>
      </p:sp>
      <p:sp>
        <p:nvSpPr>
          <p:cNvPr id="78" name="Text 71"/>
          <p:cNvSpPr txBox="1"/>
          <p:nvPr/>
        </p:nvSpPr>
        <p:spPr>
          <a:xfrm>
            <a:off x="4113886" y="5557723"/>
            <a:ext cx="1019556" cy="219456"/>
          </a:xfrm>
          <a:prstGeom prst="rect">
            <a:avLst/>
          </a:prstGeom>
          <a:solidFill>
            <a:srgbClr val="FFFFFF">
              <a:alpha val="0"/>
            </a:srgbClr>
          </a:solidFill>
          <a:ln>
            <a:solidFill>
              <a:srgbClr val="FFFFFF">
                <a:alpha val="0"/>
              </a:srgbClr>
            </a:solidFill>
          </a:ln>
        </p:spPr>
        <p:txBody>
          <a:bodyPr wrap="square" lIns="101600" tIns="25400" rIns="101600" bIns="25400" rtlCol="0" anchor="ctr"/>
          <a:lstStyle/>
          <a:p>
            <a:pPr marL="0" indent="0" algn="ctr">
              <a:buNone/>
            </a:pPr>
            <a:r>
              <a:rPr lang="en-US" sz="800" b="1" dirty="0">
                <a:solidFill>
                  <a:srgbClr val="92400E"/>
                </a:solidFill>
                <a:latin typeface="Noto Sans SC" panose="020B0200000000000000" pitchFamily="34" charset="-122"/>
                <a:ea typeface="Noto Sans SC" panose="020B0200000000000000" pitchFamily="34" charset="-122"/>
                <a:cs typeface="Noto Sans SC" panose="020B0200000000000000" pitchFamily="34" charset="-122"/>
              </a:rPr>
              <a:t>Medium Priority</a:t>
            </a:r>
            <a:endParaRPr lang="en-US" sz="800" dirty="0">
              <a:ea typeface="Noto Sans SC" panose="020B0200000000000000" pitchFamily="34" charset="-122"/>
              <a:cs typeface="Noto Sans SC" panose="020B0200000000000000" pitchFamily="34" charset="-122"/>
            </a:endParaRPr>
          </a:p>
        </p:txBody>
      </p:sp>
      <p:sp>
        <p:nvSpPr>
          <p:cNvPr id="79" name="Shape 72"/>
          <p:cNvSpPr/>
          <p:nvPr/>
        </p:nvSpPr>
        <p:spPr>
          <a:xfrm>
            <a:off x="2804465" y="6238951"/>
            <a:ext cx="286207" cy="286207"/>
          </a:xfrm>
          <a:prstGeom prst="roundRect">
            <a:avLst>
              <a:gd name="adj" fmla="val 127796"/>
            </a:avLst>
          </a:prstGeom>
          <a:solidFill>
            <a:srgbClr val="EF4444"/>
          </a:solidFill>
          <a:ln w="12700">
            <a:solidFill>
              <a:srgbClr val="FFFFFF">
                <a:alpha val="0"/>
              </a:srgbClr>
            </a:solidFill>
            <a:prstDash val="solid"/>
          </a:ln>
        </p:spPr>
      </p:sp>
      <p:pic>
        <p:nvPicPr>
          <p:cNvPr id="80" name="Image 5" descr="preencoded.png"/>
          <p:cNvPicPr>
            <a:picLocks noChangeAspect="1"/>
          </p:cNvPicPr>
          <p:nvPr/>
        </p:nvPicPr>
        <p:blipFill>
          <a:blip r:embed="rId6"/>
          <a:srcRect/>
          <a:stretch>
            <a:fillRect/>
          </a:stretch>
        </p:blipFill>
        <p:spPr>
          <a:xfrm>
            <a:off x="2881274" y="6314846"/>
            <a:ext cx="133502" cy="133502"/>
          </a:xfrm>
          <a:prstGeom prst="rect">
            <a:avLst/>
          </a:prstGeom>
        </p:spPr>
      </p:pic>
      <p:sp>
        <p:nvSpPr>
          <p:cNvPr id="81" name="Text 73"/>
          <p:cNvSpPr txBox="1"/>
          <p:nvPr/>
        </p:nvSpPr>
        <p:spPr>
          <a:xfrm>
            <a:off x="3204972" y="6203290"/>
            <a:ext cx="1632204" cy="191110"/>
          </a:xfrm>
          <a:prstGeom prst="rect">
            <a:avLst/>
          </a:prstGeom>
          <a:noFill/>
        </p:spPr>
        <p:txBody>
          <a:bodyPr wrap="square" lIns="0" tIns="0" rIns="0" bIns="0" rtlCol="0" anchor="ctr"/>
          <a:lstStyle/>
          <a:p>
            <a:pPr marL="0" indent="0" algn="l">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High Priority Tasks</a:t>
            </a:r>
            <a:endParaRPr lang="en-US" sz="900" dirty="0">
              <a:ea typeface="Noto Sans SC" panose="020B0200000000000000" pitchFamily="34" charset="-122"/>
              <a:cs typeface="Noto Sans SC" panose="020B0200000000000000" pitchFamily="34" charset="-122"/>
            </a:endParaRPr>
          </a:p>
        </p:txBody>
      </p:sp>
      <p:sp>
        <p:nvSpPr>
          <p:cNvPr id="82" name="Text 74"/>
          <p:cNvSpPr txBox="1"/>
          <p:nvPr/>
        </p:nvSpPr>
        <p:spPr>
          <a:xfrm>
            <a:off x="3204972" y="6388913"/>
            <a:ext cx="1153058" cy="171907"/>
          </a:xfrm>
          <a:prstGeom prst="rect">
            <a:avLst/>
          </a:prstGeom>
          <a:noFill/>
        </p:spPr>
        <p:txBody>
          <a:bodyPr wrap="square" lIns="0" tIns="0" rIns="0" bIns="0" rtlCol="0" anchor="ctr"/>
          <a:lstStyle/>
          <a:p>
            <a:pPr marL="0" indent="0" algn="l">
              <a:buNone/>
            </a:pPr>
            <a:r>
              <a:rPr lang="en-US" sz="1300" b="1" dirty="0">
                <a:solidFill>
                  <a:srgbClr val="B91C1C"/>
                </a:solidFill>
                <a:latin typeface="Noto Sans SC" panose="020B0200000000000000" pitchFamily="34" charset="-122"/>
                <a:ea typeface="Noto Sans SC" panose="020B0200000000000000" pitchFamily="34" charset="-122"/>
                <a:cs typeface="Noto Sans SC" panose="020B0200000000000000" pitchFamily="34" charset="-122"/>
              </a:rPr>
              <a:t>6</a:t>
            </a:r>
            <a:endParaRPr lang="en-US" sz="1300" dirty="0">
              <a:ea typeface="Noto Sans SC" panose="020B0200000000000000" pitchFamily="34" charset="-122"/>
              <a:cs typeface="Noto Sans SC" panose="020B0200000000000000" pitchFamily="34" charset="-122"/>
            </a:endParaRPr>
          </a:p>
        </p:txBody>
      </p:sp>
      <p:sp>
        <p:nvSpPr>
          <p:cNvPr id="83" name="Shape 75"/>
          <p:cNvSpPr/>
          <p:nvPr/>
        </p:nvSpPr>
        <p:spPr>
          <a:xfrm>
            <a:off x="5302606" y="6238951"/>
            <a:ext cx="286207" cy="286207"/>
          </a:xfrm>
          <a:prstGeom prst="roundRect">
            <a:avLst>
              <a:gd name="adj" fmla="val 127796"/>
            </a:avLst>
          </a:prstGeom>
          <a:solidFill>
            <a:srgbClr val="F59E0B"/>
          </a:solidFill>
          <a:ln w="12700">
            <a:solidFill>
              <a:srgbClr val="FFFFFF">
                <a:alpha val="0"/>
              </a:srgbClr>
            </a:solidFill>
            <a:prstDash val="solid"/>
          </a:ln>
        </p:spPr>
      </p:sp>
      <p:pic>
        <p:nvPicPr>
          <p:cNvPr id="84" name="Image 6" descr="preencoded.png"/>
          <p:cNvPicPr>
            <a:picLocks noChangeAspect="1"/>
          </p:cNvPicPr>
          <p:nvPr/>
        </p:nvPicPr>
        <p:blipFill>
          <a:blip r:embed="rId7"/>
          <a:srcRect/>
          <a:stretch>
            <a:fillRect/>
          </a:stretch>
        </p:blipFill>
        <p:spPr>
          <a:xfrm>
            <a:off x="5379415" y="6314846"/>
            <a:ext cx="133502" cy="133502"/>
          </a:xfrm>
          <a:prstGeom prst="rect">
            <a:avLst/>
          </a:prstGeom>
        </p:spPr>
      </p:pic>
      <p:sp>
        <p:nvSpPr>
          <p:cNvPr id="85" name="Text 76"/>
          <p:cNvSpPr txBox="1"/>
          <p:nvPr/>
        </p:nvSpPr>
        <p:spPr>
          <a:xfrm>
            <a:off x="5703113" y="6203290"/>
            <a:ext cx="1621231" cy="191110"/>
          </a:xfrm>
          <a:prstGeom prst="rect">
            <a:avLst/>
          </a:prstGeom>
          <a:noFill/>
        </p:spPr>
        <p:txBody>
          <a:bodyPr wrap="square" lIns="0" tIns="0" rIns="0" bIns="0" rtlCol="0" anchor="ctr"/>
          <a:lstStyle/>
          <a:p>
            <a:pPr marL="0" indent="0" algn="l">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Medium Priority Tasks</a:t>
            </a:r>
            <a:endParaRPr lang="en-US" sz="900" dirty="0">
              <a:ea typeface="Noto Sans SC" panose="020B0200000000000000" pitchFamily="34" charset="-122"/>
              <a:cs typeface="Noto Sans SC" panose="020B0200000000000000" pitchFamily="34" charset="-122"/>
            </a:endParaRPr>
          </a:p>
        </p:txBody>
      </p:sp>
      <p:sp>
        <p:nvSpPr>
          <p:cNvPr id="86" name="Text 77"/>
          <p:cNvSpPr txBox="1"/>
          <p:nvPr/>
        </p:nvSpPr>
        <p:spPr>
          <a:xfrm>
            <a:off x="5703113" y="6388913"/>
            <a:ext cx="1362456" cy="171907"/>
          </a:xfrm>
          <a:prstGeom prst="rect">
            <a:avLst/>
          </a:prstGeom>
          <a:noFill/>
        </p:spPr>
        <p:txBody>
          <a:bodyPr wrap="square" lIns="0" tIns="0" rIns="0" bIns="0" rtlCol="0" anchor="ctr"/>
          <a:lstStyle/>
          <a:p>
            <a:pPr marL="0" indent="0" algn="l">
              <a:buNone/>
            </a:pPr>
            <a:r>
              <a:rPr lang="en-US" sz="1300" b="1" dirty="0">
                <a:solidFill>
                  <a:srgbClr val="B45309"/>
                </a:solidFill>
                <a:latin typeface="Noto Sans SC" panose="020B0200000000000000" pitchFamily="34" charset="-122"/>
                <a:ea typeface="Noto Sans SC" panose="020B0200000000000000" pitchFamily="34" charset="-122"/>
                <a:cs typeface="Noto Sans SC" panose="020B0200000000000000" pitchFamily="34" charset="-122"/>
              </a:rPr>
              <a:t>3</a:t>
            </a:r>
            <a:endParaRPr lang="en-US" sz="1300" dirty="0">
              <a:ea typeface="Noto Sans SC" panose="020B0200000000000000" pitchFamily="34" charset="-122"/>
              <a:cs typeface="Noto Sans SC" panose="020B0200000000000000" pitchFamily="34" charset="-122"/>
            </a:endParaRPr>
          </a:p>
        </p:txBody>
      </p:sp>
      <p:sp>
        <p:nvSpPr>
          <p:cNvPr id="87" name="Shape 78"/>
          <p:cNvSpPr/>
          <p:nvPr/>
        </p:nvSpPr>
        <p:spPr>
          <a:xfrm>
            <a:off x="8010144" y="6238951"/>
            <a:ext cx="286207" cy="286207"/>
          </a:xfrm>
          <a:prstGeom prst="roundRect">
            <a:avLst>
              <a:gd name="adj" fmla="val 127796"/>
            </a:avLst>
          </a:prstGeom>
          <a:solidFill>
            <a:srgbClr val="3B82F6"/>
          </a:solidFill>
          <a:ln w="12700">
            <a:solidFill>
              <a:srgbClr val="FFFFFF">
                <a:alpha val="0"/>
              </a:srgbClr>
            </a:solidFill>
            <a:prstDash val="solid"/>
          </a:ln>
        </p:spPr>
      </p:sp>
      <p:pic>
        <p:nvPicPr>
          <p:cNvPr id="88" name="Image 7" descr="preencoded.png"/>
          <p:cNvPicPr>
            <a:picLocks noChangeAspect="1"/>
          </p:cNvPicPr>
          <p:nvPr/>
        </p:nvPicPr>
        <p:blipFill>
          <a:blip r:embed="rId8"/>
          <a:srcRect/>
          <a:stretch>
            <a:fillRect/>
          </a:stretch>
        </p:blipFill>
        <p:spPr>
          <a:xfrm>
            <a:off x="8086039" y="6314846"/>
            <a:ext cx="133502" cy="133502"/>
          </a:xfrm>
          <a:prstGeom prst="rect">
            <a:avLst/>
          </a:prstGeom>
        </p:spPr>
      </p:pic>
      <p:sp>
        <p:nvSpPr>
          <p:cNvPr id="89" name="Text 79"/>
          <p:cNvSpPr txBox="1"/>
          <p:nvPr/>
        </p:nvSpPr>
        <p:spPr>
          <a:xfrm>
            <a:off x="8409737" y="6203290"/>
            <a:ext cx="1376172" cy="191110"/>
          </a:xfrm>
          <a:prstGeom prst="rect">
            <a:avLst/>
          </a:prstGeom>
          <a:noFill/>
        </p:spPr>
        <p:txBody>
          <a:bodyPr wrap="square" lIns="0" tIns="0" rIns="0" bIns="0" rtlCol="0" anchor="ctr"/>
          <a:lstStyle/>
          <a:p>
            <a:pPr marL="0" indent="0" algn="l">
              <a:buNone/>
            </a:pPr>
            <a:r>
              <a:rPr lang="en-US" sz="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Total Core Tasks</a:t>
            </a:r>
            <a:endParaRPr lang="en-US" sz="900" dirty="0">
              <a:ea typeface="Noto Sans SC" panose="020B0200000000000000" pitchFamily="34" charset="-122"/>
              <a:cs typeface="Noto Sans SC" panose="020B0200000000000000" pitchFamily="34" charset="-122"/>
            </a:endParaRPr>
          </a:p>
        </p:txBody>
      </p:sp>
      <p:sp>
        <p:nvSpPr>
          <p:cNvPr id="90" name="Text 80"/>
          <p:cNvSpPr txBox="1"/>
          <p:nvPr/>
        </p:nvSpPr>
        <p:spPr>
          <a:xfrm>
            <a:off x="8409737" y="6388913"/>
            <a:ext cx="981151" cy="171907"/>
          </a:xfrm>
          <a:prstGeom prst="rect">
            <a:avLst/>
          </a:prstGeom>
          <a:noFill/>
        </p:spPr>
        <p:txBody>
          <a:bodyPr wrap="square" lIns="0" tIns="0" rIns="0" bIns="0" rtlCol="0" anchor="ctr"/>
          <a:lstStyle/>
          <a:p>
            <a:pPr marL="0" indent="0" algn="l">
              <a:buNone/>
            </a:pPr>
            <a:r>
              <a:rPr lang="en-US" sz="1300" b="1" dirty="0">
                <a:solidFill>
                  <a:srgbClr val="1D4ED8"/>
                </a:solidFill>
                <a:latin typeface="Noto Sans SC" panose="020B0200000000000000" pitchFamily="34" charset="-122"/>
                <a:ea typeface="Noto Sans SC" panose="020B0200000000000000" pitchFamily="34" charset="-122"/>
                <a:cs typeface="Noto Sans SC" panose="020B0200000000000000" pitchFamily="34" charset="-122"/>
              </a:rPr>
              <a:t>9</a:t>
            </a:r>
            <a:endParaRPr lang="en-US" sz="1300" dirty="0">
              <a:ea typeface="Noto Sans SC" panose="020B0200000000000000" pitchFamily="34" charset="-122"/>
              <a:cs typeface="Noto Sans SC" panose="020B0200000000000000"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5" name="Shape 2"/>
          <p:cNvSpPr/>
          <p:nvPr/>
        </p:nvSpPr>
        <p:spPr>
          <a:xfrm>
            <a:off x="571500" y="1524305"/>
            <a:ext cx="3638398" cy="4429354"/>
          </a:xfrm>
          <a:prstGeom prst="roundRect">
            <a:avLst>
              <a:gd name="adj" fmla="val 1579"/>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sp>
        <p:nvSpPr>
          <p:cNvPr id="6" name="Shape 3"/>
          <p:cNvSpPr/>
          <p:nvPr/>
        </p:nvSpPr>
        <p:spPr>
          <a:xfrm>
            <a:off x="571500" y="1524305"/>
            <a:ext cx="3638398" cy="38405"/>
          </a:xfrm>
          <a:prstGeom prst="roundRect">
            <a:avLst>
              <a:gd name="adj" fmla="val 149588"/>
            </a:avLst>
          </a:prstGeom>
          <a:solidFill>
            <a:srgbClr val="3B82F6"/>
          </a:solidFill>
          <a:ln w="12700">
            <a:solidFill>
              <a:srgbClr val="3B82F6">
                <a:alpha val="0"/>
              </a:srgbClr>
            </a:solidFill>
            <a:prstDash val="solid"/>
          </a:ln>
        </p:spPr>
      </p:sp>
      <p:sp>
        <p:nvSpPr>
          <p:cNvPr id="7" name="Shape 4"/>
          <p:cNvSpPr/>
          <p:nvPr/>
        </p:nvSpPr>
        <p:spPr>
          <a:xfrm>
            <a:off x="4381805" y="1524305"/>
            <a:ext cx="7258507" cy="4429354"/>
          </a:xfrm>
          <a:prstGeom prst="roundRect">
            <a:avLst>
              <a:gd name="adj" fmla="val 1066"/>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sp>
        <p:nvSpPr>
          <p:cNvPr id="8" name="Shape 5"/>
          <p:cNvSpPr/>
          <p:nvPr/>
        </p:nvSpPr>
        <p:spPr>
          <a:xfrm>
            <a:off x="4381805" y="1524305"/>
            <a:ext cx="7258507" cy="38405"/>
          </a:xfrm>
          <a:prstGeom prst="roundRect">
            <a:avLst>
              <a:gd name="adj" fmla="val 122887"/>
            </a:avLst>
          </a:prstGeom>
          <a:solidFill>
            <a:srgbClr val="10B981"/>
          </a:solidFill>
          <a:ln w="12700">
            <a:solidFill>
              <a:srgbClr val="10B981">
                <a:alpha val="0"/>
              </a:srgbClr>
            </a:solidFill>
            <a:prstDash val="solid"/>
          </a:ln>
        </p:spPr>
      </p:sp>
      <p:pic>
        <p:nvPicPr>
          <p:cNvPr id="9" name="Image 1" descr="preencoded.png"/>
          <p:cNvPicPr>
            <a:picLocks noChangeAspect="1"/>
          </p:cNvPicPr>
          <p:nvPr/>
        </p:nvPicPr>
        <p:blipFill>
          <a:blip r:embed="rId2"/>
          <a:srcRect t="-26" b="-26"/>
          <a:stretch>
            <a:fillRect/>
          </a:stretch>
        </p:blipFill>
        <p:spPr>
          <a:xfrm>
            <a:off x="571500" y="6077102"/>
            <a:ext cx="11067898" cy="609905"/>
          </a:xfrm>
          <a:prstGeom prst="rect">
            <a:avLst/>
          </a:prstGeom>
        </p:spPr>
      </p:pic>
      <p:pic>
        <p:nvPicPr>
          <p:cNvPr id="10" name="Image 2" descr="preencoded.png"/>
          <p:cNvPicPr>
            <a:picLocks noChangeAspect="1"/>
          </p:cNvPicPr>
          <p:nvPr/>
        </p:nvPicPr>
        <p:blipFill>
          <a:blip r:embed="rId3"/>
          <a:srcRect t="-360" b="-360"/>
          <a:stretch>
            <a:fillRect/>
          </a:stretch>
        </p:blipFill>
        <p:spPr>
          <a:xfrm>
            <a:off x="5143500" y="2952598"/>
            <a:ext cx="381305" cy="19202"/>
          </a:xfrm>
          <a:prstGeom prst="rect">
            <a:avLst/>
          </a:prstGeom>
        </p:spPr>
      </p:pic>
      <p:pic>
        <p:nvPicPr>
          <p:cNvPr id="11" name="Image 3" descr="preencoded.png"/>
          <p:cNvPicPr>
            <a:picLocks noChangeAspect="1"/>
          </p:cNvPicPr>
          <p:nvPr/>
        </p:nvPicPr>
        <p:blipFill>
          <a:blip r:embed="rId4"/>
          <a:srcRect l="-400" r="-400"/>
          <a:stretch>
            <a:fillRect/>
          </a:stretch>
        </p:blipFill>
        <p:spPr>
          <a:xfrm>
            <a:off x="5524805" y="2381098"/>
            <a:ext cx="19202" cy="1143000"/>
          </a:xfrm>
          <a:prstGeom prst="rect">
            <a:avLst/>
          </a:prstGeom>
        </p:spPr>
      </p:pic>
      <p:pic>
        <p:nvPicPr>
          <p:cNvPr id="12" name="Image 4" descr="preencoded.png"/>
          <p:cNvPicPr>
            <a:picLocks noChangeAspect="1"/>
          </p:cNvPicPr>
          <p:nvPr/>
        </p:nvPicPr>
        <p:blipFill>
          <a:blip r:embed="rId5"/>
          <a:srcRect t="-320" b="-320"/>
          <a:stretch>
            <a:fillRect/>
          </a:stretch>
        </p:blipFill>
        <p:spPr>
          <a:xfrm>
            <a:off x="5524805" y="2381098"/>
            <a:ext cx="286207" cy="19202"/>
          </a:xfrm>
          <a:prstGeom prst="rect">
            <a:avLst/>
          </a:prstGeom>
        </p:spPr>
      </p:pic>
      <p:pic>
        <p:nvPicPr>
          <p:cNvPr id="13" name="Image 5" descr="preencoded.png"/>
          <p:cNvPicPr>
            <a:picLocks noChangeAspect="1"/>
          </p:cNvPicPr>
          <p:nvPr/>
        </p:nvPicPr>
        <p:blipFill>
          <a:blip r:embed="rId5"/>
          <a:srcRect t="-320" b="-320"/>
          <a:stretch>
            <a:fillRect/>
          </a:stretch>
        </p:blipFill>
        <p:spPr>
          <a:xfrm>
            <a:off x="5524805" y="3524098"/>
            <a:ext cx="286207" cy="19202"/>
          </a:xfrm>
          <a:prstGeom prst="rect">
            <a:avLst/>
          </a:prstGeom>
        </p:spPr>
      </p:pic>
      <p:pic>
        <p:nvPicPr>
          <p:cNvPr id="14" name="Image 6" descr="preencoded.png"/>
          <p:cNvPicPr>
            <a:picLocks noChangeAspect="1"/>
          </p:cNvPicPr>
          <p:nvPr/>
        </p:nvPicPr>
        <p:blipFill>
          <a:blip r:embed="rId5"/>
          <a:srcRect t="-320" b="-320"/>
          <a:stretch>
            <a:fillRect/>
          </a:stretch>
        </p:blipFill>
        <p:spPr>
          <a:xfrm>
            <a:off x="6667805" y="2381098"/>
            <a:ext cx="286207" cy="19202"/>
          </a:xfrm>
          <a:prstGeom prst="rect">
            <a:avLst/>
          </a:prstGeom>
        </p:spPr>
      </p:pic>
      <p:pic>
        <p:nvPicPr>
          <p:cNvPr id="15" name="Image 7" descr="preencoded.png"/>
          <p:cNvPicPr>
            <a:picLocks noChangeAspect="1"/>
          </p:cNvPicPr>
          <p:nvPr/>
        </p:nvPicPr>
        <p:blipFill>
          <a:blip r:embed="rId5"/>
          <a:srcRect t="-320" b="-320"/>
          <a:stretch>
            <a:fillRect/>
          </a:stretch>
        </p:blipFill>
        <p:spPr>
          <a:xfrm>
            <a:off x="6667805" y="3524098"/>
            <a:ext cx="286207" cy="19202"/>
          </a:xfrm>
          <a:prstGeom prst="rect">
            <a:avLst/>
          </a:prstGeom>
        </p:spPr>
      </p:pic>
      <p:pic>
        <p:nvPicPr>
          <p:cNvPr id="16" name="Image 8" descr="preencoded.png"/>
          <p:cNvPicPr>
            <a:picLocks noChangeAspect="1"/>
          </p:cNvPicPr>
          <p:nvPr/>
        </p:nvPicPr>
        <p:blipFill>
          <a:blip r:embed="rId4"/>
          <a:srcRect l="-400" r="-400"/>
          <a:stretch>
            <a:fillRect/>
          </a:stretch>
        </p:blipFill>
        <p:spPr>
          <a:xfrm>
            <a:off x="6953098" y="2381098"/>
            <a:ext cx="19202" cy="1143000"/>
          </a:xfrm>
          <a:prstGeom prst="rect">
            <a:avLst/>
          </a:prstGeom>
        </p:spPr>
      </p:pic>
      <p:pic>
        <p:nvPicPr>
          <p:cNvPr id="17" name="Image 9" descr="preencoded.png"/>
          <p:cNvPicPr>
            <a:picLocks noChangeAspect="1"/>
          </p:cNvPicPr>
          <p:nvPr/>
        </p:nvPicPr>
        <p:blipFill>
          <a:blip r:embed="rId6"/>
          <a:srcRect t="-481" b="-481"/>
          <a:stretch>
            <a:fillRect/>
          </a:stretch>
        </p:blipFill>
        <p:spPr>
          <a:xfrm>
            <a:off x="6953098" y="2952598"/>
            <a:ext cx="190195" cy="19202"/>
          </a:xfrm>
          <a:prstGeom prst="rect">
            <a:avLst/>
          </a:prstGeom>
        </p:spPr>
      </p:pic>
      <p:pic>
        <p:nvPicPr>
          <p:cNvPr id="18" name="Image 10" descr="preencoded.png"/>
          <p:cNvPicPr>
            <a:picLocks noChangeAspect="1"/>
          </p:cNvPicPr>
          <p:nvPr/>
        </p:nvPicPr>
        <p:blipFill>
          <a:blip r:embed="rId7"/>
          <a:srcRect t="-481" b="-481"/>
          <a:stretch>
            <a:fillRect/>
          </a:stretch>
        </p:blipFill>
        <p:spPr>
          <a:xfrm>
            <a:off x="6953098" y="2381098"/>
            <a:ext cx="190195" cy="19202"/>
          </a:xfrm>
          <a:prstGeom prst="rect">
            <a:avLst/>
          </a:prstGeom>
        </p:spPr>
      </p:pic>
      <p:pic>
        <p:nvPicPr>
          <p:cNvPr id="19" name="Image 11" descr="preencoded.png"/>
          <p:cNvPicPr>
            <a:picLocks noChangeAspect="1"/>
          </p:cNvPicPr>
          <p:nvPr/>
        </p:nvPicPr>
        <p:blipFill>
          <a:blip r:embed="rId8"/>
          <a:srcRect t="-384" b="-384"/>
          <a:stretch>
            <a:fillRect/>
          </a:stretch>
        </p:blipFill>
        <p:spPr>
          <a:xfrm>
            <a:off x="6667805" y="4095598"/>
            <a:ext cx="476402" cy="19202"/>
          </a:xfrm>
          <a:prstGeom prst="rect">
            <a:avLst/>
          </a:prstGeom>
        </p:spPr>
      </p:pic>
      <p:pic>
        <p:nvPicPr>
          <p:cNvPr id="20" name="Image 12" descr="preencoded.png"/>
          <p:cNvPicPr>
            <a:picLocks noChangeAspect="1"/>
          </p:cNvPicPr>
          <p:nvPr/>
        </p:nvPicPr>
        <p:blipFill>
          <a:blip r:embed="rId9"/>
          <a:srcRect l="-400" r="-400"/>
          <a:stretch>
            <a:fillRect/>
          </a:stretch>
        </p:blipFill>
        <p:spPr>
          <a:xfrm>
            <a:off x="6810451" y="3524098"/>
            <a:ext cx="19202" cy="571500"/>
          </a:xfrm>
          <a:prstGeom prst="rect">
            <a:avLst/>
          </a:prstGeom>
        </p:spPr>
      </p:pic>
      <p:pic>
        <p:nvPicPr>
          <p:cNvPr id="21" name="Image 13" descr="preencoded.png"/>
          <p:cNvPicPr>
            <a:picLocks noChangeAspect="1"/>
          </p:cNvPicPr>
          <p:nvPr/>
        </p:nvPicPr>
        <p:blipFill>
          <a:blip r:embed="rId6"/>
          <a:srcRect t="-481" b="-481"/>
          <a:stretch>
            <a:fillRect/>
          </a:stretch>
        </p:blipFill>
        <p:spPr>
          <a:xfrm>
            <a:off x="8001000" y="2952598"/>
            <a:ext cx="190195" cy="19202"/>
          </a:xfrm>
          <a:prstGeom prst="rect">
            <a:avLst/>
          </a:prstGeom>
        </p:spPr>
      </p:pic>
      <p:pic>
        <p:nvPicPr>
          <p:cNvPr id="22" name="Image 14" descr="preencoded.png"/>
          <p:cNvPicPr>
            <a:picLocks noChangeAspect="1"/>
          </p:cNvPicPr>
          <p:nvPr/>
        </p:nvPicPr>
        <p:blipFill>
          <a:blip r:embed="rId10"/>
          <a:srcRect t="-420" b="-420"/>
          <a:stretch>
            <a:fillRect/>
          </a:stretch>
        </p:blipFill>
        <p:spPr>
          <a:xfrm>
            <a:off x="8001000" y="2381098"/>
            <a:ext cx="761695" cy="19202"/>
          </a:xfrm>
          <a:prstGeom prst="rect">
            <a:avLst/>
          </a:prstGeom>
        </p:spPr>
      </p:pic>
      <p:pic>
        <p:nvPicPr>
          <p:cNvPr id="23" name="Image 15" descr="preencoded.png"/>
          <p:cNvPicPr>
            <a:picLocks noChangeAspect="1"/>
          </p:cNvPicPr>
          <p:nvPr/>
        </p:nvPicPr>
        <p:blipFill>
          <a:blip r:embed="rId10"/>
          <a:srcRect t="-420" b="-420"/>
          <a:stretch>
            <a:fillRect/>
          </a:stretch>
        </p:blipFill>
        <p:spPr>
          <a:xfrm>
            <a:off x="8001000" y="4095598"/>
            <a:ext cx="761695" cy="19202"/>
          </a:xfrm>
          <a:prstGeom prst="rect">
            <a:avLst/>
          </a:prstGeom>
        </p:spPr>
      </p:pic>
      <p:pic>
        <p:nvPicPr>
          <p:cNvPr id="24" name="Image 16" descr="preencoded.png"/>
          <p:cNvPicPr>
            <a:picLocks noChangeAspect="1"/>
          </p:cNvPicPr>
          <p:nvPr/>
        </p:nvPicPr>
        <p:blipFill>
          <a:blip r:embed="rId6"/>
          <a:srcRect t="-481" b="-481"/>
          <a:stretch>
            <a:fillRect/>
          </a:stretch>
        </p:blipFill>
        <p:spPr>
          <a:xfrm>
            <a:off x="9048902" y="2952598"/>
            <a:ext cx="190195" cy="19202"/>
          </a:xfrm>
          <a:prstGeom prst="rect">
            <a:avLst/>
          </a:prstGeom>
        </p:spPr>
      </p:pic>
      <p:pic>
        <p:nvPicPr>
          <p:cNvPr id="25" name="Image 17" descr="preencoded.png"/>
          <p:cNvPicPr>
            <a:picLocks noChangeAspect="1"/>
          </p:cNvPicPr>
          <p:nvPr/>
        </p:nvPicPr>
        <p:blipFill>
          <a:blip r:embed="rId11"/>
          <a:srcRect l="-400" r="-400"/>
          <a:stretch>
            <a:fillRect/>
          </a:stretch>
        </p:blipFill>
        <p:spPr>
          <a:xfrm>
            <a:off x="8762695" y="2381098"/>
            <a:ext cx="19202" cy="1714500"/>
          </a:xfrm>
          <a:prstGeom prst="rect">
            <a:avLst/>
          </a:prstGeom>
        </p:spPr>
      </p:pic>
      <p:pic>
        <p:nvPicPr>
          <p:cNvPr id="26" name="Image 18" descr="preencoded.png"/>
          <p:cNvPicPr>
            <a:picLocks noChangeAspect="1"/>
          </p:cNvPicPr>
          <p:nvPr/>
        </p:nvPicPr>
        <p:blipFill>
          <a:blip r:embed="rId6"/>
          <a:srcRect t="-481" b="-481"/>
          <a:stretch>
            <a:fillRect/>
          </a:stretch>
        </p:blipFill>
        <p:spPr>
          <a:xfrm>
            <a:off x="8762695" y="2952598"/>
            <a:ext cx="190195" cy="19202"/>
          </a:xfrm>
          <a:prstGeom prst="rect">
            <a:avLst/>
          </a:prstGeom>
        </p:spPr>
      </p:pic>
      <p:pic>
        <p:nvPicPr>
          <p:cNvPr id="27" name="Image 19" descr="preencoded.png"/>
          <p:cNvPicPr>
            <a:picLocks noChangeAspect="1"/>
          </p:cNvPicPr>
          <p:nvPr/>
        </p:nvPicPr>
        <p:blipFill>
          <a:blip r:embed="rId6"/>
          <a:srcRect t="-481" b="-481"/>
          <a:stretch>
            <a:fillRect/>
          </a:stretch>
        </p:blipFill>
        <p:spPr>
          <a:xfrm>
            <a:off x="10096805" y="2952598"/>
            <a:ext cx="190195" cy="19202"/>
          </a:xfrm>
          <a:prstGeom prst="rect">
            <a:avLst/>
          </a:prstGeom>
        </p:spPr>
      </p:pic>
      <p:sp>
        <p:nvSpPr>
          <p:cNvPr id="28" name="Shape 6"/>
          <p:cNvSpPr/>
          <p:nvPr/>
        </p:nvSpPr>
        <p:spPr>
          <a:xfrm>
            <a:off x="11144707" y="2952598"/>
            <a:ext cx="95098" cy="19202"/>
          </a:xfrm>
          <a:prstGeom prst="rect">
            <a:avLst/>
          </a:prstGeom>
          <a:solidFill>
            <a:srgbClr val="EF4444"/>
          </a:solidFill>
          <a:ln w="12700">
            <a:solidFill>
              <a:srgbClr val="FFFFFF">
                <a:alpha val="0"/>
              </a:srgbClr>
            </a:solidFill>
            <a:prstDash val="solid"/>
          </a:ln>
        </p:spPr>
      </p:sp>
      <p:sp>
        <p:nvSpPr>
          <p:cNvPr id="29" name="Shape 7"/>
          <p:cNvSpPr/>
          <p:nvPr/>
        </p:nvSpPr>
        <p:spPr>
          <a:xfrm>
            <a:off x="4572000" y="4762195"/>
            <a:ext cx="6858000" cy="952805"/>
          </a:xfrm>
          <a:prstGeom prst="roundRect">
            <a:avLst>
              <a:gd name="adj" fmla="val 15355"/>
            </a:avLst>
          </a:prstGeom>
          <a:solidFill>
            <a:srgbClr val="F8FAFC"/>
          </a:solidFill>
          <a:ln w="12700">
            <a:solidFill>
              <a:srgbClr val="FFFFFF">
                <a:alpha val="0"/>
              </a:srgbClr>
            </a:solidFill>
            <a:prstDash val="solid"/>
          </a:ln>
        </p:spPr>
      </p:sp>
      <p:sp>
        <p:nvSpPr>
          <p:cNvPr id="30" name="Shape 8"/>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31" name="Image 20" descr="preencoded.png"/>
          <p:cNvPicPr>
            <a:picLocks noChangeAspect="1"/>
          </p:cNvPicPr>
          <p:nvPr/>
        </p:nvPicPr>
        <p:blipFill>
          <a:blip r:embed="rId12"/>
          <a:srcRect t="-20060" b="-20060"/>
          <a:stretch>
            <a:fillRect/>
          </a:stretch>
        </p:blipFill>
        <p:spPr>
          <a:xfrm>
            <a:off x="724205" y="286207"/>
            <a:ext cx="152705" cy="190195"/>
          </a:xfrm>
          <a:prstGeom prst="rect">
            <a:avLst/>
          </a:prstGeom>
        </p:spPr>
      </p:pic>
      <p:sp>
        <p:nvSpPr>
          <p:cNvPr id="32" name="Text 9"/>
          <p:cNvSpPr txBox="1"/>
          <p:nvPr/>
        </p:nvSpPr>
        <p:spPr>
          <a:xfrm>
            <a:off x="1218895" y="190195"/>
            <a:ext cx="9525305" cy="438912"/>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Task Network &amp; Critical Path</a:t>
            </a:r>
            <a:endParaRPr lang="en-US" sz="2400" dirty="0">
              <a:ea typeface="Noto Sans SC" panose="020B0200000000000000" pitchFamily="34" charset="-122"/>
              <a:cs typeface="Noto Sans SC" panose="020B0200000000000000" pitchFamily="34" charset="-122"/>
            </a:endParaRPr>
          </a:p>
        </p:txBody>
      </p:sp>
      <p:sp>
        <p:nvSpPr>
          <p:cNvPr id="33" name="Text 10"/>
          <p:cNvSpPr txBox="1"/>
          <p:nvPr/>
        </p:nvSpPr>
        <p:spPr>
          <a:xfrm>
            <a:off x="875995" y="952805"/>
            <a:ext cx="10745114" cy="352958"/>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Task Dependencies &amp; 16-day Critical Path Analysis </a:t>
            </a:r>
            <a:endParaRPr lang="en-US" sz="1900" dirty="0">
              <a:ea typeface="Noto Sans SC" panose="020B0200000000000000" pitchFamily="34" charset="-122"/>
              <a:cs typeface="Noto Sans SC" panose="020B0200000000000000" pitchFamily="34" charset="-122"/>
            </a:endParaRPr>
          </a:p>
        </p:txBody>
      </p:sp>
      <p:pic>
        <p:nvPicPr>
          <p:cNvPr id="34" name="Image 21" descr="preencoded.png"/>
          <p:cNvPicPr>
            <a:picLocks noChangeAspect="1"/>
          </p:cNvPicPr>
          <p:nvPr/>
        </p:nvPicPr>
        <p:blipFill>
          <a:blip r:embed="rId13"/>
          <a:srcRect t="-15144" b="-15144"/>
          <a:stretch>
            <a:fillRect/>
          </a:stretch>
        </p:blipFill>
        <p:spPr>
          <a:xfrm>
            <a:off x="571500" y="1004926"/>
            <a:ext cx="190195" cy="247802"/>
          </a:xfrm>
          <a:prstGeom prst="rect">
            <a:avLst/>
          </a:prstGeom>
        </p:spPr>
      </p:pic>
      <p:sp>
        <p:nvSpPr>
          <p:cNvPr id="35" name="Shape 11"/>
          <p:cNvSpPr/>
          <p:nvPr/>
        </p:nvSpPr>
        <p:spPr>
          <a:xfrm>
            <a:off x="761695" y="2057400"/>
            <a:ext cx="3238805" cy="9144"/>
          </a:xfrm>
          <a:prstGeom prst="rect">
            <a:avLst/>
          </a:prstGeom>
          <a:solidFill>
            <a:srgbClr val="E2E8F0"/>
          </a:solidFill>
          <a:ln w="12700">
            <a:solidFill>
              <a:srgbClr val="E2E8F0">
                <a:alpha val="0"/>
              </a:srgbClr>
            </a:solidFill>
            <a:prstDash val="solid"/>
          </a:ln>
        </p:spPr>
      </p:sp>
      <p:sp>
        <p:nvSpPr>
          <p:cNvPr id="36" name="Text 12"/>
          <p:cNvSpPr txBox="1"/>
          <p:nvPr/>
        </p:nvSpPr>
        <p:spPr>
          <a:xfrm>
            <a:off x="761695" y="1714500"/>
            <a:ext cx="3238805" cy="248717"/>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3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Task List (Duration)</a:t>
            </a:r>
            <a:endParaRPr lang="en-US" sz="1300" dirty="0">
              <a:ea typeface="Noto Sans SC" panose="020B0200000000000000" pitchFamily="34" charset="-122"/>
              <a:cs typeface="Noto Sans SC" panose="020B0200000000000000" pitchFamily="34" charset="-122"/>
            </a:endParaRPr>
          </a:p>
        </p:txBody>
      </p:sp>
      <p:sp>
        <p:nvSpPr>
          <p:cNvPr id="37" name="Text 13"/>
          <p:cNvSpPr txBox="1"/>
          <p:nvPr/>
        </p:nvSpPr>
        <p:spPr>
          <a:xfrm>
            <a:off x="761695" y="2152498"/>
            <a:ext cx="1877263" cy="228600"/>
          </a:xfrm>
          <a:prstGeom prst="rect">
            <a:avLst/>
          </a:prstGeom>
          <a:noFill/>
        </p:spPr>
        <p:txBody>
          <a:bodyPr wrap="square" lIns="0" tIns="0" rIns="0" bIns="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A. Requirements clarification</a:t>
            </a:r>
            <a:endParaRPr lang="en-US" sz="1000" dirty="0">
              <a:ea typeface="Noto Sans SC" panose="020B0200000000000000" pitchFamily="34" charset="-122"/>
              <a:cs typeface="Noto Sans SC" panose="020B0200000000000000" pitchFamily="34" charset="-122"/>
            </a:endParaRPr>
          </a:p>
        </p:txBody>
      </p:sp>
      <p:sp>
        <p:nvSpPr>
          <p:cNvPr id="38" name="Shape 14"/>
          <p:cNvSpPr/>
          <p:nvPr/>
        </p:nvSpPr>
        <p:spPr>
          <a:xfrm>
            <a:off x="3438144" y="2152498"/>
            <a:ext cx="571500" cy="228600"/>
          </a:xfrm>
          <a:prstGeom prst="roundRect">
            <a:avLst>
              <a:gd name="adj" fmla="val 133333"/>
            </a:avLst>
          </a:prstGeom>
          <a:solidFill>
            <a:srgbClr val="FEE2E2"/>
          </a:solidFill>
          <a:ln w="12700">
            <a:solidFill>
              <a:srgbClr val="FFFFFF">
                <a:alpha val="0"/>
              </a:srgbClr>
            </a:solidFill>
            <a:prstDash val="solid"/>
          </a:ln>
        </p:spPr>
      </p:sp>
      <p:sp>
        <p:nvSpPr>
          <p:cNvPr id="39" name="Text 15"/>
          <p:cNvSpPr txBox="1"/>
          <p:nvPr/>
        </p:nvSpPr>
        <p:spPr>
          <a:xfrm>
            <a:off x="3438144" y="2152498"/>
            <a:ext cx="571500" cy="22860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2 days</a:t>
            </a:r>
            <a:endParaRPr lang="en-US" sz="1000" dirty="0">
              <a:ea typeface="Noto Sans SC" panose="020B0200000000000000" pitchFamily="34" charset="-122"/>
              <a:cs typeface="Noto Sans SC" panose="020B0200000000000000" pitchFamily="34" charset="-122"/>
            </a:endParaRPr>
          </a:p>
        </p:txBody>
      </p:sp>
      <p:sp>
        <p:nvSpPr>
          <p:cNvPr id="40" name="Text 16"/>
          <p:cNvSpPr txBox="1"/>
          <p:nvPr/>
        </p:nvSpPr>
        <p:spPr>
          <a:xfrm>
            <a:off x="761695" y="2476195"/>
            <a:ext cx="1543507" cy="228600"/>
          </a:xfrm>
          <a:prstGeom prst="rect">
            <a:avLst/>
          </a:prstGeom>
          <a:noFill/>
        </p:spPr>
        <p:txBody>
          <a:bodyPr wrap="square" lIns="0" tIns="0" rIns="0" bIns="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B. Questionnaire design</a:t>
            </a:r>
            <a:endParaRPr lang="en-US" sz="1000" dirty="0">
              <a:ea typeface="Noto Sans SC" panose="020B0200000000000000" pitchFamily="34" charset="-122"/>
              <a:cs typeface="Noto Sans SC" panose="020B0200000000000000" pitchFamily="34" charset="-122"/>
            </a:endParaRPr>
          </a:p>
        </p:txBody>
      </p:sp>
      <p:sp>
        <p:nvSpPr>
          <p:cNvPr id="41" name="Shape 17"/>
          <p:cNvSpPr/>
          <p:nvPr/>
        </p:nvSpPr>
        <p:spPr>
          <a:xfrm>
            <a:off x="3438144" y="2476195"/>
            <a:ext cx="571500" cy="228600"/>
          </a:xfrm>
          <a:prstGeom prst="roundRect">
            <a:avLst>
              <a:gd name="adj" fmla="val 133333"/>
            </a:avLst>
          </a:prstGeom>
          <a:solidFill>
            <a:srgbClr val="FEE2E2"/>
          </a:solidFill>
          <a:ln w="12700">
            <a:solidFill>
              <a:srgbClr val="FFFFFF">
                <a:alpha val="0"/>
              </a:srgbClr>
            </a:solidFill>
            <a:prstDash val="solid"/>
          </a:ln>
        </p:spPr>
      </p:sp>
      <p:sp>
        <p:nvSpPr>
          <p:cNvPr id="42" name="Text 18"/>
          <p:cNvSpPr txBox="1"/>
          <p:nvPr/>
        </p:nvSpPr>
        <p:spPr>
          <a:xfrm>
            <a:off x="3438144" y="2476195"/>
            <a:ext cx="571500" cy="22860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2 days</a:t>
            </a:r>
            <a:endParaRPr lang="en-US" sz="1000" dirty="0">
              <a:ea typeface="Noto Sans SC" panose="020B0200000000000000" pitchFamily="34" charset="-122"/>
              <a:cs typeface="Noto Sans SC" panose="020B0200000000000000" pitchFamily="34" charset="-122"/>
            </a:endParaRPr>
          </a:p>
        </p:txBody>
      </p:sp>
      <p:sp>
        <p:nvSpPr>
          <p:cNvPr id="43" name="Text 19"/>
          <p:cNvSpPr txBox="1"/>
          <p:nvPr/>
        </p:nvSpPr>
        <p:spPr>
          <a:xfrm>
            <a:off x="761695" y="2800807"/>
            <a:ext cx="1457554" cy="228600"/>
          </a:xfrm>
          <a:prstGeom prst="rect">
            <a:avLst/>
          </a:prstGeom>
          <a:noFill/>
        </p:spPr>
        <p:txBody>
          <a:bodyPr wrap="square" lIns="0" tIns="0" rIns="0" bIns="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C. Database expansion</a:t>
            </a:r>
            <a:endParaRPr lang="en-US" sz="1000" dirty="0">
              <a:ea typeface="Noto Sans SC" panose="020B0200000000000000" pitchFamily="34" charset="-122"/>
              <a:cs typeface="Noto Sans SC" panose="020B0200000000000000" pitchFamily="34" charset="-122"/>
            </a:endParaRPr>
          </a:p>
        </p:txBody>
      </p:sp>
      <p:sp>
        <p:nvSpPr>
          <p:cNvPr id="44" name="Shape 20"/>
          <p:cNvSpPr/>
          <p:nvPr/>
        </p:nvSpPr>
        <p:spPr>
          <a:xfrm>
            <a:off x="3438144" y="2800807"/>
            <a:ext cx="571500" cy="228600"/>
          </a:xfrm>
          <a:prstGeom prst="roundRect">
            <a:avLst>
              <a:gd name="adj" fmla="val 133333"/>
            </a:avLst>
          </a:prstGeom>
          <a:solidFill>
            <a:srgbClr val="FEE2E2"/>
          </a:solidFill>
          <a:ln w="12700">
            <a:solidFill>
              <a:srgbClr val="FFFFFF">
                <a:alpha val="0"/>
              </a:srgbClr>
            </a:solidFill>
            <a:prstDash val="solid"/>
          </a:ln>
        </p:spPr>
      </p:sp>
      <p:sp>
        <p:nvSpPr>
          <p:cNvPr id="45" name="Text 21"/>
          <p:cNvSpPr txBox="1"/>
          <p:nvPr/>
        </p:nvSpPr>
        <p:spPr>
          <a:xfrm>
            <a:off x="3438144" y="2800807"/>
            <a:ext cx="571500" cy="22860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2 days</a:t>
            </a:r>
            <a:endParaRPr lang="en-US" sz="1000" dirty="0">
              <a:ea typeface="Noto Sans SC" panose="020B0200000000000000" pitchFamily="34" charset="-122"/>
              <a:cs typeface="Noto Sans SC" panose="020B0200000000000000" pitchFamily="34" charset="-122"/>
            </a:endParaRPr>
          </a:p>
        </p:txBody>
      </p:sp>
      <p:sp>
        <p:nvSpPr>
          <p:cNvPr id="46" name="Text 22"/>
          <p:cNvSpPr txBox="1"/>
          <p:nvPr/>
        </p:nvSpPr>
        <p:spPr>
          <a:xfrm>
            <a:off x="761695" y="3124505"/>
            <a:ext cx="1886407" cy="228600"/>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 Student questionnaire page</a:t>
            </a:r>
            <a:endParaRPr lang="en-US" sz="1000" dirty="0">
              <a:ea typeface="Noto Sans SC" panose="020B0200000000000000" pitchFamily="34" charset="-122"/>
              <a:cs typeface="Noto Sans SC" panose="020B0200000000000000" pitchFamily="34" charset="-122"/>
            </a:endParaRPr>
          </a:p>
        </p:txBody>
      </p:sp>
      <p:sp>
        <p:nvSpPr>
          <p:cNvPr id="47" name="Shape 23"/>
          <p:cNvSpPr/>
          <p:nvPr/>
        </p:nvSpPr>
        <p:spPr>
          <a:xfrm>
            <a:off x="3454603" y="3124505"/>
            <a:ext cx="552298" cy="228600"/>
          </a:xfrm>
          <a:prstGeom prst="roundRect">
            <a:avLst>
              <a:gd name="adj" fmla="val 133333"/>
            </a:avLst>
          </a:prstGeom>
          <a:solidFill>
            <a:srgbClr val="F1F5F9"/>
          </a:solidFill>
          <a:ln w="12700">
            <a:solidFill>
              <a:srgbClr val="FFFFFF">
                <a:alpha val="0"/>
              </a:srgbClr>
            </a:solidFill>
            <a:prstDash val="solid"/>
          </a:ln>
        </p:spPr>
      </p:sp>
      <p:sp>
        <p:nvSpPr>
          <p:cNvPr id="48" name="Text 24"/>
          <p:cNvSpPr txBox="1"/>
          <p:nvPr/>
        </p:nvSpPr>
        <p:spPr>
          <a:xfrm>
            <a:off x="3454603" y="3124505"/>
            <a:ext cx="553212" cy="22860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3 days</a:t>
            </a:r>
            <a:endParaRPr lang="en-US" sz="1000" dirty="0">
              <a:ea typeface="Noto Sans SC" panose="020B0200000000000000" pitchFamily="34" charset="-122"/>
              <a:cs typeface="Noto Sans SC" panose="020B0200000000000000" pitchFamily="34" charset="-122"/>
            </a:endParaRPr>
          </a:p>
        </p:txBody>
      </p:sp>
      <p:sp>
        <p:nvSpPr>
          <p:cNvPr id="49" name="Text 25"/>
          <p:cNvSpPr txBox="1"/>
          <p:nvPr/>
        </p:nvSpPr>
        <p:spPr>
          <a:xfrm>
            <a:off x="761695" y="3448202"/>
            <a:ext cx="1295705" cy="228600"/>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E. Admin config page</a:t>
            </a:r>
            <a:endParaRPr lang="en-US" sz="1000" dirty="0">
              <a:ea typeface="Noto Sans SC" panose="020B0200000000000000" pitchFamily="34" charset="-122"/>
              <a:cs typeface="Noto Sans SC" panose="020B0200000000000000" pitchFamily="34" charset="-122"/>
            </a:endParaRPr>
          </a:p>
        </p:txBody>
      </p:sp>
      <p:sp>
        <p:nvSpPr>
          <p:cNvPr id="50" name="Shape 26"/>
          <p:cNvSpPr/>
          <p:nvPr/>
        </p:nvSpPr>
        <p:spPr>
          <a:xfrm>
            <a:off x="3454603" y="3448202"/>
            <a:ext cx="552298" cy="228600"/>
          </a:xfrm>
          <a:prstGeom prst="roundRect">
            <a:avLst>
              <a:gd name="adj" fmla="val 133333"/>
            </a:avLst>
          </a:prstGeom>
          <a:solidFill>
            <a:srgbClr val="F1F5F9"/>
          </a:solidFill>
          <a:ln w="12700">
            <a:solidFill>
              <a:srgbClr val="FFFFFF">
                <a:alpha val="0"/>
              </a:srgbClr>
            </a:solidFill>
            <a:prstDash val="solid"/>
          </a:ln>
        </p:spPr>
      </p:sp>
      <p:sp>
        <p:nvSpPr>
          <p:cNvPr id="51" name="Text 27"/>
          <p:cNvSpPr txBox="1"/>
          <p:nvPr/>
        </p:nvSpPr>
        <p:spPr>
          <a:xfrm>
            <a:off x="3454603" y="3448202"/>
            <a:ext cx="553212" cy="22860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3 days</a:t>
            </a:r>
            <a:endParaRPr lang="en-US" sz="1000" dirty="0">
              <a:ea typeface="Noto Sans SC" panose="020B0200000000000000" pitchFamily="34" charset="-122"/>
              <a:cs typeface="Noto Sans SC" panose="020B0200000000000000" pitchFamily="34" charset="-122"/>
            </a:endParaRPr>
          </a:p>
        </p:txBody>
      </p:sp>
      <p:sp>
        <p:nvSpPr>
          <p:cNvPr id="52" name="Text 28"/>
          <p:cNvSpPr txBox="1"/>
          <p:nvPr/>
        </p:nvSpPr>
        <p:spPr>
          <a:xfrm>
            <a:off x="761695" y="3771900"/>
            <a:ext cx="1400861" cy="228600"/>
          </a:xfrm>
          <a:prstGeom prst="rect">
            <a:avLst/>
          </a:prstGeom>
          <a:noFill/>
        </p:spPr>
        <p:txBody>
          <a:bodyPr wrap="square" lIns="0" tIns="0" rIns="0" bIns="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F. Matching algorithm</a:t>
            </a:r>
            <a:endParaRPr lang="en-US" sz="1000" dirty="0">
              <a:ea typeface="Noto Sans SC" panose="020B0200000000000000" pitchFamily="34" charset="-122"/>
              <a:cs typeface="Noto Sans SC" panose="020B0200000000000000" pitchFamily="34" charset="-122"/>
            </a:endParaRPr>
          </a:p>
        </p:txBody>
      </p:sp>
      <p:sp>
        <p:nvSpPr>
          <p:cNvPr id="53" name="Shape 29"/>
          <p:cNvSpPr/>
          <p:nvPr/>
        </p:nvSpPr>
        <p:spPr>
          <a:xfrm>
            <a:off x="3438144" y="3771900"/>
            <a:ext cx="571500" cy="228600"/>
          </a:xfrm>
          <a:prstGeom prst="roundRect">
            <a:avLst>
              <a:gd name="adj" fmla="val 133333"/>
            </a:avLst>
          </a:prstGeom>
          <a:solidFill>
            <a:srgbClr val="FEE2E2"/>
          </a:solidFill>
          <a:ln w="12700">
            <a:solidFill>
              <a:srgbClr val="FFFFFF">
                <a:alpha val="0"/>
              </a:srgbClr>
            </a:solidFill>
            <a:prstDash val="solid"/>
          </a:ln>
        </p:spPr>
      </p:sp>
      <p:sp>
        <p:nvSpPr>
          <p:cNvPr id="54" name="Text 30"/>
          <p:cNvSpPr txBox="1"/>
          <p:nvPr/>
        </p:nvSpPr>
        <p:spPr>
          <a:xfrm>
            <a:off x="3438144" y="3771900"/>
            <a:ext cx="571500" cy="22860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4 days</a:t>
            </a:r>
            <a:endParaRPr lang="en-US" sz="1000" dirty="0">
              <a:ea typeface="Noto Sans SC" panose="020B0200000000000000" pitchFamily="34" charset="-122"/>
              <a:cs typeface="Noto Sans SC" panose="020B0200000000000000" pitchFamily="34" charset="-122"/>
            </a:endParaRPr>
          </a:p>
        </p:txBody>
      </p:sp>
      <p:sp>
        <p:nvSpPr>
          <p:cNvPr id="55" name="Text 31"/>
          <p:cNvSpPr txBox="1"/>
          <p:nvPr/>
        </p:nvSpPr>
        <p:spPr>
          <a:xfrm>
            <a:off x="761695" y="4095598"/>
            <a:ext cx="981151" cy="228600"/>
          </a:xfrm>
          <a:prstGeom prst="rect">
            <a:avLst/>
          </a:prstGeom>
          <a:noFill/>
        </p:spPr>
        <p:txBody>
          <a:bodyPr wrap="square" lIns="0" tIns="0" rIns="0" bIns="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G. Result pages</a:t>
            </a:r>
            <a:endParaRPr lang="en-US" sz="1000" dirty="0">
              <a:ea typeface="Noto Sans SC" panose="020B0200000000000000" pitchFamily="34" charset="-122"/>
              <a:cs typeface="Noto Sans SC" panose="020B0200000000000000" pitchFamily="34" charset="-122"/>
            </a:endParaRPr>
          </a:p>
        </p:txBody>
      </p:sp>
      <p:sp>
        <p:nvSpPr>
          <p:cNvPr id="56" name="Shape 32"/>
          <p:cNvSpPr/>
          <p:nvPr/>
        </p:nvSpPr>
        <p:spPr>
          <a:xfrm>
            <a:off x="3438144" y="4095598"/>
            <a:ext cx="571500" cy="228600"/>
          </a:xfrm>
          <a:prstGeom prst="roundRect">
            <a:avLst>
              <a:gd name="adj" fmla="val 133333"/>
            </a:avLst>
          </a:prstGeom>
          <a:solidFill>
            <a:srgbClr val="FEE2E2"/>
          </a:solidFill>
          <a:ln w="12700">
            <a:solidFill>
              <a:srgbClr val="FFFFFF">
                <a:alpha val="0"/>
              </a:srgbClr>
            </a:solidFill>
            <a:prstDash val="solid"/>
          </a:ln>
        </p:spPr>
      </p:sp>
      <p:sp>
        <p:nvSpPr>
          <p:cNvPr id="57" name="Text 33"/>
          <p:cNvSpPr txBox="1"/>
          <p:nvPr/>
        </p:nvSpPr>
        <p:spPr>
          <a:xfrm>
            <a:off x="3438144" y="4095598"/>
            <a:ext cx="571500" cy="22860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2 days</a:t>
            </a:r>
            <a:endParaRPr lang="en-US" sz="1000" dirty="0">
              <a:ea typeface="Noto Sans SC" panose="020B0200000000000000" pitchFamily="34" charset="-122"/>
              <a:cs typeface="Noto Sans SC" panose="020B0200000000000000" pitchFamily="34" charset="-122"/>
            </a:endParaRPr>
          </a:p>
        </p:txBody>
      </p:sp>
      <p:sp>
        <p:nvSpPr>
          <p:cNvPr id="58" name="Text 34"/>
          <p:cNvSpPr txBox="1"/>
          <p:nvPr/>
        </p:nvSpPr>
        <p:spPr>
          <a:xfrm>
            <a:off x="761695" y="4419295"/>
            <a:ext cx="1371600" cy="228600"/>
          </a:xfrm>
          <a:prstGeom prst="rect">
            <a:avLst/>
          </a:prstGeom>
          <a:noFill/>
        </p:spPr>
        <p:txBody>
          <a:bodyPr wrap="square" lIns="0" tIns="0" rIns="0" bIns="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H. Integration testing</a:t>
            </a:r>
            <a:endParaRPr lang="en-US" sz="1000" dirty="0">
              <a:ea typeface="Noto Sans SC" panose="020B0200000000000000" pitchFamily="34" charset="-122"/>
              <a:cs typeface="Noto Sans SC" panose="020B0200000000000000" pitchFamily="34" charset="-122"/>
            </a:endParaRPr>
          </a:p>
        </p:txBody>
      </p:sp>
      <p:sp>
        <p:nvSpPr>
          <p:cNvPr id="59" name="Shape 35"/>
          <p:cNvSpPr/>
          <p:nvPr/>
        </p:nvSpPr>
        <p:spPr>
          <a:xfrm>
            <a:off x="3438144" y="4419295"/>
            <a:ext cx="571500" cy="228600"/>
          </a:xfrm>
          <a:prstGeom prst="roundRect">
            <a:avLst>
              <a:gd name="adj" fmla="val 133333"/>
            </a:avLst>
          </a:prstGeom>
          <a:solidFill>
            <a:srgbClr val="FEE2E2"/>
          </a:solidFill>
          <a:ln w="12700">
            <a:solidFill>
              <a:srgbClr val="FFFFFF">
                <a:alpha val="0"/>
              </a:srgbClr>
            </a:solidFill>
            <a:prstDash val="solid"/>
          </a:ln>
        </p:spPr>
      </p:sp>
      <p:sp>
        <p:nvSpPr>
          <p:cNvPr id="60" name="Text 36"/>
          <p:cNvSpPr txBox="1"/>
          <p:nvPr/>
        </p:nvSpPr>
        <p:spPr>
          <a:xfrm>
            <a:off x="3438144" y="4419295"/>
            <a:ext cx="571500" cy="22860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3 days</a:t>
            </a:r>
            <a:endParaRPr lang="en-US" sz="1000" dirty="0">
              <a:ea typeface="Noto Sans SC" panose="020B0200000000000000" pitchFamily="34" charset="-122"/>
              <a:cs typeface="Noto Sans SC" panose="020B0200000000000000" pitchFamily="34" charset="-122"/>
            </a:endParaRPr>
          </a:p>
        </p:txBody>
      </p:sp>
      <p:sp>
        <p:nvSpPr>
          <p:cNvPr id="61" name="Text 37"/>
          <p:cNvSpPr txBox="1"/>
          <p:nvPr/>
        </p:nvSpPr>
        <p:spPr>
          <a:xfrm>
            <a:off x="761695" y="4743907"/>
            <a:ext cx="695858" cy="228600"/>
          </a:xfrm>
          <a:prstGeom prst="rect">
            <a:avLst/>
          </a:prstGeom>
          <a:noFill/>
        </p:spPr>
        <p:txBody>
          <a:bodyPr wrap="square" lIns="0" tIns="0" rIns="0" bIns="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I. Bug fixes</a:t>
            </a:r>
            <a:endParaRPr lang="en-US" sz="1000" dirty="0">
              <a:ea typeface="Noto Sans SC" panose="020B0200000000000000" pitchFamily="34" charset="-122"/>
              <a:cs typeface="Noto Sans SC" panose="020B0200000000000000" pitchFamily="34" charset="-122"/>
            </a:endParaRPr>
          </a:p>
        </p:txBody>
      </p:sp>
      <p:sp>
        <p:nvSpPr>
          <p:cNvPr id="62" name="Shape 38"/>
          <p:cNvSpPr/>
          <p:nvPr/>
        </p:nvSpPr>
        <p:spPr>
          <a:xfrm>
            <a:off x="3438144" y="4743907"/>
            <a:ext cx="571500" cy="228600"/>
          </a:xfrm>
          <a:prstGeom prst="roundRect">
            <a:avLst>
              <a:gd name="adj" fmla="val 133333"/>
            </a:avLst>
          </a:prstGeom>
          <a:solidFill>
            <a:srgbClr val="FEE2E2"/>
          </a:solidFill>
          <a:ln w="12700">
            <a:solidFill>
              <a:srgbClr val="FFFFFF">
                <a:alpha val="0"/>
              </a:srgbClr>
            </a:solidFill>
            <a:prstDash val="solid"/>
          </a:ln>
        </p:spPr>
      </p:sp>
      <p:sp>
        <p:nvSpPr>
          <p:cNvPr id="63" name="Text 39"/>
          <p:cNvSpPr txBox="1"/>
          <p:nvPr/>
        </p:nvSpPr>
        <p:spPr>
          <a:xfrm>
            <a:off x="3438144" y="4743907"/>
            <a:ext cx="571500" cy="22860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2 days</a:t>
            </a:r>
            <a:endParaRPr lang="en-US" sz="1000" dirty="0">
              <a:ea typeface="Noto Sans SC" panose="020B0200000000000000" pitchFamily="34" charset="-122"/>
              <a:cs typeface="Noto Sans SC" panose="020B0200000000000000" pitchFamily="34" charset="-122"/>
            </a:endParaRPr>
          </a:p>
        </p:txBody>
      </p:sp>
      <p:sp>
        <p:nvSpPr>
          <p:cNvPr id="64" name="Text 40"/>
          <p:cNvSpPr txBox="1"/>
          <p:nvPr/>
        </p:nvSpPr>
        <p:spPr>
          <a:xfrm>
            <a:off x="761695" y="5067605"/>
            <a:ext cx="943661" cy="228600"/>
          </a:xfrm>
          <a:prstGeom prst="rect">
            <a:avLst/>
          </a:prstGeom>
          <a:noFill/>
        </p:spPr>
        <p:txBody>
          <a:bodyPr wrap="square" lIns="0" tIns="0" rIns="0" bIns="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J. Docs update</a:t>
            </a:r>
            <a:endParaRPr lang="en-US" sz="1000" dirty="0">
              <a:ea typeface="Noto Sans SC" panose="020B0200000000000000" pitchFamily="34" charset="-122"/>
              <a:cs typeface="Noto Sans SC" panose="020B0200000000000000" pitchFamily="34" charset="-122"/>
            </a:endParaRPr>
          </a:p>
        </p:txBody>
      </p:sp>
      <p:sp>
        <p:nvSpPr>
          <p:cNvPr id="65" name="Shape 41"/>
          <p:cNvSpPr/>
          <p:nvPr/>
        </p:nvSpPr>
        <p:spPr>
          <a:xfrm>
            <a:off x="3503066" y="5067605"/>
            <a:ext cx="504749" cy="228600"/>
          </a:xfrm>
          <a:prstGeom prst="roundRect">
            <a:avLst>
              <a:gd name="adj" fmla="val 133333"/>
            </a:avLst>
          </a:prstGeom>
          <a:solidFill>
            <a:srgbClr val="FEE2E2"/>
          </a:solidFill>
          <a:ln w="12700">
            <a:solidFill>
              <a:srgbClr val="FFFFFF">
                <a:alpha val="0"/>
              </a:srgbClr>
            </a:solidFill>
            <a:prstDash val="solid"/>
          </a:ln>
        </p:spPr>
      </p:sp>
      <p:sp>
        <p:nvSpPr>
          <p:cNvPr id="66" name="Text 42"/>
          <p:cNvSpPr txBox="1"/>
          <p:nvPr/>
        </p:nvSpPr>
        <p:spPr>
          <a:xfrm>
            <a:off x="3503066" y="5067605"/>
            <a:ext cx="505663" cy="22860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1 day</a:t>
            </a:r>
            <a:endParaRPr lang="en-US" sz="1000" dirty="0">
              <a:ea typeface="Noto Sans SC" panose="020B0200000000000000" pitchFamily="34" charset="-122"/>
              <a:cs typeface="Noto Sans SC" panose="020B0200000000000000" pitchFamily="34" charset="-122"/>
            </a:endParaRPr>
          </a:p>
        </p:txBody>
      </p:sp>
      <p:sp>
        <p:nvSpPr>
          <p:cNvPr id="67" name="Shape 43"/>
          <p:cNvSpPr/>
          <p:nvPr/>
        </p:nvSpPr>
        <p:spPr>
          <a:xfrm>
            <a:off x="4572000" y="2057400"/>
            <a:ext cx="6858000" cy="9144"/>
          </a:xfrm>
          <a:prstGeom prst="rect">
            <a:avLst/>
          </a:prstGeom>
          <a:solidFill>
            <a:srgbClr val="E2E8F0"/>
          </a:solidFill>
          <a:ln w="12700">
            <a:solidFill>
              <a:srgbClr val="E2E8F0">
                <a:alpha val="0"/>
              </a:srgbClr>
            </a:solidFill>
            <a:prstDash val="solid"/>
          </a:ln>
        </p:spPr>
      </p:sp>
      <p:sp>
        <p:nvSpPr>
          <p:cNvPr id="68" name="Text 44"/>
          <p:cNvSpPr txBox="1"/>
          <p:nvPr/>
        </p:nvSpPr>
        <p:spPr>
          <a:xfrm>
            <a:off x="4572000" y="1714500"/>
            <a:ext cx="1322222" cy="247802"/>
          </a:xfrm>
          <a:prstGeom prst="rect">
            <a:avLst/>
          </a:prstGeom>
          <a:noFill/>
        </p:spPr>
        <p:txBody>
          <a:bodyPr wrap="square" lIns="0" tIns="0" rIns="0" bIns="0" rtlCol="0" anchor="ctr"/>
          <a:lstStyle/>
          <a:p>
            <a:pPr marL="0" indent="0" algn="l">
              <a:buNone/>
            </a:pPr>
            <a:r>
              <a:rPr lang="en-US" sz="13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Task Network</a:t>
            </a:r>
            <a:endParaRPr lang="en-US" sz="1300" dirty="0">
              <a:ea typeface="Noto Sans SC" panose="020B0200000000000000" pitchFamily="34" charset="-122"/>
              <a:cs typeface="Noto Sans SC" panose="020B0200000000000000" pitchFamily="34" charset="-122"/>
            </a:endParaRPr>
          </a:p>
        </p:txBody>
      </p:sp>
      <p:sp>
        <p:nvSpPr>
          <p:cNvPr id="69" name="Text 45"/>
          <p:cNvSpPr txBox="1"/>
          <p:nvPr/>
        </p:nvSpPr>
        <p:spPr>
          <a:xfrm>
            <a:off x="9218066" y="1714500"/>
            <a:ext cx="2220163" cy="247802"/>
          </a:xfrm>
          <a:prstGeom prst="rect">
            <a:avLst/>
          </a:prstGeom>
          <a:noFill/>
        </p:spPr>
        <p:txBody>
          <a:bodyPr wrap="square" lIns="0" tIns="0" rIns="0" bIns="0" rtlCol="0" anchor="ctr"/>
          <a:lstStyle/>
          <a:p>
            <a:pPr marL="0" indent="0" algn="l">
              <a:buNone/>
            </a:pP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a:t>
            </a:r>
            <a:r>
              <a:rPr lang="en-US" sz="10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 Critical Tasks </a:t>
            </a:r>
            <a:r>
              <a:rPr lang="en-US" sz="1000" b="1" dirty="0">
                <a:solidFill>
                  <a:srgbClr val="3B82F6"/>
                </a:solidFill>
                <a:latin typeface="Noto Sans SC" panose="020B0200000000000000" pitchFamily="34" charset="-122"/>
                <a:ea typeface="Noto Sans SC" panose="020B0200000000000000" pitchFamily="34" charset="-122"/>
                <a:cs typeface="Noto Sans SC" panose="020B0200000000000000" pitchFamily="34" charset="-122"/>
              </a:rPr>
              <a:t>■</a:t>
            </a:r>
            <a:r>
              <a:rPr lang="en-US" sz="10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 General Tasks </a:t>
            </a:r>
            <a:endParaRPr lang="en-US" sz="1000" dirty="0">
              <a:ea typeface="Noto Sans SC" panose="020B0200000000000000" pitchFamily="34" charset="-122"/>
              <a:cs typeface="Noto Sans SC" panose="020B0200000000000000" pitchFamily="34" charset="-122"/>
            </a:endParaRPr>
          </a:p>
        </p:txBody>
      </p:sp>
      <p:sp>
        <p:nvSpPr>
          <p:cNvPr id="70" name="Shape 46"/>
          <p:cNvSpPr/>
          <p:nvPr/>
        </p:nvSpPr>
        <p:spPr>
          <a:xfrm>
            <a:off x="4762195" y="2762402"/>
            <a:ext cx="418795" cy="418795"/>
          </a:xfrm>
          <a:prstGeom prst="ellipse">
            <a:avLst/>
          </a:prstGeom>
          <a:solidFill>
            <a:srgbClr val="FEE2E2"/>
          </a:solidFill>
          <a:ln w="25400">
            <a:solidFill>
              <a:srgbClr val="EF4444"/>
            </a:solidFill>
            <a:prstDash val="solid"/>
          </a:ln>
        </p:spPr>
      </p:sp>
      <p:sp>
        <p:nvSpPr>
          <p:cNvPr id="71" name="Text 47"/>
          <p:cNvSpPr/>
          <p:nvPr/>
        </p:nvSpPr>
        <p:spPr>
          <a:xfrm>
            <a:off x="4762195" y="2762402"/>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A</a:t>
            </a:r>
            <a:endParaRPr lang="en-US" sz="1200" dirty="0">
              <a:ea typeface="Noto Sans SC" panose="020B0200000000000000" pitchFamily="34" charset="-122"/>
              <a:cs typeface="Noto Sans SC" panose="020B0200000000000000" pitchFamily="34" charset="-122"/>
            </a:endParaRPr>
          </a:p>
        </p:txBody>
      </p:sp>
      <p:sp>
        <p:nvSpPr>
          <p:cNvPr id="72" name="Shape 48"/>
          <p:cNvSpPr/>
          <p:nvPr/>
        </p:nvSpPr>
        <p:spPr>
          <a:xfrm>
            <a:off x="5810098" y="2190902"/>
            <a:ext cx="857707" cy="418795"/>
          </a:xfrm>
          <a:prstGeom prst="roundRect">
            <a:avLst>
              <a:gd name="adj" fmla="val 79397"/>
            </a:avLst>
          </a:prstGeom>
          <a:solidFill>
            <a:srgbClr val="FEE2E2"/>
          </a:solidFill>
          <a:ln w="25400">
            <a:solidFill>
              <a:srgbClr val="EF4444"/>
            </a:solidFill>
            <a:prstDash val="solid"/>
          </a:ln>
        </p:spPr>
      </p:sp>
      <p:sp>
        <p:nvSpPr>
          <p:cNvPr id="73" name="Text 49"/>
          <p:cNvSpPr txBox="1"/>
          <p:nvPr/>
        </p:nvSpPr>
        <p:spPr>
          <a:xfrm>
            <a:off x="5810098" y="2190902"/>
            <a:ext cx="857707"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B (2d)</a:t>
            </a:r>
            <a:endParaRPr lang="en-US" sz="1200" dirty="0">
              <a:ea typeface="Noto Sans SC" panose="020B0200000000000000" pitchFamily="34" charset="-122"/>
              <a:cs typeface="Noto Sans SC" panose="020B0200000000000000" pitchFamily="34" charset="-122"/>
            </a:endParaRPr>
          </a:p>
        </p:txBody>
      </p:sp>
      <p:sp>
        <p:nvSpPr>
          <p:cNvPr id="74" name="Shape 50"/>
          <p:cNvSpPr/>
          <p:nvPr/>
        </p:nvSpPr>
        <p:spPr>
          <a:xfrm>
            <a:off x="5810098" y="3333902"/>
            <a:ext cx="857707" cy="418795"/>
          </a:xfrm>
          <a:prstGeom prst="roundRect">
            <a:avLst>
              <a:gd name="adj" fmla="val 79397"/>
            </a:avLst>
          </a:prstGeom>
          <a:solidFill>
            <a:srgbClr val="FEE2E2"/>
          </a:solidFill>
          <a:ln w="25400">
            <a:solidFill>
              <a:srgbClr val="EF4444"/>
            </a:solidFill>
            <a:prstDash val="solid"/>
          </a:ln>
        </p:spPr>
      </p:sp>
      <p:sp>
        <p:nvSpPr>
          <p:cNvPr id="75" name="Text 51"/>
          <p:cNvSpPr txBox="1"/>
          <p:nvPr/>
        </p:nvSpPr>
        <p:spPr>
          <a:xfrm>
            <a:off x="5810098" y="3333902"/>
            <a:ext cx="857707"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C (2d)</a:t>
            </a:r>
            <a:endParaRPr lang="en-US" sz="1200" dirty="0">
              <a:ea typeface="Noto Sans SC" panose="020B0200000000000000" pitchFamily="34" charset="-122"/>
              <a:cs typeface="Noto Sans SC" panose="020B0200000000000000" pitchFamily="34" charset="-122"/>
            </a:endParaRPr>
          </a:p>
        </p:txBody>
      </p:sp>
      <p:sp>
        <p:nvSpPr>
          <p:cNvPr id="76" name="Shape 52"/>
          <p:cNvSpPr/>
          <p:nvPr/>
        </p:nvSpPr>
        <p:spPr>
          <a:xfrm>
            <a:off x="7144207" y="2190902"/>
            <a:ext cx="857707" cy="418795"/>
          </a:xfrm>
          <a:prstGeom prst="roundRect">
            <a:avLst>
              <a:gd name="adj" fmla="val 79397"/>
            </a:avLst>
          </a:prstGeom>
          <a:solidFill>
            <a:srgbClr val="EFF6FF"/>
          </a:solidFill>
          <a:ln w="25400">
            <a:solidFill>
              <a:srgbClr val="3B82F6"/>
            </a:solidFill>
            <a:prstDash val="solid"/>
          </a:ln>
        </p:spPr>
      </p:sp>
      <p:sp>
        <p:nvSpPr>
          <p:cNvPr id="77" name="Text 53"/>
          <p:cNvSpPr txBox="1"/>
          <p:nvPr/>
        </p:nvSpPr>
        <p:spPr>
          <a:xfrm>
            <a:off x="7144207" y="2190902"/>
            <a:ext cx="857707"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3B82F6"/>
                </a:solidFill>
                <a:latin typeface="Noto Sans SC" panose="020B0200000000000000" pitchFamily="34" charset="-122"/>
                <a:ea typeface="Noto Sans SC" panose="020B0200000000000000" pitchFamily="34" charset="-122"/>
                <a:cs typeface="Noto Sans SC" panose="020B0200000000000000" pitchFamily="34" charset="-122"/>
              </a:rPr>
              <a:t>D (3d)</a:t>
            </a:r>
            <a:endParaRPr lang="en-US" sz="1200" dirty="0">
              <a:ea typeface="Noto Sans SC" panose="020B0200000000000000" pitchFamily="34" charset="-122"/>
              <a:cs typeface="Noto Sans SC" panose="020B0200000000000000" pitchFamily="34" charset="-122"/>
            </a:endParaRPr>
          </a:p>
        </p:txBody>
      </p:sp>
      <p:sp>
        <p:nvSpPr>
          <p:cNvPr id="78" name="Shape 54"/>
          <p:cNvSpPr/>
          <p:nvPr/>
        </p:nvSpPr>
        <p:spPr>
          <a:xfrm>
            <a:off x="7144207" y="2762402"/>
            <a:ext cx="857707" cy="418795"/>
          </a:xfrm>
          <a:prstGeom prst="roundRect">
            <a:avLst>
              <a:gd name="adj" fmla="val 79397"/>
            </a:avLst>
          </a:prstGeom>
          <a:solidFill>
            <a:srgbClr val="FEE2E2"/>
          </a:solidFill>
          <a:ln w="25400">
            <a:solidFill>
              <a:srgbClr val="EF4444"/>
            </a:solidFill>
            <a:prstDash val="solid"/>
          </a:ln>
        </p:spPr>
      </p:sp>
      <p:sp>
        <p:nvSpPr>
          <p:cNvPr id="79" name="Text 55"/>
          <p:cNvSpPr txBox="1"/>
          <p:nvPr/>
        </p:nvSpPr>
        <p:spPr>
          <a:xfrm>
            <a:off x="7144207" y="2762402"/>
            <a:ext cx="857707"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F (4d)</a:t>
            </a:r>
            <a:endParaRPr lang="en-US" sz="1200" dirty="0">
              <a:ea typeface="Noto Sans SC" panose="020B0200000000000000" pitchFamily="34" charset="-122"/>
              <a:cs typeface="Noto Sans SC" panose="020B0200000000000000" pitchFamily="34" charset="-122"/>
            </a:endParaRPr>
          </a:p>
        </p:txBody>
      </p:sp>
      <p:sp>
        <p:nvSpPr>
          <p:cNvPr id="80" name="Shape 56"/>
          <p:cNvSpPr/>
          <p:nvPr/>
        </p:nvSpPr>
        <p:spPr>
          <a:xfrm>
            <a:off x="7144207" y="3905402"/>
            <a:ext cx="857707" cy="418795"/>
          </a:xfrm>
          <a:prstGeom prst="roundRect">
            <a:avLst>
              <a:gd name="adj" fmla="val 79397"/>
            </a:avLst>
          </a:prstGeom>
          <a:solidFill>
            <a:srgbClr val="EFF6FF"/>
          </a:solidFill>
          <a:ln w="25400">
            <a:solidFill>
              <a:srgbClr val="3B82F6"/>
            </a:solidFill>
            <a:prstDash val="solid"/>
          </a:ln>
        </p:spPr>
      </p:sp>
      <p:sp>
        <p:nvSpPr>
          <p:cNvPr id="81" name="Text 57"/>
          <p:cNvSpPr txBox="1"/>
          <p:nvPr/>
        </p:nvSpPr>
        <p:spPr>
          <a:xfrm>
            <a:off x="7144207" y="3905402"/>
            <a:ext cx="857707"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3B82F6"/>
                </a:solidFill>
                <a:latin typeface="Noto Sans SC" panose="020B0200000000000000" pitchFamily="34" charset="-122"/>
                <a:ea typeface="Noto Sans SC" panose="020B0200000000000000" pitchFamily="34" charset="-122"/>
                <a:cs typeface="Noto Sans SC" panose="020B0200000000000000" pitchFamily="34" charset="-122"/>
              </a:rPr>
              <a:t>E (3d)</a:t>
            </a:r>
            <a:endParaRPr lang="en-US" sz="1200" dirty="0">
              <a:ea typeface="Noto Sans SC" panose="020B0200000000000000" pitchFamily="34" charset="-122"/>
              <a:cs typeface="Noto Sans SC" panose="020B0200000000000000" pitchFamily="34" charset="-122"/>
            </a:endParaRPr>
          </a:p>
        </p:txBody>
      </p:sp>
      <p:sp>
        <p:nvSpPr>
          <p:cNvPr id="82" name="Shape 58"/>
          <p:cNvSpPr/>
          <p:nvPr/>
        </p:nvSpPr>
        <p:spPr>
          <a:xfrm>
            <a:off x="8191195" y="2762402"/>
            <a:ext cx="857707" cy="418795"/>
          </a:xfrm>
          <a:prstGeom prst="roundRect">
            <a:avLst>
              <a:gd name="adj" fmla="val 79397"/>
            </a:avLst>
          </a:prstGeom>
          <a:solidFill>
            <a:srgbClr val="FEE2E2"/>
          </a:solidFill>
          <a:ln w="25400">
            <a:solidFill>
              <a:srgbClr val="EF4444"/>
            </a:solidFill>
            <a:prstDash val="solid"/>
          </a:ln>
        </p:spPr>
      </p:sp>
      <p:sp>
        <p:nvSpPr>
          <p:cNvPr id="83" name="Text 59"/>
          <p:cNvSpPr txBox="1"/>
          <p:nvPr/>
        </p:nvSpPr>
        <p:spPr>
          <a:xfrm>
            <a:off x="8191195" y="2762402"/>
            <a:ext cx="857707"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G (2d)</a:t>
            </a:r>
            <a:endParaRPr lang="en-US" sz="1200" dirty="0">
              <a:ea typeface="Noto Sans SC" panose="020B0200000000000000" pitchFamily="34" charset="-122"/>
              <a:cs typeface="Noto Sans SC" panose="020B0200000000000000" pitchFamily="34" charset="-122"/>
            </a:endParaRPr>
          </a:p>
        </p:txBody>
      </p:sp>
      <p:sp>
        <p:nvSpPr>
          <p:cNvPr id="84" name="Shape 60"/>
          <p:cNvSpPr/>
          <p:nvPr/>
        </p:nvSpPr>
        <p:spPr>
          <a:xfrm>
            <a:off x="9239098" y="2762402"/>
            <a:ext cx="857707" cy="418795"/>
          </a:xfrm>
          <a:prstGeom prst="roundRect">
            <a:avLst>
              <a:gd name="adj" fmla="val 79397"/>
            </a:avLst>
          </a:prstGeom>
          <a:solidFill>
            <a:srgbClr val="FEE2E2"/>
          </a:solidFill>
          <a:ln w="25400">
            <a:solidFill>
              <a:srgbClr val="EF4444"/>
            </a:solidFill>
            <a:prstDash val="solid"/>
          </a:ln>
        </p:spPr>
      </p:sp>
      <p:sp>
        <p:nvSpPr>
          <p:cNvPr id="85" name="Text 61"/>
          <p:cNvSpPr txBox="1"/>
          <p:nvPr/>
        </p:nvSpPr>
        <p:spPr>
          <a:xfrm>
            <a:off x="9239098" y="2762402"/>
            <a:ext cx="857707"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H (3d)</a:t>
            </a:r>
            <a:endParaRPr lang="en-US" sz="1200" dirty="0">
              <a:ea typeface="Noto Sans SC" panose="020B0200000000000000" pitchFamily="34" charset="-122"/>
              <a:cs typeface="Noto Sans SC" panose="020B0200000000000000" pitchFamily="34" charset="-122"/>
            </a:endParaRPr>
          </a:p>
        </p:txBody>
      </p:sp>
      <p:sp>
        <p:nvSpPr>
          <p:cNvPr id="86" name="Shape 62"/>
          <p:cNvSpPr/>
          <p:nvPr/>
        </p:nvSpPr>
        <p:spPr>
          <a:xfrm>
            <a:off x="10287000" y="2762402"/>
            <a:ext cx="800100" cy="418795"/>
          </a:xfrm>
          <a:prstGeom prst="roundRect">
            <a:avLst>
              <a:gd name="adj" fmla="val 79397"/>
            </a:avLst>
          </a:prstGeom>
          <a:solidFill>
            <a:srgbClr val="FEE2E2"/>
          </a:solidFill>
          <a:ln w="25400">
            <a:solidFill>
              <a:srgbClr val="EF4444"/>
            </a:solidFill>
            <a:prstDash val="solid"/>
          </a:ln>
        </p:spPr>
      </p:sp>
      <p:sp>
        <p:nvSpPr>
          <p:cNvPr id="87" name="Text 63"/>
          <p:cNvSpPr txBox="1"/>
          <p:nvPr/>
        </p:nvSpPr>
        <p:spPr>
          <a:xfrm>
            <a:off x="10287000" y="2762402"/>
            <a:ext cx="80010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I (2d)</a:t>
            </a:r>
            <a:endParaRPr lang="en-US" sz="1200" dirty="0">
              <a:ea typeface="Noto Sans SC" panose="020B0200000000000000" pitchFamily="34" charset="-122"/>
              <a:cs typeface="Noto Sans SC" panose="020B0200000000000000" pitchFamily="34" charset="-122"/>
            </a:endParaRPr>
          </a:p>
        </p:txBody>
      </p:sp>
      <p:sp>
        <p:nvSpPr>
          <p:cNvPr id="88" name="Shape 64"/>
          <p:cNvSpPr/>
          <p:nvPr/>
        </p:nvSpPr>
        <p:spPr>
          <a:xfrm>
            <a:off x="11239805" y="2762402"/>
            <a:ext cx="418795" cy="418795"/>
          </a:xfrm>
          <a:prstGeom prst="ellipse">
            <a:avLst/>
          </a:prstGeom>
          <a:solidFill>
            <a:srgbClr val="FEE2E2"/>
          </a:solidFill>
          <a:ln w="25400">
            <a:solidFill>
              <a:srgbClr val="EF4444"/>
            </a:solidFill>
            <a:prstDash val="solid"/>
          </a:ln>
        </p:spPr>
      </p:sp>
      <p:sp>
        <p:nvSpPr>
          <p:cNvPr id="89" name="Text 65"/>
          <p:cNvSpPr/>
          <p:nvPr/>
        </p:nvSpPr>
        <p:spPr>
          <a:xfrm>
            <a:off x="11239805" y="2762402"/>
            <a:ext cx="419710"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2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J</a:t>
            </a:r>
            <a:endParaRPr lang="en-US" sz="1200" dirty="0">
              <a:ea typeface="Noto Sans SC" panose="020B0200000000000000" pitchFamily="34" charset="-122"/>
              <a:cs typeface="Noto Sans SC" panose="020B0200000000000000" pitchFamily="34" charset="-122"/>
            </a:endParaRPr>
          </a:p>
        </p:txBody>
      </p:sp>
      <p:sp>
        <p:nvSpPr>
          <p:cNvPr id="90" name="Text 66"/>
          <p:cNvSpPr txBox="1"/>
          <p:nvPr/>
        </p:nvSpPr>
        <p:spPr>
          <a:xfrm>
            <a:off x="4762195" y="4905756"/>
            <a:ext cx="952805" cy="228600"/>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Network:</a:t>
            </a:r>
            <a:endParaRPr lang="en-US" sz="1100" dirty="0">
              <a:ea typeface="Noto Sans SC" panose="020B0200000000000000" pitchFamily="34" charset="-122"/>
              <a:cs typeface="Noto Sans SC" panose="020B0200000000000000" pitchFamily="34" charset="-122"/>
            </a:endParaRPr>
          </a:p>
        </p:txBody>
      </p:sp>
      <p:sp>
        <p:nvSpPr>
          <p:cNvPr id="91" name="Text 67"/>
          <p:cNvSpPr txBox="1"/>
          <p:nvPr/>
        </p:nvSpPr>
        <p:spPr>
          <a:xfrm>
            <a:off x="5715000" y="4905756"/>
            <a:ext cx="4496105" cy="228600"/>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 → {B,C}; {B,C} → {D,F}; C → E; F → G; {D,E,G} → H → I → J</a:t>
            </a:r>
            <a:endParaRPr lang="en-US" sz="1100" dirty="0">
              <a:ea typeface="Noto Sans SC" panose="020B0200000000000000" pitchFamily="34" charset="-122"/>
              <a:cs typeface="Noto Sans SC" panose="020B0200000000000000" pitchFamily="34" charset="-122"/>
            </a:endParaRPr>
          </a:p>
        </p:txBody>
      </p:sp>
      <p:sp>
        <p:nvSpPr>
          <p:cNvPr id="92" name="Text 68"/>
          <p:cNvSpPr txBox="1"/>
          <p:nvPr/>
        </p:nvSpPr>
        <p:spPr>
          <a:xfrm>
            <a:off x="4762195" y="5210251"/>
            <a:ext cx="1133856" cy="228600"/>
          </a:xfrm>
          <a:prstGeom prst="rect">
            <a:avLst/>
          </a:prstGeom>
          <a:noFill/>
        </p:spPr>
        <p:txBody>
          <a:bodyPr wrap="square" lIns="0" tIns="0" rIns="0" bIns="0" rtlCol="0" anchor="ctr"/>
          <a:lstStyle/>
          <a:p>
            <a:pPr marL="0" indent="0" algn="l">
              <a:buNone/>
            </a:pPr>
            <a:r>
              <a:rPr lang="en-US" sz="11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Critical Path:</a:t>
            </a:r>
            <a:endParaRPr lang="en-US" sz="1100" dirty="0">
              <a:ea typeface="Noto Sans SC" panose="020B0200000000000000" pitchFamily="34" charset="-122"/>
              <a:cs typeface="Noto Sans SC" panose="020B0200000000000000" pitchFamily="34" charset="-122"/>
            </a:endParaRPr>
          </a:p>
        </p:txBody>
      </p:sp>
      <p:sp>
        <p:nvSpPr>
          <p:cNvPr id="93" name="Text 69"/>
          <p:cNvSpPr txBox="1"/>
          <p:nvPr/>
        </p:nvSpPr>
        <p:spPr>
          <a:xfrm>
            <a:off x="5715000" y="5210251"/>
            <a:ext cx="2392070" cy="228600"/>
          </a:xfrm>
          <a:prstGeom prst="rect">
            <a:avLst/>
          </a:prstGeom>
          <a:noFill/>
        </p:spPr>
        <p:txBody>
          <a:bodyPr wrap="square" lIns="0" tIns="0" rIns="0" bIns="0" rtlCol="0" anchor="ctr"/>
          <a:lstStyle/>
          <a:p>
            <a:pPr marL="0" indent="0" algn="l">
              <a:buNone/>
            </a:pPr>
            <a:r>
              <a:rPr lang="en-US" sz="11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A → B/C → F → G → H → I → J</a:t>
            </a:r>
            <a:endParaRPr lang="en-US" sz="1100" dirty="0">
              <a:ea typeface="Noto Sans SC" panose="020B0200000000000000" pitchFamily="34" charset="-122"/>
              <a:cs typeface="Noto Sans SC" panose="020B0200000000000000" pitchFamily="34" charset="-122"/>
            </a:endParaRPr>
          </a:p>
        </p:txBody>
      </p:sp>
      <p:sp>
        <p:nvSpPr>
          <p:cNvPr id="94" name="Text 70"/>
          <p:cNvSpPr txBox="1"/>
          <p:nvPr/>
        </p:nvSpPr>
        <p:spPr>
          <a:xfrm>
            <a:off x="800100" y="6267298"/>
            <a:ext cx="10592410" cy="228600"/>
          </a:xfrm>
          <a:prstGeom prst="rect">
            <a:avLst/>
          </a:prstGeom>
          <a:noFill/>
        </p:spPr>
        <p:txBody>
          <a:bodyPr wrap="square" lIns="0" tIns="0" rIns="0" bIns="0" rtlCol="0" anchor="ctr"/>
          <a:lstStyle/>
          <a:p>
            <a:pPr marL="0" indent="0" algn="ctr">
              <a:buNone/>
            </a:pPr>
            <a:r>
              <a:rPr lang="en-US" sz="12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Total Duration: 16 days</a:t>
            </a:r>
            <a:endParaRPr lang="en-US" sz="1200" dirty="0">
              <a:ea typeface="Noto Sans SC" panose="020B0200000000000000" pitchFamily="34" charset="-122"/>
              <a:cs typeface="Noto Sans SC" panose="020B0200000000000000"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5" name="Shape 2"/>
          <p:cNvSpPr/>
          <p:nvPr/>
        </p:nvSpPr>
        <p:spPr>
          <a:xfrm>
            <a:off x="571500" y="1524305"/>
            <a:ext cx="3619195" cy="1524305"/>
          </a:xfrm>
          <a:prstGeom prst="roundRect">
            <a:avLst>
              <a:gd name="adj" fmla="val 8998"/>
            </a:avLst>
          </a:prstGeom>
          <a:solidFill>
            <a:srgbClr val="FFFFFF"/>
          </a:solidFill>
          <a:effectLst>
            <a:outerShdw blurRad="114300" dist="38100" dir="16200000" algn="bl" rotWithShape="0">
              <a:srgbClr val="000000">
                <a:alpha val="5000"/>
              </a:srgbClr>
            </a:outerShdw>
          </a:effectLst>
        </p:spPr>
      </p:sp>
      <p:sp>
        <p:nvSpPr>
          <p:cNvPr id="6" name="Shape 3"/>
          <p:cNvSpPr/>
          <p:nvPr/>
        </p:nvSpPr>
        <p:spPr>
          <a:xfrm>
            <a:off x="571500" y="1524305"/>
            <a:ext cx="47549" cy="1524305"/>
          </a:xfrm>
          <a:prstGeom prst="roundRect">
            <a:avLst>
              <a:gd name="adj" fmla="val 288460"/>
            </a:avLst>
          </a:prstGeom>
          <a:solidFill>
            <a:srgbClr val="3B82F6"/>
          </a:solidFill>
          <a:ln w="12700">
            <a:solidFill>
              <a:srgbClr val="3B82F6">
                <a:alpha val="0"/>
              </a:srgbClr>
            </a:solidFill>
            <a:prstDash val="solid"/>
          </a:ln>
        </p:spPr>
      </p:sp>
      <p:sp>
        <p:nvSpPr>
          <p:cNvPr id="7" name="Shape 4"/>
          <p:cNvSpPr/>
          <p:nvPr/>
        </p:nvSpPr>
        <p:spPr>
          <a:xfrm>
            <a:off x="4324198" y="1524305"/>
            <a:ext cx="3619195" cy="1524305"/>
          </a:xfrm>
          <a:prstGeom prst="roundRect">
            <a:avLst>
              <a:gd name="adj" fmla="val 8998"/>
            </a:avLst>
          </a:prstGeom>
          <a:solidFill>
            <a:srgbClr val="FFFFFF"/>
          </a:solidFill>
          <a:effectLst>
            <a:outerShdw blurRad="114300" dist="38100" dir="16200000" algn="bl" rotWithShape="0">
              <a:srgbClr val="000000">
                <a:alpha val="5000"/>
              </a:srgbClr>
            </a:outerShdw>
          </a:effectLst>
        </p:spPr>
      </p:sp>
      <p:sp>
        <p:nvSpPr>
          <p:cNvPr id="8" name="Shape 5"/>
          <p:cNvSpPr/>
          <p:nvPr/>
        </p:nvSpPr>
        <p:spPr>
          <a:xfrm>
            <a:off x="4324198" y="1524305"/>
            <a:ext cx="47549" cy="1524305"/>
          </a:xfrm>
          <a:prstGeom prst="roundRect">
            <a:avLst>
              <a:gd name="adj" fmla="val 288460"/>
            </a:avLst>
          </a:prstGeom>
          <a:solidFill>
            <a:srgbClr val="10B981"/>
          </a:solidFill>
          <a:ln w="12700">
            <a:solidFill>
              <a:srgbClr val="10B981">
                <a:alpha val="0"/>
              </a:srgbClr>
            </a:solidFill>
            <a:prstDash val="solid"/>
          </a:ln>
        </p:spPr>
      </p:sp>
      <p:sp>
        <p:nvSpPr>
          <p:cNvPr id="9" name="Shape 6"/>
          <p:cNvSpPr/>
          <p:nvPr/>
        </p:nvSpPr>
        <p:spPr>
          <a:xfrm>
            <a:off x="8076895" y="1524305"/>
            <a:ext cx="3619195" cy="1524305"/>
          </a:xfrm>
          <a:prstGeom prst="roundRect">
            <a:avLst>
              <a:gd name="adj" fmla="val 8998"/>
            </a:avLst>
          </a:prstGeom>
          <a:solidFill>
            <a:srgbClr val="FFFFFF"/>
          </a:solidFill>
          <a:effectLst>
            <a:outerShdw blurRad="114300" dist="38100" dir="16200000" algn="bl" rotWithShape="0">
              <a:srgbClr val="000000">
                <a:alpha val="5000"/>
              </a:srgbClr>
            </a:outerShdw>
          </a:effectLst>
        </p:spPr>
      </p:sp>
      <p:sp>
        <p:nvSpPr>
          <p:cNvPr id="10" name="Shape 7"/>
          <p:cNvSpPr/>
          <p:nvPr/>
        </p:nvSpPr>
        <p:spPr>
          <a:xfrm>
            <a:off x="8076895" y="1524305"/>
            <a:ext cx="47549" cy="1524305"/>
          </a:xfrm>
          <a:prstGeom prst="roundRect">
            <a:avLst>
              <a:gd name="adj" fmla="val 288460"/>
            </a:avLst>
          </a:prstGeom>
          <a:solidFill>
            <a:srgbClr val="F59E0B"/>
          </a:solidFill>
          <a:ln w="12700">
            <a:solidFill>
              <a:srgbClr val="F59E0B">
                <a:alpha val="0"/>
              </a:srgbClr>
            </a:solidFill>
            <a:prstDash val="solid"/>
          </a:ln>
        </p:spPr>
      </p:sp>
      <p:sp>
        <p:nvSpPr>
          <p:cNvPr id="11" name="Shape 8"/>
          <p:cNvSpPr/>
          <p:nvPr/>
        </p:nvSpPr>
        <p:spPr>
          <a:xfrm>
            <a:off x="571500" y="3276295"/>
            <a:ext cx="7448702" cy="2495398"/>
          </a:xfrm>
          <a:prstGeom prst="roundRect">
            <a:avLst>
              <a:gd name="adj" fmla="val 3357"/>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sp>
        <p:nvSpPr>
          <p:cNvPr id="12" name="Shape 9"/>
          <p:cNvSpPr/>
          <p:nvPr/>
        </p:nvSpPr>
        <p:spPr>
          <a:xfrm>
            <a:off x="8229600" y="3276295"/>
            <a:ext cx="3390595" cy="2495398"/>
          </a:xfrm>
          <a:prstGeom prst="roundRect">
            <a:avLst>
              <a:gd name="adj" fmla="val 3357"/>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pic>
        <p:nvPicPr>
          <p:cNvPr id="13" name="Image 1" descr="preencoded.png"/>
          <p:cNvPicPr>
            <a:picLocks noChangeAspect="1"/>
          </p:cNvPicPr>
          <p:nvPr/>
        </p:nvPicPr>
        <p:blipFill>
          <a:blip r:embed="rId2"/>
          <a:srcRect t="-32" b="-32"/>
          <a:stretch>
            <a:fillRect/>
          </a:stretch>
        </p:blipFill>
        <p:spPr>
          <a:xfrm>
            <a:off x="571500" y="5943600"/>
            <a:ext cx="11048695" cy="743407"/>
          </a:xfrm>
          <a:prstGeom prst="rect">
            <a:avLst/>
          </a:prstGeom>
        </p:spPr>
      </p:pic>
      <p:sp>
        <p:nvSpPr>
          <p:cNvPr id="14" name="Shape 10"/>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5" name="Image 2" descr="preencoded.png"/>
          <p:cNvPicPr>
            <a:picLocks noChangeAspect="1"/>
          </p:cNvPicPr>
          <p:nvPr/>
        </p:nvPicPr>
        <p:blipFill>
          <a:blip r:embed="rId3"/>
          <a:srcRect/>
          <a:stretch>
            <a:fillRect/>
          </a:stretch>
        </p:blipFill>
        <p:spPr>
          <a:xfrm>
            <a:off x="705002" y="286207"/>
            <a:ext cx="190195" cy="190195"/>
          </a:xfrm>
          <a:prstGeom prst="rect">
            <a:avLst/>
          </a:prstGeom>
        </p:spPr>
      </p:pic>
      <p:sp>
        <p:nvSpPr>
          <p:cNvPr id="16" name="Text 11"/>
          <p:cNvSpPr txBox="1"/>
          <p:nvPr/>
        </p:nvSpPr>
        <p:spPr>
          <a:xfrm>
            <a:off x="1218895" y="181051"/>
            <a:ext cx="7620610" cy="438912"/>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Earned Value Analysis (EVM)</a:t>
            </a:r>
            <a:endParaRPr lang="en-US" sz="2400" dirty="0">
              <a:ea typeface="Noto Sans SC" panose="020B0200000000000000" pitchFamily="34" charset="-122"/>
              <a:cs typeface="Noto Sans SC" panose="020B0200000000000000" pitchFamily="34" charset="-122"/>
            </a:endParaRPr>
          </a:p>
        </p:txBody>
      </p:sp>
      <p:pic>
        <p:nvPicPr>
          <p:cNvPr id="17" name="Image 3" descr="preencoded.png"/>
          <p:cNvPicPr>
            <a:picLocks noChangeAspect="1"/>
          </p:cNvPicPr>
          <p:nvPr/>
        </p:nvPicPr>
        <p:blipFill>
          <a:blip r:embed="rId4"/>
          <a:srcRect t="-476" b="-476"/>
          <a:stretch>
            <a:fillRect/>
          </a:stretch>
        </p:blipFill>
        <p:spPr>
          <a:xfrm>
            <a:off x="571500" y="990295"/>
            <a:ext cx="276149" cy="247802"/>
          </a:xfrm>
          <a:prstGeom prst="rect">
            <a:avLst/>
          </a:prstGeom>
        </p:spPr>
      </p:pic>
      <p:sp>
        <p:nvSpPr>
          <p:cNvPr id="18" name="Text 12"/>
          <p:cNvSpPr txBox="1"/>
          <p:nvPr/>
        </p:nvSpPr>
        <p:spPr>
          <a:xfrm>
            <a:off x="952805" y="952805"/>
            <a:ext cx="10478110" cy="324612"/>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Project Performance Metrics Analysis &amp; Cost-Schedule Control</a:t>
            </a:r>
            <a:endParaRPr lang="en-US" sz="1900" dirty="0">
              <a:ea typeface="Noto Sans SC" panose="020B0200000000000000" pitchFamily="34" charset="-122"/>
              <a:cs typeface="Noto Sans SC" panose="020B0200000000000000" pitchFamily="34" charset="-122"/>
            </a:endParaRPr>
          </a:p>
        </p:txBody>
      </p:sp>
      <p:sp>
        <p:nvSpPr>
          <p:cNvPr id="19" name="Shape 13"/>
          <p:cNvSpPr/>
          <p:nvPr/>
        </p:nvSpPr>
        <p:spPr>
          <a:xfrm>
            <a:off x="800100" y="1752905"/>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20" name="Image 4" descr="preencoded.png"/>
          <p:cNvPicPr>
            <a:picLocks noChangeAspect="1"/>
          </p:cNvPicPr>
          <p:nvPr/>
        </p:nvPicPr>
        <p:blipFill>
          <a:blip r:embed="rId5"/>
          <a:srcRect t="-842" b="-842"/>
          <a:stretch>
            <a:fillRect/>
          </a:stretch>
        </p:blipFill>
        <p:spPr>
          <a:xfrm>
            <a:off x="895198" y="1857146"/>
            <a:ext cx="190195" cy="171907"/>
          </a:xfrm>
          <a:prstGeom prst="rect">
            <a:avLst/>
          </a:prstGeom>
        </p:spPr>
      </p:pic>
      <p:sp>
        <p:nvSpPr>
          <p:cNvPr id="21" name="Text 14"/>
          <p:cNvSpPr txBox="1"/>
          <p:nvPr/>
        </p:nvSpPr>
        <p:spPr>
          <a:xfrm>
            <a:off x="1295705" y="1752905"/>
            <a:ext cx="2572207" cy="210312"/>
          </a:xfrm>
          <a:prstGeom prst="rect">
            <a:avLst/>
          </a:prstGeom>
          <a:noFill/>
        </p:spPr>
        <p:txBody>
          <a:bodyPr wrap="square" lIns="0" tIns="0" rIns="0" bIns="0" rtlCol="0" anchor="ctr"/>
          <a:lstStyle/>
          <a:p>
            <a:pPr marL="0" indent="0" algn="l">
              <a:buNone/>
            </a:pPr>
            <a:r>
              <a:rPr lang="en-US" sz="13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Planned Value PV</a:t>
            </a:r>
            <a:endParaRPr lang="en-US" sz="1300" dirty="0">
              <a:ea typeface="Noto Sans SC" panose="020B0200000000000000" pitchFamily="34" charset="-122"/>
              <a:cs typeface="Noto Sans SC" panose="020B0200000000000000" pitchFamily="34" charset="-122"/>
            </a:endParaRPr>
          </a:p>
        </p:txBody>
      </p:sp>
      <p:sp>
        <p:nvSpPr>
          <p:cNvPr id="22" name="Text 15"/>
          <p:cNvSpPr txBox="1"/>
          <p:nvPr/>
        </p:nvSpPr>
        <p:spPr>
          <a:xfrm>
            <a:off x="1295705" y="2438705"/>
            <a:ext cx="2572207" cy="342900"/>
          </a:xfrm>
          <a:prstGeom prst="rect">
            <a:avLst/>
          </a:prstGeom>
          <a:noFill/>
        </p:spPr>
        <p:txBody>
          <a:bodyPr wrap="square" lIns="0" tIns="0" rIns="0" bIns="0" rtlCol="0" anchor="ctr"/>
          <a:lstStyle/>
          <a:p>
            <a:pPr marL="0" indent="0" algn="l">
              <a:buNone/>
            </a:pPr>
            <a:r>
              <a:rPr lang="en-US" sz="27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70</a:t>
            </a:r>
            <a:endParaRPr lang="en-US" sz="2700" dirty="0">
              <a:ea typeface="Noto Sans SC" panose="020B0200000000000000" pitchFamily="34" charset="-122"/>
              <a:cs typeface="Noto Sans SC" panose="020B0200000000000000" pitchFamily="34" charset="-122"/>
            </a:endParaRPr>
          </a:p>
        </p:txBody>
      </p:sp>
      <p:sp>
        <p:nvSpPr>
          <p:cNvPr id="23" name="Text 16"/>
          <p:cNvSpPr txBox="1"/>
          <p:nvPr/>
        </p:nvSpPr>
        <p:spPr>
          <a:xfrm>
            <a:off x="1295705" y="2819095"/>
            <a:ext cx="2572207" cy="191110"/>
          </a:xfrm>
          <a:prstGeom prst="rect">
            <a:avLst/>
          </a:prstGeom>
          <a:noFill/>
        </p:spPr>
        <p:txBody>
          <a:bodyPr wrap="square" lIns="0" tIns="0" rIns="0" bIns="0" rtlCol="0" anchor="ctr"/>
          <a:lstStyle/>
          <a:p>
            <a:pPr marL="0" indent="0" algn="l">
              <a:buNone/>
            </a:pPr>
            <a:r>
              <a:rPr lang="en-US" sz="10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Planned work value</a:t>
            </a:r>
            <a:endParaRPr lang="en-US" sz="1000" dirty="0">
              <a:ea typeface="Noto Sans SC" panose="020B0200000000000000" pitchFamily="34" charset="-122"/>
              <a:cs typeface="Noto Sans SC" panose="020B0200000000000000" pitchFamily="34" charset="-122"/>
            </a:endParaRPr>
          </a:p>
        </p:txBody>
      </p:sp>
      <p:sp>
        <p:nvSpPr>
          <p:cNvPr id="24" name="Shape 17"/>
          <p:cNvSpPr/>
          <p:nvPr/>
        </p:nvSpPr>
        <p:spPr>
          <a:xfrm>
            <a:off x="4552798" y="1752905"/>
            <a:ext cx="381305" cy="381305"/>
          </a:xfrm>
          <a:prstGeom prst="roundRect">
            <a:avLst>
              <a:gd name="adj" fmla="val 95923"/>
            </a:avLst>
          </a:prstGeom>
          <a:solidFill>
            <a:srgbClr val="10B981">
              <a:alpha val="10000"/>
            </a:srgbClr>
          </a:solidFill>
          <a:ln w="12700">
            <a:solidFill>
              <a:srgbClr val="FFFFFF">
                <a:alpha val="0"/>
              </a:srgbClr>
            </a:solidFill>
            <a:prstDash val="solid"/>
          </a:ln>
        </p:spPr>
      </p:sp>
      <p:pic>
        <p:nvPicPr>
          <p:cNvPr id="25" name="Image 5" descr="preencoded.png"/>
          <p:cNvPicPr>
            <a:picLocks noChangeAspect="1"/>
          </p:cNvPicPr>
          <p:nvPr/>
        </p:nvPicPr>
        <p:blipFill>
          <a:blip r:embed="rId6"/>
          <a:srcRect/>
          <a:stretch>
            <a:fillRect/>
          </a:stretch>
        </p:blipFill>
        <p:spPr>
          <a:xfrm>
            <a:off x="4657954" y="1857146"/>
            <a:ext cx="171907" cy="171907"/>
          </a:xfrm>
          <a:prstGeom prst="rect">
            <a:avLst/>
          </a:prstGeom>
        </p:spPr>
      </p:pic>
      <p:sp>
        <p:nvSpPr>
          <p:cNvPr id="26" name="Text 18"/>
          <p:cNvSpPr txBox="1"/>
          <p:nvPr/>
        </p:nvSpPr>
        <p:spPr>
          <a:xfrm>
            <a:off x="5048402" y="1752905"/>
            <a:ext cx="2572207" cy="210312"/>
          </a:xfrm>
          <a:prstGeom prst="rect">
            <a:avLst/>
          </a:prstGeom>
          <a:noFill/>
        </p:spPr>
        <p:txBody>
          <a:bodyPr wrap="square" lIns="0" tIns="0" rIns="0" bIns="0" rtlCol="0" anchor="ctr"/>
          <a:lstStyle/>
          <a:p>
            <a:pPr marL="0" indent="0" algn="l">
              <a:buNone/>
            </a:pPr>
            <a:r>
              <a:rPr lang="en-US" sz="13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Earned Value EV</a:t>
            </a:r>
            <a:endParaRPr lang="en-US" sz="1300" dirty="0">
              <a:ea typeface="Noto Sans SC" panose="020B0200000000000000" pitchFamily="34" charset="-122"/>
              <a:cs typeface="Noto Sans SC" panose="020B0200000000000000" pitchFamily="34" charset="-122"/>
            </a:endParaRPr>
          </a:p>
        </p:txBody>
      </p:sp>
      <p:sp>
        <p:nvSpPr>
          <p:cNvPr id="27" name="Text 19"/>
          <p:cNvSpPr txBox="1"/>
          <p:nvPr/>
        </p:nvSpPr>
        <p:spPr>
          <a:xfrm>
            <a:off x="5048402" y="2438705"/>
            <a:ext cx="2572207" cy="342900"/>
          </a:xfrm>
          <a:prstGeom prst="rect">
            <a:avLst/>
          </a:prstGeom>
          <a:noFill/>
        </p:spPr>
        <p:txBody>
          <a:bodyPr wrap="square" lIns="0" tIns="0" rIns="0" bIns="0" rtlCol="0" anchor="ctr"/>
          <a:lstStyle/>
          <a:p>
            <a:pPr marL="0" indent="0" algn="l">
              <a:buNone/>
            </a:pPr>
            <a:r>
              <a:rPr lang="en-US" sz="2700" b="1" dirty="0">
                <a:solidFill>
                  <a:srgbClr val="10B981"/>
                </a:solidFill>
                <a:latin typeface="Noto Sans SC" panose="020B0200000000000000" pitchFamily="34" charset="-122"/>
                <a:ea typeface="Noto Sans SC" panose="020B0200000000000000" pitchFamily="34" charset="-122"/>
                <a:cs typeface="Noto Sans SC" panose="020B0200000000000000" pitchFamily="34" charset="-122"/>
              </a:rPr>
              <a:t>60</a:t>
            </a:r>
            <a:endParaRPr lang="en-US" sz="2700" dirty="0">
              <a:ea typeface="Noto Sans SC" panose="020B0200000000000000" pitchFamily="34" charset="-122"/>
              <a:cs typeface="Noto Sans SC" panose="020B0200000000000000" pitchFamily="34" charset="-122"/>
            </a:endParaRPr>
          </a:p>
        </p:txBody>
      </p:sp>
      <p:sp>
        <p:nvSpPr>
          <p:cNvPr id="28" name="Text 20"/>
          <p:cNvSpPr txBox="1"/>
          <p:nvPr/>
        </p:nvSpPr>
        <p:spPr>
          <a:xfrm>
            <a:off x="5048402" y="2819095"/>
            <a:ext cx="2572207" cy="191110"/>
          </a:xfrm>
          <a:prstGeom prst="rect">
            <a:avLst/>
          </a:prstGeom>
          <a:noFill/>
        </p:spPr>
        <p:txBody>
          <a:bodyPr wrap="square" lIns="0" tIns="0" rIns="0" bIns="0" rtlCol="0" anchor="ctr"/>
          <a:lstStyle/>
          <a:p>
            <a:pPr marL="0" indent="0" algn="l">
              <a:buNone/>
            </a:pPr>
            <a:r>
              <a:rPr lang="en-US" sz="10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Actual completed work value</a:t>
            </a:r>
            <a:endParaRPr lang="en-US" sz="1000" dirty="0">
              <a:ea typeface="Noto Sans SC" panose="020B0200000000000000" pitchFamily="34" charset="-122"/>
              <a:cs typeface="Noto Sans SC" panose="020B0200000000000000" pitchFamily="34" charset="-122"/>
            </a:endParaRPr>
          </a:p>
        </p:txBody>
      </p:sp>
      <p:sp>
        <p:nvSpPr>
          <p:cNvPr id="29" name="Shape 21"/>
          <p:cNvSpPr/>
          <p:nvPr/>
        </p:nvSpPr>
        <p:spPr>
          <a:xfrm>
            <a:off x="8305495" y="1752905"/>
            <a:ext cx="381305" cy="381305"/>
          </a:xfrm>
          <a:prstGeom prst="roundRect">
            <a:avLst>
              <a:gd name="adj" fmla="val 95923"/>
            </a:avLst>
          </a:prstGeom>
          <a:solidFill>
            <a:srgbClr val="F59E0B">
              <a:alpha val="10000"/>
            </a:srgbClr>
          </a:solidFill>
          <a:ln w="12700">
            <a:solidFill>
              <a:srgbClr val="FFFFFF">
                <a:alpha val="0"/>
              </a:srgbClr>
            </a:solidFill>
            <a:prstDash val="solid"/>
          </a:ln>
        </p:spPr>
      </p:sp>
      <p:pic>
        <p:nvPicPr>
          <p:cNvPr id="30" name="Image 6" descr="preencoded.png"/>
          <p:cNvPicPr>
            <a:picLocks noChangeAspect="1"/>
          </p:cNvPicPr>
          <p:nvPr/>
        </p:nvPicPr>
        <p:blipFill>
          <a:blip r:embed="rId7"/>
          <a:srcRect t="-1087" b="-1087"/>
          <a:stretch>
            <a:fillRect/>
          </a:stretch>
        </p:blipFill>
        <p:spPr>
          <a:xfrm>
            <a:off x="8443570" y="1857146"/>
            <a:ext cx="105156" cy="171907"/>
          </a:xfrm>
          <a:prstGeom prst="rect">
            <a:avLst/>
          </a:prstGeom>
        </p:spPr>
      </p:pic>
      <p:sp>
        <p:nvSpPr>
          <p:cNvPr id="31" name="Text 22"/>
          <p:cNvSpPr txBox="1"/>
          <p:nvPr/>
        </p:nvSpPr>
        <p:spPr>
          <a:xfrm>
            <a:off x="8801100" y="1752905"/>
            <a:ext cx="2572207" cy="210312"/>
          </a:xfrm>
          <a:prstGeom prst="rect">
            <a:avLst/>
          </a:prstGeom>
          <a:noFill/>
        </p:spPr>
        <p:txBody>
          <a:bodyPr wrap="square" lIns="0" tIns="0" rIns="0" bIns="0" rtlCol="0" anchor="ctr"/>
          <a:lstStyle/>
          <a:p>
            <a:pPr marL="0" indent="0" algn="l">
              <a:buNone/>
            </a:pPr>
            <a:r>
              <a:rPr lang="en-US" sz="13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Actual Cost AC</a:t>
            </a:r>
            <a:endParaRPr lang="en-US" sz="1300" dirty="0">
              <a:ea typeface="Noto Sans SC" panose="020B0200000000000000" pitchFamily="34" charset="-122"/>
              <a:cs typeface="Noto Sans SC" panose="020B0200000000000000" pitchFamily="34" charset="-122"/>
            </a:endParaRPr>
          </a:p>
        </p:txBody>
      </p:sp>
      <p:sp>
        <p:nvSpPr>
          <p:cNvPr id="32" name="Text 23"/>
          <p:cNvSpPr txBox="1"/>
          <p:nvPr/>
        </p:nvSpPr>
        <p:spPr>
          <a:xfrm>
            <a:off x="8801100" y="2438705"/>
            <a:ext cx="2572207" cy="342900"/>
          </a:xfrm>
          <a:prstGeom prst="rect">
            <a:avLst/>
          </a:prstGeom>
          <a:noFill/>
        </p:spPr>
        <p:txBody>
          <a:bodyPr wrap="square" lIns="0" tIns="0" rIns="0" bIns="0" rtlCol="0" anchor="ctr"/>
          <a:lstStyle/>
          <a:p>
            <a:pPr marL="0" indent="0" algn="l">
              <a:buNone/>
            </a:pPr>
            <a:r>
              <a:rPr lang="en-US" sz="2700" b="1" dirty="0">
                <a:solidFill>
                  <a:srgbClr val="F59E0B"/>
                </a:solidFill>
                <a:latin typeface="Noto Sans SC" panose="020B0200000000000000" pitchFamily="34" charset="-122"/>
                <a:ea typeface="Noto Sans SC" panose="020B0200000000000000" pitchFamily="34" charset="-122"/>
                <a:cs typeface="Noto Sans SC" panose="020B0200000000000000" pitchFamily="34" charset="-122"/>
              </a:rPr>
              <a:t>66</a:t>
            </a:r>
            <a:endParaRPr lang="en-US" sz="2700" dirty="0">
              <a:ea typeface="Noto Sans SC" panose="020B0200000000000000" pitchFamily="34" charset="-122"/>
              <a:cs typeface="Noto Sans SC" panose="020B0200000000000000" pitchFamily="34" charset="-122"/>
            </a:endParaRPr>
          </a:p>
        </p:txBody>
      </p:sp>
      <p:sp>
        <p:nvSpPr>
          <p:cNvPr id="33" name="Text 24"/>
          <p:cNvSpPr txBox="1"/>
          <p:nvPr/>
        </p:nvSpPr>
        <p:spPr>
          <a:xfrm>
            <a:off x="8801100" y="2819095"/>
            <a:ext cx="2572207" cy="191110"/>
          </a:xfrm>
          <a:prstGeom prst="rect">
            <a:avLst/>
          </a:prstGeom>
          <a:noFill/>
        </p:spPr>
        <p:txBody>
          <a:bodyPr wrap="square" lIns="0" tIns="0" rIns="0" bIns="0" rtlCol="0" anchor="ctr"/>
          <a:lstStyle/>
          <a:p>
            <a:pPr marL="0" indent="0" algn="l">
              <a:buNone/>
            </a:pPr>
            <a:r>
              <a:rPr lang="en-US" sz="10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Actual cost spent</a:t>
            </a:r>
            <a:endParaRPr lang="en-US" sz="1000" dirty="0">
              <a:ea typeface="Noto Sans SC" panose="020B0200000000000000" pitchFamily="34" charset="-122"/>
              <a:cs typeface="Noto Sans SC" panose="020B0200000000000000" pitchFamily="34" charset="-122"/>
            </a:endParaRPr>
          </a:p>
        </p:txBody>
      </p:sp>
      <p:sp>
        <p:nvSpPr>
          <p:cNvPr id="34" name="Text 25"/>
          <p:cNvSpPr txBox="1"/>
          <p:nvPr/>
        </p:nvSpPr>
        <p:spPr>
          <a:xfrm>
            <a:off x="761695" y="3467405"/>
            <a:ext cx="1644091" cy="247802"/>
          </a:xfrm>
          <a:prstGeom prst="rect">
            <a:avLst/>
          </a:prstGeom>
          <a:noFill/>
        </p:spPr>
        <p:txBody>
          <a:bodyPr wrap="square" lIns="0" tIns="0" rIns="0" bIns="0" rtlCol="0" anchor="ctr"/>
          <a:lstStyle/>
          <a:p>
            <a:pPr marL="0" indent="0" algn="l">
              <a:buNone/>
            </a:pPr>
            <a:r>
              <a:rPr lang="en-US" sz="13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EVM Trend Chart</a:t>
            </a:r>
            <a:endParaRPr lang="en-US" sz="1300" dirty="0">
              <a:ea typeface="Noto Sans SC" panose="020B0200000000000000" pitchFamily="34" charset="-122"/>
              <a:cs typeface="Noto Sans SC" panose="020B0200000000000000" pitchFamily="34" charset="-122"/>
            </a:endParaRPr>
          </a:p>
        </p:txBody>
      </p:sp>
      <p:sp>
        <p:nvSpPr>
          <p:cNvPr id="35" name="Shape 26"/>
          <p:cNvSpPr/>
          <p:nvPr/>
        </p:nvSpPr>
        <p:spPr>
          <a:xfrm>
            <a:off x="6453835" y="3534156"/>
            <a:ext cx="114300" cy="114300"/>
          </a:xfrm>
          <a:prstGeom prst="roundRect">
            <a:avLst>
              <a:gd name="adj" fmla="val 266667"/>
            </a:avLst>
          </a:prstGeom>
          <a:solidFill>
            <a:srgbClr val="3B82F6"/>
          </a:solidFill>
          <a:ln w="12700">
            <a:solidFill>
              <a:srgbClr val="FFFFFF">
                <a:alpha val="0"/>
              </a:srgbClr>
            </a:solidFill>
            <a:prstDash val="solid"/>
          </a:ln>
        </p:spPr>
      </p:sp>
      <p:sp>
        <p:nvSpPr>
          <p:cNvPr id="36" name="Text 27"/>
          <p:cNvSpPr txBox="1"/>
          <p:nvPr/>
        </p:nvSpPr>
        <p:spPr>
          <a:xfrm>
            <a:off x="6644030" y="3495751"/>
            <a:ext cx="162763" cy="191110"/>
          </a:xfrm>
          <a:prstGeom prst="rect">
            <a:avLst/>
          </a:prstGeom>
          <a:noFill/>
        </p:spPr>
        <p:txBody>
          <a:bodyPr wrap="square" lIns="0" tIns="0" rIns="0" bIns="0" rtlCol="0" anchor="ctr"/>
          <a:lstStyle/>
          <a:p>
            <a:pPr marL="0" indent="0" algn="l">
              <a:buNone/>
            </a:pPr>
            <a:r>
              <a:rPr lang="en-US" sz="10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PV</a:t>
            </a:r>
            <a:endParaRPr lang="en-US" sz="1000" dirty="0">
              <a:ea typeface="Noto Sans SC" panose="020B0200000000000000" pitchFamily="34" charset="-122"/>
              <a:cs typeface="Noto Sans SC" panose="020B0200000000000000" pitchFamily="34" charset="-122"/>
            </a:endParaRPr>
          </a:p>
        </p:txBody>
      </p:sp>
      <p:sp>
        <p:nvSpPr>
          <p:cNvPr id="37" name="Shape 28"/>
          <p:cNvSpPr/>
          <p:nvPr/>
        </p:nvSpPr>
        <p:spPr>
          <a:xfrm>
            <a:off x="6957670" y="3534156"/>
            <a:ext cx="114300" cy="114300"/>
          </a:xfrm>
          <a:prstGeom prst="roundRect">
            <a:avLst>
              <a:gd name="adj" fmla="val 266667"/>
            </a:avLst>
          </a:prstGeom>
          <a:solidFill>
            <a:srgbClr val="10B981"/>
          </a:solidFill>
          <a:ln w="12700">
            <a:solidFill>
              <a:srgbClr val="FFFFFF">
                <a:alpha val="0"/>
              </a:srgbClr>
            </a:solidFill>
            <a:prstDash val="solid"/>
          </a:ln>
        </p:spPr>
      </p:sp>
      <p:sp>
        <p:nvSpPr>
          <p:cNvPr id="38" name="Text 29"/>
          <p:cNvSpPr txBox="1"/>
          <p:nvPr/>
        </p:nvSpPr>
        <p:spPr>
          <a:xfrm>
            <a:off x="7147865" y="3495751"/>
            <a:ext cx="162763" cy="191110"/>
          </a:xfrm>
          <a:prstGeom prst="rect">
            <a:avLst/>
          </a:prstGeom>
          <a:noFill/>
        </p:spPr>
        <p:txBody>
          <a:bodyPr wrap="square" lIns="0" tIns="0" rIns="0" bIns="0" rtlCol="0" anchor="ctr"/>
          <a:lstStyle/>
          <a:p>
            <a:pPr marL="0" indent="0" algn="l">
              <a:buNone/>
            </a:pPr>
            <a:r>
              <a:rPr lang="en-US" sz="10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EV</a:t>
            </a:r>
            <a:endParaRPr lang="en-US" sz="1000" dirty="0">
              <a:ea typeface="Noto Sans SC" panose="020B0200000000000000" pitchFamily="34" charset="-122"/>
              <a:cs typeface="Noto Sans SC" panose="020B0200000000000000" pitchFamily="34" charset="-122"/>
            </a:endParaRPr>
          </a:p>
        </p:txBody>
      </p:sp>
      <p:sp>
        <p:nvSpPr>
          <p:cNvPr id="39" name="Shape 30"/>
          <p:cNvSpPr/>
          <p:nvPr/>
        </p:nvSpPr>
        <p:spPr>
          <a:xfrm>
            <a:off x="7456018" y="3534156"/>
            <a:ext cx="114300" cy="114300"/>
          </a:xfrm>
          <a:prstGeom prst="roundRect">
            <a:avLst>
              <a:gd name="adj" fmla="val 266667"/>
            </a:avLst>
          </a:prstGeom>
          <a:solidFill>
            <a:srgbClr val="F59E0B"/>
          </a:solidFill>
          <a:ln w="12700">
            <a:solidFill>
              <a:srgbClr val="FFFFFF">
                <a:alpha val="0"/>
              </a:srgbClr>
            </a:solidFill>
            <a:prstDash val="solid"/>
          </a:ln>
        </p:spPr>
      </p:sp>
      <p:sp>
        <p:nvSpPr>
          <p:cNvPr id="40" name="Text 31"/>
          <p:cNvSpPr txBox="1"/>
          <p:nvPr/>
        </p:nvSpPr>
        <p:spPr>
          <a:xfrm>
            <a:off x="7646213" y="3495751"/>
            <a:ext cx="171907" cy="191110"/>
          </a:xfrm>
          <a:prstGeom prst="rect">
            <a:avLst/>
          </a:prstGeom>
          <a:noFill/>
        </p:spPr>
        <p:txBody>
          <a:bodyPr wrap="square" lIns="0" tIns="0" rIns="0" bIns="0" rtlCol="0" anchor="ctr"/>
          <a:lstStyle/>
          <a:p>
            <a:pPr marL="0" indent="0" algn="l">
              <a:buNone/>
            </a:pPr>
            <a:r>
              <a:rPr lang="en-US" sz="10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AC</a:t>
            </a:r>
            <a:endParaRPr lang="en-US" sz="1000" dirty="0">
              <a:ea typeface="Noto Sans SC" panose="020B0200000000000000" pitchFamily="34" charset="-122"/>
              <a:cs typeface="Noto Sans SC" panose="020B0200000000000000" pitchFamily="34" charset="-122"/>
            </a:endParaRPr>
          </a:p>
        </p:txBody>
      </p:sp>
      <p:pic>
        <p:nvPicPr>
          <p:cNvPr id="41" name="Image 7" descr="preencoded.png"/>
          <p:cNvPicPr>
            <a:picLocks noChangeAspect="1"/>
          </p:cNvPicPr>
          <p:nvPr/>
        </p:nvPicPr>
        <p:blipFill>
          <a:blip r:embed="rId8"/>
          <a:srcRect t="-2" b="-2"/>
          <a:stretch>
            <a:fillRect/>
          </a:stretch>
        </p:blipFill>
        <p:spPr>
          <a:xfrm>
            <a:off x="761695" y="3810305"/>
            <a:ext cx="7048195" cy="1714500"/>
          </a:xfrm>
          <a:prstGeom prst="rect">
            <a:avLst/>
          </a:prstGeom>
        </p:spPr>
      </p:pic>
      <p:sp>
        <p:nvSpPr>
          <p:cNvPr id="42" name="Text 32"/>
          <p:cNvSpPr txBox="1"/>
          <p:nvPr/>
        </p:nvSpPr>
        <p:spPr>
          <a:xfrm>
            <a:off x="8419795" y="3467405"/>
            <a:ext cx="2991002" cy="247802"/>
          </a:xfrm>
          <a:prstGeom prst="rect">
            <a:avLst/>
          </a:prstGeom>
          <a:noFill/>
        </p:spPr>
        <p:txBody>
          <a:bodyPr wrap="square" lIns="0" tIns="0" rIns="0" bIns="0" rtlCol="0" anchor="ctr"/>
          <a:lstStyle/>
          <a:p>
            <a:pPr marL="0" indent="0" algn="l">
              <a:buNone/>
            </a:pPr>
            <a:r>
              <a:rPr lang="en-US" sz="13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Key Metrics</a:t>
            </a:r>
            <a:endParaRPr lang="en-US" sz="1300" dirty="0">
              <a:ea typeface="Noto Sans SC" panose="020B0200000000000000" pitchFamily="34" charset="-122"/>
              <a:cs typeface="Noto Sans SC" panose="020B0200000000000000" pitchFamily="34" charset="-122"/>
            </a:endParaRPr>
          </a:p>
        </p:txBody>
      </p:sp>
      <p:sp>
        <p:nvSpPr>
          <p:cNvPr id="43" name="Text 33"/>
          <p:cNvSpPr txBox="1"/>
          <p:nvPr/>
        </p:nvSpPr>
        <p:spPr>
          <a:xfrm>
            <a:off x="8419795" y="3810305"/>
            <a:ext cx="1428293" cy="181051"/>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CPI (Cost Perf. Index)</a:t>
            </a:r>
            <a:endParaRPr lang="en-US" sz="900" dirty="0">
              <a:ea typeface="Noto Sans SC" panose="020B0200000000000000" pitchFamily="34" charset="-122"/>
              <a:cs typeface="Noto Sans SC" panose="020B0200000000000000" pitchFamily="34" charset="-122"/>
            </a:endParaRPr>
          </a:p>
        </p:txBody>
      </p:sp>
      <p:sp>
        <p:nvSpPr>
          <p:cNvPr id="44" name="Text 34"/>
          <p:cNvSpPr txBox="1"/>
          <p:nvPr/>
        </p:nvSpPr>
        <p:spPr>
          <a:xfrm>
            <a:off x="8419795" y="3991356"/>
            <a:ext cx="1200607" cy="305410"/>
          </a:xfrm>
          <a:prstGeom prst="rect">
            <a:avLst/>
          </a:prstGeom>
          <a:noFill/>
        </p:spPr>
        <p:txBody>
          <a:bodyPr wrap="square" lIns="0" tIns="0" rIns="0" bIns="0" rtlCol="0" anchor="ctr"/>
          <a:lstStyle/>
          <a:p>
            <a:pPr marL="0" indent="0" algn="l">
              <a:buNone/>
            </a:pPr>
            <a:r>
              <a:rPr lang="en-US" sz="16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0.91</a:t>
            </a:r>
            <a:endParaRPr lang="en-US" sz="1600" dirty="0">
              <a:ea typeface="Noto Sans SC" panose="020B0200000000000000" pitchFamily="34" charset="-122"/>
              <a:cs typeface="Noto Sans SC" panose="020B0200000000000000" pitchFamily="34" charset="-122"/>
            </a:endParaRPr>
          </a:p>
        </p:txBody>
      </p:sp>
      <p:sp>
        <p:nvSpPr>
          <p:cNvPr id="45" name="Text 35"/>
          <p:cNvSpPr txBox="1"/>
          <p:nvPr/>
        </p:nvSpPr>
        <p:spPr>
          <a:xfrm>
            <a:off x="10340035" y="3886200"/>
            <a:ext cx="1077163" cy="152705"/>
          </a:xfrm>
          <a:prstGeom prst="rect">
            <a:avLst/>
          </a:prstGeom>
          <a:noFill/>
        </p:spPr>
        <p:txBody>
          <a:bodyPr wrap="square" lIns="0" tIns="0" rIns="0" bIns="0" rtlCol="0" anchor="ctr"/>
          <a:lstStyle/>
          <a:p>
            <a:pPr marL="0" indent="0" algn="r">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CV = -6</a:t>
            </a:r>
            <a:endParaRPr lang="en-US" sz="800" dirty="0">
              <a:ea typeface="Noto Sans SC" panose="020B0200000000000000" pitchFamily="34" charset="-122"/>
              <a:cs typeface="Noto Sans SC" panose="020B0200000000000000" pitchFamily="34" charset="-122"/>
            </a:endParaRPr>
          </a:p>
        </p:txBody>
      </p:sp>
      <p:sp>
        <p:nvSpPr>
          <p:cNvPr id="46" name="Text 36"/>
          <p:cNvSpPr txBox="1"/>
          <p:nvPr/>
        </p:nvSpPr>
        <p:spPr>
          <a:xfrm>
            <a:off x="9843516" y="4038905"/>
            <a:ext cx="1573682" cy="181051"/>
          </a:xfrm>
          <a:prstGeom prst="rect">
            <a:avLst/>
          </a:prstGeom>
          <a:noFill/>
        </p:spPr>
        <p:txBody>
          <a:bodyPr wrap="square" lIns="0" tIns="0" rIns="0" bIns="0" rtlCol="0" anchor="ctr"/>
          <a:lstStyle/>
          <a:p>
            <a:pPr marL="0" indent="0" algn="r">
              <a:buNone/>
            </a:pPr>
            <a:r>
              <a:rPr lang="en-US" sz="900"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Cost efficiency low</a:t>
            </a:r>
            <a:endParaRPr lang="en-US" sz="900" dirty="0">
              <a:ea typeface="Noto Sans SC" panose="020B0200000000000000" pitchFamily="34" charset="-122"/>
              <a:cs typeface="Noto Sans SC" panose="020B0200000000000000" pitchFamily="34" charset="-122"/>
            </a:endParaRPr>
          </a:p>
        </p:txBody>
      </p:sp>
      <p:sp>
        <p:nvSpPr>
          <p:cNvPr id="47" name="Text 37"/>
          <p:cNvSpPr txBox="1"/>
          <p:nvPr/>
        </p:nvSpPr>
        <p:spPr>
          <a:xfrm>
            <a:off x="8419795" y="4424782"/>
            <a:ext cx="1757477" cy="181051"/>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SPI (Schedule Perf. Index)</a:t>
            </a:r>
            <a:endParaRPr lang="en-US" sz="900" dirty="0">
              <a:ea typeface="Noto Sans SC" panose="020B0200000000000000" pitchFamily="34" charset="-122"/>
              <a:cs typeface="Noto Sans SC" panose="020B0200000000000000" pitchFamily="34" charset="-122"/>
            </a:endParaRPr>
          </a:p>
        </p:txBody>
      </p:sp>
      <p:sp>
        <p:nvSpPr>
          <p:cNvPr id="48" name="Text 38"/>
          <p:cNvSpPr txBox="1"/>
          <p:nvPr/>
        </p:nvSpPr>
        <p:spPr>
          <a:xfrm>
            <a:off x="8419795" y="4604918"/>
            <a:ext cx="1476756" cy="305410"/>
          </a:xfrm>
          <a:prstGeom prst="rect">
            <a:avLst/>
          </a:prstGeom>
          <a:noFill/>
        </p:spPr>
        <p:txBody>
          <a:bodyPr wrap="square" lIns="0" tIns="0" rIns="0" bIns="0" rtlCol="0" anchor="ctr"/>
          <a:lstStyle/>
          <a:p>
            <a:pPr marL="0" indent="0" algn="l">
              <a:buNone/>
            </a:pPr>
            <a:r>
              <a:rPr lang="en-US" sz="16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0.86</a:t>
            </a:r>
            <a:endParaRPr lang="en-US" sz="1600" dirty="0">
              <a:ea typeface="Noto Sans SC" panose="020B0200000000000000" pitchFamily="34" charset="-122"/>
              <a:cs typeface="Noto Sans SC" panose="020B0200000000000000" pitchFamily="34" charset="-122"/>
            </a:endParaRPr>
          </a:p>
        </p:txBody>
      </p:sp>
      <p:sp>
        <p:nvSpPr>
          <p:cNvPr id="49" name="Text 39"/>
          <p:cNvSpPr txBox="1"/>
          <p:nvPr/>
        </p:nvSpPr>
        <p:spPr>
          <a:xfrm>
            <a:off x="10387584" y="4500677"/>
            <a:ext cx="1028700" cy="152705"/>
          </a:xfrm>
          <a:prstGeom prst="rect">
            <a:avLst/>
          </a:prstGeom>
          <a:noFill/>
        </p:spPr>
        <p:txBody>
          <a:bodyPr wrap="square" lIns="0" tIns="0" rIns="0" bIns="0" rtlCol="0" anchor="ctr"/>
          <a:lstStyle/>
          <a:p>
            <a:pPr marL="0" indent="0" algn="r">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SV = -10</a:t>
            </a:r>
            <a:endParaRPr lang="en-US" sz="800" dirty="0">
              <a:ea typeface="Noto Sans SC" panose="020B0200000000000000" pitchFamily="34" charset="-122"/>
              <a:cs typeface="Noto Sans SC" panose="020B0200000000000000" pitchFamily="34" charset="-122"/>
            </a:endParaRPr>
          </a:p>
        </p:txBody>
      </p:sp>
      <p:sp>
        <p:nvSpPr>
          <p:cNvPr id="50" name="Text 40"/>
          <p:cNvSpPr txBox="1"/>
          <p:nvPr/>
        </p:nvSpPr>
        <p:spPr>
          <a:xfrm>
            <a:off x="10073030" y="4653382"/>
            <a:ext cx="1343254" cy="181051"/>
          </a:xfrm>
          <a:prstGeom prst="rect">
            <a:avLst/>
          </a:prstGeom>
          <a:noFill/>
        </p:spPr>
        <p:txBody>
          <a:bodyPr wrap="square" lIns="0" tIns="0" rIns="0" bIns="0" rtlCol="0" anchor="ctr"/>
          <a:lstStyle/>
          <a:p>
            <a:pPr marL="0" indent="0" algn="r">
              <a:buNone/>
            </a:pPr>
            <a:r>
              <a:rPr lang="en-US" sz="900"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Schedule delayed</a:t>
            </a:r>
            <a:endParaRPr lang="en-US" sz="900" dirty="0">
              <a:ea typeface="Noto Sans SC" panose="020B0200000000000000" pitchFamily="34" charset="-122"/>
              <a:cs typeface="Noto Sans SC" panose="020B0200000000000000" pitchFamily="34" charset="-122"/>
            </a:endParaRPr>
          </a:p>
        </p:txBody>
      </p:sp>
      <p:sp>
        <p:nvSpPr>
          <p:cNvPr id="51" name="Text 41"/>
          <p:cNvSpPr txBox="1"/>
          <p:nvPr/>
        </p:nvSpPr>
        <p:spPr>
          <a:xfrm>
            <a:off x="8419795" y="5038344"/>
            <a:ext cx="2018081" cy="181051"/>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EAC (Estimate at Completion)</a:t>
            </a:r>
            <a:endParaRPr lang="en-US" sz="900" dirty="0">
              <a:ea typeface="Noto Sans SC" panose="020B0200000000000000" pitchFamily="34" charset="-122"/>
              <a:cs typeface="Noto Sans SC" panose="020B0200000000000000" pitchFamily="34" charset="-122"/>
            </a:endParaRPr>
          </a:p>
        </p:txBody>
      </p:sp>
      <p:sp>
        <p:nvSpPr>
          <p:cNvPr id="52" name="Text 42"/>
          <p:cNvSpPr txBox="1"/>
          <p:nvPr/>
        </p:nvSpPr>
        <p:spPr>
          <a:xfrm>
            <a:off x="8419795" y="5219395"/>
            <a:ext cx="1696212" cy="305410"/>
          </a:xfrm>
          <a:prstGeom prst="rect">
            <a:avLst/>
          </a:prstGeom>
          <a:noFill/>
        </p:spPr>
        <p:txBody>
          <a:bodyPr wrap="square" lIns="0" tIns="0" rIns="0" bIns="0" rtlCol="0" anchor="ctr"/>
          <a:lstStyle/>
          <a:p>
            <a:pPr marL="0" indent="0" algn="l">
              <a:buNone/>
            </a:pPr>
            <a:r>
              <a:rPr lang="en-US" sz="16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110</a:t>
            </a:r>
            <a:endParaRPr lang="en-US" sz="1600" dirty="0">
              <a:ea typeface="Noto Sans SC" panose="020B0200000000000000" pitchFamily="34" charset="-122"/>
              <a:cs typeface="Noto Sans SC" panose="020B0200000000000000" pitchFamily="34" charset="-122"/>
            </a:endParaRPr>
          </a:p>
        </p:txBody>
      </p:sp>
      <p:sp>
        <p:nvSpPr>
          <p:cNvPr id="53" name="Text 43"/>
          <p:cNvSpPr txBox="1"/>
          <p:nvPr/>
        </p:nvSpPr>
        <p:spPr>
          <a:xfrm>
            <a:off x="10172700" y="5115154"/>
            <a:ext cx="1248156" cy="152705"/>
          </a:xfrm>
          <a:prstGeom prst="rect">
            <a:avLst/>
          </a:prstGeom>
          <a:noFill/>
        </p:spPr>
        <p:txBody>
          <a:bodyPr wrap="square" lIns="0" tIns="0" rIns="0" bIns="0" rtlCol="0" anchor="ctr"/>
          <a:lstStyle/>
          <a:p>
            <a:pPr marL="0" indent="0" algn="r">
              <a:buNone/>
            </a:pPr>
            <a:r>
              <a:rPr lang="en-US" sz="8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Target = 100</a:t>
            </a:r>
            <a:endParaRPr lang="en-US" sz="800" dirty="0">
              <a:ea typeface="Noto Sans SC" panose="020B0200000000000000" pitchFamily="34" charset="-122"/>
              <a:cs typeface="Noto Sans SC" panose="020B0200000000000000" pitchFamily="34" charset="-122"/>
            </a:endParaRPr>
          </a:p>
        </p:txBody>
      </p:sp>
      <p:sp>
        <p:nvSpPr>
          <p:cNvPr id="54" name="Text 44"/>
          <p:cNvSpPr txBox="1"/>
          <p:nvPr/>
        </p:nvSpPr>
        <p:spPr>
          <a:xfrm>
            <a:off x="9821570" y="5266944"/>
            <a:ext cx="1599286" cy="181051"/>
          </a:xfrm>
          <a:prstGeom prst="rect">
            <a:avLst/>
          </a:prstGeom>
          <a:noFill/>
        </p:spPr>
        <p:txBody>
          <a:bodyPr wrap="square" lIns="0" tIns="0" rIns="0" bIns="0" rtlCol="0" anchor="ctr"/>
          <a:lstStyle/>
          <a:p>
            <a:pPr marL="0" indent="0" algn="r">
              <a:buNone/>
            </a:pPr>
            <a:r>
              <a:rPr lang="en-US" sz="900" dirty="0">
                <a:solidFill>
                  <a:srgbClr val="F59E0B"/>
                </a:solidFill>
                <a:latin typeface="Noto Sans SC" panose="020B0200000000000000" pitchFamily="34" charset="-122"/>
                <a:ea typeface="Noto Sans SC" panose="020B0200000000000000" pitchFamily="34" charset="-122"/>
                <a:cs typeface="Noto Sans SC" panose="020B0200000000000000" pitchFamily="34" charset="-122"/>
              </a:rPr>
              <a:t>+10% budget overrun</a:t>
            </a:r>
            <a:endParaRPr lang="en-US" sz="900" dirty="0">
              <a:ea typeface="Noto Sans SC" panose="020B0200000000000000" pitchFamily="34" charset="-122"/>
              <a:cs typeface="Noto Sans SC" panose="020B0200000000000000" pitchFamily="34" charset="-122"/>
            </a:endParaRPr>
          </a:p>
        </p:txBody>
      </p:sp>
      <p:sp>
        <p:nvSpPr>
          <p:cNvPr id="55" name="Text 45"/>
          <p:cNvSpPr txBox="1"/>
          <p:nvPr/>
        </p:nvSpPr>
        <p:spPr>
          <a:xfrm>
            <a:off x="800100" y="6057900"/>
            <a:ext cx="10573207" cy="457200"/>
          </a:xfrm>
          <a:prstGeom prst="rect">
            <a:avLst/>
          </a:prstGeom>
          <a:noFill/>
        </p:spPr>
        <p:txBody>
          <a:bodyPr wrap="square" lIns="0" tIns="0" rIns="0" bIns="0" rtlCol="0" anchor="ctr"/>
          <a:lstStyle/>
          <a:p>
            <a:pPr marL="0" indent="0" algn="l">
              <a:buNone/>
            </a:pPr>
            <a:r>
              <a:rPr lang="en-US" sz="11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Analysis &amp; Action:</a:t>
            </a:r>
            <a:r>
              <a:rPr lang="en-US" sz="11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CPI&lt;1 indicates low cost efficiency, likely due to rework/collaboration overhead. SPI&lt;1 indicates schedule delay, likely due to algorithm/integration slower than expected. Forecast: EAC≈110 means ~10% budget overrun. </a:t>
            </a:r>
            <a:r>
              <a:rPr lang="en-US" sz="11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Action: protect critical path, control non-critical polish.</a:t>
            </a:r>
            <a:endParaRPr lang="en-US" sz="1100" dirty="0">
              <a:ea typeface="Noto Sans SC" panose="020B0200000000000000" pitchFamily="34" charset="-122"/>
              <a:cs typeface="Noto Sans SC" panose="020B0200000000000000"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5" name="Shape 2"/>
          <p:cNvSpPr/>
          <p:nvPr/>
        </p:nvSpPr>
        <p:spPr>
          <a:xfrm>
            <a:off x="571500" y="1429207"/>
            <a:ext cx="11096244" cy="1380744"/>
          </a:xfrm>
          <a:prstGeom prst="roundRect">
            <a:avLst>
              <a:gd name="adj" fmla="val 10961"/>
            </a:avLst>
          </a:prstGeom>
          <a:solidFill>
            <a:srgbClr val="FFFFFF"/>
          </a:solidFill>
          <a:effectLst>
            <a:outerShdw blurRad="76200" dist="25400" dir="16200000" algn="bl" rotWithShape="0">
              <a:srgbClr val="000000">
                <a:alpha val="5000"/>
              </a:srgbClr>
            </a:outerShdw>
          </a:effectLst>
        </p:spPr>
      </p:sp>
      <p:sp>
        <p:nvSpPr>
          <p:cNvPr id="6" name="Shape 3"/>
          <p:cNvSpPr/>
          <p:nvPr/>
        </p:nvSpPr>
        <p:spPr>
          <a:xfrm>
            <a:off x="571500" y="1429207"/>
            <a:ext cx="47549" cy="1380744"/>
          </a:xfrm>
          <a:prstGeom prst="roundRect">
            <a:avLst>
              <a:gd name="adj" fmla="val 318301"/>
            </a:avLst>
          </a:prstGeom>
          <a:solidFill>
            <a:srgbClr val="EF4444"/>
          </a:solidFill>
          <a:ln w="12700">
            <a:solidFill>
              <a:srgbClr val="EF4444">
                <a:alpha val="0"/>
              </a:srgbClr>
            </a:solidFill>
            <a:prstDash val="solid"/>
          </a:ln>
        </p:spPr>
      </p:sp>
      <p:sp>
        <p:nvSpPr>
          <p:cNvPr id="7" name="Shape 4"/>
          <p:cNvSpPr/>
          <p:nvPr/>
        </p:nvSpPr>
        <p:spPr>
          <a:xfrm>
            <a:off x="571500" y="2905049"/>
            <a:ext cx="11096244" cy="1380744"/>
          </a:xfrm>
          <a:prstGeom prst="roundRect">
            <a:avLst>
              <a:gd name="adj" fmla="val 10961"/>
            </a:avLst>
          </a:prstGeom>
          <a:solidFill>
            <a:srgbClr val="FFFFFF"/>
          </a:solidFill>
          <a:effectLst>
            <a:outerShdw blurRad="76200" dist="25400" dir="16200000" algn="bl" rotWithShape="0">
              <a:srgbClr val="000000">
                <a:alpha val="5000"/>
              </a:srgbClr>
            </a:outerShdw>
          </a:effectLst>
        </p:spPr>
      </p:sp>
      <p:sp>
        <p:nvSpPr>
          <p:cNvPr id="8" name="Shape 5"/>
          <p:cNvSpPr/>
          <p:nvPr/>
        </p:nvSpPr>
        <p:spPr>
          <a:xfrm>
            <a:off x="571500" y="2905049"/>
            <a:ext cx="47549" cy="1380744"/>
          </a:xfrm>
          <a:prstGeom prst="roundRect">
            <a:avLst>
              <a:gd name="adj" fmla="val 318301"/>
            </a:avLst>
          </a:prstGeom>
          <a:solidFill>
            <a:srgbClr val="F59E0B"/>
          </a:solidFill>
          <a:ln w="12700">
            <a:solidFill>
              <a:srgbClr val="F59E0B">
                <a:alpha val="0"/>
              </a:srgbClr>
            </a:solidFill>
            <a:prstDash val="solid"/>
          </a:ln>
        </p:spPr>
      </p:sp>
      <p:sp>
        <p:nvSpPr>
          <p:cNvPr id="9" name="Shape 6"/>
          <p:cNvSpPr/>
          <p:nvPr/>
        </p:nvSpPr>
        <p:spPr>
          <a:xfrm>
            <a:off x="571500" y="4381805"/>
            <a:ext cx="11096244" cy="1380744"/>
          </a:xfrm>
          <a:prstGeom prst="roundRect">
            <a:avLst>
              <a:gd name="adj" fmla="val 10961"/>
            </a:avLst>
          </a:prstGeom>
          <a:solidFill>
            <a:srgbClr val="FFFFFF"/>
          </a:solidFill>
          <a:effectLst>
            <a:outerShdw blurRad="76200" dist="25400" dir="16200000" algn="bl" rotWithShape="0">
              <a:srgbClr val="000000">
                <a:alpha val="5000"/>
              </a:srgbClr>
            </a:outerShdw>
          </a:effectLst>
        </p:spPr>
      </p:sp>
      <p:sp>
        <p:nvSpPr>
          <p:cNvPr id="10" name="Shape 7"/>
          <p:cNvSpPr/>
          <p:nvPr/>
        </p:nvSpPr>
        <p:spPr>
          <a:xfrm>
            <a:off x="571500" y="4381805"/>
            <a:ext cx="47549" cy="1380744"/>
          </a:xfrm>
          <a:prstGeom prst="roundRect">
            <a:avLst>
              <a:gd name="adj" fmla="val 318301"/>
            </a:avLst>
          </a:prstGeom>
          <a:solidFill>
            <a:srgbClr val="EF4444"/>
          </a:solidFill>
          <a:ln w="12700">
            <a:solidFill>
              <a:srgbClr val="EF4444">
                <a:alpha val="0"/>
              </a:srgbClr>
            </a:solidFill>
            <a:prstDash val="solid"/>
          </a:ln>
        </p:spPr>
      </p:sp>
      <p:pic>
        <p:nvPicPr>
          <p:cNvPr id="11" name="Image 1" descr="preencoded.png"/>
          <p:cNvPicPr>
            <a:picLocks noChangeAspect="1"/>
          </p:cNvPicPr>
          <p:nvPr/>
        </p:nvPicPr>
        <p:blipFill>
          <a:blip r:embed="rId2"/>
          <a:srcRect l="-9" r="-9"/>
          <a:stretch>
            <a:fillRect/>
          </a:stretch>
        </p:blipFill>
        <p:spPr>
          <a:xfrm>
            <a:off x="571500" y="5905195"/>
            <a:ext cx="11067898" cy="780898"/>
          </a:xfrm>
          <a:prstGeom prst="rect">
            <a:avLst/>
          </a:prstGeom>
        </p:spPr>
      </p:pic>
      <p:sp>
        <p:nvSpPr>
          <p:cNvPr id="12" name="Shape 8"/>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3" name="Image 2" descr="preencoded.png"/>
          <p:cNvPicPr>
            <a:picLocks noChangeAspect="1"/>
          </p:cNvPicPr>
          <p:nvPr/>
        </p:nvPicPr>
        <p:blipFill>
          <a:blip r:embed="rId3"/>
          <a:srcRect t="-20060" b="-20060"/>
          <a:stretch>
            <a:fillRect/>
          </a:stretch>
        </p:blipFill>
        <p:spPr>
          <a:xfrm>
            <a:off x="724205" y="286207"/>
            <a:ext cx="152705" cy="190195"/>
          </a:xfrm>
          <a:prstGeom prst="rect">
            <a:avLst/>
          </a:prstGeom>
        </p:spPr>
      </p:pic>
      <p:sp>
        <p:nvSpPr>
          <p:cNvPr id="14" name="Text 9"/>
          <p:cNvSpPr txBox="1"/>
          <p:nvPr/>
        </p:nvSpPr>
        <p:spPr>
          <a:xfrm>
            <a:off x="1218895" y="190195"/>
            <a:ext cx="9525305" cy="428854"/>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Management Decisions &amp; Priorities</a:t>
            </a:r>
            <a:endParaRPr lang="en-US" sz="2400" dirty="0">
              <a:ea typeface="Noto Sans SC" panose="020B0200000000000000" pitchFamily="34" charset="-122"/>
              <a:cs typeface="Noto Sans SC" panose="020B0200000000000000" pitchFamily="34" charset="-122"/>
            </a:endParaRPr>
          </a:p>
        </p:txBody>
      </p:sp>
      <p:sp>
        <p:nvSpPr>
          <p:cNvPr id="15" name="Text 10"/>
          <p:cNvSpPr txBox="1"/>
          <p:nvPr/>
        </p:nvSpPr>
        <p:spPr>
          <a:xfrm>
            <a:off x="875995" y="905256"/>
            <a:ext cx="10745114" cy="342900"/>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Management Decisions Based on EVM Analysis </a:t>
            </a:r>
            <a:endParaRPr lang="en-US" sz="1900" dirty="0">
              <a:ea typeface="Noto Sans SC" panose="020B0200000000000000" pitchFamily="34" charset="-122"/>
              <a:cs typeface="Noto Sans SC" panose="020B0200000000000000" pitchFamily="34" charset="-122"/>
            </a:endParaRPr>
          </a:p>
        </p:txBody>
      </p:sp>
      <p:pic>
        <p:nvPicPr>
          <p:cNvPr id="16" name="Image 3" descr="preencoded.png"/>
          <p:cNvPicPr>
            <a:picLocks noChangeAspect="1"/>
          </p:cNvPicPr>
          <p:nvPr/>
        </p:nvPicPr>
        <p:blipFill>
          <a:blip r:embed="rId4"/>
          <a:srcRect t="-15144" b="-15144"/>
          <a:stretch>
            <a:fillRect/>
          </a:stretch>
        </p:blipFill>
        <p:spPr>
          <a:xfrm>
            <a:off x="571500" y="952805"/>
            <a:ext cx="190195" cy="247802"/>
          </a:xfrm>
          <a:prstGeom prst="rect">
            <a:avLst/>
          </a:prstGeom>
        </p:spPr>
      </p:pic>
      <p:sp>
        <p:nvSpPr>
          <p:cNvPr id="17" name="Shape 11"/>
          <p:cNvSpPr/>
          <p:nvPr/>
        </p:nvSpPr>
        <p:spPr>
          <a:xfrm>
            <a:off x="875995" y="1809598"/>
            <a:ext cx="609905" cy="609905"/>
          </a:xfrm>
          <a:prstGeom prst="roundRect">
            <a:avLst>
              <a:gd name="adj" fmla="val 56222"/>
            </a:avLst>
          </a:prstGeom>
          <a:solidFill>
            <a:srgbClr val="EF4444">
              <a:alpha val="10000"/>
            </a:srgbClr>
          </a:solidFill>
          <a:ln w="12700">
            <a:solidFill>
              <a:srgbClr val="FFFFFF">
                <a:alpha val="0"/>
              </a:srgbClr>
            </a:solidFill>
            <a:prstDash val="solid"/>
          </a:ln>
        </p:spPr>
      </p:sp>
      <p:pic>
        <p:nvPicPr>
          <p:cNvPr id="18" name="Image 4" descr="preencoded.png"/>
          <p:cNvPicPr>
            <a:picLocks noChangeAspect="1"/>
          </p:cNvPicPr>
          <p:nvPr/>
        </p:nvPicPr>
        <p:blipFill>
          <a:blip r:embed="rId5"/>
          <a:srcRect t="-13755" b="-13755"/>
          <a:stretch>
            <a:fillRect/>
          </a:stretch>
        </p:blipFill>
        <p:spPr>
          <a:xfrm>
            <a:off x="1076249" y="1981505"/>
            <a:ext cx="209398" cy="267005"/>
          </a:xfrm>
          <a:prstGeom prst="rect">
            <a:avLst/>
          </a:prstGeom>
        </p:spPr>
      </p:pic>
      <p:sp>
        <p:nvSpPr>
          <p:cNvPr id="19" name="Text 12"/>
          <p:cNvSpPr txBox="1"/>
          <p:nvPr/>
        </p:nvSpPr>
        <p:spPr>
          <a:xfrm>
            <a:off x="1714500" y="1524305"/>
            <a:ext cx="9715500" cy="257861"/>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Decision 1: Prioritize Algorithm Chain (Critical Path) </a:t>
            </a: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High Priority</a:t>
            </a:r>
            <a:endParaRPr lang="en-US" sz="1500" dirty="0">
              <a:ea typeface="Noto Sans SC" panose="020B0200000000000000" pitchFamily="34" charset="-122"/>
              <a:cs typeface="Noto Sans SC" panose="020B0200000000000000" pitchFamily="34" charset="-122"/>
            </a:endParaRPr>
          </a:p>
        </p:txBody>
      </p:sp>
      <p:sp>
        <p:nvSpPr>
          <p:cNvPr id="20" name="Text 13"/>
          <p:cNvSpPr txBox="1"/>
          <p:nvPr/>
        </p:nvSpPr>
        <p:spPr>
          <a:xfrm>
            <a:off x="1714500" y="1819656"/>
            <a:ext cx="9715500" cy="400507"/>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Based on EVM analysis with CPI≈0.91 and SPI≈0.86 indicating low cost efficiency and schedule delay, root cause is algorithm chain slower than expected. Action: allocate best resources to matching algorithm development, ensure timely completion of critical path tasks.</a:t>
            </a:r>
            <a:endParaRPr lang="en-US" sz="1100" dirty="0">
              <a:ea typeface="Noto Sans SC" panose="020B0200000000000000" pitchFamily="34" charset="-122"/>
              <a:cs typeface="Noto Sans SC" panose="020B0200000000000000" pitchFamily="34" charset="-122"/>
            </a:endParaRPr>
          </a:p>
        </p:txBody>
      </p:sp>
      <p:pic>
        <p:nvPicPr>
          <p:cNvPr id="21" name="Image 5" descr="preencoded.png"/>
          <p:cNvPicPr>
            <a:picLocks noChangeAspect="1"/>
          </p:cNvPicPr>
          <p:nvPr/>
        </p:nvPicPr>
        <p:blipFill>
          <a:blip r:embed="rId6"/>
          <a:srcRect l="-156" r="-156"/>
          <a:stretch>
            <a:fillRect/>
          </a:stretch>
        </p:blipFill>
        <p:spPr>
          <a:xfrm>
            <a:off x="1714500" y="2295144"/>
            <a:ext cx="1705356" cy="247802"/>
          </a:xfrm>
          <a:prstGeom prst="rect">
            <a:avLst/>
          </a:prstGeom>
        </p:spPr>
      </p:pic>
      <p:sp>
        <p:nvSpPr>
          <p:cNvPr id="22" name="Text 14"/>
          <p:cNvSpPr/>
          <p:nvPr/>
        </p:nvSpPr>
        <p:spPr>
          <a:xfrm>
            <a:off x="2000707" y="2295144"/>
            <a:ext cx="1419149"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Resource Reallocation</a:t>
            </a:r>
            <a:endParaRPr lang="en-US" sz="900" dirty="0">
              <a:ea typeface="Noto Sans SC" panose="020B0200000000000000" pitchFamily="34" charset="-122"/>
              <a:cs typeface="Noto Sans SC" panose="020B0200000000000000" pitchFamily="34" charset="-122"/>
            </a:endParaRPr>
          </a:p>
        </p:txBody>
      </p:sp>
      <p:pic>
        <p:nvPicPr>
          <p:cNvPr id="23" name="Image 6" descr="preencoded.png"/>
          <p:cNvPicPr>
            <a:picLocks noChangeAspect="1"/>
          </p:cNvPicPr>
          <p:nvPr/>
        </p:nvPicPr>
        <p:blipFill>
          <a:blip r:embed="rId7"/>
          <a:srcRect t="-6791" b="-6791"/>
          <a:stretch>
            <a:fillRect/>
          </a:stretch>
        </p:blipFill>
        <p:spPr>
          <a:xfrm>
            <a:off x="1848002" y="2357323"/>
            <a:ext cx="95098" cy="123444"/>
          </a:xfrm>
          <a:prstGeom prst="rect">
            <a:avLst/>
          </a:prstGeom>
        </p:spPr>
      </p:pic>
      <p:pic>
        <p:nvPicPr>
          <p:cNvPr id="24" name="Image 7" descr="preencoded.png"/>
          <p:cNvPicPr>
            <a:picLocks noChangeAspect="1"/>
          </p:cNvPicPr>
          <p:nvPr/>
        </p:nvPicPr>
        <p:blipFill>
          <a:blip r:embed="rId8"/>
          <a:srcRect l="-263" r="-263"/>
          <a:stretch>
            <a:fillRect/>
          </a:stretch>
        </p:blipFill>
        <p:spPr>
          <a:xfrm>
            <a:off x="3527755" y="2295144"/>
            <a:ext cx="1514246" cy="247802"/>
          </a:xfrm>
          <a:prstGeom prst="rect">
            <a:avLst/>
          </a:prstGeom>
        </p:spPr>
      </p:pic>
      <p:sp>
        <p:nvSpPr>
          <p:cNvPr id="25" name="Text 15"/>
          <p:cNvSpPr/>
          <p:nvPr/>
        </p:nvSpPr>
        <p:spPr>
          <a:xfrm>
            <a:off x="3813962" y="2295144"/>
            <a:ext cx="1228954"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Schedule Recovery</a:t>
            </a:r>
            <a:endParaRPr lang="en-US" sz="900" dirty="0">
              <a:ea typeface="Noto Sans SC" panose="020B0200000000000000" pitchFamily="34" charset="-122"/>
              <a:cs typeface="Noto Sans SC" panose="020B0200000000000000" pitchFamily="34" charset="-122"/>
            </a:endParaRPr>
          </a:p>
        </p:txBody>
      </p:sp>
      <p:pic>
        <p:nvPicPr>
          <p:cNvPr id="26" name="Image 8" descr="preencoded.png"/>
          <p:cNvPicPr>
            <a:picLocks noChangeAspect="1"/>
          </p:cNvPicPr>
          <p:nvPr/>
        </p:nvPicPr>
        <p:blipFill>
          <a:blip r:embed="rId9"/>
          <a:srcRect t="-14904" b="-14904"/>
          <a:stretch>
            <a:fillRect/>
          </a:stretch>
        </p:blipFill>
        <p:spPr>
          <a:xfrm>
            <a:off x="3661258" y="2357323"/>
            <a:ext cx="95098" cy="123444"/>
          </a:xfrm>
          <a:prstGeom prst="rect">
            <a:avLst/>
          </a:prstGeom>
        </p:spPr>
      </p:pic>
      <p:pic>
        <p:nvPicPr>
          <p:cNvPr id="27" name="Image 9" descr="preencoded.png"/>
          <p:cNvPicPr>
            <a:picLocks noChangeAspect="1"/>
          </p:cNvPicPr>
          <p:nvPr/>
        </p:nvPicPr>
        <p:blipFill>
          <a:blip r:embed="rId10"/>
          <a:srcRect l="-100" r="-100"/>
          <a:stretch>
            <a:fillRect/>
          </a:stretch>
        </p:blipFill>
        <p:spPr>
          <a:xfrm>
            <a:off x="5147158" y="2295144"/>
            <a:ext cx="1371600" cy="247802"/>
          </a:xfrm>
          <a:prstGeom prst="rect">
            <a:avLst/>
          </a:prstGeom>
        </p:spPr>
      </p:pic>
      <p:sp>
        <p:nvSpPr>
          <p:cNvPr id="28" name="Text 16"/>
          <p:cNvSpPr/>
          <p:nvPr/>
        </p:nvSpPr>
        <p:spPr>
          <a:xfrm>
            <a:off x="5433365" y="2295144"/>
            <a:ext cx="1085393"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Algorithm Focus</a:t>
            </a:r>
            <a:endParaRPr lang="en-US" sz="900" dirty="0">
              <a:ea typeface="Noto Sans SC" panose="020B0200000000000000" pitchFamily="34" charset="-122"/>
              <a:cs typeface="Noto Sans SC" panose="020B0200000000000000" pitchFamily="34" charset="-122"/>
            </a:endParaRPr>
          </a:p>
        </p:txBody>
      </p:sp>
      <p:pic>
        <p:nvPicPr>
          <p:cNvPr id="29" name="Image 10" descr="preencoded.png"/>
          <p:cNvPicPr>
            <a:picLocks noChangeAspect="1"/>
          </p:cNvPicPr>
          <p:nvPr/>
        </p:nvPicPr>
        <p:blipFill>
          <a:blip r:embed="rId11"/>
          <a:srcRect t="-31129" b="-31129"/>
          <a:stretch>
            <a:fillRect/>
          </a:stretch>
        </p:blipFill>
        <p:spPr>
          <a:xfrm>
            <a:off x="5280660" y="2357323"/>
            <a:ext cx="95098" cy="123444"/>
          </a:xfrm>
          <a:prstGeom prst="rect">
            <a:avLst/>
          </a:prstGeom>
        </p:spPr>
      </p:pic>
      <p:sp>
        <p:nvSpPr>
          <p:cNvPr id="30" name="Shape 17"/>
          <p:cNvSpPr/>
          <p:nvPr/>
        </p:nvSpPr>
        <p:spPr>
          <a:xfrm>
            <a:off x="875995" y="3286354"/>
            <a:ext cx="609905" cy="609905"/>
          </a:xfrm>
          <a:prstGeom prst="roundRect">
            <a:avLst>
              <a:gd name="adj" fmla="val 56222"/>
            </a:avLst>
          </a:prstGeom>
          <a:solidFill>
            <a:srgbClr val="F59E0B">
              <a:alpha val="10000"/>
            </a:srgbClr>
          </a:solidFill>
          <a:ln w="12700">
            <a:solidFill>
              <a:srgbClr val="FFFFFF">
                <a:alpha val="0"/>
              </a:srgbClr>
            </a:solidFill>
            <a:prstDash val="solid"/>
          </a:ln>
        </p:spPr>
      </p:sp>
      <p:pic>
        <p:nvPicPr>
          <p:cNvPr id="31" name="Image 11" descr="preencoded.png"/>
          <p:cNvPicPr>
            <a:picLocks noChangeAspect="1"/>
          </p:cNvPicPr>
          <p:nvPr/>
        </p:nvPicPr>
        <p:blipFill>
          <a:blip r:embed="rId12"/>
          <a:srcRect t="-13755" b="-13755"/>
          <a:stretch>
            <a:fillRect/>
          </a:stretch>
        </p:blipFill>
        <p:spPr>
          <a:xfrm>
            <a:off x="1076249" y="3457346"/>
            <a:ext cx="209398" cy="267005"/>
          </a:xfrm>
          <a:prstGeom prst="rect">
            <a:avLst/>
          </a:prstGeom>
        </p:spPr>
      </p:pic>
      <p:sp>
        <p:nvSpPr>
          <p:cNvPr id="32" name="Text 18"/>
          <p:cNvSpPr txBox="1"/>
          <p:nvPr/>
        </p:nvSpPr>
        <p:spPr>
          <a:xfrm>
            <a:off x="1714500" y="3000146"/>
            <a:ext cx="9715500" cy="257861"/>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Decision 2: Control Scope &amp; Cosmetic Requests </a:t>
            </a:r>
            <a:r>
              <a:rPr lang="en-US" sz="1000" b="1" dirty="0">
                <a:solidFill>
                  <a:srgbClr val="F59E0B"/>
                </a:solidFill>
                <a:latin typeface="Noto Sans SC" panose="020B0200000000000000" pitchFamily="34" charset="-122"/>
                <a:ea typeface="Noto Sans SC" panose="020B0200000000000000" pitchFamily="34" charset="-122"/>
                <a:cs typeface="Noto Sans SC" panose="020B0200000000000000" pitchFamily="34" charset="-122"/>
              </a:rPr>
              <a:t>Medium Priority</a:t>
            </a:r>
            <a:endParaRPr lang="en-US" sz="1500" dirty="0">
              <a:ea typeface="Noto Sans SC" panose="020B0200000000000000" pitchFamily="34" charset="-122"/>
              <a:cs typeface="Noto Sans SC" panose="020B0200000000000000" pitchFamily="34" charset="-122"/>
            </a:endParaRPr>
          </a:p>
        </p:txBody>
      </p:sp>
      <p:sp>
        <p:nvSpPr>
          <p:cNvPr id="33" name="Text 19"/>
          <p:cNvSpPr txBox="1"/>
          <p:nvPr/>
        </p:nvSpPr>
        <p:spPr>
          <a:xfrm>
            <a:off x="1714500" y="3295498"/>
            <a:ext cx="9715500" cy="400507"/>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Avoid scope creep, reject non-essential feature requests and UI polish. Freeze feature scope, focus on core functionality, defer optimizations to post-delivery to ensure primary objectives are met within constraints.</a:t>
            </a:r>
            <a:endParaRPr lang="en-US" sz="1100" dirty="0">
              <a:ea typeface="Noto Sans SC" panose="020B0200000000000000" pitchFamily="34" charset="-122"/>
              <a:cs typeface="Noto Sans SC" panose="020B0200000000000000" pitchFamily="34" charset="-122"/>
            </a:endParaRPr>
          </a:p>
        </p:txBody>
      </p:sp>
      <p:pic>
        <p:nvPicPr>
          <p:cNvPr id="34" name="Image 12" descr="preencoded.png"/>
          <p:cNvPicPr>
            <a:picLocks noChangeAspect="1"/>
          </p:cNvPicPr>
          <p:nvPr/>
        </p:nvPicPr>
        <p:blipFill>
          <a:blip r:embed="rId13"/>
          <a:srcRect l="-314" r="-314"/>
          <a:stretch>
            <a:fillRect/>
          </a:stretch>
        </p:blipFill>
        <p:spPr>
          <a:xfrm>
            <a:off x="1714500" y="3771900"/>
            <a:ext cx="1238098" cy="247802"/>
          </a:xfrm>
          <a:prstGeom prst="rect">
            <a:avLst/>
          </a:prstGeom>
        </p:spPr>
      </p:pic>
      <p:sp>
        <p:nvSpPr>
          <p:cNvPr id="35" name="Text 20"/>
          <p:cNvSpPr/>
          <p:nvPr/>
        </p:nvSpPr>
        <p:spPr>
          <a:xfrm>
            <a:off x="2000707" y="3771900"/>
            <a:ext cx="952805"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Scope Control</a:t>
            </a:r>
            <a:endParaRPr lang="en-US" sz="900" dirty="0">
              <a:ea typeface="Noto Sans SC" panose="020B0200000000000000" pitchFamily="34" charset="-122"/>
              <a:cs typeface="Noto Sans SC" panose="020B0200000000000000" pitchFamily="34" charset="-122"/>
            </a:endParaRPr>
          </a:p>
        </p:txBody>
      </p:sp>
      <p:pic>
        <p:nvPicPr>
          <p:cNvPr id="36" name="Image 13" descr="preencoded.png"/>
          <p:cNvPicPr>
            <a:picLocks noChangeAspect="1"/>
          </p:cNvPicPr>
          <p:nvPr/>
        </p:nvPicPr>
        <p:blipFill>
          <a:blip r:embed="rId14"/>
          <a:srcRect t="-14904" b="-14904"/>
          <a:stretch>
            <a:fillRect/>
          </a:stretch>
        </p:blipFill>
        <p:spPr>
          <a:xfrm>
            <a:off x="1848002" y="3834079"/>
            <a:ext cx="95098" cy="123444"/>
          </a:xfrm>
          <a:prstGeom prst="rect">
            <a:avLst/>
          </a:prstGeom>
        </p:spPr>
      </p:pic>
      <p:pic>
        <p:nvPicPr>
          <p:cNvPr id="37" name="Image 14" descr="preencoded.png"/>
          <p:cNvPicPr>
            <a:picLocks noChangeAspect="1"/>
          </p:cNvPicPr>
          <p:nvPr/>
        </p:nvPicPr>
        <p:blipFill>
          <a:blip r:embed="rId15"/>
          <a:srcRect l="-212" r="-212"/>
          <a:stretch>
            <a:fillRect/>
          </a:stretch>
        </p:blipFill>
        <p:spPr>
          <a:xfrm>
            <a:off x="3058668" y="3771900"/>
            <a:ext cx="1095451" cy="247802"/>
          </a:xfrm>
          <a:prstGeom prst="rect">
            <a:avLst/>
          </a:prstGeom>
        </p:spPr>
      </p:pic>
      <p:sp>
        <p:nvSpPr>
          <p:cNvPr id="38" name="Text 21"/>
          <p:cNvSpPr/>
          <p:nvPr/>
        </p:nvSpPr>
        <p:spPr>
          <a:xfrm>
            <a:off x="3344875" y="3771900"/>
            <a:ext cx="809244"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Limit Polish</a:t>
            </a:r>
            <a:endParaRPr lang="en-US" sz="900" dirty="0">
              <a:ea typeface="Noto Sans SC" panose="020B0200000000000000" pitchFamily="34" charset="-122"/>
              <a:cs typeface="Noto Sans SC" panose="020B0200000000000000" pitchFamily="34" charset="-122"/>
            </a:endParaRPr>
          </a:p>
        </p:txBody>
      </p:sp>
      <p:pic>
        <p:nvPicPr>
          <p:cNvPr id="39" name="Image 15" descr="preencoded.png"/>
          <p:cNvPicPr>
            <a:picLocks noChangeAspect="1"/>
          </p:cNvPicPr>
          <p:nvPr/>
        </p:nvPicPr>
        <p:blipFill>
          <a:blip r:embed="rId16"/>
          <a:srcRect t="-6791" b="-6791"/>
          <a:stretch>
            <a:fillRect/>
          </a:stretch>
        </p:blipFill>
        <p:spPr>
          <a:xfrm>
            <a:off x="3192170" y="3834079"/>
            <a:ext cx="95098" cy="123444"/>
          </a:xfrm>
          <a:prstGeom prst="rect">
            <a:avLst/>
          </a:prstGeom>
        </p:spPr>
      </p:pic>
      <p:pic>
        <p:nvPicPr>
          <p:cNvPr id="40" name="Image 16" descr="preencoded.png"/>
          <p:cNvPicPr>
            <a:picLocks noChangeAspect="1"/>
          </p:cNvPicPr>
          <p:nvPr/>
        </p:nvPicPr>
        <p:blipFill>
          <a:blip r:embed="rId17"/>
          <a:srcRect l="-207" r="-207"/>
          <a:stretch>
            <a:fillRect/>
          </a:stretch>
        </p:blipFill>
        <p:spPr>
          <a:xfrm>
            <a:off x="4262933" y="3771900"/>
            <a:ext cx="1447495" cy="247802"/>
          </a:xfrm>
          <a:prstGeom prst="rect">
            <a:avLst/>
          </a:prstGeom>
        </p:spPr>
      </p:pic>
      <p:sp>
        <p:nvSpPr>
          <p:cNvPr id="41" name="Text 22"/>
          <p:cNvSpPr/>
          <p:nvPr/>
        </p:nvSpPr>
        <p:spPr>
          <a:xfrm>
            <a:off x="4549140" y="3771900"/>
            <a:ext cx="1162202"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Defer Non-critical</a:t>
            </a:r>
            <a:endParaRPr lang="en-US" sz="900" dirty="0">
              <a:ea typeface="Noto Sans SC" panose="020B0200000000000000" pitchFamily="34" charset="-122"/>
              <a:cs typeface="Noto Sans SC" panose="020B0200000000000000" pitchFamily="34" charset="-122"/>
            </a:endParaRPr>
          </a:p>
        </p:txBody>
      </p:sp>
      <p:pic>
        <p:nvPicPr>
          <p:cNvPr id="42" name="Image 17" descr="preencoded.png"/>
          <p:cNvPicPr>
            <a:picLocks noChangeAspect="1"/>
          </p:cNvPicPr>
          <p:nvPr/>
        </p:nvPicPr>
        <p:blipFill>
          <a:blip r:embed="rId18"/>
          <a:srcRect t="-6791" b="-6791"/>
          <a:stretch>
            <a:fillRect/>
          </a:stretch>
        </p:blipFill>
        <p:spPr>
          <a:xfrm>
            <a:off x="4396435" y="3834079"/>
            <a:ext cx="95098" cy="123444"/>
          </a:xfrm>
          <a:prstGeom prst="rect">
            <a:avLst/>
          </a:prstGeom>
        </p:spPr>
      </p:pic>
      <p:sp>
        <p:nvSpPr>
          <p:cNvPr id="43" name="Shape 23"/>
          <p:cNvSpPr/>
          <p:nvPr/>
        </p:nvSpPr>
        <p:spPr>
          <a:xfrm>
            <a:off x="875995" y="4762195"/>
            <a:ext cx="609905" cy="609905"/>
          </a:xfrm>
          <a:prstGeom prst="roundRect">
            <a:avLst>
              <a:gd name="adj" fmla="val 56222"/>
            </a:avLst>
          </a:prstGeom>
          <a:solidFill>
            <a:srgbClr val="EF4444">
              <a:alpha val="10000"/>
            </a:srgbClr>
          </a:solidFill>
          <a:ln w="12700">
            <a:solidFill>
              <a:srgbClr val="FFFFFF">
                <a:alpha val="0"/>
              </a:srgbClr>
            </a:solidFill>
            <a:prstDash val="solid"/>
          </a:ln>
        </p:spPr>
      </p:sp>
      <p:pic>
        <p:nvPicPr>
          <p:cNvPr id="44" name="Image 18" descr="preencoded.png"/>
          <p:cNvPicPr>
            <a:picLocks noChangeAspect="1"/>
          </p:cNvPicPr>
          <p:nvPr/>
        </p:nvPicPr>
        <p:blipFill>
          <a:blip r:embed="rId19"/>
          <a:srcRect t="-5786" b="-5786"/>
          <a:stretch>
            <a:fillRect/>
          </a:stretch>
        </p:blipFill>
        <p:spPr>
          <a:xfrm>
            <a:off x="1076249" y="4934102"/>
            <a:ext cx="209398" cy="267005"/>
          </a:xfrm>
          <a:prstGeom prst="rect">
            <a:avLst/>
          </a:prstGeom>
        </p:spPr>
      </p:pic>
      <p:sp>
        <p:nvSpPr>
          <p:cNvPr id="45" name="Text 24"/>
          <p:cNvSpPr txBox="1"/>
          <p:nvPr/>
        </p:nvSpPr>
        <p:spPr>
          <a:xfrm>
            <a:off x="1714500" y="4476902"/>
            <a:ext cx="9715500" cy="257861"/>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 Decision 3: Establish Version Freeze &amp; Rollback Strategy </a:t>
            </a:r>
            <a:r>
              <a:rPr lang="en-US" sz="1000" b="1" dirty="0">
                <a:solidFill>
                  <a:srgbClr val="EF4444"/>
                </a:solidFill>
                <a:latin typeface="Noto Sans SC" panose="020B0200000000000000" pitchFamily="34" charset="-122"/>
                <a:ea typeface="Noto Sans SC" panose="020B0200000000000000" pitchFamily="34" charset="-122"/>
                <a:cs typeface="Noto Sans SC" panose="020B0200000000000000" pitchFamily="34" charset="-122"/>
              </a:rPr>
              <a:t>High Priority</a:t>
            </a:r>
            <a:endParaRPr lang="en-US" sz="1500" dirty="0">
              <a:ea typeface="Noto Sans SC" panose="020B0200000000000000" pitchFamily="34" charset="-122"/>
              <a:cs typeface="Noto Sans SC" panose="020B0200000000000000" pitchFamily="34" charset="-122"/>
            </a:endParaRPr>
          </a:p>
        </p:txBody>
      </p:sp>
      <p:sp>
        <p:nvSpPr>
          <p:cNvPr id="46" name="Text 25"/>
          <p:cNvSpPr txBox="1"/>
          <p:nvPr/>
        </p:nvSpPr>
        <p:spPr>
          <a:xfrm>
            <a:off x="1714500" y="4772254"/>
            <a:ext cx="9715500" cy="400507"/>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Set version freeze checkpoints at key milestones, prepare rollback procedures for DB changes, and maintain backup branches for stable versions to mitigate risks during the integration of new expansion modules.</a:t>
            </a:r>
            <a:endParaRPr lang="en-US" sz="1100" dirty="0">
              <a:ea typeface="Noto Sans SC" panose="020B0200000000000000" pitchFamily="34" charset="-122"/>
              <a:cs typeface="Noto Sans SC" panose="020B0200000000000000" pitchFamily="34" charset="-122"/>
            </a:endParaRPr>
          </a:p>
        </p:txBody>
      </p:sp>
      <p:pic>
        <p:nvPicPr>
          <p:cNvPr id="47" name="Image 19" descr="preencoded.png"/>
          <p:cNvPicPr>
            <a:picLocks noChangeAspect="1"/>
          </p:cNvPicPr>
          <p:nvPr/>
        </p:nvPicPr>
        <p:blipFill>
          <a:blip r:embed="rId20"/>
          <a:srcRect t="-22" b="-22"/>
          <a:stretch>
            <a:fillRect/>
          </a:stretch>
        </p:blipFill>
        <p:spPr>
          <a:xfrm>
            <a:off x="1714500" y="5248656"/>
            <a:ext cx="1266444" cy="247802"/>
          </a:xfrm>
          <a:prstGeom prst="rect">
            <a:avLst/>
          </a:prstGeom>
        </p:spPr>
      </p:pic>
      <p:sp>
        <p:nvSpPr>
          <p:cNvPr id="48" name="Text 26"/>
          <p:cNvSpPr/>
          <p:nvPr/>
        </p:nvSpPr>
        <p:spPr>
          <a:xfrm>
            <a:off x="2000707" y="5248656"/>
            <a:ext cx="981151"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Version Freeze</a:t>
            </a:r>
            <a:endParaRPr lang="en-US" sz="900" dirty="0">
              <a:ea typeface="Noto Sans SC" panose="020B0200000000000000" pitchFamily="34" charset="-122"/>
              <a:cs typeface="Noto Sans SC" panose="020B0200000000000000" pitchFamily="34" charset="-122"/>
            </a:endParaRPr>
          </a:p>
        </p:txBody>
      </p:sp>
      <p:pic>
        <p:nvPicPr>
          <p:cNvPr id="49" name="Image 20" descr="preencoded.png"/>
          <p:cNvPicPr>
            <a:picLocks noChangeAspect="1"/>
          </p:cNvPicPr>
          <p:nvPr/>
        </p:nvPicPr>
        <p:blipFill>
          <a:blip r:embed="rId21"/>
          <a:srcRect t="-6791" b="-6791"/>
          <a:stretch>
            <a:fillRect/>
          </a:stretch>
        </p:blipFill>
        <p:spPr>
          <a:xfrm>
            <a:off x="1848002" y="5309921"/>
            <a:ext cx="95098" cy="123444"/>
          </a:xfrm>
          <a:prstGeom prst="rect">
            <a:avLst/>
          </a:prstGeom>
        </p:spPr>
      </p:pic>
      <p:pic>
        <p:nvPicPr>
          <p:cNvPr id="50" name="Image 21" descr="preencoded.png"/>
          <p:cNvPicPr>
            <a:picLocks noChangeAspect="1"/>
          </p:cNvPicPr>
          <p:nvPr/>
        </p:nvPicPr>
        <p:blipFill>
          <a:blip r:embed="rId22"/>
          <a:srcRect l="-237" r="-237"/>
          <a:stretch>
            <a:fillRect/>
          </a:stretch>
        </p:blipFill>
        <p:spPr>
          <a:xfrm>
            <a:off x="3095244" y="5248656"/>
            <a:ext cx="1257300" cy="247802"/>
          </a:xfrm>
          <a:prstGeom prst="rect">
            <a:avLst/>
          </a:prstGeom>
        </p:spPr>
      </p:pic>
      <p:sp>
        <p:nvSpPr>
          <p:cNvPr id="51" name="Text 27"/>
          <p:cNvSpPr/>
          <p:nvPr/>
        </p:nvSpPr>
        <p:spPr>
          <a:xfrm>
            <a:off x="3381451" y="5248656"/>
            <a:ext cx="971093"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Rollback Plans</a:t>
            </a:r>
            <a:endParaRPr lang="en-US" sz="900" dirty="0">
              <a:ea typeface="Noto Sans SC" panose="020B0200000000000000" pitchFamily="34" charset="-122"/>
              <a:cs typeface="Noto Sans SC" panose="020B0200000000000000" pitchFamily="34" charset="-122"/>
            </a:endParaRPr>
          </a:p>
        </p:txBody>
      </p:sp>
      <p:pic>
        <p:nvPicPr>
          <p:cNvPr id="52" name="Image 22" descr="preencoded.png"/>
          <p:cNvPicPr>
            <a:picLocks noChangeAspect="1"/>
          </p:cNvPicPr>
          <p:nvPr/>
        </p:nvPicPr>
        <p:blipFill>
          <a:blip r:embed="rId23"/>
          <a:srcRect t="-14904" b="-14904"/>
          <a:stretch>
            <a:fillRect/>
          </a:stretch>
        </p:blipFill>
        <p:spPr>
          <a:xfrm>
            <a:off x="3228746" y="5309921"/>
            <a:ext cx="95098" cy="123444"/>
          </a:xfrm>
          <a:prstGeom prst="rect">
            <a:avLst/>
          </a:prstGeom>
        </p:spPr>
      </p:pic>
      <p:pic>
        <p:nvPicPr>
          <p:cNvPr id="53" name="Image 23" descr="preencoded.png"/>
          <p:cNvPicPr>
            <a:picLocks noChangeAspect="1"/>
          </p:cNvPicPr>
          <p:nvPr/>
        </p:nvPicPr>
        <p:blipFill>
          <a:blip r:embed="rId24"/>
          <a:srcRect l="-195" r="-195"/>
          <a:stretch>
            <a:fillRect/>
          </a:stretch>
        </p:blipFill>
        <p:spPr>
          <a:xfrm>
            <a:off x="4459529" y="5248656"/>
            <a:ext cx="1304849" cy="247802"/>
          </a:xfrm>
          <a:prstGeom prst="rect">
            <a:avLst/>
          </a:prstGeom>
        </p:spPr>
      </p:pic>
      <p:sp>
        <p:nvSpPr>
          <p:cNvPr id="54" name="Text 28"/>
          <p:cNvSpPr/>
          <p:nvPr/>
        </p:nvSpPr>
        <p:spPr>
          <a:xfrm>
            <a:off x="4745736" y="5248656"/>
            <a:ext cx="1019556" cy="247802"/>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Stable Backups</a:t>
            </a:r>
            <a:endParaRPr lang="en-US" sz="900" dirty="0">
              <a:ea typeface="Noto Sans SC" panose="020B0200000000000000" pitchFamily="34" charset="-122"/>
              <a:cs typeface="Noto Sans SC" panose="020B0200000000000000" pitchFamily="34" charset="-122"/>
            </a:endParaRPr>
          </a:p>
        </p:txBody>
      </p:sp>
      <p:pic>
        <p:nvPicPr>
          <p:cNvPr id="55" name="Image 24" descr="preencoded.png"/>
          <p:cNvPicPr>
            <a:picLocks noChangeAspect="1"/>
          </p:cNvPicPr>
          <p:nvPr/>
        </p:nvPicPr>
        <p:blipFill>
          <a:blip r:embed="rId25"/>
          <a:srcRect t="-6791" b="-6791"/>
          <a:stretch>
            <a:fillRect/>
          </a:stretch>
        </p:blipFill>
        <p:spPr>
          <a:xfrm>
            <a:off x="4593031" y="5309921"/>
            <a:ext cx="95098" cy="123444"/>
          </a:xfrm>
          <a:prstGeom prst="rect">
            <a:avLst/>
          </a:prstGeom>
        </p:spPr>
      </p:pic>
      <p:sp>
        <p:nvSpPr>
          <p:cNvPr id="56" name="Text 29"/>
          <p:cNvSpPr txBox="1"/>
          <p:nvPr/>
        </p:nvSpPr>
        <p:spPr>
          <a:xfrm>
            <a:off x="875995" y="6001207"/>
            <a:ext cx="10439705" cy="457200"/>
          </a:xfrm>
          <a:prstGeom prst="rect">
            <a:avLst/>
          </a:prstGeom>
          <a:noFill/>
        </p:spPr>
        <p:txBody>
          <a:bodyPr wrap="square" lIns="0" tIns="0" rIns="0" bIns="0" rtlCol="0" anchor="ctr"/>
          <a:lstStyle/>
          <a:p>
            <a:pPr marL="0" indent="0" algn="l">
              <a:buNone/>
            </a:pPr>
            <a:r>
              <a:rPr lang="en-US" sz="12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Strategic Insight: </a:t>
            </a:r>
            <a:r>
              <a:rPr lang="en-US" sz="12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EVM metrics serve not just as performance trackers but as early warning systems. Immediate course correction prioritizing the critical path ensures project viability despite initial schedule setbacks. </a:t>
            </a:r>
            <a:endParaRPr lang="en-US" sz="1200" dirty="0">
              <a:ea typeface="Noto Sans SC" panose="020B0200000000000000" pitchFamily="34" charset="-122"/>
              <a:cs typeface="Noto Sans SC" panose="020B0200000000000000"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5" name="Shape 2"/>
          <p:cNvSpPr/>
          <p:nvPr/>
        </p:nvSpPr>
        <p:spPr>
          <a:xfrm>
            <a:off x="571500" y="1762049"/>
            <a:ext cx="6476695" cy="2857500"/>
          </a:xfrm>
          <a:prstGeom prst="roundRect">
            <a:avLst>
              <a:gd name="adj" fmla="val 2560"/>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pic>
        <p:nvPicPr>
          <p:cNvPr id="6" name="Image 1" descr="preencoded.png"/>
          <p:cNvPicPr>
            <a:picLocks noChangeAspect="1"/>
          </p:cNvPicPr>
          <p:nvPr/>
        </p:nvPicPr>
        <p:blipFill>
          <a:blip r:embed="rId2"/>
          <a:srcRect l="-24" r="-24"/>
          <a:stretch>
            <a:fillRect/>
          </a:stretch>
        </p:blipFill>
        <p:spPr>
          <a:xfrm>
            <a:off x="838505" y="3666744"/>
            <a:ext cx="5943600" cy="809244"/>
          </a:xfrm>
          <a:prstGeom prst="rect">
            <a:avLst/>
          </a:prstGeom>
        </p:spPr>
      </p:pic>
      <p:sp>
        <p:nvSpPr>
          <p:cNvPr id="7" name="Shape 3"/>
          <p:cNvSpPr/>
          <p:nvPr/>
        </p:nvSpPr>
        <p:spPr>
          <a:xfrm>
            <a:off x="571500" y="4809744"/>
            <a:ext cx="6476695" cy="1333195"/>
          </a:xfrm>
          <a:prstGeom prst="roundRect">
            <a:avLst>
              <a:gd name="adj" fmla="val 11758"/>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sp>
        <p:nvSpPr>
          <p:cNvPr id="8" name="Shape 4"/>
          <p:cNvSpPr/>
          <p:nvPr/>
        </p:nvSpPr>
        <p:spPr>
          <a:xfrm>
            <a:off x="7334402" y="1762049"/>
            <a:ext cx="4286707" cy="4381805"/>
          </a:xfrm>
          <a:prstGeom prst="roundRect">
            <a:avLst>
              <a:gd name="adj" fmla="val 1138"/>
            </a:avLst>
          </a:prstGeom>
          <a:solidFill>
            <a:srgbClr val="FFFFFF"/>
          </a:solidFill>
          <a:ln w="12700">
            <a:solidFill>
              <a:srgbClr val="E2E8F0"/>
            </a:solidFill>
            <a:prstDash val="solid"/>
          </a:ln>
          <a:effectLst>
            <a:outerShdw blurRad="114300" dist="38100" dir="16200000" algn="bl" rotWithShape="0">
              <a:srgbClr val="000000">
                <a:alpha val="5000"/>
              </a:srgbClr>
            </a:outerShdw>
          </a:effectLst>
        </p:spPr>
      </p:sp>
      <p:sp>
        <p:nvSpPr>
          <p:cNvPr id="9" name="Shape 5"/>
          <p:cNvSpPr/>
          <p:nvPr/>
        </p:nvSpPr>
        <p:spPr>
          <a:xfrm>
            <a:off x="7601407" y="2619756"/>
            <a:ext cx="3752698" cy="952805"/>
          </a:xfrm>
          <a:prstGeom prst="roundRect">
            <a:avLst>
              <a:gd name="adj" fmla="val 15355"/>
            </a:avLst>
          </a:prstGeom>
          <a:solidFill>
            <a:srgbClr val="F8FAFC"/>
          </a:solidFill>
        </p:spPr>
      </p:sp>
      <p:sp>
        <p:nvSpPr>
          <p:cNvPr id="10" name="Shape 6"/>
          <p:cNvSpPr/>
          <p:nvPr/>
        </p:nvSpPr>
        <p:spPr>
          <a:xfrm>
            <a:off x="7601407" y="2619756"/>
            <a:ext cx="38405" cy="952805"/>
          </a:xfrm>
          <a:prstGeom prst="roundRect">
            <a:avLst>
              <a:gd name="adj" fmla="val 380950"/>
            </a:avLst>
          </a:prstGeom>
          <a:solidFill>
            <a:srgbClr val="3B82F6"/>
          </a:solidFill>
          <a:ln w="12700">
            <a:solidFill>
              <a:srgbClr val="3B82F6">
                <a:alpha val="0"/>
              </a:srgbClr>
            </a:solidFill>
            <a:prstDash val="solid"/>
          </a:ln>
        </p:spPr>
      </p:sp>
      <p:sp>
        <p:nvSpPr>
          <p:cNvPr id="11" name="Shape 7"/>
          <p:cNvSpPr/>
          <p:nvPr/>
        </p:nvSpPr>
        <p:spPr>
          <a:xfrm>
            <a:off x="7601407" y="3762756"/>
            <a:ext cx="3752698" cy="809244"/>
          </a:xfrm>
          <a:prstGeom prst="roundRect">
            <a:avLst>
              <a:gd name="adj" fmla="val 21270"/>
            </a:avLst>
          </a:prstGeom>
          <a:solidFill>
            <a:srgbClr val="F8FAFC"/>
          </a:solidFill>
        </p:spPr>
      </p:sp>
      <p:sp>
        <p:nvSpPr>
          <p:cNvPr id="12" name="Shape 8"/>
          <p:cNvSpPr/>
          <p:nvPr/>
        </p:nvSpPr>
        <p:spPr>
          <a:xfrm>
            <a:off x="7601407" y="3762756"/>
            <a:ext cx="38405" cy="809244"/>
          </a:xfrm>
          <a:prstGeom prst="roundRect">
            <a:avLst>
              <a:gd name="adj" fmla="val 448177"/>
            </a:avLst>
          </a:prstGeom>
          <a:solidFill>
            <a:srgbClr val="3B82F6"/>
          </a:solidFill>
          <a:ln w="12700">
            <a:solidFill>
              <a:srgbClr val="3B82F6">
                <a:alpha val="0"/>
              </a:srgbClr>
            </a:solidFill>
            <a:prstDash val="solid"/>
          </a:ln>
        </p:spPr>
      </p:sp>
      <p:sp>
        <p:nvSpPr>
          <p:cNvPr id="13" name="Shape 9"/>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4" name="Image 2" descr="preencoded.png"/>
          <p:cNvPicPr>
            <a:picLocks noChangeAspect="1"/>
          </p:cNvPicPr>
          <p:nvPr/>
        </p:nvPicPr>
        <p:blipFill>
          <a:blip r:embed="rId3"/>
          <a:srcRect l="-1648" r="-1648"/>
          <a:stretch>
            <a:fillRect/>
          </a:stretch>
        </p:blipFill>
        <p:spPr>
          <a:xfrm>
            <a:off x="714146" y="286207"/>
            <a:ext cx="171907" cy="190195"/>
          </a:xfrm>
          <a:prstGeom prst="rect">
            <a:avLst/>
          </a:prstGeom>
        </p:spPr>
      </p:pic>
      <p:sp>
        <p:nvSpPr>
          <p:cNvPr id="15" name="Text 10"/>
          <p:cNvSpPr txBox="1"/>
          <p:nvPr/>
        </p:nvSpPr>
        <p:spPr>
          <a:xfrm>
            <a:off x="1218895" y="190195"/>
            <a:ext cx="7620610" cy="381305"/>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Post Mid-term Achievements &amp; Next Steps</a:t>
            </a:r>
            <a:endParaRPr lang="en-US" sz="2400" dirty="0">
              <a:ea typeface="Noto Sans SC" panose="020B0200000000000000" pitchFamily="34" charset="-122"/>
              <a:cs typeface="Noto Sans SC" panose="020B0200000000000000" pitchFamily="34" charset="-122"/>
            </a:endParaRPr>
          </a:p>
        </p:txBody>
      </p:sp>
      <p:pic>
        <p:nvPicPr>
          <p:cNvPr id="16" name="Image 3" descr="preencoded.png"/>
          <p:cNvPicPr>
            <a:picLocks noChangeAspect="1"/>
          </p:cNvPicPr>
          <p:nvPr/>
        </p:nvPicPr>
        <p:blipFill>
          <a:blip r:embed="rId4"/>
          <a:srcRect/>
          <a:stretch>
            <a:fillRect/>
          </a:stretch>
        </p:blipFill>
        <p:spPr>
          <a:xfrm>
            <a:off x="571500" y="1076249"/>
            <a:ext cx="228600" cy="228600"/>
          </a:xfrm>
          <a:prstGeom prst="rect">
            <a:avLst/>
          </a:prstGeom>
        </p:spPr>
      </p:pic>
      <p:sp>
        <p:nvSpPr>
          <p:cNvPr id="17" name="Text 11"/>
          <p:cNvSpPr txBox="1"/>
          <p:nvPr/>
        </p:nvSpPr>
        <p:spPr>
          <a:xfrm>
            <a:off x="972007" y="1028700"/>
            <a:ext cx="9525305" cy="648310"/>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From Prototype to Expansion: Post Mid-term Phase Achievements &amp; Future Directions</a:t>
            </a:r>
            <a:endParaRPr lang="en-US" sz="1900" dirty="0">
              <a:ea typeface="Noto Sans SC" panose="020B0200000000000000" pitchFamily="34" charset="-122"/>
              <a:cs typeface="Noto Sans SC" panose="020B0200000000000000" pitchFamily="34" charset="-122"/>
            </a:endParaRPr>
          </a:p>
        </p:txBody>
      </p:sp>
      <p:sp>
        <p:nvSpPr>
          <p:cNvPr id="18" name="Shape 12"/>
          <p:cNvSpPr/>
          <p:nvPr/>
        </p:nvSpPr>
        <p:spPr>
          <a:xfrm>
            <a:off x="838505" y="1981505"/>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19" name="Image 4" descr="preencoded.png"/>
          <p:cNvPicPr>
            <a:picLocks noChangeAspect="1"/>
          </p:cNvPicPr>
          <p:nvPr/>
        </p:nvPicPr>
        <p:blipFill>
          <a:blip r:embed="rId5"/>
          <a:srcRect/>
          <a:stretch>
            <a:fillRect/>
          </a:stretch>
        </p:blipFill>
        <p:spPr>
          <a:xfrm>
            <a:off x="942746" y="2085746"/>
            <a:ext cx="171907" cy="171907"/>
          </a:xfrm>
          <a:prstGeom prst="rect">
            <a:avLst/>
          </a:prstGeom>
        </p:spPr>
      </p:pic>
      <p:sp>
        <p:nvSpPr>
          <p:cNvPr id="20" name="Text 13"/>
          <p:cNvSpPr txBox="1"/>
          <p:nvPr/>
        </p:nvSpPr>
        <p:spPr>
          <a:xfrm>
            <a:off x="1333195" y="2048256"/>
            <a:ext cx="3810305" cy="286207"/>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Post Mid-term Core Achievements</a:t>
            </a:r>
            <a:endParaRPr lang="en-US" sz="1500" dirty="0">
              <a:ea typeface="Noto Sans SC" panose="020B0200000000000000" pitchFamily="34" charset="-122"/>
              <a:cs typeface="Noto Sans SC" panose="020B0200000000000000" pitchFamily="34" charset="-122"/>
            </a:endParaRPr>
          </a:p>
        </p:txBody>
      </p:sp>
      <p:sp>
        <p:nvSpPr>
          <p:cNvPr id="21" name="Shape 14"/>
          <p:cNvSpPr/>
          <p:nvPr/>
        </p:nvSpPr>
        <p:spPr>
          <a:xfrm>
            <a:off x="838505" y="2581351"/>
            <a:ext cx="95098" cy="95098"/>
          </a:xfrm>
          <a:prstGeom prst="ellipse">
            <a:avLst/>
          </a:prstGeom>
          <a:solidFill>
            <a:srgbClr val="22C55E"/>
          </a:solidFill>
          <a:ln w="12700">
            <a:solidFill>
              <a:srgbClr val="FFFFFF">
                <a:alpha val="0"/>
              </a:srgbClr>
            </a:solidFill>
            <a:prstDash val="solid"/>
          </a:ln>
        </p:spPr>
      </p:sp>
      <p:sp>
        <p:nvSpPr>
          <p:cNvPr id="22" name="Text 15"/>
          <p:cNvSpPr txBox="1"/>
          <p:nvPr/>
        </p:nvSpPr>
        <p:spPr>
          <a:xfrm>
            <a:off x="1028700" y="2523744"/>
            <a:ext cx="3060497" cy="191110"/>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Questionnaire model design complete</a:t>
            </a:r>
            <a:endParaRPr lang="en-US" sz="1100" dirty="0">
              <a:ea typeface="Noto Sans SC" panose="020B0200000000000000" pitchFamily="34" charset="-122"/>
              <a:cs typeface="Noto Sans SC" panose="020B0200000000000000" pitchFamily="34" charset="-122"/>
            </a:endParaRPr>
          </a:p>
        </p:txBody>
      </p:sp>
      <p:sp>
        <p:nvSpPr>
          <p:cNvPr id="23" name="Shape 16"/>
          <p:cNvSpPr/>
          <p:nvPr/>
        </p:nvSpPr>
        <p:spPr>
          <a:xfrm>
            <a:off x="3952951" y="2581351"/>
            <a:ext cx="95098" cy="95098"/>
          </a:xfrm>
          <a:prstGeom prst="ellipse">
            <a:avLst/>
          </a:prstGeom>
          <a:solidFill>
            <a:srgbClr val="22C55E"/>
          </a:solidFill>
          <a:ln w="12700">
            <a:solidFill>
              <a:srgbClr val="FFFFFF">
                <a:alpha val="0"/>
              </a:srgbClr>
            </a:solidFill>
            <a:prstDash val="solid"/>
          </a:ln>
        </p:spPr>
      </p:sp>
      <p:sp>
        <p:nvSpPr>
          <p:cNvPr id="24" name="Text 17"/>
          <p:cNvSpPr txBox="1"/>
          <p:nvPr/>
        </p:nvSpPr>
        <p:spPr>
          <a:xfrm>
            <a:off x="4143146" y="2523744"/>
            <a:ext cx="2958998" cy="191110"/>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Matching algorithm design complete</a:t>
            </a:r>
            <a:endParaRPr lang="en-US" sz="1100" dirty="0">
              <a:ea typeface="Noto Sans SC" panose="020B0200000000000000" pitchFamily="34" charset="-122"/>
              <a:cs typeface="Noto Sans SC" panose="020B0200000000000000" pitchFamily="34" charset="-122"/>
            </a:endParaRPr>
          </a:p>
        </p:txBody>
      </p:sp>
      <p:sp>
        <p:nvSpPr>
          <p:cNvPr id="25" name="Shape 18"/>
          <p:cNvSpPr/>
          <p:nvPr/>
        </p:nvSpPr>
        <p:spPr>
          <a:xfrm>
            <a:off x="838505" y="2881274"/>
            <a:ext cx="95098" cy="95098"/>
          </a:xfrm>
          <a:prstGeom prst="ellipse">
            <a:avLst/>
          </a:prstGeom>
          <a:solidFill>
            <a:srgbClr val="22C55E"/>
          </a:solidFill>
          <a:ln w="12700">
            <a:solidFill>
              <a:srgbClr val="FFFFFF">
                <a:alpha val="0"/>
              </a:srgbClr>
            </a:solidFill>
            <a:prstDash val="solid"/>
          </a:ln>
        </p:spPr>
      </p:sp>
      <p:sp>
        <p:nvSpPr>
          <p:cNvPr id="26" name="Text 19"/>
          <p:cNvSpPr txBox="1"/>
          <p:nvPr/>
        </p:nvSpPr>
        <p:spPr>
          <a:xfrm>
            <a:off x="1028700" y="2824582"/>
            <a:ext cx="3015691" cy="191110"/>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Risk management system established</a:t>
            </a:r>
            <a:endParaRPr lang="en-US" sz="1100" dirty="0">
              <a:ea typeface="Noto Sans SC" panose="020B0200000000000000" pitchFamily="34" charset="-122"/>
              <a:cs typeface="Noto Sans SC" panose="020B0200000000000000" pitchFamily="34" charset="-122"/>
            </a:endParaRPr>
          </a:p>
        </p:txBody>
      </p:sp>
      <p:sp>
        <p:nvSpPr>
          <p:cNvPr id="27" name="Shape 20"/>
          <p:cNvSpPr/>
          <p:nvPr/>
        </p:nvSpPr>
        <p:spPr>
          <a:xfrm>
            <a:off x="3952951" y="2881274"/>
            <a:ext cx="95098" cy="95098"/>
          </a:xfrm>
          <a:prstGeom prst="ellipse">
            <a:avLst/>
          </a:prstGeom>
          <a:solidFill>
            <a:srgbClr val="22C55E"/>
          </a:solidFill>
          <a:ln w="12700">
            <a:solidFill>
              <a:srgbClr val="FFFFFF">
                <a:alpha val="0"/>
              </a:srgbClr>
            </a:solidFill>
            <a:prstDash val="solid"/>
          </a:ln>
        </p:spPr>
      </p:sp>
      <p:sp>
        <p:nvSpPr>
          <p:cNvPr id="28" name="Text 21"/>
          <p:cNvSpPr txBox="1"/>
          <p:nvPr/>
        </p:nvSpPr>
        <p:spPr>
          <a:xfrm>
            <a:off x="4143146" y="2824582"/>
            <a:ext cx="2638958" cy="372161"/>
          </a:xfrm>
          <a:prstGeom prst="rect">
            <a:avLst/>
          </a:prstGeom>
          <a:noFill/>
        </p:spPr>
        <p:txBody>
          <a:bodyPr wrap="square" lIns="0" tIns="0" rIns="0" bIns="0" rtlCol="0" anchor="ctr"/>
          <a:lstStyle/>
          <a:p>
            <a:pPr marL="0" indent="0" algn="l">
              <a:buNone/>
            </a:pPr>
            <a:r>
              <a:rPr lang="en-US" sz="11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Task network &amp; critical path analysis complete</a:t>
            </a:r>
            <a:endParaRPr lang="en-US" sz="1100" dirty="0">
              <a:ea typeface="Noto Sans SC" panose="020B0200000000000000" pitchFamily="34" charset="-122"/>
              <a:cs typeface="Noto Sans SC" panose="020B0200000000000000" pitchFamily="34" charset="-122"/>
            </a:endParaRPr>
          </a:p>
        </p:txBody>
      </p:sp>
      <p:sp>
        <p:nvSpPr>
          <p:cNvPr id="29" name="Text 22"/>
          <p:cNvSpPr txBox="1"/>
          <p:nvPr/>
        </p:nvSpPr>
        <p:spPr>
          <a:xfrm>
            <a:off x="952805" y="3762756"/>
            <a:ext cx="5715000" cy="543154"/>
          </a:xfrm>
          <a:prstGeom prst="rect">
            <a:avLst/>
          </a:prstGeom>
          <a:noFill/>
        </p:spPr>
        <p:txBody>
          <a:bodyPr wrap="square" lIns="0" tIns="0" rIns="0" bIns="0" rtlCol="0" anchor="ctr"/>
          <a:lstStyle/>
          <a:p>
            <a:pPr marL="0" indent="0" algn="l">
              <a:buNone/>
            </a:pPr>
            <a:r>
              <a:rPr lang="en-US" sz="10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Key accomplishments:</a:t>
            </a:r>
            <a:r>
              <a:rPr lang="en-US" sz="10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Successfully completed RMMM risk identification with 6 major risks and mitigation strategies, Completed task network planning with 16-day critical path identified, EVM analysis reveals project status (CPI≈0.91, SPI≈0.86) with actionable decisions</a:t>
            </a:r>
            <a:endParaRPr lang="en-US" sz="1000" dirty="0">
              <a:ea typeface="Noto Sans SC" panose="020B0200000000000000" pitchFamily="34" charset="-122"/>
              <a:cs typeface="Noto Sans SC" panose="020B0200000000000000" pitchFamily="34" charset="-122"/>
            </a:endParaRPr>
          </a:p>
        </p:txBody>
      </p:sp>
      <p:sp>
        <p:nvSpPr>
          <p:cNvPr id="30" name="Shape 23"/>
          <p:cNvSpPr/>
          <p:nvPr/>
        </p:nvSpPr>
        <p:spPr>
          <a:xfrm>
            <a:off x="838505" y="5000854"/>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31" name="Image 5" descr="preencoded.png"/>
          <p:cNvPicPr>
            <a:picLocks noChangeAspect="1"/>
          </p:cNvPicPr>
          <p:nvPr/>
        </p:nvPicPr>
        <p:blipFill>
          <a:blip r:embed="rId6"/>
          <a:srcRect/>
          <a:stretch>
            <a:fillRect/>
          </a:stretch>
        </p:blipFill>
        <p:spPr>
          <a:xfrm>
            <a:off x="942746" y="5105095"/>
            <a:ext cx="171907" cy="171907"/>
          </a:xfrm>
          <a:prstGeom prst="rect">
            <a:avLst/>
          </a:prstGeom>
        </p:spPr>
      </p:pic>
      <p:sp>
        <p:nvSpPr>
          <p:cNvPr id="32" name="Text 24"/>
          <p:cNvSpPr txBox="1"/>
          <p:nvPr/>
        </p:nvSpPr>
        <p:spPr>
          <a:xfrm>
            <a:off x="1333195" y="5067605"/>
            <a:ext cx="2857500" cy="286207"/>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Long-term Roadmap</a:t>
            </a:r>
            <a:endParaRPr lang="en-US" sz="1500" dirty="0">
              <a:ea typeface="Noto Sans SC" panose="020B0200000000000000" pitchFamily="34" charset="-122"/>
              <a:cs typeface="Noto Sans SC" panose="020B0200000000000000" pitchFamily="34" charset="-122"/>
            </a:endParaRPr>
          </a:p>
        </p:txBody>
      </p:sp>
      <p:sp>
        <p:nvSpPr>
          <p:cNvPr id="33" name="Text 25"/>
          <p:cNvSpPr txBox="1"/>
          <p:nvPr/>
        </p:nvSpPr>
        <p:spPr>
          <a:xfrm>
            <a:off x="838505" y="5477256"/>
            <a:ext cx="5943600" cy="457200"/>
          </a:xfrm>
          <a:prstGeom prst="rect">
            <a:avLst/>
          </a:prstGeom>
          <a:noFill/>
        </p:spPr>
        <p:txBody>
          <a:bodyPr wrap="square" lIns="0" tIns="0" rIns="0" bIns="0" rtlCol="0" anchor="ctr"/>
          <a:lstStyle/>
          <a:p>
            <a:pPr marL="0" indent="0" algn="l">
              <a:buNone/>
            </a:pPr>
            <a:r>
              <a:rPr lang="en-US" sz="1200" b="1"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Long-term:</a:t>
            </a:r>
            <a:r>
              <a:rPr lang="en-US" sz="12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 Rules-first approach, intelligent enhancements, continuous explainability</a:t>
            </a:r>
            <a:endParaRPr lang="en-US" sz="1200" dirty="0">
              <a:ea typeface="Noto Sans SC" panose="020B0200000000000000" pitchFamily="34" charset="-122"/>
              <a:cs typeface="Noto Sans SC" panose="020B0200000000000000" pitchFamily="34" charset="-122"/>
            </a:endParaRPr>
          </a:p>
        </p:txBody>
      </p:sp>
      <p:sp>
        <p:nvSpPr>
          <p:cNvPr id="34" name="Shape 26"/>
          <p:cNvSpPr/>
          <p:nvPr/>
        </p:nvSpPr>
        <p:spPr>
          <a:xfrm>
            <a:off x="7601407" y="1981505"/>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35" name="Image 6" descr="preencoded.png"/>
          <p:cNvPicPr>
            <a:picLocks noChangeAspect="1"/>
          </p:cNvPicPr>
          <p:nvPr/>
        </p:nvPicPr>
        <p:blipFill>
          <a:blip r:embed="rId7"/>
          <a:srcRect/>
          <a:stretch>
            <a:fillRect/>
          </a:stretch>
        </p:blipFill>
        <p:spPr>
          <a:xfrm>
            <a:off x="7705649" y="2085746"/>
            <a:ext cx="171907" cy="171907"/>
          </a:xfrm>
          <a:prstGeom prst="rect">
            <a:avLst/>
          </a:prstGeom>
        </p:spPr>
      </p:pic>
      <p:sp>
        <p:nvSpPr>
          <p:cNvPr id="36" name="Text 27"/>
          <p:cNvSpPr txBox="1"/>
          <p:nvPr/>
        </p:nvSpPr>
        <p:spPr>
          <a:xfrm>
            <a:off x="8096098" y="2048256"/>
            <a:ext cx="2857500" cy="286207"/>
          </a:xfrm>
          <a:prstGeom prst="rect">
            <a:avLst/>
          </a:prstGeom>
          <a:noFill/>
        </p:spPr>
        <p:txBody>
          <a:bodyPr wrap="square" lIns="0" tIns="0" rIns="0" bIns="0" rtlCol="0" anchor="ctr"/>
          <a:lstStyle/>
          <a:p>
            <a:pPr marL="0" indent="0" algn="l">
              <a:buNone/>
            </a:pPr>
            <a:r>
              <a:rPr lang="en-US" sz="15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Next Steps &amp; Roadmap</a:t>
            </a:r>
            <a:endParaRPr lang="en-US" sz="1500" dirty="0">
              <a:ea typeface="Noto Sans SC" panose="020B0200000000000000" pitchFamily="34" charset="-122"/>
              <a:cs typeface="Noto Sans SC" panose="020B0200000000000000" pitchFamily="34" charset="-122"/>
            </a:endParaRPr>
          </a:p>
        </p:txBody>
      </p:sp>
      <p:sp>
        <p:nvSpPr>
          <p:cNvPr id="37" name="Shape 28"/>
          <p:cNvSpPr/>
          <p:nvPr/>
        </p:nvSpPr>
        <p:spPr>
          <a:xfrm>
            <a:off x="7753198" y="2714854"/>
            <a:ext cx="267005" cy="267005"/>
          </a:xfrm>
          <a:prstGeom prst="ellipse">
            <a:avLst/>
          </a:prstGeom>
          <a:solidFill>
            <a:srgbClr val="3B82F6"/>
          </a:solidFill>
          <a:ln w="12700">
            <a:solidFill>
              <a:srgbClr val="FFFFFF">
                <a:alpha val="0"/>
              </a:srgbClr>
            </a:solidFill>
            <a:prstDash val="solid"/>
          </a:ln>
        </p:spPr>
      </p:sp>
      <p:sp>
        <p:nvSpPr>
          <p:cNvPr id="38" name="Text 29"/>
          <p:cNvSpPr/>
          <p:nvPr/>
        </p:nvSpPr>
        <p:spPr>
          <a:xfrm>
            <a:off x="7753198" y="2714854"/>
            <a:ext cx="267005" cy="267005"/>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1</a:t>
            </a:r>
            <a:endParaRPr lang="en-US" sz="1000" dirty="0">
              <a:ea typeface="Noto Sans SC" panose="020B0200000000000000" pitchFamily="34" charset="-122"/>
              <a:cs typeface="Noto Sans SC" panose="020B0200000000000000" pitchFamily="34" charset="-122"/>
            </a:endParaRPr>
          </a:p>
        </p:txBody>
      </p:sp>
      <p:sp>
        <p:nvSpPr>
          <p:cNvPr id="39" name="Text 30"/>
          <p:cNvSpPr txBox="1"/>
          <p:nvPr/>
        </p:nvSpPr>
        <p:spPr>
          <a:xfrm>
            <a:off x="8134502" y="2714854"/>
            <a:ext cx="3067812" cy="219456"/>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Immediate</a:t>
            </a:r>
            <a:endParaRPr lang="en-US" sz="1100" dirty="0">
              <a:ea typeface="Noto Sans SC" panose="020B0200000000000000" pitchFamily="34" charset="-122"/>
              <a:cs typeface="Noto Sans SC" panose="020B0200000000000000" pitchFamily="34" charset="-122"/>
            </a:endParaRPr>
          </a:p>
        </p:txBody>
      </p:sp>
      <p:sp>
        <p:nvSpPr>
          <p:cNvPr id="40" name="Text 31"/>
          <p:cNvSpPr txBox="1"/>
          <p:nvPr/>
        </p:nvSpPr>
        <p:spPr>
          <a:xfrm>
            <a:off x="8134502" y="2967228"/>
            <a:ext cx="3067812" cy="381305"/>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Implement questionnaire/matching modules, conduct validation and demo preparation</a:t>
            </a:r>
            <a:endParaRPr lang="en-US" sz="1000" dirty="0">
              <a:ea typeface="Noto Sans SC" panose="020B0200000000000000" pitchFamily="34" charset="-122"/>
              <a:cs typeface="Noto Sans SC" panose="020B0200000000000000" pitchFamily="34" charset="-122"/>
            </a:endParaRPr>
          </a:p>
        </p:txBody>
      </p:sp>
      <p:sp>
        <p:nvSpPr>
          <p:cNvPr id="41" name="Shape 32"/>
          <p:cNvSpPr/>
          <p:nvPr/>
        </p:nvSpPr>
        <p:spPr>
          <a:xfrm>
            <a:off x="7753198" y="3857854"/>
            <a:ext cx="267005" cy="267005"/>
          </a:xfrm>
          <a:prstGeom prst="ellipse">
            <a:avLst/>
          </a:prstGeom>
          <a:solidFill>
            <a:srgbClr val="3B82F6"/>
          </a:solidFill>
          <a:ln w="12700">
            <a:solidFill>
              <a:srgbClr val="FFFFFF">
                <a:alpha val="0"/>
              </a:srgbClr>
            </a:solidFill>
            <a:prstDash val="solid"/>
          </a:ln>
        </p:spPr>
      </p:sp>
      <p:sp>
        <p:nvSpPr>
          <p:cNvPr id="42" name="Text 33"/>
          <p:cNvSpPr/>
          <p:nvPr/>
        </p:nvSpPr>
        <p:spPr>
          <a:xfrm>
            <a:off x="7753198" y="3857854"/>
            <a:ext cx="267005" cy="267005"/>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0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2</a:t>
            </a:r>
            <a:endParaRPr lang="en-US" sz="1000" dirty="0">
              <a:ea typeface="Noto Sans SC" panose="020B0200000000000000" pitchFamily="34" charset="-122"/>
              <a:cs typeface="Noto Sans SC" panose="020B0200000000000000" pitchFamily="34" charset="-122"/>
            </a:endParaRPr>
          </a:p>
        </p:txBody>
      </p:sp>
      <p:sp>
        <p:nvSpPr>
          <p:cNvPr id="43" name="Text 34"/>
          <p:cNvSpPr txBox="1"/>
          <p:nvPr/>
        </p:nvSpPr>
        <p:spPr>
          <a:xfrm>
            <a:off x="8134502" y="3857854"/>
            <a:ext cx="3067812" cy="219456"/>
          </a:xfrm>
          <a:prstGeom prst="rect">
            <a:avLst/>
          </a:prstGeom>
          <a:noFill/>
        </p:spPr>
        <p:txBody>
          <a:bodyPr wrap="square" lIns="0" tIns="0" rIns="0" bIns="0" rtlCol="0" anchor="ctr"/>
          <a:lstStyle/>
          <a:p>
            <a:pPr marL="0" indent="0" algn="l">
              <a:buNone/>
            </a:pPr>
            <a:r>
              <a:rPr lang="en-US" sz="1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Mid-term</a:t>
            </a:r>
            <a:endParaRPr lang="en-US" sz="1100" dirty="0">
              <a:ea typeface="Noto Sans SC" panose="020B0200000000000000" pitchFamily="34" charset="-122"/>
              <a:cs typeface="Noto Sans SC" panose="020B0200000000000000" pitchFamily="34" charset="-122"/>
            </a:endParaRPr>
          </a:p>
        </p:txBody>
      </p:sp>
      <p:sp>
        <p:nvSpPr>
          <p:cNvPr id="44" name="Text 35"/>
          <p:cNvSpPr txBox="1"/>
          <p:nvPr/>
        </p:nvSpPr>
        <p:spPr>
          <a:xfrm>
            <a:off x="8134502" y="4110228"/>
            <a:ext cx="3067812" cy="381305"/>
          </a:xfrm>
          <a:prstGeom prst="rect">
            <a:avLst/>
          </a:prstGeom>
          <a:noFill/>
        </p:spPr>
        <p:txBody>
          <a:bodyPr wrap="square" lIns="0" tIns="0" rIns="0" bIns="0" rtlCol="0" anchor="ctr"/>
          <a:lstStyle/>
          <a:p>
            <a:pPr marL="0" indent="0" algn="l">
              <a:buNone/>
            </a:pPr>
            <a:r>
              <a:rPr lang="en-US" sz="10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Iterate based on feedback, optimize algorithm performance</a:t>
            </a:r>
            <a:endParaRPr lang="en-US" sz="1000" dirty="0">
              <a:ea typeface="Noto Sans SC" panose="020B0200000000000000" pitchFamily="34" charset="-122"/>
              <a:cs typeface="Noto Sans SC" panose="020B0200000000000000"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5" name="Shape 2"/>
          <p:cNvSpPr/>
          <p:nvPr/>
        </p:nvSpPr>
        <p:spPr>
          <a:xfrm>
            <a:off x="571500" y="1714500"/>
            <a:ext cx="3600907" cy="1762049"/>
          </a:xfrm>
          <a:prstGeom prst="roundRect">
            <a:avLst>
              <a:gd name="adj" fmla="val 6732"/>
            </a:avLst>
          </a:prstGeom>
          <a:solidFill>
            <a:srgbClr val="FFFFFF"/>
          </a:solidFill>
          <a:effectLst>
            <a:outerShdw blurRad="114300" dist="38100" dir="16200000" algn="bl" rotWithShape="0">
              <a:srgbClr val="000000">
                <a:alpha val="5000"/>
              </a:srgbClr>
            </a:outerShdw>
          </a:effectLst>
        </p:spPr>
      </p:sp>
      <p:sp>
        <p:nvSpPr>
          <p:cNvPr id="6" name="Shape 3"/>
          <p:cNvSpPr/>
          <p:nvPr/>
        </p:nvSpPr>
        <p:spPr>
          <a:xfrm>
            <a:off x="571500" y="1714500"/>
            <a:ext cx="47549" cy="1762049"/>
          </a:xfrm>
          <a:prstGeom prst="roundRect">
            <a:avLst>
              <a:gd name="adj" fmla="val 249479"/>
            </a:avLst>
          </a:prstGeom>
          <a:solidFill>
            <a:srgbClr val="3B82F6"/>
          </a:solidFill>
          <a:ln w="12700">
            <a:solidFill>
              <a:srgbClr val="3B82F6">
                <a:alpha val="0"/>
              </a:srgbClr>
            </a:solidFill>
            <a:prstDash val="solid"/>
          </a:ln>
        </p:spPr>
      </p:sp>
      <p:sp>
        <p:nvSpPr>
          <p:cNvPr id="7" name="Shape 4"/>
          <p:cNvSpPr/>
          <p:nvPr/>
        </p:nvSpPr>
        <p:spPr>
          <a:xfrm>
            <a:off x="4315054" y="1714500"/>
            <a:ext cx="3600907" cy="1762049"/>
          </a:xfrm>
          <a:prstGeom prst="roundRect">
            <a:avLst>
              <a:gd name="adj" fmla="val 6732"/>
            </a:avLst>
          </a:prstGeom>
          <a:solidFill>
            <a:srgbClr val="FFFFFF"/>
          </a:solidFill>
          <a:effectLst>
            <a:outerShdw blurRad="114300" dist="38100" dir="16200000" algn="bl" rotWithShape="0">
              <a:srgbClr val="000000">
                <a:alpha val="5000"/>
              </a:srgbClr>
            </a:outerShdw>
          </a:effectLst>
        </p:spPr>
      </p:sp>
      <p:sp>
        <p:nvSpPr>
          <p:cNvPr id="8" name="Shape 5"/>
          <p:cNvSpPr/>
          <p:nvPr/>
        </p:nvSpPr>
        <p:spPr>
          <a:xfrm>
            <a:off x="4315054" y="1714500"/>
            <a:ext cx="47549" cy="1762049"/>
          </a:xfrm>
          <a:prstGeom prst="roundRect">
            <a:avLst>
              <a:gd name="adj" fmla="val 249479"/>
            </a:avLst>
          </a:prstGeom>
          <a:solidFill>
            <a:srgbClr val="3B82F6"/>
          </a:solidFill>
          <a:ln w="12700">
            <a:solidFill>
              <a:srgbClr val="3B82F6">
                <a:alpha val="0"/>
              </a:srgbClr>
            </a:solidFill>
            <a:prstDash val="solid"/>
          </a:ln>
        </p:spPr>
      </p:sp>
      <p:sp>
        <p:nvSpPr>
          <p:cNvPr id="9" name="Shape 6"/>
          <p:cNvSpPr/>
          <p:nvPr/>
        </p:nvSpPr>
        <p:spPr>
          <a:xfrm>
            <a:off x="8058607" y="1714500"/>
            <a:ext cx="3600907" cy="1762049"/>
          </a:xfrm>
          <a:prstGeom prst="roundRect">
            <a:avLst>
              <a:gd name="adj" fmla="val 6732"/>
            </a:avLst>
          </a:prstGeom>
          <a:solidFill>
            <a:srgbClr val="FFFFFF"/>
          </a:solidFill>
          <a:effectLst>
            <a:outerShdw blurRad="114300" dist="38100" dir="16200000" algn="bl" rotWithShape="0">
              <a:srgbClr val="000000">
                <a:alpha val="5000"/>
              </a:srgbClr>
            </a:outerShdw>
          </a:effectLst>
        </p:spPr>
      </p:sp>
      <p:sp>
        <p:nvSpPr>
          <p:cNvPr id="10" name="Shape 7"/>
          <p:cNvSpPr/>
          <p:nvPr/>
        </p:nvSpPr>
        <p:spPr>
          <a:xfrm>
            <a:off x="8058607" y="1714500"/>
            <a:ext cx="47549" cy="1762049"/>
          </a:xfrm>
          <a:prstGeom prst="roundRect">
            <a:avLst>
              <a:gd name="adj" fmla="val 249479"/>
            </a:avLst>
          </a:prstGeom>
          <a:solidFill>
            <a:srgbClr val="3B82F6"/>
          </a:solidFill>
          <a:ln w="12700">
            <a:solidFill>
              <a:srgbClr val="3B82F6">
                <a:alpha val="0"/>
              </a:srgbClr>
            </a:solidFill>
            <a:prstDash val="solid"/>
          </a:ln>
        </p:spPr>
      </p:sp>
      <p:sp>
        <p:nvSpPr>
          <p:cNvPr id="11" name="Shape 8"/>
          <p:cNvSpPr/>
          <p:nvPr/>
        </p:nvSpPr>
        <p:spPr>
          <a:xfrm>
            <a:off x="571500" y="3666744"/>
            <a:ext cx="3600907" cy="1762049"/>
          </a:xfrm>
          <a:prstGeom prst="roundRect">
            <a:avLst>
              <a:gd name="adj" fmla="val 6732"/>
            </a:avLst>
          </a:prstGeom>
          <a:solidFill>
            <a:srgbClr val="FFFFFF"/>
          </a:solidFill>
          <a:effectLst>
            <a:outerShdw blurRad="114300" dist="38100" dir="16200000" algn="bl" rotWithShape="0">
              <a:srgbClr val="000000">
                <a:alpha val="5000"/>
              </a:srgbClr>
            </a:outerShdw>
          </a:effectLst>
        </p:spPr>
      </p:sp>
      <p:sp>
        <p:nvSpPr>
          <p:cNvPr id="12" name="Shape 9"/>
          <p:cNvSpPr/>
          <p:nvPr/>
        </p:nvSpPr>
        <p:spPr>
          <a:xfrm>
            <a:off x="571500" y="3666744"/>
            <a:ext cx="47549" cy="1762049"/>
          </a:xfrm>
          <a:prstGeom prst="roundRect">
            <a:avLst>
              <a:gd name="adj" fmla="val 249479"/>
            </a:avLst>
          </a:prstGeom>
          <a:solidFill>
            <a:srgbClr val="10B981"/>
          </a:solidFill>
          <a:ln w="12700">
            <a:solidFill>
              <a:srgbClr val="10B981">
                <a:alpha val="0"/>
              </a:srgbClr>
            </a:solidFill>
            <a:prstDash val="solid"/>
          </a:ln>
        </p:spPr>
      </p:sp>
      <p:sp>
        <p:nvSpPr>
          <p:cNvPr id="13" name="Shape 10"/>
          <p:cNvSpPr/>
          <p:nvPr/>
        </p:nvSpPr>
        <p:spPr>
          <a:xfrm>
            <a:off x="4315054" y="3666744"/>
            <a:ext cx="3600907" cy="1762049"/>
          </a:xfrm>
          <a:prstGeom prst="roundRect">
            <a:avLst>
              <a:gd name="adj" fmla="val 6732"/>
            </a:avLst>
          </a:prstGeom>
          <a:solidFill>
            <a:srgbClr val="FFFFFF"/>
          </a:solidFill>
          <a:effectLst>
            <a:outerShdw blurRad="114300" dist="38100" dir="16200000" algn="bl" rotWithShape="0">
              <a:srgbClr val="000000">
                <a:alpha val="5000"/>
              </a:srgbClr>
            </a:outerShdw>
          </a:effectLst>
        </p:spPr>
      </p:sp>
      <p:sp>
        <p:nvSpPr>
          <p:cNvPr id="14" name="Shape 11"/>
          <p:cNvSpPr/>
          <p:nvPr/>
        </p:nvSpPr>
        <p:spPr>
          <a:xfrm>
            <a:off x="4315054" y="3666744"/>
            <a:ext cx="47549" cy="1762049"/>
          </a:xfrm>
          <a:prstGeom prst="roundRect">
            <a:avLst>
              <a:gd name="adj" fmla="val 249479"/>
            </a:avLst>
          </a:prstGeom>
          <a:solidFill>
            <a:srgbClr val="8B5CF6"/>
          </a:solidFill>
          <a:ln w="12700">
            <a:solidFill>
              <a:srgbClr val="8B5CF6">
                <a:alpha val="0"/>
              </a:srgbClr>
            </a:solidFill>
            <a:prstDash val="solid"/>
          </a:ln>
        </p:spPr>
      </p:sp>
      <p:sp>
        <p:nvSpPr>
          <p:cNvPr id="15" name="Shape 12"/>
          <p:cNvSpPr/>
          <p:nvPr/>
        </p:nvSpPr>
        <p:spPr>
          <a:xfrm>
            <a:off x="8058607" y="3666744"/>
            <a:ext cx="3600907" cy="1762049"/>
          </a:xfrm>
          <a:prstGeom prst="roundRect">
            <a:avLst>
              <a:gd name="adj" fmla="val 6732"/>
            </a:avLst>
          </a:prstGeom>
          <a:solidFill>
            <a:srgbClr val="FFFFFF"/>
          </a:solidFill>
          <a:effectLst>
            <a:outerShdw blurRad="114300" dist="38100" dir="16200000" algn="bl" rotWithShape="0">
              <a:srgbClr val="000000">
                <a:alpha val="5000"/>
              </a:srgbClr>
            </a:outerShdw>
          </a:effectLst>
        </p:spPr>
      </p:sp>
      <p:sp>
        <p:nvSpPr>
          <p:cNvPr id="16" name="Shape 13"/>
          <p:cNvSpPr/>
          <p:nvPr/>
        </p:nvSpPr>
        <p:spPr>
          <a:xfrm>
            <a:off x="8058607" y="3666744"/>
            <a:ext cx="47549" cy="1762049"/>
          </a:xfrm>
          <a:prstGeom prst="roundRect">
            <a:avLst>
              <a:gd name="adj" fmla="val 249479"/>
            </a:avLst>
          </a:prstGeom>
          <a:solidFill>
            <a:srgbClr val="F59E0B"/>
          </a:solidFill>
          <a:ln w="12700">
            <a:solidFill>
              <a:srgbClr val="F59E0B">
                <a:alpha val="0"/>
              </a:srgbClr>
            </a:solidFill>
            <a:prstDash val="solid"/>
          </a:ln>
        </p:spPr>
      </p:sp>
      <p:pic>
        <p:nvPicPr>
          <p:cNvPr id="17" name="Image 1" descr="preencoded.png"/>
          <p:cNvPicPr>
            <a:picLocks noChangeAspect="1"/>
          </p:cNvPicPr>
          <p:nvPr/>
        </p:nvPicPr>
        <p:blipFill>
          <a:blip r:embed="rId2"/>
          <a:srcRect l="-18" r="-18"/>
          <a:stretch>
            <a:fillRect/>
          </a:stretch>
        </p:blipFill>
        <p:spPr>
          <a:xfrm>
            <a:off x="571500" y="5619902"/>
            <a:ext cx="11058754" cy="875995"/>
          </a:xfrm>
          <a:prstGeom prst="rect">
            <a:avLst/>
          </a:prstGeom>
        </p:spPr>
      </p:pic>
      <p:sp>
        <p:nvSpPr>
          <p:cNvPr id="18" name="Shape 14"/>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9" name="Image 2" descr="preencoded.png"/>
          <p:cNvPicPr>
            <a:picLocks noChangeAspect="1"/>
          </p:cNvPicPr>
          <p:nvPr/>
        </p:nvPicPr>
        <p:blipFill>
          <a:blip r:embed="rId3"/>
          <a:srcRect/>
          <a:stretch>
            <a:fillRect/>
          </a:stretch>
        </p:blipFill>
        <p:spPr>
          <a:xfrm>
            <a:off x="681228" y="286207"/>
            <a:ext cx="237744" cy="190195"/>
          </a:xfrm>
          <a:prstGeom prst="rect">
            <a:avLst/>
          </a:prstGeom>
        </p:spPr>
      </p:pic>
      <p:sp>
        <p:nvSpPr>
          <p:cNvPr id="20" name="Text 15"/>
          <p:cNvSpPr txBox="1"/>
          <p:nvPr/>
        </p:nvSpPr>
        <p:spPr>
          <a:xfrm>
            <a:off x="1218895" y="142646"/>
            <a:ext cx="7620610" cy="476402"/>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Team Division &amp; Responsibility Matrix</a:t>
            </a:r>
            <a:endParaRPr lang="en-US" sz="2400" dirty="0">
              <a:ea typeface="Noto Sans SC" panose="020B0200000000000000" pitchFamily="34" charset="-122"/>
              <a:cs typeface="Noto Sans SC" panose="020B0200000000000000" pitchFamily="34" charset="-122"/>
            </a:endParaRPr>
          </a:p>
        </p:txBody>
      </p:sp>
      <p:sp>
        <p:nvSpPr>
          <p:cNvPr id="21" name="Text 16"/>
          <p:cNvSpPr txBox="1"/>
          <p:nvPr/>
        </p:nvSpPr>
        <p:spPr>
          <a:xfrm>
            <a:off x="961949" y="905256"/>
            <a:ext cx="7230161" cy="648310"/>
          </a:xfrm>
          <a:prstGeom prst="rect">
            <a:avLst/>
          </a:prstGeom>
          <a:noFill/>
        </p:spPr>
        <p:txBody>
          <a:bodyPr wrap="square" lIns="0" tIns="0" rIns="0" bIns="0" rtlCol="0" anchor="ctr"/>
          <a:lstStyle/>
          <a:p>
            <a:pPr marL="0" indent="0" algn="l">
              <a:buNone/>
            </a:pPr>
            <a:r>
              <a:rPr lang="en-US" sz="19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Team Member Roles &amp; Responsibility Allocation (RACI Matrix)</a:t>
            </a:r>
            <a:endParaRPr lang="en-US" sz="1900" dirty="0">
              <a:ea typeface="Noto Sans SC" panose="020B0200000000000000" pitchFamily="34" charset="-122"/>
              <a:cs typeface="Noto Sans SC" panose="020B0200000000000000" pitchFamily="34" charset="-122"/>
            </a:endParaRPr>
          </a:p>
        </p:txBody>
      </p:sp>
      <p:pic>
        <p:nvPicPr>
          <p:cNvPr id="22" name="Image 3" descr="preencoded.png"/>
          <p:cNvPicPr>
            <a:picLocks noChangeAspect="1"/>
          </p:cNvPicPr>
          <p:nvPr/>
        </p:nvPicPr>
        <p:blipFill>
          <a:blip r:embed="rId4"/>
          <a:srcRect t="-476" b="-476"/>
          <a:stretch>
            <a:fillRect/>
          </a:stretch>
        </p:blipFill>
        <p:spPr>
          <a:xfrm>
            <a:off x="571500" y="954634"/>
            <a:ext cx="276149" cy="247802"/>
          </a:xfrm>
          <a:prstGeom prst="rect">
            <a:avLst/>
          </a:prstGeom>
        </p:spPr>
      </p:pic>
      <p:sp>
        <p:nvSpPr>
          <p:cNvPr id="23" name="Shape 17"/>
          <p:cNvSpPr/>
          <p:nvPr/>
        </p:nvSpPr>
        <p:spPr>
          <a:xfrm>
            <a:off x="800100" y="1904695"/>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24" name="Image 4" descr="preencoded.png"/>
          <p:cNvPicPr>
            <a:picLocks noChangeAspect="1"/>
          </p:cNvPicPr>
          <p:nvPr/>
        </p:nvPicPr>
        <p:blipFill>
          <a:blip r:embed="rId5"/>
          <a:srcRect l="-760" r="-760"/>
          <a:stretch>
            <a:fillRect/>
          </a:stretch>
        </p:blipFill>
        <p:spPr>
          <a:xfrm>
            <a:off x="914400" y="2009851"/>
            <a:ext cx="152705" cy="171907"/>
          </a:xfrm>
          <a:prstGeom prst="rect">
            <a:avLst/>
          </a:prstGeom>
        </p:spPr>
      </p:pic>
      <p:sp>
        <p:nvSpPr>
          <p:cNvPr id="25" name="Text 18"/>
          <p:cNvSpPr txBox="1"/>
          <p:nvPr/>
        </p:nvSpPr>
        <p:spPr>
          <a:xfrm>
            <a:off x="1295705" y="1904695"/>
            <a:ext cx="2667305" cy="191110"/>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Scope Mgt / Frontend Arch</a:t>
            </a:r>
            <a:endParaRPr lang="en-US" sz="1200" dirty="0">
              <a:ea typeface="Noto Sans SC" panose="020B0200000000000000" pitchFamily="34" charset="-122"/>
              <a:cs typeface="Noto Sans SC" panose="020B0200000000000000" pitchFamily="34" charset="-122"/>
            </a:endParaRPr>
          </a:p>
        </p:txBody>
      </p:sp>
      <p:sp>
        <p:nvSpPr>
          <p:cNvPr id="26" name="Text 19"/>
          <p:cNvSpPr txBox="1"/>
          <p:nvPr/>
        </p:nvSpPr>
        <p:spPr>
          <a:xfrm>
            <a:off x="1295705" y="2125980"/>
            <a:ext cx="2987345" cy="143561"/>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Project scope &amp; frontend tech architecture</a:t>
            </a:r>
            <a:endParaRPr lang="en-US" sz="900" dirty="0">
              <a:ea typeface="Noto Sans SC" panose="020B0200000000000000" pitchFamily="34" charset="-122"/>
              <a:cs typeface="Noto Sans SC" panose="020B0200000000000000" pitchFamily="34" charset="-122"/>
            </a:endParaRPr>
          </a:p>
        </p:txBody>
      </p:sp>
      <p:sp>
        <p:nvSpPr>
          <p:cNvPr id="27" name="Text 20"/>
          <p:cNvSpPr txBox="1"/>
          <p:nvPr/>
        </p:nvSpPr>
        <p:spPr>
          <a:xfrm>
            <a:off x="800100" y="2476195"/>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Requirements collection &amp; analysis</a:t>
            </a:r>
            <a:endParaRPr lang="en-US" sz="900" dirty="0">
              <a:ea typeface="Noto Sans SC" panose="020B0200000000000000" pitchFamily="34" charset="-122"/>
              <a:cs typeface="Noto Sans SC" panose="020B0200000000000000" pitchFamily="34" charset="-122"/>
            </a:endParaRPr>
          </a:p>
        </p:txBody>
      </p:sp>
      <p:sp>
        <p:nvSpPr>
          <p:cNvPr id="28" name="Text 21"/>
          <p:cNvSpPr txBox="1"/>
          <p:nvPr/>
        </p:nvSpPr>
        <p:spPr>
          <a:xfrm>
            <a:off x="800100" y="2734056"/>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Frontend architecture design</a:t>
            </a:r>
            <a:endParaRPr lang="en-US" sz="900" dirty="0">
              <a:ea typeface="Noto Sans SC" panose="020B0200000000000000" pitchFamily="34" charset="-122"/>
              <a:cs typeface="Noto Sans SC" panose="020B0200000000000000" pitchFamily="34" charset="-122"/>
            </a:endParaRPr>
          </a:p>
        </p:txBody>
      </p:sp>
      <p:sp>
        <p:nvSpPr>
          <p:cNvPr id="29" name="Text 22"/>
          <p:cNvSpPr txBox="1"/>
          <p:nvPr/>
        </p:nvSpPr>
        <p:spPr>
          <a:xfrm>
            <a:off x="800100" y="2991002"/>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Page prototype development</a:t>
            </a:r>
            <a:endParaRPr lang="en-US" sz="900" dirty="0">
              <a:ea typeface="Noto Sans SC" panose="020B0200000000000000" pitchFamily="34" charset="-122"/>
              <a:cs typeface="Noto Sans SC" panose="020B0200000000000000" pitchFamily="34" charset="-122"/>
            </a:endParaRPr>
          </a:p>
        </p:txBody>
      </p:sp>
      <p:sp>
        <p:nvSpPr>
          <p:cNvPr id="30" name="Shape 23"/>
          <p:cNvSpPr/>
          <p:nvPr/>
        </p:nvSpPr>
        <p:spPr>
          <a:xfrm>
            <a:off x="4543654" y="1904695"/>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31" name="Image 5" descr="preencoded.png"/>
          <p:cNvPicPr>
            <a:picLocks noChangeAspect="1"/>
          </p:cNvPicPr>
          <p:nvPr/>
        </p:nvPicPr>
        <p:blipFill>
          <a:blip r:embed="rId6"/>
          <a:srcRect l="-1064" r="-1064"/>
          <a:stretch>
            <a:fillRect/>
          </a:stretch>
        </p:blipFill>
        <p:spPr>
          <a:xfrm>
            <a:off x="4624121" y="2009851"/>
            <a:ext cx="219456" cy="171907"/>
          </a:xfrm>
          <a:prstGeom prst="rect">
            <a:avLst/>
          </a:prstGeom>
        </p:spPr>
      </p:pic>
      <p:sp>
        <p:nvSpPr>
          <p:cNvPr id="32" name="Text 24"/>
          <p:cNvSpPr txBox="1"/>
          <p:nvPr/>
        </p:nvSpPr>
        <p:spPr>
          <a:xfrm>
            <a:off x="5038344" y="1904695"/>
            <a:ext cx="3035808" cy="191110"/>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Estimation &amp; Schedule / Backend</a:t>
            </a:r>
            <a:endParaRPr lang="en-US" sz="1200" dirty="0">
              <a:ea typeface="Noto Sans SC" panose="020B0200000000000000" pitchFamily="34" charset="-122"/>
              <a:cs typeface="Noto Sans SC" panose="020B0200000000000000" pitchFamily="34" charset="-122"/>
            </a:endParaRPr>
          </a:p>
        </p:txBody>
      </p:sp>
      <p:sp>
        <p:nvSpPr>
          <p:cNvPr id="33" name="Text 25"/>
          <p:cNvSpPr txBox="1"/>
          <p:nvPr/>
        </p:nvSpPr>
        <p:spPr>
          <a:xfrm>
            <a:off x="5038344" y="2125980"/>
            <a:ext cx="2667305" cy="143561"/>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Effort estimation &amp; backend dev</a:t>
            </a:r>
            <a:endParaRPr lang="en-US" sz="900" dirty="0">
              <a:ea typeface="Noto Sans SC" panose="020B0200000000000000" pitchFamily="34" charset="-122"/>
              <a:cs typeface="Noto Sans SC" panose="020B0200000000000000" pitchFamily="34" charset="-122"/>
            </a:endParaRPr>
          </a:p>
        </p:txBody>
      </p:sp>
      <p:sp>
        <p:nvSpPr>
          <p:cNvPr id="34" name="Text 26"/>
          <p:cNvSpPr txBox="1"/>
          <p:nvPr/>
        </p:nvSpPr>
        <p:spPr>
          <a:xfrm>
            <a:off x="4543654" y="2476195"/>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Function point &amp; effort estimation</a:t>
            </a:r>
            <a:endParaRPr lang="en-US" sz="900" dirty="0">
              <a:ea typeface="Noto Sans SC" panose="020B0200000000000000" pitchFamily="34" charset="-122"/>
              <a:cs typeface="Noto Sans SC" panose="020B0200000000000000" pitchFamily="34" charset="-122"/>
            </a:endParaRPr>
          </a:p>
        </p:txBody>
      </p:sp>
      <p:sp>
        <p:nvSpPr>
          <p:cNvPr id="35" name="Text 27"/>
          <p:cNvSpPr txBox="1"/>
          <p:nvPr/>
        </p:nvSpPr>
        <p:spPr>
          <a:xfrm>
            <a:off x="4543654" y="2734056"/>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Backend API development</a:t>
            </a:r>
            <a:endParaRPr lang="en-US" sz="900" dirty="0">
              <a:ea typeface="Noto Sans SC" panose="020B0200000000000000" pitchFamily="34" charset="-122"/>
              <a:cs typeface="Noto Sans SC" panose="020B0200000000000000" pitchFamily="34" charset="-122"/>
            </a:endParaRPr>
          </a:p>
        </p:txBody>
      </p:sp>
      <p:sp>
        <p:nvSpPr>
          <p:cNvPr id="36" name="Text 28"/>
          <p:cNvSpPr txBox="1"/>
          <p:nvPr/>
        </p:nvSpPr>
        <p:spPr>
          <a:xfrm>
            <a:off x="4543654" y="2991002"/>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Database design &amp; optimization</a:t>
            </a:r>
            <a:endParaRPr lang="en-US" sz="900" dirty="0">
              <a:ea typeface="Noto Sans SC" panose="020B0200000000000000" pitchFamily="34" charset="-122"/>
              <a:cs typeface="Noto Sans SC" panose="020B0200000000000000" pitchFamily="34" charset="-122"/>
            </a:endParaRPr>
          </a:p>
        </p:txBody>
      </p:sp>
      <p:sp>
        <p:nvSpPr>
          <p:cNvPr id="37" name="Shape 29"/>
          <p:cNvSpPr/>
          <p:nvPr/>
        </p:nvSpPr>
        <p:spPr>
          <a:xfrm>
            <a:off x="8287207" y="1904695"/>
            <a:ext cx="381305" cy="381305"/>
          </a:xfrm>
          <a:prstGeom prst="roundRect">
            <a:avLst>
              <a:gd name="adj" fmla="val 95923"/>
            </a:avLst>
          </a:prstGeom>
          <a:solidFill>
            <a:srgbClr val="3B82F6">
              <a:alpha val="10000"/>
            </a:srgbClr>
          </a:solidFill>
          <a:ln w="12700">
            <a:solidFill>
              <a:srgbClr val="FFFFFF">
                <a:alpha val="0"/>
              </a:srgbClr>
            </a:solidFill>
            <a:prstDash val="solid"/>
          </a:ln>
        </p:spPr>
      </p:sp>
      <p:pic>
        <p:nvPicPr>
          <p:cNvPr id="38" name="Image 6" descr="preencoded.png"/>
          <p:cNvPicPr>
            <a:picLocks noChangeAspect="1"/>
          </p:cNvPicPr>
          <p:nvPr/>
        </p:nvPicPr>
        <p:blipFill>
          <a:blip r:embed="rId7"/>
          <a:srcRect/>
          <a:stretch>
            <a:fillRect/>
          </a:stretch>
        </p:blipFill>
        <p:spPr>
          <a:xfrm>
            <a:off x="8391449" y="2009851"/>
            <a:ext cx="171907" cy="171907"/>
          </a:xfrm>
          <a:prstGeom prst="rect">
            <a:avLst/>
          </a:prstGeom>
        </p:spPr>
      </p:pic>
      <p:sp>
        <p:nvSpPr>
          <p:cNvPr id="39" name="Text 30"/>
          <p:cNvSpPr txBox="1"/>
          <p:nvPr/>
        </p:nvSpPr>
        <p:spPr>
          <a:xfrm>
            <a:off x="8781898" y="1904695"/>
            <a:ext cx="2667305" cy="191110"/>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Risk Mgt / Frontend A</a:t>
            </a:r>
            <a:endParaRPr lang="en-US" sz="1200" dirty="0">
              <a:ea typeface="Noto Sans SC" panose="020B0200000000000000" pitchFamily="34" charset="-122"/>
              <a:cs typeface="Noto Sans SC" panose="020B0200000000000000" pitchFamily="34" charset="-122"/>
            </a:endParaRPr>
          </a:p>
        </p:txBody>
      </p:sp>
      <p:sp>
        <p:nvSpPr>
          <p:cNvPr id="40" name="Text 31"/>
          <p:cNvSpPr txBox="1"/>
          <p:nvPr/>
        </p:nvSpPr>
        <p:spPr>
          <a:xfrm>
            <a:off x="8781898" y="2125980"/>
            <a:ext cx="2667305" cy="143561"/>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Risk identification &amp; frontend mod A</a:t>
            </a:r>
            <a:endParaRPr lang="en-US" sz="900" dirty="0">
              <a:ea typeface="Noto Sans SC" panose="020B0200000000000000" pitchFamily="34" charset="-122"/>
              <a:cs typeface="Noto Sans SC" panose="020B0200000000000000" pitchFamily="34" charset="-122"/>
            </a:endParaRPr>
          </a:p>
        </p:txBody>
      </p:sp>
      <p:sp>
        <p:nvSpPr>
          <p:cNvPr id="41" name="Text 32"/>
          <p:cNvSpPr txBox="1"/>
          <p:nvPr/>
        </p:nvSpPr>
        <p:spPr>
          <a:xfrm>
            <a:off x="8287207" y="2476195"/>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RMMM risk documentation</a:t>
            </a:r>
            <a:endParaRPr lang="en-US" sz="900" dirty="0">
              <a:ea typeface="Noto Sans SC" panose="020B0200000000000000" pitchFamily="34" charset="-122"/>
              <a:cs typeface="Noto Sans SC" panose="020B0200000000000000" pitchFamily="34" charset="-122"/>
            </a:endParaRPr>
          </a:p>
        </p:txBody>
      </p:sp>
      <p:sp>
        <p:nvSpPr>
          <p:cNvPr id="42" name="Text 33"/>
          <p:cNvSpPr txBox="1"/>
          <p:nvPr/>
        </p:nvSpPr>
        <p:spPr>
          <a:xfrm>
            <a:off x="8287207" y="2734056"/>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Frontend module A development</a:t>
            </a:r>
            <a:endParaRPr lang="en-US" sz="900" dirty="0">
              <a:ea typeface="Noto Sans SC" panose="020B0200000000000000" pitchFamily="34" charset="-122"/>
              <a:cs typeface="Noto Sans SC" panose="020B0200000000000000" pitchFamily="34" charset="-122"/>
            </a:endParaRPr>
          </a:p>
        </p:txBody>
      </p:sp>
      <p:sp>
        <p:nvSpPr>
          <p:cNvPr id="43" name="Text 34"/>
          <p:cNvSpPr txBox="1"/>
          <p:nvPr/>
        </p:nvSpPr>
        <p:spPr>
          <a:xfrm>
            <a:off x="8287207" y="2991002"/>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Risk monitoring &amp; mitigation</a:t>
            </a:r>
            <a:endParaRPr lang="en-US" sz="900" dirty="0">
              <a:ea typeface="Noto Sans SC" panose="020B0200000000000000" pitchFamily="34" charset="-122"/>
              <a:cs typeface="Noto Sans SC" panose="020B0200000000000000" pitchFamily="34" charset="-122"/>
            </a:endParaRPr>
          </a:p>
        </p:txBody>
      </p:sp>
      <p:sp>
        <p:nvSpPr>
          <p:cNvPr id="44" name="Shape 35"/>
          <p:cNvSpPr/>
          <p:nvPr/>
        </p:nvSpPr>
        <p:spPr>
          <a:xfrm>
            <a:off x="800100" y="3857854"/>
            <a:ext cx="381305" cy="381305"/>
          </a:xfrm>
          <a:prstGeom prst="roundRect">
            <a:avLst>
              <a:gd name="adj" fmla="val 95923"/>
            </a:avLst>
          </a:prstGeom>
          <a:solidFill>
            <a:srgbClr val="10B981">
              <a:alpha val="10000"/>
            </a:srgbClr>
          </a:solidFill>
          <a:ln w="12700">
            <a:solidFill>
              <a:srgbClr val="FFFFFF">
                <a:alpha val="0"/>
              </a:srgbClr>
            </a:solidFill>
            <a:prstDash val="solid"/>
          </a:ln>
        </p:spPr>
      </p:sp>
      <p:pic>
        <p:nvPicPr>
          <p:cNvPr id="45" name="Image 7" descr="preencoded.png"/>
          <p:cNvPicPr>
            <a:picLocks noChangeAspect="1"/>
          </p:cNvPicPr>
          <p:nvPr/>
        </p:nvPicPr>
        <p:blipFill>
          <a:blip r:embed="rId8"/>
          <a:srcRect/>
          <a:stretch>
            <a:fillRect/>
          </a:stretch>
        </p:blipFill>
        <p:spPr>
          <a:xfrm>
            <a:off x="905256" y="3962095"/>
            <a:ext cx="171907" cy="171907"/>
          </a:xfrm>
          <a:prstGeom prst="rect">
            <a:avLst/>
          </a:prstGeom>
        </p:spPr>
      </p:pic>
      <p:sp>
        <p:nvSpPr>
          <p:cNvPr id="46" name="Text 36"/>
          <p:cNvSpPr txBox="1"/>
          <p:nvPr/>
        </p:nvSpPr>
        <p:spPr>
          <a:xfrm>
            <a:off x="1295705" y="3857854"/>
            <a:ext cx="2667305" cy="191110"/>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Quality Mgt / Frontend B</a:t>
            </a:r>
            <a:endParaRPr lang="en-US" sz="1200" dirty="0">
              <a:ea typeface="Noto Sans SC" panose="020B0200000000000000" pitchFamily="34" charset="-122"/>
              <a:cs typeface="Noto Sans SC" panose="020B0200000000000000" pitchFamily="34" charset="-122"/>
            </a:endParaRPr>
          </a:p>
        </p:txBody>
      </p:sp>
      <p:sp>
        <p:nvSpPr>
          <p:cNvPr id="47" name="Text 37"/>
          <p:cNvSpPr txBox="1"/>
          <p:nvPr/>
        </p:nvSpPr>
        <p:spPr>
          <a:xfrm>
            <a:off x="1295705" y="4078224"/>
            <a:ext cx="2667305" cy="143561"/>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Quality assurance &amp; frontend mod B</a:t>
            </a:r>
            <a:endParaRPr lang="en-US" sz="900" dirty="0">
              <a:ea typeface="Noto Sans SC" panose="020B0200000000000000" pitchFamily="34" charset="-122"/>
              <a:cs typeface="Noto Sans SC" panose="020B0200000000000000" pitchFamily="34" charset="-122"/>
            </a:endParaRPr>
          </a:p>
        </p:txBody>
      </p:sp>
      <p:sp>
        <p:nvSpPr>
          <p:cNvPr id="48" name="Text 38"/>
          <p:cNvSpPr txBox="1"/>
          <p:nvPr/>
        </p:nvSpPr>
        <p:spPr>
          <a:xfrm>
            <a:off x="800100" y="4429354"/>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FTR technical reviews</a:t>
            </a:r>
            <a:endParaRPr lang="en-US" sz="900" dirty="0">
              <a:ea typeface="Noto Sans SC" panose="020B0200000000000000" pitchFamily="34" charset="-122"/>
              <a:cs typeface="Noto Sans SC" panose="020B0200000000000000" pitchFamily="34" charset="-122"/>
            </a:endParaRPr>
          </a:p>
        </p:txBody>
      </p:sp>
      <p:sp>
        <p:nvSpPr>
          <p:cNvPr id="49" name="Text 39"/>
          <p:cNvSpPr txBox="1"/>
          <p:nvPr/>
        </p:nvSpPr>
        <p:spPr>
          <a:xfrm>
            <a:off x="800100" y="4686300"/>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Quality metrics tracking</a:t>
            </a:r>
            <a:endParaRPr lang="en-US" sz="900" dirty="0">
              <a:ea typeface="Noto Sans SC" panose="020B0200000000000000" pitchFamily="34" charset="-122"/>
              <a:cs typeface="Noto Sans SC" panose="020B0200000000000000" pitchFamily="34" charset="-122"/>
            </a:endParaRPr>
          </a:p>
        </p:txBody>
      </p:sp>
      <p:sp>
        <p:nvSpPr>
          <p:cNvPr id="50" name="Text 40"/>
          <p:cNvSpPr txBox="1"/>
          <p:nvPr/>
        </p:nvSpPr>
        <p:spPr>
          <a:xfrm>
            <a:off x="800100" y="4943246"/>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Frontend module B development</a:t>
            </a:r>
            <a:endParaRPr lang="en-US" sz="900" dirty="0">
              <a:ea typeface="Noto Sans SC" panose="020B0200000000000000" pitchFamily="34" charset="-122"/>
              <a:cs typeface="Noto Sans SC" panose="020B0200000000000000" pitchFamily="34" charset="-122"/>
            </a:endParaRPr>
          </a:p>
        </p:txBody>
      </p:sp>
      <p:sp>
        <p:nvSpPr>
          <p:cNvPr id="51" name="Shape 41"/>
          <p:cNvSpPr/>
          <p:nvPr/>
        </p:nvSpPr>
        <p:spPr>
          <a:xfrm>
            <a:off x="4543654" y="3857854"/>
            <a:ext cx="381305" cy="381305"/>
          </a:xfrm>
          <a:prstGeom prst="roundRect">
            <a:avLst>
              <a:gd name="adj" fmla="val 95923"/>
            </a:avLst>
          </a:prstGeom>
          <a:solidFill>
            <a:srgbClr val="8B5CF6">
              <a:alpha val="10000"/>
            </a:srgbClr>
          </a:solidFill>
          <a:ln w="12700">
            <a:solidFill>
              <a:srgbClr val="FFFFFF">
                <a:alpha val="0"/>
              </a:srgbClr>
            </a:solidFill>
            <a:prstDash val="solid"/>
          </a:ln>
        </p:spPr>
      </p:sp>
      <p:pic>
        <p:nvPicPr>
          <p:cNvPr id="52" name="Image 8" descr="preencoded.png"/>
          <p:cNvPicPr>
            <a:picLocks noChangeAspect="1"/>
          </p:cNvPicPr>
          <p:nvPr/>
        </p:nvPicPr>
        <p:blipFill>
          <a:blip r:embed="rId9"/>
          <a:srcRect/>
          <a:stretch>
            <a:fillRect/>
          </a:stretch>
        </p:blipFill>
        <p:spPr>
          <a:xfrm>
            <a:off x="4647895" y="3962095"/>
            <a:ext cx="171907" cy="171907"/>
          </a:xfrm>
          <a:prstGeom prst="rect">
            <a:avLst/>
          </a:prstGeom>
        </p:spPr>
      </p:pic>
      <p:sp>
        <p:nvSpPr>
          <p:cNvPr id="53" name="Text 42"/>
          <p:cNvSpPr txBox="1"/>
          <p:nvPr/>
        </p:nvSpPr>
        <p:spPr>
          <a:xfrm>
            <a:off x="5038344" y="3857854"/>
            <a:ext cx="3035808" cy="191110"/>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EVM &amp; Decisions / Test &amp; Deploy</a:t>
            </a:r>
            <a:endParaRPr lang="en-US" sz="1200" dirty="0">
              <a:ea typeface="Noto Sans SC" panose="020B0200000000000000" pitchFamily="34" charset="-122"/>
              <a:cs typeface="Noto Sans SC" panose="020B0200000000000000" pitchFamily="34" charset="-122"/>
            </a:endParaRPr>
          </a:p>
        </p:txBody>
      </p:sp>
      <p:sp>
        <p:nvSpPr>
          <p:cNvPr id="54" name="Text 43"/>
          <p:cNvSpPr txBox="1"/>
          <p:nvPr/>
        </p:nvSpPr>
        <p:spPr>
          <a:xfrm>
            <a:off x="5038344" y="4078224"/>
            <a:ext cx="2667305" cy="143561"/>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EVM analysis &amp; testing/deployment</a:t>
            </a:r>
            <a:endParaRPr lang="en-US" sz="900" dirty="0">
              <a:ea typeface="Noto Sans SC" panose="020B0200000000000000" pitchFamily="34" charset="-122"/>
              <a:cs typeface="Noto Sans SC" panose="020B0200000000000000" pitchFamily="34" charset="-122"/>
            </a:endParaRPr>
          </a:p>
        </p:txBody>
      </p:sp>
      <p:sp>
        <p:nvSpPr>
          <p:cNvPr id="55" name="Text 44"/>
          <p:cNvSpPr txBox="1"/>
          <p:nvPr/>
        </p:nvSpPr>
        <p:spPr>
          <a:xfrm>
            <a:off x="4543654" y="4429354"/>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EVM analysis &amp; forecasting</a:t>
            </a:r>
            <a:endParaRPr lang="en-US" sz="900" dirty="0">
              <a:ea typeface="Noto Sans SC" panose="020B0200000000000000" pitchFamily="34" charset="-122"/>
              <a:cs typeface="Noto Sans SC" panose="020B0200000000000000" pitchFamily="34" charset="-122"/>
            </a:endParaRPr>
          </a:p>
        </p:txBody>
      </p:sp>
      <p:sp>
        <p:nvSpPr>
          <p:cNvPr id="56" name="Text 45"/>
          <p:cNvSpPr txBox="1"/>
          <p:nvPr/>
        </p:nvSpPr>
        <p:spPr>
          <a:xfrm>
            <a:off x="4543654" y="4686300"/>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Integration &amp; system testing</a:t>
            </a:r>
            <a:endParaRPr lang="en-US" sz="900" dirty="0">
              <a:ea typeface="Noto Sans SC" panose="020B0200000000000000" pitchFamily="34" charset="-122"/>
              <a:cs typeface="Noto Sans SC" panose="020B0200000000000000" pitchFamily="34" charset="-122"/>
            </a:endParaRPr>
          </a:p>
        </p:txBody>
      </p:sp>
      <p:sp>
        <p:nvSpPr>
          <p:cNvPr id="57" name="Text 46"/>
          <p:cNvSpPr txBox="1"/>
          <p:nvPr/>
        </p:nvSpPr>
        <p:spPr>
          <a:xfrm>
            <a:off x="4543654" y="4943246"/>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Deployment &amp; env management</a:t>
            </a:r>
            <a:endParaRPr lang="en-US" sz="900" dirty="0">
              <a:ea typeface="Noto Sans SC" panose="020B0200000000000000" pitchFamily="34" charset="-122"/>
              <a:cs typeface="Noto Sans SC" panose="020B0200000000000000" pitchFamily="34" charset="-122"/>
            </a:endParaRPr>
          </a:p>
        </p:txBody>
      </p:sp>
      <p:sp>
        <p:nvSpPr>
          <p:cNvPr id="58" name="Shape 47"/>
          <p:cNvSpPr/>
          <p:nvPr/>
        </p:nvSpPr>
        <p:spPr>
          <a:xfrm>
            <a:off x="8287207" y="3857854"/>
            <a:ext cx="381305" cy="381305"/>
          </a:xfrm>
          <a:prstGeom prst="roundRect">
            <a:avLst>
              <a:gd name="adj" fmla="val 95923"/>
            </a:avLst>
          </a:prstGeom>
          <a:solidFill>
            <a:srgbClr val="F59E0B">
              <a:alpha val="10000"/>
            </a:srgbClr>
          </a:solidFill>
          <a:ln w="12700">
            <a:solidFill>
              <a:srgbClr val="FFFFFF">
                <a:alpha val="0"/>
              </a:srgbClr>
            </a:solidFill>
            <a:prstDash val="solid"/>
          </a:ln>
        </p:spPr>
      </p:sp>
      <p:pic>
        <p:nvPicPr>
          <p:cNvPr id="59" name="Image 9" descr="preencoded.png"/>
          <p:cNvPicPr>
            <a:picLocks noChangeAspect="1"/>
          </p:cNvPicPr>
          <p:nvPr/>
        </p:nvPicPr>
        <p:blipFill>
          <a:blip r:embed="rId10"/>
          <a:srcRect l="-1773" r="-1773"/>
          <a:stretch>
            <a:fillRect/>
          </a:stretch>
        </p:blipFill>
        <p:spPr>
          <a:xfrm>
            <a:off x="8410651" y="3962095"/>
            <a:ext cx="133502" cy="171907"/>
          </a:xfrm>
          <a:prstGeom prst="rect">
            <a:avLst/>
          </a:prstGeom>
        </p:spPr>
      </p:pic>
      <p:sp>
        <p:nvSpPr>
          <p:cNvPr id="60" name="Text 48"/>
          <p:cNvSpPr txBox="1"/>
          <p:nvPr/>
        </p:nvSpPr>
        <p:spPr>
          <a:xfrm>
            <a:off x="8781898" y="3857854"/>
            <a:ext cx="2667305" cy="191110"/>
          </a:xfrm>
          <a:prstGeom prst="rect">
            <a:avLst/>
          </a:prstGeom>
          <a:noFill/>
        </p:spPr>
        <p:txBody>
          <a:bodyPr wrap="square" lIns="0" tIns="0" rIns="0" bIns="0" rtlCol="0" anchor="ctr"/>
          <a:lstStyle/>
          <a:p>
            <a:pPr marL="0" indent="0" algn="l">
              <a:buNone/>
            </a:pPr>
            <a:r>
              <a:rPr lang="en-US" sz="1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Summary / Docs Integration</a:t>
            </a:r>
            <a:endParaRPr lang="en-US" sz="1200" dirty="0">
              <a:ea typeface="Noto Sans SC" panose="020B0200000000000000" pitchFamily="34" charset="-122"/>
              <a:cs typeface="Noto Sans SC" panose="020B0200000000000000" pitchFamily="34" charset="-122"/>
            </a:endParaRPr>
          </a:p>
        </p:txBody>
      </p:sp>
      <p:sp>
        <p:nvSpPr>
          <p:cNvPr id="61" name="Text 49"/>
          <p:cNvSpPr txBox="1"/>
          <p:nvPr/>
        </p:nvSpPr>
        <p:spPr>
          <a:xfrm>
            <a:off x="8781898" y="4078224"/>
            <a:ext cx="2667305" cy="143561"/>
          </a:xfrm>
          <a:prstGeom prst="rect">
            <a:avLst/>
          </a:prstGeom>
          <a:noFill/>
        </p:spPr>
        <p:txBody>
          <a:bodyPr wrap="square" lIns="0" tIns="0" rIns="0" bIns="0" rtlCol="0" anchor="ctr"/>
          <a:lstStyle/>
          <a:p>
            <a:pPr marL="0" indent="0" algn="l">
              <a:buNone/>
            </a:pPr>
            <a:r>
              <a:rPr lang="en-US" sz="9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Docs &amp; presentation materials</a:t>
            </a:r>
            <a:endParaRPr lang="en-US" sz="900" dirty="0">
              <a:ea typeface="Noto Sans SC" panose="020B0200000000000000" pitchFamily="34" charset="-122"/>
              <a:cs typeface="Noto Sans SC" panose="020B0200000000000000" pitchFamily="34" charset="-122"/>
            </a:endParaRPr>
          </a:p>
        </p:txBody>
      </p:sp>
      <p:sp>
        <p:nvSpPr>
          <p:cNvPr id="62" name="Text 50"/>
          <p:cNvSpPr txBox="1"/>
          <p:nvPr/>
        </p:nvSpPr>
        <p:spPr>
          <a:xfrm>
            <a:off x="8287207" y="4429354"/>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RTM/WBS documentation</a:t>
            </a:r>
            <a:endParaRPr lang="en-US" sz="900" dirty="0">
              <a:ea typeface="Noto Sans SC" panose="020B0200000000000000" pitchFamily="34" charset="-122"/>
              <a:cs typeface="Noto Sans SC" panose="020B0200000000000000" pitchFamily="34" charset="-122"/>
            </a:endParaRPr>
          </a:p>
        </p:txBody>
      </p:sp>
      <p:sp>
        <p:nvSpPr>
          <p:cNvPr id="63" name="Text 51"/>
          <p:cNvSpPr txBox="1"/>
          <p:nvPr/>
        </p:nvSpPr>
        <p:spPr>
          <a:xfrm>
            <a:off x="8287207" y="4686300"/>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Presentation materials prep</a:t>
            </a:r>
            <a:endParaRPr lang="en-US" sz="900" dirty="0">
              <a:ea typeface="Noto Sans SC" panose="020B0200000000000000" pitchFamily="34" charset="-122"/>
              <a:cs typeface="Noto Sans SC" panose="020B0200000000000000" pitchFamily="34" charset="-122"/>
            </a:endParaRPr>
          </a:p>
        </p:txBody>
      </p:sp>
      <p:sp>
        <p:nvSpPr>
          <p:cNvPr id="64" name="Text 52"/>
          <p:cNvSpPr txBox="1"/>
          <p:nvPr/>
        </p:nvSpPr>
        <p:spPr>
          <a:xfrm>
            <a:off x="8287207" y="4943246"/>
            <a:ext cx="3143707" cy="181051"/>
          </a:xfrm>
          <a:prstGeom prst="rect">
            <a:avLst/>
          </a:prstGeom>
          <a:noFill/>
        </p:spPr>
        <p:txBody>
          <a:bodyPr wrap="square" lIns="0" tIns="0" rIns="0" bIns="0" rtlCol="0" anchor="ctr"/>
          <a:lstStyle/>
          <a:p>
            <a:pPr marL="0" indent="0" algn="l">
              <a:buNone/>
            </a:pPr>
            <a:r>
              <a:rPr lang="en-US" sz="9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Cross-team coordination</a:t>
            </a:r>
            <a:endParaRPr lang="en-US" sz="900" dirty="0">
              <a:ea typeface="Noto Sans SC" panose="020B0200000000000000" pitchFamily="34" charset="-122"/>
              <a:cs typeface="Noto Sans SC" panose="020B0200000000000000" pitchFamily="34" charset="-122"/>
            </a:endParaRPr>
          </a:p>
        </p:txBody>
      </p:sp>
      <p:sp>
        <p:nvSpPr>
          <p:cNvPr id="65" name="Text 53"/>
          <p:cNvSpPr txBox="1"/>
          <p:nvPr/>
        </p:nvSpPr>
        <p:spPr>
          <a:xfrm>
            <a:off x="800100" y="5820156"/>
            <a:ext cx="10582351" cy="457200"/>
          </a:xfrm>
          <a:prstGeom prst="rect">
            <a:avLst/>
          </a:prstGeom>
          <a:noFill/>
        </p:spPr>
        <p:txBody>
          <a:bodyPr wrap="square" lIns="0" tIns="0" rIns="0" bIns="0" rtlCol="0" anchor="ctr"/>
          <a:lstStyle/>
          <a:p>
            <a:pPr marL="0" indent="0" algn="l">
              <a:buNone/>
            </a:pPr>
            <a:r>
              <a:rPr lang="en-US" sz="1100" b="1"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RACI Legend:</a:t>
            </a:r>
            <a:r>
              <a:rPr lang="en-US" sz="1100" dirty="0">
                <a:solidFill>
                  <a:srgbClr val="1E40AF"/>
                </a:solidFill>
                <a:latin typeface="Noto Sans SC" panose="020B0200000000000000" pitchFamily="34" charset="-122"/>
                <a:ea typeface="Noto Sans SC" panose="020B0200000000000000" pitchFamily="34" charset="-122"/>
                <a:cs typeface="Noto Sans SC" panose="020B0200000000000000" pitchFamily="34" charset="-122"/>
              </a:rPr>
              <a:t> R = Responsible (executes the task), A = Accountable (final decision maker), C = Consulted (provides input), I = Informed (kept up-to-date). This matrix clearly defines responsibility allocation for each task, ensuring efficient and orderly team collaboration. </a:t>
            </a:r>
            <a:endParaRPr lang="en-US" sz="1100" dirty="0">
              <a:ea typeface="Noto Sans SC" panose="020B0200000000000000" pitchFamily="34" charset="-122"/>
              <a:cs typeface="Noto Sans SC" panose="020B0200000000000000"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6477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12" name="Shape 8"/>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3" name="Image 2" descr="preencoded.png"/>
          <p:cNvPicPr>
            <a:picLocks noChangeAspect="1"/>
          </p:cNvPicPr>
          <p:nvPr/>
        </p:nvPicPr>
        <p:blipFill>
          <a:blip r:embed="rId2"/>
          <a:srcRect t="-20060" b="-20060"/>
          <a:stretch>
            <a:fillRect/>
          </a:stretch>
        </p:blipFill>
        <p:spPr>
          <a:xfrm>
            <a:off x="724205" y="286207"/>
            <a:ext cx="152705" cy="190195"/>
          </a:xfrm>
          <a:prstGeom prst="rect">
            <a:avLst/>
          </a:prstGeom>
        </p:spPr>
      </p:pic>
      <p:sp>
        <p:nvSpPr>
          <p:cNvPr id="14" name="Text 9"/>
          <p:cNvSpPr txBox="1"/>
          <p:nvPr/>
        </p:nvSpPr>
        <p:spPr>
          <a:xfrm>
            <a:off x="1219200" y="152400"/>
            <a:ext cx="10328275" cy="457200"/>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GitHub Commit (</a:t>
            </a:r>
            <a:r>
              <a:rPr lang="en-US" altLang="zh-CN"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https://github.com/Anblackin/DMMUST)</a:t>
            </a:r>
            <a:endParaRPr lang="en-US" altLang="zh-CN"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endParaRPr>
          </a:p>
        </p:txBody>
      </p:sp>
      <p:pic>
        <p:nvPicPr>
          <p:cNvPr id="48" name="图片 47"/>
          <p:cNvPicPr>
            <a:picLocks noChangeAspect="1"/>
          </p:cNvPicPr>
          <p:nvPr/>
        </p:nvPicPr>
        <p:blipFill>
          <a:blip r:embed="rId3"/>
          <a:stretch>
            <a:fillRect/>
          </a:stretch>
        </p:blipFill>
        <p:spPr>
          <a:xfrm>
            <a:off x="-1905" y="911225"/>
            <a:ext cx="12258675" cy="526288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6477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251055" cy="762000"/>
          </a:xfrm>
          <a:prstGeom prst="rect">
            <a:avLst/>
          </a:prstGeom>
        </p:spPr>
      </p:pic>
      <p:sp>
        <p:nvSpPr>
          <p:cNvPr id="12" name="Shape 8"/>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3" name="Image 2" descr="preencoded.png"/>
          <p:cNvPicPr>
            <a:picLocks noChangeAspect="1"/>
          </p:cNvPicPr>
          <p:nvPr/>
        </p:nvPicPr>
        <p:blipFill>
          <a:blip r:embed="rId2"/>
          <a:srcRect t="-20060" b="-20060"/>
          <a:stretch>
            <a:fillRect/>
          </a:stretch>
        </p:blipFill>
        <p:spPr>
          <a:xfrm>
            <a:off x="724205" y="286207"/>
            <a:ext cx="152705" cy="190195"/>
          </a:xfrm>
          <a:prstGeom prst="rect">
            <a:avLst/>
          </a:prstGeom>
        </p:spPr>
      </p:pic>
      <p:sp>
        <p:nvSpPr>
          <p:cNvPr id="14" name="Text 9"/>
          <p:cNvSpPr txBox="1"/>
          <p:nvPr/>
        </p:nvSpPr>
        <p:spPr>
          <a:xfrm>
            <a:off x="1219200" y="152400"/>
            <a:ext cx="10328275" cy="457200"/>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GitHub Commit (</a:t>
            </a:r>
            <a:r>
              <a:rPr lang="en-US" altLang="zh-CN"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https://github.com/Anblackin/DMMUST)</a:t>
            </a:r>
            <a:endParaRPr lang="en-US" altLang="zh-CN"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endParaRPr>
          </a:p>
        </p:txBody>
      </p:sp>
      <p:pic>
        <p:nvPicPr>
          <p:cNvPr id="49" name="图片 48"/>
          <p:cNvPicPr>
            <a:picLocks noChangeAspect="1"/>
          </p:cNvPicPr>
          <p:nvPr/>
        </p:nvPicPr>
        <p:blipFill>
          <a:blip r:embed="rId3"/>
          <a:stretch>
            <a:fillRect/>
          </a:stretch>
        </p:blipFill>
        <p:spPr>
          <a:xfrm>
            <a:off x="-5715" y="923925"/>
            <a:ext cx="12256770" cy="593407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12" name="Shape 8"/>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3" name="Image 2" descr="preencoded.png"/>
          <p:cNvPicPr>
            <a:picLocks noChangeAspect="1"/>
          </p:cNvPicPr>
          <p:nvPr/>
        </p:nvPicPr>
        <p:blipFill>
          <a:blip r:embed="rId2"/>
          <a:srcRect t="-10329" b="-10329"/>
          <a:stretch>
            <a:fillRect/>
          </a:stretch>
        </p:blipFill>
        <p:spPr>
          <a:xfrm>
            <a:off x="724205" y="286207"/>
            <a:ext cx="152705" cy="190195"/>
          </a:xfrm>
          <a:prstGeom prst="rect">
            <a:avLst/>
          </a:prstGeom>
        </p:spPr>
      </p:pic>
      <p:sp>
        <p:nvSpPr>
          <p:cNvPr id="14" name="Text 9"/>
          <p:cNvSpPr txBox="1"/>
          <p:nvPr/>
        </p:nvSpPr>
        <p:spPr>
          <a:xfrm>
            <a:off x="1218895" y="152705"/>
            <a:ext cx="8239658" cy="457200"/>
          </a:xfrm>
          <a:prstGeom prst="rect">
            <a:avLst/>
          </a:prstGeom>
          <a:noFill/>
        </p:spPr>
        <p:txBody>
          <a:bodyPr wrap="square" lIns="0" tIns="0" rIns="0" bIns="0" rtlCol="0" anchor="ctr"/>
          <a:lstStyle/>
          <a:p>
            <a:pPr marL="0" indent="0" algn="l">
              <a:buNone/>
            </a:pPr>
            <a:r>
              <a:rPr lang="en-US" sz="2400" b="1" kern="0" spc="38" dirty="0" err="1">
                <a:solidFill>
                  <a:srgbClr val="FFFFFF"/>
                </a:solidFill>
                <a:latin typeface="Noto Sans SC" panose="020B0200000000000000" pitchFamily="34" charset="-122"/>
                <a:ea typeface="Noto Sans SC" panose="020B0200000000000000" pitchFamily="34" charset="-122"/>
                <a:cs typeface="Noto Sans SC" panose="020B0200000000000000" pitchFamily="34" charset="-120"/>
                <a:sym typeface="+mn-ea"/>
              </a:rPr>
              <a:t>Leangoo</a:t>
            </a:r>
            <a:endParaRPr lang="en-US" sz="2400" dirty="0">
              <a:ea typeface="Noto Sans SC" panose="020B0200000000000000" pitchFamily="34" charset="-122"/>
              <a:cs typeface="Noto Sans SC" panose="020B0200000000000000" pitchFamily="34" charset="-122"/>
            </a:endParaRPr>
          </a:p>
        </p:txBody>
      </p:sp>
      <p:pic>
        <p:nvPicPr>
          <p:cNvPr id="48" name="图片 47"/>
          <p:cNvPicPr>
            <a:picLocks noChangeAspect="1"/>
          </p:cNvPicPr>
          <p:nvPr/>
        </p:nvPicPr>
        <p:blipFill>
          <a:blip r:embed="rId3"/>
          <a:stretch>
            <a:fillRect/>
          </a:stretch>
        </p:blipFill>
        <p:spPr>
          <a:xfrm>
            <a:off x="804545" y="762000"/>
            <a:ext cx="10805160" cy="60833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12" name="Shape 8"/>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3" name="Image 2" descr="preencoded.png"/>
          <p:cNvPicPr>
            <a:picLocks noChangeAspect="1"/>
          </p:cNvPicPr>
          <p:nvPr/>
        </p:nvPicPr>
        <p:blipFill>
          <a:blip r:embed="rId2"/>
          <a:srcRect t="-10329" b="-10329"/>
          <a:stretch>
            <a:fillRect/>
          </a:stretch>
        </p:blipFill>
        <p:spPr>
          <a:xfrm>
            <a:off x="724205" y="286207"/>
            <a:ext cx="152705" cy="190195"/>
          </a:xfrm>
          <a:prstGeom prst="rect">
            <a:avLst/>
          </a:prstGeom>
        </p:spPr>
      </p:pic>
      <p:sp>
        <p:nvSpPr>
          <p:cNvPr id="14" name="Text 9"/>
          <p:cNvSpPr txBox="1"/>
          <p:nvPr/>
        </p:nvSpPr>
        <p:spPr>
          <a:xfrm>
            <a:off x="1218895" y="152705"/>
            <a:ext cx="8239658" cy="457200"/>
          </a:xfrm>
          <a:prstGeom prst="rect">
            <a:avLst/>
          </a:prstGeom>
          <a:noFill/>
        </p:spPr>
        <p:txBody>
          <a:bodyPr wrap="square" lIns="0" tIns="0" rIns="0" bIns="0" rtlCol="0" anchor="ctr"/>
          <a:lstStyle/>
          <a:p>
            <a:pPr marL="0" indent="0" algn="l">
              <a:buNone/>
            </a:pPr>
            <a:r>
              <a:rPr lang="en-US" sz="2400" b="1" kern="0" spc="38" dirty="0" err="1">
                <a:solidFill>
                  <a:srgbClr val="FFFFFF"/>
                </a:solidFill>
                <a:latin typeface="Noto Sans SC" panose="020B0200000000000000" pitchFamily="34" charset="-122"/>
                <a:ea typeface="Noto Sans SC" panose="020B0200000000000000" pitchFamily="34" charset="-122"/>
                <a:cs typeface="Noto Sans SC" panose="020B0200000000000000" pitchFamily="34" charset="-120"/>
                <a:sym typeface="Noto Sans SC" panose="020B0200000000000000" pitchFamily="34" charset="-122"/>
              </a:rPr>
              <a:t>Leangoo</a:t>
            </a:r>
            <a:endParaRPr lang="en-US" sz="2400" dirty="0">
              <a:ea typeface="Noto Sans SC" panose="020B0200000000000000" pitchFamily="34" charset="-122"/>
              <a:cs typeface="Noto Sans SC" panose="020B0200000000000000" pitchFamily="34" charset="-122"/>
            </a:endParaRPr>
          </a:p>
        </p:txBody>
      </p:sp>
      <p:pic>
        <p:nvPicPr>
          <p:cNvPr id="5" name="图片 4"/>
          <p:cNvPicPr>
            <a:picLocks noChangeAspect="1"/>
          </p:cNvPicPr>
          <p:nvPr/>
        </p:nvPicPr>
        <p:blipFill>
          <a:blip r:embed="rId3"/>
          <a:stretch>
            <a:fillRect/>
          </a:stretch>
        </p:blipFill>
        <p:spPr>
          <a:xfrm>
            <a:off x="767080" y="763270"/>
            <a:ext cx="10838180" cy="609473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sp>
        <p:nvSpPr>
          <p:cNvPr id="18" name="Shape 14"/>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19" name="Image 2" descr="preencoded.png"/>
          <p:cNvPicPr>
            <a:picLocks noChangeAspect="1"/>
          </p:cNvPicPr>
          <p:nvPr/>
        </p:nvPicPr>
        <p:blipFill>
          <a:blip r:embed="rId2"/>
          <a:srcRect/>
          <a:stretch>
            <a:fillRect/>
          </a:stretch>
        </p:blipFill>
        <p:spPr>
          <a:xfrm>
            <a:off x="681228" y="286207"/>
            <a:ext cx="237744" cy="190195"/>
          </a:xfrm>
          <a:prstGeom prst="rect">
            <a:avLst/>
          </a:prstGeom>
        </p:spPr>
      </p:pic>
      <p:sp>
        <p:nvSpPr>
          <p:cNvPr id="20" name="Text 15"/>
          <p:cNvSpPr txBox="1"/>
          <p:nvPr/>
        </p:nvSpPr>
        <p:spPr>
          <a:xfrm>
            <a:off x="1218895" y="142646"/>
            <a:ext cx="7620610" cy="476402"/>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Demo</a:t>
            </a:r>
            <a:endPar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sp>
      <p:pic>
        <p:nvPicPr>
          <p:cNvPr id="4" name="Image 0" descr="preencoded.png"/>
          <p:cNvPicPr>
            <a:picLocks noChangeAspect="1"/>
          </p:cNvPicPr>
          <p:nvPr/>
        </p:nvPicPr>
        <p:blipFill>
          <a:blip r:embed="rId1"/>
          <a:srcRect l="-19" r="-19"/>
          <a:stretch>
            <a:fillRect/>
          </a:stretch>
        </p:blipFill>
        <p:spPr>
          <a:xfrm>
            <a:off x="0" y="0"/>
            <a:ext cx="12191695" cy="761695"/>
          </a:xfrm>
          <a:prstGeom prst="rect">
            <a:avLst/>
          </a:prstGeom>
        </p:spPr>
      </p:pic>
      <p:pic>
        <p:nvPicPr>
          <p:cNvPr id="5" name="Image 1" descr="preencoded.png"/>
          <p:cNvPicPr>
            <a:picLocks noChangeAspect="1"/>
          </p:cNvPicPr>
          <p:nvPr/>
        </p:nvPicPr>
        <p:blipFill>
          <a:blip r:embed="rId2"/>
          <a:srcRect l="-4" r="-4"/>
          <a:stretch>
            <a:fillRect/>
          </a:stretch>
        </p:blipFill>
        <p:spPr>
          <a:xfrm>
            <a:off x="2048256" y="2572207"/>
            <a:ext cx="8096098" cy="3047695"/>
          </a:xfrm>
          <a:prstGeom prst="rect">
            <a:avLst/>
          </a:prstGeom>
        </p:spPr>
      </p:pic>
      <p:sp>
        <p:nvSpPr>
          <p:cNvPr id="6" name="Shape 2"/>
          <p:cNvSpPr/>
          <p:nvPr/>
        </p:nvSpPr>
        <p:spPr>
          <a:xfrm>
            <a:off x="571500" y="152705"/>
            <a:ext cx="457200" cy="457200"/>
          </a:xfrm>
          <a:prstGeom prst="ellipse">
            <a:avLst/>
          </a:prstGeom>
          <a:solidFill>
            <a:srgbClr val="FFFFFF">
              <a:alpha val="15000"/>
            </a:srgbClr>
          </a:solidFill>
          <a:ln w="12700">
            <a:solidFill>
              <a:srgbClr val="FFFFFF">
                <a:alpha val="0"/>
              </a:srgbClr>
            </a:solidFill>
            <a:prstDash val="solid"/>
          </a:ln>
        </p:spPr>
      </p:sp>
      <p:pic>
        <p:nvPicPr>
          <p:cNvPr id="7" name="Image 2" descr="preencoded.png"/>
          <p:cNvPicPr>
            <a:picLocks noChangeAspect="1"/>
          </p:cNvPicPr>
          <p:nvPr/>
        </p:nvPicPr>
        <p:blipFill>
          <a:blip r:embed="rId3"/>
          <a:srcRect/>
          <a:stretch>
            <a:fillRect/>
          </a:stretch>
        </p:blipFill>
        <p:spPr>
          <a:xfrm>
            <a:off x="681228" y="286207"/>
            <a:ext cx="237744" cy="190195"/>
          </a:xfrm>
          <a:prstGeom prst="rect">
            <a:avLst/>
          </a:prstGeom>
        </p:spPr>
      </p:pic>
      <p:sp>
        <p:nvSpPr>
          <p:cNvPr id="8" name="Text 3"/>
          <p:cNvSpPr txBox="1"/>
          <p:nvPr/>
        </p:nvSpPr>
        <p:spPr>
          <a:xfrm>
            <a:off x="1218895" y="190195"/>
            <a:ext cx="4082796" cy="457200"/>
          </a:xfrm>
          <a:prstGeom prst="rect">
            <a:avLst/>
          </a:prstGeom>
          <a:noFill/>
        </p:spPr>
        <p:txBody>
          <a:bodyPr wrap="square" lIns="0" tIns="0" rIns="0" bIns="0" rtlCol="0" anchor="ctr"/>
          <a:lstStyle/>
          <a:p>
            <a:pPr marL="0" indent="0" algn="l">
              <a:buNone/>
            </a:pPr>
            <a:r>
              <a:rPr lang="en-US" sz="2400" b="1" dirty="0">
                <a:solidFill>
                  <a:srgbClr val="FFFFFF"/>
                </a:solidFill>
                <a:latin typeface="Noto Sans SC" panose="020B0200000000000000" pitchFamily="34" charset="-122"/>
                <a:ea typeface="Noto Sans SC" panose="020B0200000000000000" pitchFamily="34" charset="-122"/>
                <a:cs typeface="Noto Sans SC" panose="020B0200000000000000" pitchFamily="34" charset="-122"/>
              </a:rPr>
              <a:t>Q&amp;A / Acknowledgments</a:t>
            </a:r>
            <a:endParaRPr lang="en-US" sz="2400" dirty="0">
              <a:ea typeface="Noto Sans SC" panose="020B0200000000000000" pitchFamily="34" charset="-122"/>
              <a:cs typeface="Noto Sans SC" panose="020B0200000000000000" pitchFamily="34" charset="-122"/>
            </a:endParaRPr>
          </a:p>
        </p:txBody>
      </p:sp>
      <p:sp>
        <p:nvSpPr>
          <p:cNvPr id="9" name="Text 4"/>
          <p:cNvSpPr txBox="1"/>
          <p:nvPr/>
        </p:nvSpPr>
        <p:spPr>
          <a:xfrm>
            <a:off x="2923337" y="1047902"/>
            <a:ext cx="9269273" cy="800100"/>
          </a:xfrm>
          <a:prstGeom prst="rect">
            <a:avLst/>
          </a:prstGeom>
          <a:noFill/>
        </p:spPr>
        <p:txBody>
          <a:bodyPr wrap="square" lIns="0" tIns="0" rIns="0" bIns="0" rtlCol="0" anchor="ctr"/>
          <a:lstStyle/>
          <a:p>
            <a:pPr marL="0" indent="0" algn="l">
              <a:buNone/>
            </a:pPr>
            <a:r>
              <a:rPr lang="en-US" sz="42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Thank You for Your Time</a:t>
            </a:r>
            <a:endParaRPr lang="en-US" sz="4200" dirty="0">
              <a:ea typeface="Noto Sans SC" panose="020B0200000000000000" pitchFamily="34" charset="-122"/>
              <a:cs typeface="Noto Sans SC" panose="020B0200000000000000" pitchFamily="34" charset="-122"/>
            </a:endParaRPr>
          </a:p>
        </p:txBody>
      </p:sp>
      <p:pic>
        <p:nvPicPr>
          <p:cNvPr id="10" name="Image 3" descr="preencoded.png"/>
          <p:cNvPicPr>
            <a:picLocks noChangeAspect="1"/>
          </p:cNvPicPr>
          <p:nvPr/>
        </p:nvPicPr>
        <p:blipFill>
          <a:blip r:embed="rId4"/>
          <a:srcRect/>
          <a:stretch>
            <a:fillRect/>
          </a:stretch>
        </p:blipFill>
        <p:spPr>
          <a:xfrm>
            <a:off x="2160727" y="1209751"/>
            <a:ext cx="533095" cy="533095"/>
          </a:xfrm>
          <a:prstGeom prst="rect">
            <a:avLst/>
          </a:prstGeom>
        </p:spPr>
      </p:pic>
      <p:pic>
        <p:nvPicPr>
          <p:cNvPr id="11" name="Image 4" descr="preencoded.png"/>
          <p:cNvPicPr>
            <a:picLocks noChangeAspect="1"/>
          </p:cNvPicPr>
          <p:nvPr/>
        </p:nvPicPr>
        <p:blipFill>
          <a:blip r:embed="rId4"/>
          <a:srcRect/>
          <a:stretch>
            <a:fillRect/>
          </a:stretch>
        </p:blipFill>
        <p:spPr>
          <a:xfrm>
            <a:off x="9496958" y="1209751"/>
            <a:ext cx="533095" cy="533095"/>
          </a:xfrm>
          <a:prstGeom prst="rect">
            <a:avLst/>
          </a:prstGeom>
        </p:spPr>
      </p:pic>
      <p:sp>
        <p:nvSpPr>
          <p:cNvPr id="12" name="Text 5"/>
          <p:cNvSpPr txBox="1"/>
          <p:nvPr/>
        </p:nvSpPr>
        <p:spPr>
          <a:xfrm>
            <a:off x="-342900" y="2000707"/>
            <a:ext cx="12878410" cy="314554"/>
          </a:xfrm>
          <a:prstGeom prst="rect">
            <a:avLst/>
          </a:prstGeom>
          <a:noFill/>
        </p:spPr>
        <p:txBody>
          <a:bodyPr wrap="square" lIns="0" tIns="0" rIns="0" bIns="0" rtlCol="0" anchor="ctr"/>
          <a:lstStyle/>
          <a:p>
            <a:pPr marL="0" indent="0" algn="ctr">
              <a:buNone/>
            </a:pPr>
            <a:r>
              <a:rPr lang="en-US" sz="16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Thank you to the review panel and instructors for your guidance and suggestions. Questions and feedback are welcome.</a:t>
            </a:r>
            <a:endParaRPr lang="en-US" sz="1600" dirty="0">
              <a:ea typeface="Noto Sans SC" panose="020B0200000000000000" pitchFamily="34" charset="-122"/>
              <a:cs typeface="Noto Sans SC" panose="020B0200000000000000" pitchFamily="34" charset="-122"/>
            </a:endParaRPr>
          </a:p>
        </p:txBody>
      </p:sp>
      <p:sp>
        <p:nvSpPr>
          <p:cNvPr id="13" name="Shape 6"/>
          <p:cNvSpPr/>
          <p:nvPr/>
        </p:nvSpPr>
        <p:spPr>
          <a:xfrm>
            <a:off x="2428646" y="2952598"/>
            <a:ext cx="533095" cy="533095"/>
          </a:xfrm>
          <a:prstGeom prst="roundRect">
            <a:avLst>
              <a:gd name="adj" fmla="val 73511"/>
            </a:avLst>
          </a:prstGeom>
          <a:solidFill>
            <a:srgbClr val="3B82F6">
              <a:alpha val="10000"/>
            </a:srgbClr>
          </a:solidFill>
          <a:ln w="12700">
            <a:solidFill>
              <a:srgbClr val="FFFFFF">
                <a:alpha val="0"/>
              </a:srgbClr>
            </a:solidFill>
            <a:prstDash val="solid"/>
          </a:ln>
        </p:spPr>
      </p:sp>
      <p:pic>
        <p:nvPicPr>
          <p:cNvPr id="14" name="Image 5" descr="preencoded.png"/>
          <p:cNvPicPr>
            <a:picLocks noChangeAspect="1"/>
          </p:cNvPicPr>
          <p:nvPr/>
        </p:nvPicPr>
        <p:blipFill>
          <a:blip r:embed="rId5"/>
          <a:srcRect/>
          <a:stretch>
            <a:fillRect/>
          </a:stretch>
        </p:blipFill>
        <p:spPr>
          <a:xfrm>
            <a:off x="2581351" y="3105302"/>
            <a:ext cx="228600" cy="228600"/>
          </a:xfrm>
          <a:prstGeom prst="rect">
            <a:avLst/>
          </a:prstGeom>
        </p:spPr>
      </p:pic>
      <p:sp>
        <p:nvSpPr>
          <p:cNvPr id="15" name="Text 7"/>
          <p:cNvSpPr txBox="1"/>
          <p:nvPr/>
        </p:nvSpPr>
        <p:spPr>
          <a:xfrm>
            <a:off x="3152851" y="3047695"/>
            <a:ext cx="6611112" cy="400507"/>
          </a:xfrm>
          <a:prstGeom prst="rect">
            <a:avLst/>
          </a:prstGeom>
          <a:noFill/>
        </p:spPr>
        <p:txBody>
          <a:bodyPr wrap="square" lIns="0" tIns="0" rIns="0" bIns="0" rtlCol="0" anchor="ctr"/>
          <a:lstStyle/>
          <a:p>
            <a:pPr marL="0" indent="0" algn="l">
              <a:buNone/>
            </a:pPr>
            <a:r>
              <a:rPr lang="en-US" sz="2100" b="1" dirty="0">
                <a:solidFill>
                  <a:srgbClr val="1E3A5F"/>
                </a:solidFill>
                <a:latin typeface="Noto Sans SC" panose="020B0200000000000000" pitchFamily="34" charset="-122"/>
                <a:ea typeface="Noto Sans SC" panose="020B0200000000000000" pitchFamily="34" charset="-122"/>
                <a:cs typeface="Noto Sans SC" panose="020B0200000000000000" pitchFamily="34" charset="-122"/>
              </a:rPr>
              <a:t>Questions &amp; Feedback Welcome</a:t>
            </a:r>
            <a:endParaRPr lang="en-US" sz="2100" dirty="0">
              <a:ea typeface="Noto Sans SC" panose="020B0200000000000000" pitchFamily="34" charset="-122"/>
              <a:cs typeface="Noto Sans SC" panose="020B0200000000000000" pitchFamily="34" charset="-122"/>
            </a:endParaRPr>
          </a:p>
        </p:txBody>
      </p:sp>
      <p:sp>
        <p:nvSpPr>
          <p:cNvPr id="16" name="Text 8"/>
          <p:cNvSpPr txBox="1"/>
          <p:nvPr/>
        </p:nvSpPr>
        <p:spPr>
          <a:xfrm>
            <a:off x="2428646" y="3715207"/>
            <a:ext cx="7334402" cy="1239012"/>
          </a:xfrm>
          <a:prstGeom prst="rect">
            <a:avLst/>
          </a:prstGeom>
          <a:noFill/>
        </p:spPr>
        <p:txBody>
          <a:bodyPr wrap="square" lIns="0" tIns="0" rIns="0" bIns="0" rtlCol="0" anchor="ctr"/>
          <a:lstStyle/>
          <a:p>
            <a:pPr marL="0" indent="0" algn="l">
              <a:buNone/>
            </a:pPr>
            <a:r>
              <a:rPr lang="en-US" sz="1300" dirty="0">
                <a:solidFill>
                  <a:srgbClr val="475569"/>
                </a:solidFill>
                <a:latin typeface="Noto Sans SC" panose="020B0200000000000000" pitchFamily="34" charset="-122"/>
                <a:ea typeface="Noto Sans SC" panose="020B0200000000000000" pitchFamily="34" charset="-122"/>
                <a:cs typeface="Noto Sans SC" panose="020B0200000000000000" pitchFamily="34" charset="-122"/>
              </a:rPr>
              <a:t>In this dormitory management system project, our team built a complete closed-loop from requirements analysis to system implementation, from project management to risk control, demonstrating comprehensive application of software engineering and project management methodologies. We look forward to your valuable feedback and guidance.</a:t>
            </a:r>
            <a:endParaRPr lang="en-US" sz="1300" dirty="0">
              <a:ea typeface="Noto Sans SC" panose="020B0200000000000000" pitchFamily="34" charset="-122"/>
              <a:cs typeface="Noto Sans SC" panose="020B0200000000000000" pitchFamily="34" charset="-122"/>
            </a:endParaRPr>
          </a:p>
        </p:txBody>
      </p:sp>
      <p:pic>
        <p:nvPicPr>
          <p:cNvPr id="17" name="Image 6" descr="preencoded.png"/>
          <p:cNvPicPr>
            <a:picLocks noChangeAspect="1"/>
          </p:cNvPicPr>
          <p:nvPr/>
        </p:nvPicPr>
        <p:blipFill>
          <a:blip r:embed="rId6"/>
          <a:srcRect/>
          <a:stretch>
            <a:fillRect/>
          </a:stretch>
        </p:blipFill>
        <p:spPr>
          <a:xfrm>
            <a:off x="2523744" y="5171846"/>
            <a:ext cx="171907" cy="171907"/>
          </a:xfrm>
          <a:prstGeom prst="rect">
            <a:avLst/>
          </a:prstGeom>
        </p:spPr>
      </p:pic>
      <p:sp>
        <p:nvSpPr>
          <p:cNvPr id="18" name="Text 9"/>
          <p:cNvSpPr txBox="1"/>
          <p:nvPr/>
        </p:nvSpPr>
        <p:spPr>
          <a:xfrm>
            <a:off x="2790749" y="5143500"/>
            <a:ext cx="2083003" cy="228600"/>
          </a:xfrm>
          <a:prstGeom prst="rect">
            <a:avLst/>
          </a:prstGeom>
          <a:noFill/>
        </p:spPr>
        <p:txBody>
          <a:bodyPr wrap="square" lIns="0" tIns="0" rIns="0" bIns="0" rtlCol="0" anchor="ctr"/>
          <a:lstStyle/>
          <a:p>
            <a:pPr marL="0" indent="0" algn="l">
              <a:buNone/>
            </a:pPr>
            <a:r>
              <a:rPr lang="en-US" sz="12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Requirements Traceable</a:t>
            </a:r>
            <a:endParaRPr lang="en-US" sz="1200" dirty="0">
              <a:ea typeface="Noto Sans SC" panose="020B0200000000000000" pitchFamily="34" charset="-122"/>
              <a:cs typeface="Noto Sans SC" panose="020B0200000000000000" pitchFamily="34" charset="-122"/>
            </a:endParaRPr>
          </a:p>
        </p:txBody>
      </p:sp>
      <p:pic>
        <p:nvPicPr>
          <p:cNvPr id="19" name="Image 7" descr="preencoded.png"/>
          <p:cNvPicPr>
            <a:picLocks noChangeAspect="1"/>
          </p:cNvPicPr>
          <p:nvPr/>
        </p:nvPicPr>
        <p:blipFill>
          <a:blip r:embed="rId6"/>
          <a:srcRect/>
          <a:stretch>
            <a:fillRect/>
          </a:stretch>
        </p:blipFill>
        <p:spPr>
          <a:xfrm>
            <a:off x="4783226" y="5171846"/>
            <a:ext cx="171907" cy="171907"/>
          </a:xfrm>
          <a:prstGeom prst="rect">
            <a:avLst/>
          </a:prstGeom>
        </p:spPr>
      </p:pic>
      <p:sp>
        <p:nvSpPr>
          <p:cNvPr id="20" name="Text 10"/>
          <p:cNvSpPr txBox="1"/>
          <p:nvPr/>
        </p:nvSpPr>
        <p:spPr>
          <a:xfrm>
            <a:off x="5050231" y="5143500"/>
            <a:ext cx="1371600" cy="228600"/>
          </a:xfrm>
          <a:prstGeom prst="rect">
            <a:avLst/>
          </a:prstGeom>
          <a:noFill/>
        </p:spPr>
        <p:txBody>
          <a:bodyPr wrap="square" lIns="0" tIns="0" rIns="0" bIns="0" rtlCol="0" anchor="ctr"/>
          <a:lstStyle/>
          <a:p>
            <a:pPr marL="0" indent="0" algn="l">
              <a:buNone/>
            </a:pPr>
            <a:r>
              <a:rPr lang="en-US" sz="12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Quality Assured</a:t>
            </a:r>
            <a:endParaRPr lang="en-US" sz="1200" dirty="0">
              <a:ea typeface="Noto Sans SC" panose="020B0200000000000000" pitchFamily="34" charset="-122"/>
              <a:cs typeface="Noto Sans SC" panose="020B0200000000000000" pitchFamily="34" charset="-122"/>
            </a:endParaRPr>
          </a:p>
        </p:txBody>
      </p:sp>
      <p:pic>
        <p:nvPicPr>
          <p:cNvPr id="21" name="Image 8" descr="preencoded.png"/>
          <p:cNvPicPr>
            <a:picLocks noChangeAspect="1"/>
          </p:cNvPicPr>
          <p:nvPr/>
        </p:nvPicPr>
        <p:blipFill>
          <a:blip r:embed="rId6"/>
          <a:srcRect/>
          <a:stretch>
            <a:fillRect/>
          </a:stretch>
        </p:blipFill>
        <p:spPr>
          <a:xfrm>
            <a:off x="6430061" y="5171846"/>
            <a:ext cx="171907" cy="171907"/>
          </a:xfrm>
          <a:prstGeom prst="rect">
            <a:avLst/>
          </a:prstGeom>
        </p:spPr>
      </p:pic>
      <p:sp>
        <p:nvSpPr>
          <p:cNvPr id="22" name="Text 11"/>
          <p:cNvSpPr txBox="1"/>
          <p:nvPr/>
        </p:nvSpPr>
        <p:spPr>
          <a:xfrm>
            <a:off x="6696151" y="5143500"/>
            <a:ext cx="1417320" cy="228600"/>
          </a:xfrm>
          <a:prstGeom prst="rect">
            <a:avLst/>
          </a:prstGeom>
          <a:noFill/>
        </p:spPr>
        <p:txBody>
          <a:bodyPr wrap="square" lIns="0" tIns="0" rIns="0" bIns="0" rtlCol="0" anchor="ctr"/>
          <a:lstStyle/>
          <a:p>
            <a:pPr marL="0" indent="0" algn="l">
              <a:buNone/>
            </a:pPr>
            <a:r>
              <a:rPr lang="en-US" sz="12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Risks Controlled</a:t>
            </a:r>
            <a:endParaRPr lang="en-US" sz="1200" dirty="0">
              <a:ea typeface="Noto Sans SC" panose="020B0200000000000000" pitchFamily="34" charset="-122"/>
              <a:cs typeface="Noto Sans SC" panose="020B0200000000000000" pitchFamily="34" charset="-122"/>
            </a:endParaRPr>
          </a:p>
        </p:txBody>
      </p:sp>
      <p:pic>
        <p:nvPicPr>
          <p:cNvPr id="23" name="Image 9" descr="preencoded.png"/>
          <p:cNvPicPr>
            <a:picLocks noChangeAspect="1"/>
          </p:cNvPicPr>
          <p:nvPr/>
        </p:nvPicPr>
        <p:blipFill>
          <a:blip r:embed="rId6"/>
          <a:srcRect/>
          <a:stretch>
            <a:fillRect/>
          </a:stretch>
        </p:blipFill>
        <p:spPr>
          <a:xfrm>
            <a:off x="8118043" y="5171846"/>
            <a:ext cx="171907" cy="171907"/>
          </a:xfrm>
          <a:prstGeom prst="rect">
            <a:avLst/>
          </a:prstGeom>
        </p:spPr>
      </p:pic>
      <p:sp>
        <p:nvSpPr>
          <p:cNvPr id="24" name="Text 12"/>
          <p:cNvSpPr txBox="1"/>
          <p:nvPr/>
        </p:nvSpPr>
        <p:spPr>
          <a:xfrm>
            <a:off x="8385048" y="5143500"/>
            <a:ext cx="1515161" cy="228600"/>
          </a:xfrm>
          <a:prstGeom prst="rect">
            <a:avLst/>
          </a:prstGeom>
          <a:noFill/>
        </p:spPr>
        <p:txBody>
          <a:bodyPr wrap="square" lIns="0" tIns="0" rIns="0" bIns="0" rtlCol="0" anchor="ctr"/>
          <a:lstStyle/>
          <a:p>
            <a:pPr marL="0" indent="0" algn="l">
              <a:buNone/>
            </a:pPr>
            <a:r>
              <a:rPr lang="en-US" sz="1200" dirty="0">
                <a:solidFill>
                  <a:srgbClr val="64748B"/>
                </a:solidFill>
                <a:latin typeface="Noto Sans SC" panose="020B0200000000000000" pitchFamily="34" charset="-122"/>
                <a:ea typeface="Noto Sans SC" panose="020B0200000000000000" pitchFamily="34" charset="-122"/>
                <a:cs typeface="Noto Sans SC" panose="020B0200000000000000" pitchFamily="34" charset="-122"/>
              </a:rPr>
              <a:t>Schedule Tracked</a:t>
            </a:r>
            <a:endParaRPr lang="en-US" sz="1200" dirty="0">
              <a:ea typeface="Noto Sans SC" panose="020B0200000000000000" pitchFamily="34" charset="-122"/>
              <a:cs typeface="Noto Sans SC" panose="020B0200000000000000" pitchFamily="34" charset="-122"/>
            </a:endParaRPr>
          </a:p>
        </p:txBody>
      </p:sp>
    </p:spTree>
  </p:cSld>
  <p:clrMapOvr>
    <a:masterClrMapping/>
  </p:clrMapOvr>
</p:sld>
</file>

<file path=ppt/tags/tag1.xml><?xml version="1.0" encoding="utf-8"?>
<p:tagLst xmlns:p="http://schemas.openxmlformats.org/presentationml/2006/main">
  <p:tag name="KSO_WM_DIAGRAM_VIRTUALLY_FRAME" val="{&quot;height&quot;:242.92803149606297,&quot;left&quot;:104.9759842519685,&quot;top&quot;:192.311968503937,&quot;width&quot;:750.0240157480315}"/>
</p:tagLst>
</file>

<file path=ppt/tags/tag2.xml><?xml version="1.0" encoding="utf-8"?>
<p:tagLst xmlns:p="http://schemas.openxmlformats.org/presentationml/2006/main">
  <p:tag name="KSO_WM_DIAGRAM_VIRTUALLY_FRAME" val="{&quot;height&quot;:242.92803149606297,&quot;left&quot;:104.9759842519685,&quot;top&quot;:192.311968503937,&quot;width&quot;:750.0240157480315}"/>
</p:tagLst>
</file>

<file path=ppt/tags/tag3.xml><?xml version="1.0" encoding="utf-8"?>
<p:tagLst xmlns:p="http://schemas.openxmlformats.org/presentationml/2006/main">
  <p:tag name="KSO_WM_DIAGRAM_VIRTUALLY_FRAME" val="{&quot;height&quot;:242.92803149606297,&quot;left&quot;:104.9759842519685,&quot;top&quot;:192.311968503937,&quot;width&quot;:750.0240157480315}"/>
</p:tagLst>
</file>

<file path=ppt/tags/tag4.xml><?xml version="1.0" encoding="utf-8"?>
<p:tagLst xmlns:p="http://schemas.openxmlformats.org/presentationml/2006/main">
  <p:tag name="KSO_WM_DIAGRAM_VIRTUALLY_FRAME" val="{&quot;height&quot;:242.92803149606297,&quot;left&quot;:104.9759842519685,&quot;top&quot;:192.311968503937,&quot;width&quot;:750.0240157480315}"/>
</p:tagLst>
</file>

<file path=ppt/tags/tag5.xml><?xml version="1.0" encoding="utf-8"?>
<p:tagLst xmlns:p="http://schemas.openxmlformats.org/presentationml/2006/main">
  <p:tag name="KSO_WM_DIAGRAM_VIRTUALLY_FRAME" val="{&quot;height&quot;:242.92803149606297,&quot;left&quot;:104.9759842519685,&quot;top&quot;:192.311968503937,&quot;width&quot;:750.0240157480315}"/>
</p:tagLst>
</file>

<file path=ppt/tags/tag6.xml><?xml version="1.0" encoding="utf-8"?>
<p:tagLst xmlns:p="http://schemas.openxmlformats.org/presentationml/2006/main">
  <p:tag name="KSO_WM_DIAGRAM_VIRTUALLY_FRAME" val="{&quot;height&quot;:242.92803149606297,&quot;left&quot;:104.9759842519685,&quot;top&quot;:192.311968503937,&quot;width&quot;:750.0240157480315}"/>
</p:tagLst>
</file>

<file path=ppt/tags/tag7.xml><?xml version="1.0" encoding="utf-8"?>
<p:tagLst xmlns:p="http://schemas.openxmlformats.org/presentationml/2006/main">
  <p:tag name="KSO_WM_DIAGRAM_VIRTUALLY_FRAME" val="{&quot;height&quot;:396.65,&quot;left&quot;:154.4,&quot;top&quot;:110.3,&quot;width&quot;:665.608031496063}"/>
</p:tagLst>
</file>

<file path=ppt/tags/tag8.xml><?xml version="1.0" encoding="utf-8"?>
<p:tagLst xmlns:p="http://schemas.openxmlformats.org/presentationml/2006/main">
  <p:tag name="KSO_WM_DIAGRAM_VIRTUALLY_FRAME" val="{&quot;height&quot;:396.65,&quot;left&quot;:154.4,&quot;top&quot;:110.3,&quot;width&quot;:665.608031496063}"/>
</p:tagLst>
</file>

<file path=ppt/tags/tag9.xml><?xml version="1.0" encoding="utf-8"?>
<p:tagLst xmlns:p="http://schemas.openxmlformats.org/presentationml/2006/main">
  <p:tag name="KSO_WM_DIAGRAM_VIRTUALLY_FRAME" val="{&quot;height&quot;:396.65,&quot;left&quot;:154.4,&quot;top&quot;:110.3,&quot;width&quot;:665.608031496063}"/>
</p:tagLst>
</file>

<file path=ppt/tags/tag10.xml><?xml version="1.0" encoding="utf-8"?>
<p:tagLst xmlns:p="http://schemas.openxmlformats.org/presentationml/2006/main">
  <p:tag name="KSO_WM_DIAGRAM_VIRTUALLY_FRAME" val="{&quot;height&quot;:396.65,&quot;left&quot;:154.4,&quot;top&quot;:110.3,&quot;width&quot;:665.608031496063}"/>
</p:tagLst>
</file>

<file path=ppt/tags/tag11.xml><?xml version="1.0" encoding="utf-8"?>
<p:tagLst xmlns:p="http://schemas.openxmlformats.org/presentationml/2006/main">
  <p:tag name="KSO_WM_DIAGRAM_VIRTUALLY_FRAME" val="{&quot;height&quot;:396.65,&quot;left&quot;:154.4,&quot;top&quot;:110.3,&quot;width&quot;:665.608031496063}"/>
</p:tagLst>
</file>

<file path=ppt/tags/tag12.xml><?xml version="1.0" encoding="utf-8"?>
<p:tagLst xmlns:p="http://schemas.openxmlformats.org/presentationml/2006/main">
  <p:tag name="KSO_WM_DIAGRAM_VIRTUALLY_FRAME" val="{&quot;height&quot;:404.358031496063,&quot;left&quot;:36,&quot;top&quot;:75.5,&quot;width&quot;:1121.1559842519684}"/>
</p:tagLst>
</file>

<file path=ppt/tags/tag13.xml><?xml version="1.0" encoding="utf-8"?>
<p:tagLst xmlns:p="http://schemas.openxmlformats.org/presentationml/2006/main">
  <p:tag name="KSO_WM_DIAGRAM_VIRTUALLY_FRAME" val="{&quot;height&quot;:404.358031496063,&quot;left&quot;:36,&quot;top&quot;:75.5,&quot;width&quot;:1121.1559842519684}"/>
</p:tagLst>
</file>

<file path=ppt/tags/tag14.xml><?xml version="1.0" encoding="utf-8"?>
<p:tagLst xmlns:p="http://schemas.openxmlformats.org/presentationml/2006/main">
  <p:tag name="KSO_WM_DIAGRAM_VIRTUALLY_FRAME" val="{&quot;height&quot;:404.358031496063,&quot;left&quot;:36,&quot;top&quot;:75.5,&quot;width&quot;:1121.1559842519684}"/>
</p:tagLst>
</file>

<file path=ppt/tags/tag15.xml><?xml version="1.0" encoding="utf-8"?>
<p:tagLst xmlns:p="http://schemas.openxmlformats.org/presentationml/2006/main">
  <p:tag name="KSO_WM_DIAGRAM_VIRTUALLY_FRAME" val="{&quot;height&quot;:404.358031496063,&quot;left&quot;:36,&quot;top&quot;:75.5,&quot;width&quot;:1121.1559842519684}"/>
</p:tagLst>
</file>

<file path=ppt/tags/tag16.xml><?xml version="1.0" encoding="utf-8"?>
<p:tagLst xmlns:p="http://schemas.openxmlformats.org/presentationml/2006/main">
  <p:tag name="KSO_WM_DIAGRAM_VIRTUALLY_FRAME" val="{&quot;height&quot;:404.358031496063,&quot;left&quot;:36,&quot;top&quot;:75.5,&quot;width&quot;:1121.1559842519684}"/>
</p:tagLst>
</file>

<file path=ppt/tags/tag17.xml><?xml version="1.0" encoding="utf-8"?>
<p:tagLst xmlns:p="http://schemas.openxmlformats.org/presentationml/2006/main">
  <p:tag name="KSO_WM_DIAGRAM_VIRTUALLY_FRAME" val="{&quot;height&quot;:404.358031496063,&quot;left&quot;:36,&quot;top&quot;:75.5,&quot;width&quot;:1121.1559842519684}"/>
</p:tagLst>
</file>

<file path=ppt/tags/tag18.xml><?xml version="1.0" encoding="utf-8"?>
<p:tagLst xmlns:p="http://schemas.openxmlformats.org/presentationml/2006/main">
  <p:tag name="KSO_WM_DIAGRAM_VIRTUALLY_FRAME" val="{&quot;height&quot;:404.358031496063,&quot;left&quot;:36,&quot;top&quot;:75.5,&quot;width&quot;:1121.1559842519684}"/>
</p:tagLst>
</file>

<file path=ppt/tags/tag19.xml><?xml version="1.0" encoding="utf-8"?>
<p:tagLst xmlns:p="http://schemas.openxmlformats.org/presentationml/2006/main">
  <p:tag name="KSO_WM_DIAGRAM_VIRTUALLY_FRAME" val="{&quot;height&quot;:404.358031496063,&quot;left&quot;:36,&quot;top&quot;:75.5,&quot;width&quot;:1121.1559842519684}"/>
</p:tagLst>
</file>

<file path=ppt/tags/tag20.xml><?xml version="1.0" encoding="utf-8"?>
<p:tagLst xmlns:p="http://schemas.openxmlformats.org/presentationml/2006/main">
  <p:tag name="KSO_WM_DIAGRAM_VIRTUALLY_FRAME" val="{&quot;height&quot;:404.358031496063,&quot;left&quot;:36,&quot;top&quot;:75.5,&quot;width&quot;:1121.1559842519684}"/>
</p:tagLst>
</file>

<file path=ppt/tags/tag21.xml><?xml version="1.0" encoding="utf-8"?>
<p:tagLst xmlns:p="http://schemas.openxmlformats.org/presentationml/2006/main">
  <p:tag name="KSO_WM_DIAGRAM_VIRTUALLY_FRAME" val="{&quot;height&quot;:404.358031496063,&quot;left&quot;:36,&quot;top&quot;:75.5,&quot;width&quot;:1121.1559842519684}"/>
</p:tagLst>
</file>

<file path=ppt/tags/tag22.xml><?xml version="1.0" encoding="utf-8"?>
<p:tagLst xmlns:p="http://schemas.openxmlformats.org/presentationml/2006/main">
  <p:tag name="KSO_WM_DIAGRAM_VIRTUALLY_FRAME" val="{&quot;height&quot;:404.358031496063,&quot;left&quot;:36,&quot;top&quot;:75.5,&quot;width&quot;:1121.1559842519684}"/>
</p:tagLst>
</file>

<file path=ppt/tags/tag23.xml><?xml version="1.0" encoding="utf-8"?>
<p:tagLst xmlns:p="http://schemas.openxmlformats.org/presentationml/2006/main">
  <p:tag name="KSO_WM_DIAGRAM_VIRTUALLY_FRAME" val="{&quot;height&quot;:394.4440157480315,&quot;left&quot;:36,&quot;top&quot;:75.5,&quot;width&quot;:1121.1559842519684}"/>
</p:tagLst>
</file>

<file path=ppt/tags/tag24.xml><?xml version="1.0" encoding="utf-8"?>
<p:tagLst xmlns:p="http://schemas.openxmlformats.org/presentationml/2006/main">
  <p:tag name="KSO_WM_DIAGRAM_VIRTUALLY_FRAME" val="{&quot;height&quot;:394.4440157480315,&quot;left&quot;:36,&quot;top&quot;:75.5,&quot;width&quot;:1121.1559842519684}"/>
</p:tagLst>
</file>

<file path=ppt/tags/tag25.xml><?xml version="1.0" encoding="utf-8"?>
<p:tagLst xmlns:p="http://schemas.openxmlformats.org/presentationml/2006/main">
  <p:tag name="KSO_WM_DIAGRAM_VIRTUALLY_FRAME" val="{&quot;height&quot;:394.4440157480315,&quot;left&quot;:36,&quot;top&quot;:75.5,&quot;width&quot;:1121.1559842519684}"/>
</p:tagLst>
</file>

<file path=ppt/tags/tag26.xml><?xml version="1.0" encoding="utf-8"?>
<p:tagLst xmlns:p="http://schemas.openxmlformats.org/presentationml/2006/main">
  <p:tag name="KSO_WM_DIAGRAM_VIRTUALLY_FRAME" val="{&quot;height&quot;:394.4440157480315,&quot;left&quot;:36,&quot;top&quot;:75.5,&quot;width&quot;:1121.1559842519684}"/>
</p:tagLst>
</file>

<file path=ppt/tags/tag27.xml><?xml version="1.0" encoding="utf-8"?>
<p:tagLst xmlns:p="http://schemas.openxmlformats.org/presentationml/2006/main">
  <p:tag name="KSO_WM_DIAGRAM_VIRTUALLY_FRAME" val="{&quot;height&quot;:394.4440157480315,&quot;left&quot;:36,&quot;top&quot;:75.5,&quot;width&quot;:1121.1559842519684}"/>
</p:tagLst>
</file>

<file path=ppt/tags/tag28.xml><?xml version="1.0" encoding="utf-8"?>
<p:tagLst xmlns:p="http://schemas.openxmlformats.org/presentationml/2006/main">
  <p:tag name="KSO_WM_DIAGRAM_VIRTUALLY_FRAME" val="{&quot;height&quot;:394.4440157480315,&quot;left&quot;:36,&quot;top&quot;:75.5,&quot;width&quot;:1121.1559842519684}"/>
</p:tagLst>
</file>

<file path=ppt/tags/tag29.xml><?xml version="1.0" encoding="utf-8"?>
<p:tagLst xmlns:p="http://schemas.openxmlformats.org/presentationml/2006/main">
  <p:tag name="KSO_WM_DIAGRAM_VIRTUALLY_FRAME" val="{&quot;height&quot;:394.4440157480315,&quot;left&quot;:36,&quot;top&quot;:75.5,&quot;width&quot;:1121.1559842519684}"/>
</p:tagLst>
</file>

<file path=ppt/tags/tag30.xml><?xml version="1.0" encoding="utf-8"?>
<p:tagLst xmlns:p="http://schemas.openxmlformats.org/presentationml/2006/main">
  <p:tag name="KSO_WM_DIAGRAM_VIRTUALLY_FRAME" val="{&quot;height&quot;:394.4440157480315,&quot;left&quot;:36,&quot;top&quot;:75.5,&quot;width&quot;:1121.1559842519684}"/>
</p:tagLst>
</file>

<file path=ppt/tags/tag31.xml><?xml version="1.0" encoding="utf-8"?>
<p:tagLst xmlns:p="http://schemas.openxmlformats.org/presentationml/2006/main">
  <p:tag name="KSO_WM_DIAGRAM_VIRTUALLY_FRAME" val="{&quot;height&quot;:404.358031496063,&quot;left&quot;:36,&quot;top&quot;:75.5,&quot;width&quot;:1121.1559842519684}"/>
</p:tagLst>
</file>

<file path=ppt/tags/tag32.xml><?xml version="1.0" encoding="utf-8"?>
<p:tagLst xmlns:p="http://schemas.openxmlformats.org/presentationml/2006/main">
  <p:tag name="KSO_WM_DIAGRAM_VIRTUALLY_FRAME" val="{&quot;height&quot;:404.358031496063,&quot;left&quot;:36,&quot;top&quot;:75.5,&quot;width&quot;:1121.1559842519684}"/>
</p:tagLst>
</file>

<file path=ppt/tags/tag33.xml><?xml version="1.0" encoding="utf-8"?>
<p:tagLst xmlns:p="http://schemas.openxmlformats.org/presentationml/2006/main">
  <p:tag name="KSO_WM_DIAGRAM_VIRTUALLY_FRAME" val="{&quot;height&quot;:404.358031496063,&quot;left&quot;:36,&quot;top&quot;:75.5,&quot;width&quot;:1121.1559842519684}"/>
</p:tagLst>
</file>

<file path=ppt/tags/tag34.xml><?xml version="1.0" encoding="utf-8"?>
<p:tagLst xmlns:p="http://schemas.openxmlformats.org/presentationml/2006/main">
  <p:tag name="KSO_WM_DIAGRAM_VIRTUALLY_FRAME" val="{&quot;height&quot;:404.358031496063,&quot;left&quot;:36,&quot;top&quot;:75.5,&quot;width&quot;:1121.1559842519684}"/>
</p:tagLst>
</file>

<file path=ppt/tags/tag35.xml><?xml version="1.0" encoding="utf-8"?>
<p:tagLst xmlns:p="http://schemas.openxmlformats.org/presentationml/2006/main">
  <p:tag name="KSO_WM_DIAGRAM_VIRTUALLY_FRAME" val="{&quot;height&quot;:404.358031496063,&quot;left&quot;:36,&quot;top&quot;:75.5,&quot;width&quot;:1121.1559842519684}"/>
</p:tagLst>
</file>

<file path=ppt/tags/tag36.xml><?xml version="1.0" encoding="utf-8"?>
<p:tagLst xmlns:p="http://schemas.openxmlformats.org/presentationml/2006/main">
  <p:tag name="KSO_WM_DIAGRAM_VIRTUALLY_FRAME" val="{&quot;height&quot;:404.358031496063,&quot;left&quot;:36,&quot;top&quot;:75.5,&quot;width&quot;:1121.1559842519684}"/>
</p:tagLst>
</file>

<file path=ppt/tags/tag37.xml><?xml version="1.0" encoding="utf-8"?>
<p:tagLst xmlns:p="http://schemas.openxmlformats.org/presentationml/2006/main">
  <p:tag name="KSO_WM_DIAGRAM_VIRTUALLY_FRAME" val="{&quot;height&quot;:321.76803149606303,&quot;left&quot;:45,&quot;top&quot;:122.9759842519685,&quot;width&quot;:868.4640157480314}"/>
</p:tagLst>
</file>

<file path=ppt/tags/tag38.xml><?xml version="1.0" encoding="utf-8"?>
<p:tagLst xmlns:p="http://schemas.openxmlformats.org/presentationml/2006/main">
  <p:tag name="KSO_WM_DIAGRAM_VIRTUALLY_FRAME" val="{&quot;height&quot;:321.76803149606303,&quot;left&quot;:45,&quot;top&quot;:122.9759842519685,&quot;width&quot;:868.4640157480314}"/>
</p:tagLst>
</file>

<file path=ppt/tags/tag39.xml><?xml version="1.0" encoding="utf-8"?>
<p:tagLst xmlns:p="http://schemas.openxmlformats.org/presentationml/2006/main">
  <p:tag name="KSO_WM_DIAGRAM_VIRTUALLY_FRAME" val="{&quot;height&quot;:321.76803149606303,&quot;left&quot;:45,&quot;top&quot;:122.9759842519685,&quot;width&quot;:868.4640157480314}"/>
</p:tagLst>
</file>

<file path=ppt/tags/tag40.xml><?xml version="1.0" encoding="utf-8"?>
<p:tagLst xmlns:p="http://schemas.openxmlformats.org/presentationml/2006/main">
  <p:tag name="KSO_WM_DIAGRAM_VIRTUALLY_FRAME" val="{&quot;height&quot;:321.76803149606303,&quot;left&quot;:45,&quot;top&quot;:122.9759842519685,&quot;width&quot;:868.4640157480314}"/>
</p:tagLst>
</file>

<file path=ppt/tags/tag41.xml><?xml version="1.0" encoding="utf-8"?>
<p:tagLst xmlns:p="http://schemas.openxmlformats.org/presentationml/2006/main">
  <p:tag name="KSO_WM_DIAGRAM_VIRTUALLY_FRAME" val="{&quot;height&quot;:321.76803149606303,&quot;left&quot;:45,&quot;top&quot;:122.9759842519685,&quot;width&quot;:868.4640157480314}"/>
</p:tagLst>
</file>

<file path=ppt/tags/tag42.xml><?xml version="1.0" encoding="utf-8"?>
<p:tagLst xmlns:p="http://schemas.openxmlformats.org/presentationml/2006/main">
  <p:tag name="KSO_WM_DIAGRAM_VIRTUALLY_FRAME" val="{&quot;height&quot;:321.76803149606303,&quot;left&quot;:45,&quot;top&quot;:122.9759842519685,&quot;width&quot;:868.4640157480314}"/>
</p:tagLst>
</file>

<file path=ppt/tags/tag43.xml><?xml version="1.0" encoding="utf-8"?>
<p:tagLst xmlns:p="http://schemas.openxmlformats.org/presentationml/2006/main">
  <p:tag name="KSO_WM_DIAGRAM_VIRTUALLY_FRAME" val="{&quot;height&quot;:321.76803149606303,&quot;left&quot;:45,&quot;top&quot;:122.9759842519685,&quot;width&quot;:868.4640157480314}"/>
</p:tagLst>
</file>

<file path=ppt/tags/tag44.xml><?xml version="1.0" encoding="utf-8"?>
<p:tagLst xmlns:p="http://schemas.openxmlformats.org/presentationml/2006/main">
  <p:tag name="KSO_WM_DIAGRAM_VIRTUALLY_FRAME" val="{&quot;height&quot;:321.76803149606303,&quot;left&quot;:45,&quot;top&quot;:122.9759842519685,&quot;width&quot;:868.4640157480314}"/>
</p:tagLst>
</file>

<file path=ppt/tags/tag45.xml><?xml version="1.0" encoding="utf-8"?>
<p:tagLst xmlns:p="http://schemas.openxmlformats.org/presentationml/2006/main">
  <p:tag name="KSO_WM_DIAGRAM_VIRTUALLY_FRAME" val="{&quot;height&quot;:321.76803149606303,&quot;left&quot;:45,&quot;top&quot;:122.9759842519685,&quot;width&quot;:868.4640157480314}"/>
</p:tagLst>
</file>

<file path=ppt/tags/tag46.xml><?xml version="1.0" encoding="utf-8"?>
<p:tagLst xmlns:p="http://schemas.openxmlformats.org/presentationml/2006/main">
  <p:tag name="KSO_WM_DIAGRAM_VIRTUALLY_FRAME" val="{&quot;height&quot;:321.76803149606303,&quot;left&quot;:45,&quot;top&quot;:122.9759842519685,&quot;width&quot;:868.4640157480314}"/>
</p:tagLst>
</file>

<file path=ppt/tags/tag47.xml><?xml version="1.0" encoding="utf-8"?>
<p:tagLst xmlns:p="http://schemas.openxmlformats.org/presentationml/2006/main">
  <p:tag name="KSO_WM_DIAGRAM_VIRTUALLY_FRAME" val="{&quot;height&quot;:321.76803149606303,&quot;left&quot;:45,&quot;top&quot;:122.9759842519685,&quot;width&quot;:868.4640157480314}"/>
</p:tagLst>
</file>

<file path=ppt/tags/tag48.xml><?xml version="1.0" encoding="utf-8"?>
<p:tagLst xmlns:p="http://schemas.openxmlformats.org/presentationml/2006/main">
  <p:tag name="KSO_WM_DIAGRAM_VIRTUALLY_FRAME" val="{&quot;height&quot;:321.76803149606303,&quot;left&quot;:45,&quot;top&quot;:122.9759842519685,&quot;width&quot;:868.4640157480314}"/>
</p:tagLst>
</file>

<file path=ppt/tags/tag49.xml><?xml version="1.0" encoding="utf-8"?>
<p:tagLst xmlns:p="http://schemas.openxmlformats.org/presentationml/2006/main">
  <p:tag name="KSO_WM_DIAGRAM_VIRTUALLY_FRAME" val="{&quot;height&quot;:321.76803149606303,&quot;left&quot;:45,&quot;top&quot;:122.9759842519685,&quot;width&quot;:868.4640157480314}"/>
</p:tagLst>
</file>

<file path=ppt/tags/tag50.xml><?xml version="1.0" encoding="utf-8"?>
<p:tagLst xmlns:p="http://schemas.openxmlformats.org/presentationml/2006/main">
  <p:tag name="KSO_WM_DIAGRAM_VIRTUALLY_FRAME" val="{&quot;height&quot;:321.76803149606303,&quot;left&quot;:45,&quot;top&quot;:122.9759842519685,&quot;width&quot;:868.4640157480314}"/>
</p:tagLst>
</file>

<file path=ppt/tags/tag51.xml><?xml version="1.0" encoding="utf-8"?>
<p:tagLst xmlns:p="http://schemas.openxmlformats.org/presentationml/2006/main">
  <p:tag name="KSO_WM_DIAGRAM_VIRTUALLY_FRAME" val="{&quot;height&quot;:321.76803149606303,&quot;left&quot;:45,&quot;top&quot;:122.9759842519685,&quot;width&quot;:868.4640157480314}"/>
</p:tagLst>
</file>

<file path=ppt/tags/tag52.xml><?xml version="1.0" encoding="utf-8"?>
<p:tagLst xmlns:p="http://schemas.openxmlformats.org/presentationml/2006/main">
  <p:tag name="KSO_WM_DIAGRAM_VIRTUALLY_FRAME" val="{&quot;height&quot;:321.76803149606303,&quot;left&quot;:45,&quot;top&quot;:122.9759842519685,&quot;width&quot;:868.4640157480314}"/>
</p:tagLst>
</file>

<file path=ppt/tags/tag53.xml><?xml version="1.0" encoding="utf-8"?>
<p:tagLst xmlns:p="http://schemas.openxmlformats.org/presentationml/2006/main">
  <p:tag name="KSO_WM_DIAGRAM_VIRTUALLY_FRAME" val="{&quot;height&quot;:321.76803149606303,&quot;left&quot;:45,&quot;top&quot;:122.9759842519685,&quot;width&quot;:868.4640157480314}"/>
</p:tagLst>
</file>

<file path=ppt/tags/tag54.xml><?xml version="1.0" encoding="utf-8"?>
<p:tagLst xmlns:p="http://schemas.openxmlformats.org/presentationml/2006/main">
  <p:tag name="KSO_WM_DIAGRAM_VIRTUALLY_FRAME" val="{&quot;height&quot;:321.76803149606303,&quot;left&quot;:45,&quot;top&quot;:122.9759842519685,&quot;width&quot;:868.4640157480314}"/>
</p:tagLst>
</file>

<file path=ppt/tags/tag55.xml><?xml version="1.0" encoding="utf-8"?>
<p:tagLst xmlns:p="http://schemas.openxmlformats.org/presentationml/2006/main">
  <p:tag name="KSO_WM_DIAGRAM_VIRTUALLY_FRAME" val="{&quot;height&quot;:321.76803149606303,&quot;left&quot;:45,&quot;top&quot;:122.9759842519685,&quot;width&quot;:868.4640157480314}"/>
</p:tagLst>
</file>

<file path=ppt/tags/tag56.xml><?xml version="1.0" encoding="utf-8"?>
<p:tagLst xmlns:p="http://schemas.openxmlformats.org/presentationml/2006/main">
  <p:tag name="KSO_WM_DIAGRAM_VIRTUALLY_FRAME" val="{&quot;height&quot;:321.76803149606303,&quot;left&quot;:45,&quot;top&quot;:122.9759842519685,&quot;width&quot;:868.4640157480314}"/>
</p:tagLst>
</file>

<file path=ppt/tags/tag57.xml><?xml version="1.0" encoding="utf-8"?>
<p:tagLst xmlns:p="http://schemas.openxmlformats.org/presentationml/2006/main">
  <p:tag name="KSO_WM_DIAGRAM_VIRTUALLY_FRAME" val="{&quot;height&quot;:321.76803149606303,&quot;left&quot;:45,&quot;top&quot;:122.9759842519685,&quot;width&quot;:868.4640157480314}"/>
</p:tagLst>
</file>

<file path=ppt/tags/tag58.xml><?xml version="1.0" encoding="utf-8"?>
<p:tagLst xmlns:p="http://schemas.openxmlformats.org/presentationml/2006/main">
  <p:tag name="KSO_WM_DIAGRAM_VIRTUALLY_FRAME" val="{&quot;height&quot;:321.76803149606303,&quot;left&quot;:45,&quot;top&quot;:122.9759842519685,&quot;width&quot;:868.4640157480314}"/>
</p:tagLst>
</file>

<file path=ppt/tags/tag59.xml><?xml version="1.0" encoding="utf-8"?>
<p:tagLst xmlns:p="http://schemas.openxmlformats.org/presentationml/2006/main">
  <p:tag name="KSO_WM_DIAGRAM_VIRTUALLY_FRAME" val="{&quot;height&quot;:321.76803149606303,&quot;left&quot;:45,&quot;top&quot;:122.9759842519685,&quot;width&quot;:868.4640157480314}"/>
</p:tagLst>
</file>

<file path=ppt/tags/tag60.xml><?xml version="1.0" encoding="utf-8"?>
<p:tagLst xmlns:p="http://schemas.openxmlformats.org/presentationml/2006/main">
  <p:tag name="KSO_WM_DIAGRAM_VIRTUALLY_FRAME" val="{&quot;height&quot;:321.76803149606303,&quot;left&quot;:45,&quot;top&quot;:122.9759842519685,&quot;width&quot;:868.4640157480314}"/>
</p:tagLst>
</file>

<file path=ppt/tags/tag61.xml><?xml version="1.0" encoding="utf-8"?>
<p:tagLst xmlns:p="http://schemas.openxmlformats.org/presentationml/2006/main">
  <p:tag name="KSO_WM_DIAGRAM_VIRTUALLY_FRAME" val="{&quot;height&quot;:321.76803149606303,&quot;left&quot;:45,&quot;top&quot;:122.9759842519685,&quot;width&quot;:868.4640157480314}"/>
</p:tagLst>
</file>

<file path=ppt/tags/tag62.xml><?xml version="1.0" encoding="utf-8"?>
<p:tagLst xmlns:p="http://schemas.openxmlformats.org/presentationml/2006/main">
  <p:tag name="KSO_WM_DIAGRAM_VIRTUALLY_FRAME" val="{&quot;height&quot;:321.76803149606303,&quot;left&quot;:45,&quot;top&quot;:122.9759842519685,&quot;width&quot;:868.4640157480314}"/>
</p:tagLst>
</file>

<file path=ppt/tags/tag63.xml><?xml version="1.0" encoding="utf-8"?>
<p:tagLst xmlns:p="http://schemas.openxmlformats.org/presentationml/2006/main">
  <p:tag name="KSO_WM_DIAGRAM_VIRTUALLY_FRAME" val="{&quot;height&quot;:321.76803149606303,&quot;left&quot;:45,&quot;top&quot;:122.9759842519685,&quot;width&quot;:868.4640157480314}"/>
</p:tagLst>
</file>

<file path=ppt/tags/tag64.xml><?xml version="1.0" encoding="utf-8"?>
<p:tagLst xmlns:p="http://schemas.openxmlformats.org/presentationml/2006/main">
  <p:tag name="KSO_WM_DIAGRAM_VIRTUALLY_FRAME" val="{&quot;height&quot;:321.76803149606303,&quot;left&quot;:45,&quot;top&quot;:122.9759842519685,&quot;width&quot;:868.4640157480314}"/>
</p:tagLst>
</file>

<file path=ppt/tags/tag65.xml><?xml version="1.0" encoding="utf-8"?>
<p:tagLst xmlns:p="http://schemas.openxmlformats.org/presentationml/2006/main">
  <p:tag name="KSO_WM_DIAGRAM_VIRTUALLY_FRAME" val="{&quot;height&quot;:321.76803149606303,&quot;left&quot;:45,&quot;top&quot;:122.9759842519685,&quot;width&quot;:868.4640157480314}"/>
</p:tagLst>
</file>

<file path=ppt/tags/tag66.xml><?xml version="1.0" encoding="utf-8"?>
<p:tagLst xmlns:p="http://schemas.openxmlformats.org/presentationml/2006/main">
  <p:tag name="KSO_WM_DIAGRAM_VIRTUALLY_FRAME" val="{&quot;height&quot;:321.76803149606303,&quot;left&quot;:45,&quot;top&quot;:122.9759842519685,&quot;width&quot;:868.4640157480314}"/>
</p:tagLst>
</file>

<file path=ppt/tags/tag67.xml><?xml version="1.0" encoding="utf-8"?>
<p:tagLst xmlns:p="http://schemas.openxmlformats.org/presentationml/2006/main">
  <p:tag name="KSO_WM_DIAGRAM_VIRTUALLY_FRAME" val="{&quot;height&quot;:321.76803149606303,&quot;left&quot;:45,&quot;top&quot;:122.9759842519685,&quot;width&quot;:868.4640157480314}"/>
</p:tagLst>
</file>

<file path=ppt/tags/tag68.xml><?xml version="1.0" encoding="utf-8"?>
<p:tagLst xmlns:p="http://schemas.openxmlformats.org/presentationml/2006/main">
  <p:tag name="KSO_WM_DIAGRAM_VIRTUALLY_FRAME" val="{&quot;height&quot;:321.76803149606303,&quot;left&quot;:45,&quot;top&quot;:122.9759842519685,&quot;width&quot;:868.4640157480314}"/>
</p:tagLst>
</file>

<file path=ppt/tags/tag69.xml><?xml version="1.0" encoding="utf-8"?>
<p:tagLst xmlns:p="http://schemas.openxmlformats.org/presentationml/2006/main">
  <p:tag name="KSO_WM_DIAGRAM_VIRTUALLY_FRAME" val="{&quot;height&quot;:321.76803149606303,&quot;left&quot;:45,&quot;top&quot;:122.9759842519685,&quot;width&quot;:868.4640157480314}"/>
</p:tagLst>
</file>

<file path=ppt/tags/tag70.xml><?xml version="1.0" encoding="utf-8"?>
<p:tagLst xmlns:p="http://schemas.openxmlformats.org/presentationml/2006/main">
  <p:tag name="KSO_WM_DIAGRAM_VIRTUALLY_FRAME" val="{&quot;height&quot;:321.76803149606303,&quot;left&quot;:45,&quot;top&quot;:122.9759842519685,&quot;width&quot;:868.4640157480314}"/>
</p:tagLst>
</file>

<file path=ppt/tags/tag71.xml><?xml version="1.0" encoding="utf-8"?>
<p:tagLst xmlns:p="http://schemas.openxmlformats.org/presentationml/2006/main">
  <p:tag name="KSO_WM_DIAGRAM_VIRTUALLY_FRAME" val="{&quot;height&quot;:321.76803149606303,&quot;left&quot;:45,&quot;top&quot;:122.9759842519685,&quot;width&quot;:868.4640157480314}"/>
</p:tagLst>
</file>

<file path=ppt/tags/tag72.xml><?xml version="1.0" encoding="utf-8"?>
<p:tagLst xmlns:p="http://schemas.openxmlformats.org/presentationml/2006/main">
  <p:tag name="KSO_WM_DIAGRAM_VIRTUALLY_FRAME" val="{&quot;height&quot;:321.76803149606303,&quot;left&quot;:45,&quot;top&quot;:122.9759842519685,&quot;width&quot;:868.4640157480314}"/>
</p:tagLst>
</file>

<file path=ppt/tags/tag73.xml><?xml version="1.0" encoding="utf-8"?>
<p:tagLst xmlns:p="http://schemas.openxmlformats.org/presentationml/2006/main">
  <p:tag name="KSO_WM_DIAGRAM_VIRTUALLY_FRAME" val="{&quot;height&quot;:321.76803149606303,&quot;left&quot;:45,&quot;top&quot;:122.9759842519685,&quot;width&quot;:868.4640157480314}"/>
</p:tagLst>
</file>

<file path=ppt/tags/tag74.xml><?xml version="1.0" encoding="utf-8"?>
<p:tagLst xmlns:p="http://schemas.openxmlformats.org/presentationml/2006/main">
  <p:tag name="KSO_WM_DIAGRAM_VIRTUALLY_FRAME" val="{&quot;height&quot;:321.76803149606303,&quot;left&quot;:45,&quot;top&quot;:122.9759842519685,&quot;width&quot;:868.4640157480314}"/>
</p:tagLst>
</file>

<file path=ppt/tags/tag75.xml><?xml version="1.0" encoding="utf-8"?>
<p:tagLst xmlns:p="http://schemas.openxmlformats.org/presentationml/2006/main">
  <p:tag name="KSO_WM_DIAGRAM_VIRTUALLY_FRAME" val="{&quot;height&quot;:321.76803149606303,&quot;left&quot;:45,&quot;top&quot;:122.9759842519685,&quot;width&quot;:868.4640157480314}"/>
</p:tagLst>
</file>

<file path=ppt/tags/tag76.xml><?xml version="1.0" encoding="utf-8"?>
<p:tagLst xmlns:p="http://schemas.openxmlformats.org/presentationml/2006/main">
  <p:tag name="KSO_WM_DIAGRAM_VIRTUALLY_FRAME" val="{&quot;height&quot;:321.76803149606303,&quot;left&quot;:45,&quot;top&quot;:122.9759842519685,&quot;width&quot;:868.4640157480314}"/>
</p:tagLst>
</file>

<file path=ppt/tags/tag77.xml><?xml version="1.0" encoding="utf-8"?>
<p:tagLst xmlns:p="http://schemas.openxmlformats.org/presentationml/2006/main">
  <p:tag name="KSO_WM_DIAGRAM_VIRTUALLY_FRAME" val="{&quot;height&quot;:321.76803149606303,&quot;left&quot;:45,&quot;top&quot;:122.9759842519685,&quot;width&quot;:868.4640157480314}"/>
</p:tagLst>
</file>

<file path=ppt/tags/tag78.xml><?xml version="1.0" encoding="utf-8"?>
<p:tagLst xmlns:p="http://schemas.openxmlformats.org/presentationml/2006/main">
  <p:tag name="KSO_WM_DIAGRAM_VIRTUALLY_FRAME" val="{&quot;height&quot;:321.76803149606303,&quot;left&quot;:45,&quot;top&quot;:122.9759842519685,&quot;width&quot;:868.4640157480314}"/>
</p:tagLst>
</file>

<file path=ppt/tags/tag79.xml><?xml version="1.0" encoding="utf-8"?>
<p:tagLst xmlns:p="http://schemas.openxmlformats.org/presentationml/2006/main">
  <p:tag name="KSO_WM_DIAGRAM_VIRTUALLY_FRAME" val="{&quot;height&quot;:321.76803149606303,&quot;left&quot;:45,&quot;top&quot;:122.9759842519685,&quot;width&quot;:868.4640157480314}"/>
</p:tagLst>
</file>

<file path=ppt/tags/tag80.xml><?xml version="1.0" encoding="utf-8"?>
<p:tagLst xmlns:p="http://schemas.openxmlformats.org/presentationml/2006/main">
  <p:tag name="KSO_WM_DIAGRAM_VIRTUALLY_FRAME" val="{&quot;height&quot;:321.76803149606303,&quot;left&quot;:45,&quot;top&quot;:122.9759842519685,&quot;width&quot;:868.4640157480314}"/>
</p:tagLst>
</file>

<file path=ppt/tags/tag81.xml><?xml version="1.0" encoding="utf-8"?>
<p:tagLst xmlns:p="http://schemas.openxmlformats.org/presentationml/2006/main">
  <p:tag name="KSO_WM_DIAGRAM_VIRTUALLY_FRAME" val="{&quot;height&quot;:321.76803149606303,&quot;left&quot;:45,&quot;top&quot;:122.9759842519685,&quot;width&quot;:868.4640157480314}"/>
</p:tagLst>
</file>

<file path=ppt/tags/tag82.xml><?xml version="1.0" encoding="utf-8"?>
<p:tagLst xmlns:p="http://schemas.openxmlformats.org/presentationml/2006/main">
  <p:tag name="KSO_WM_DIAGRAM_VIRTUALLY_FRAME" val="{&quot;height&quot;:321.76803149606303,&quot;left&quot;:45,&quot;top&quot;:122.9759842519685,&quot;width&quot;:868.4640157480314}"/>
</p:tagLst>
</file>

<file path=ppt/tags/tag83.xml><?xml version="1.0" encoding="utf-8"?>
<p:tagLst xmlns:p="http://schemas.openxmlformats.org/presentationml/2006/main">
  <p:tag name="KSO_WM_DIAGRAM_VIRTUALLY_FRAME" val="{&quot;height&quot;:321.76803149606303,&quot;left&quot;:45,&quot;top&quot;:122.9759842519685,&quot;width&quot;:868.4640157480314}"/>
</p:tagLst>
</file>

<file path=ppt/tags/tag84.xml><?xml version="1.0" encoding="utf-8"?>
<p:tagLst xmlns:p="http://schemas.openxmlformats.org/presentationml/2006/main">
  <p:tag name="KSO_WM_DIAGRAM_VIRTUALLY_FRAME" val="{&quot;height&quot;:321.76803149606303,&quot;left&quot;:45,&quot;top&quot;:122.9759842519685,&quot;width&quot;:868.4640157480314}"/>
</p:tagLst>
</file>

<file path=ppt/tags/tag85.xml><?xml version="1.0" encoding="utf-8"?>
<p:tagLst xmlns:p="http://schemas.openxmlformats.org/presentationml/2006/main">
  <p:tag name="TABLE_ENDDRAG_ORIGIN_RECT" val="959*337"/>
  <p:tag name="TABLE_ENDDRAG_RECT" val="0*52*959*33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SC"/>
        <a:ea typeface=""/>
        <a:cs typeface=""/>
        <a:font script="Jpan" typeface="游ゴシック"/>
        <a:font script="Hang" typeface="맑은 고딕"/>
        <a:font script="Hans" typeface="Noto Sans SC"/>
        <a:font script="Hant" typeface="新細明體"/>
        <a:font script="Arab" typeface="Noto Sans SC"/>
        <a:font script="Hebr" typeface="Noto Sans SC"/>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Noto Sans SC"/>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SC"/>
        <a:ea typeface=""/>
        <a:cs typeface=""/>
        <a:font script="Jpan" typeface="游ゴシック"/>
        <a:font script="Hang" typeface="맑은 고딕"/>
        <a:font script="Hans" typeface="Noto Sans SC"/>
        <a:font script="Hant" typeface="新細明體"/>
        <a:font script="Arab" typeface="Noto Sans SC"/>
        <a:font script="Hebr" typeface="Noto Sans SC"/>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Noto Sans SC"/>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SC"/>
        <a:ea typeface=""/>
        <a:cs typeface=""/>
        <a:font script="Jpan" typeface="游ゴシック"/>
        <a:font script="Hang" typeface="맑은 고딕"/>
        <a:font script="Hans" typeface="Noto Sans SC"/>
        <a:font script="Hant" typeface="新細明體"/>
        <a:font script="Arab" typeface="Noto Sans SC"/>
        <a:font script="Hebr" typeface="Noto Sans SC"/>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Noto Sans SC"/>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Noto Sans SC"/>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SC"/>
        <a:ea typeface=""/>
        <a:cs typeface=""/>
        <a:font script="Jpan" typeface="ＭＳ Ｐゴシック"/>
        <a:font script="Hang" typeface="맑은 고딕"/>
        <a:font script="Hans" typeface="Noto Sans SC"/>
        <a:font script="Hant" typeface="新細明體"/>
        <a:font script="Arab" typeface="Noto Sans SC"/>
        <a:font script="Hebr" typeface="Noto Sans SC"/>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Noto Sans SC"/>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27754</Words>
  <Application>WPS 演示</Application>
  <PresentationFormat>寬螢幕</PresentationFormat>
  <Paragraphs>1722</Paragraphs>
  <Slides>40</Slides>
  <Notes>27</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40</vt:i4>
      </vt:variant>
    </vt:vector>
  </HeadingPairs>
  <TitlesOfParts>
    <vt:vector size="49" baseType="lpstr">
      <vt:lpstr>Arial</vt:lpstr>
      <vt:lpstr>宋体</vt:lpstr>
      <vt:lpstr>Wingdings</vt:lpstr>
      <vt:lpstr>Noto Sans SC</vt:lpstr>
      <vt:lpstr>Noto Sans SC</vt:lpstr>
      <vt:lpstr>微软雅黑</vt:lpstr>
      <vt:lpstr>Arial Unicode MS</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Generated by Gen-Spark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creator>Visual Extract to PPTX Converter</dc:creator>
  <dc:subject>PptxGenJS Presentation</dc:subject>
  <cp:lastModifiedBy>暗黑酷战王</cp:lastModifiedBy>
  <cp:revision>13</cp:revision>
  <dcterms:created xsi:type="dcterms:W3CDTF">2026-05-03T19:48:00Z</dcterms:created>
  <dcterms:modified xsi:type="dcterms:W3CDTF">2026-05-04T00:06:44Z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82A80DFBCDBC455E808D8BE1BE179C8B_13</vt:lpwstr>
  </property>
</Properties>
</file>